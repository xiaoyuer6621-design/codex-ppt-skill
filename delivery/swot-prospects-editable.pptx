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mint fibrous paper, mountain haze, sunlight and silver agricultural mulch rows"/>
          <p:cNvPicPr/>
          <p:nvPr/>
        </p:nvPicPr>
        <p:blipFill>
          <a:blip r:embed="rId2"/>
          <a:stretch>
            <a:fillRect/>
          </a:stretch>
        </p:blipFill>
        <p:spPr>
          <a:xfrm>
            <a:off x="5944" y="0"/>
            <a:ext cx="12179808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91160" y="243840"/>
            <a:ext cx="2231136" cy="4998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98" y="0"/>
                </a:moveTo>
                <a:lnTo>
                  <a:pt x="21600" y="0"/>
                </a:lnTo>
                <a:lnTo>
                  <a:pt x="2006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8DC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2816200" y="243840"/>
            <a:ext cx="2767584" cy="49377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99" y="0"/>
                </a:moveTo>
                <a:lnTo>
                  <a:pt x="21600" y="0"/>
                </a:lnTo>
                <a:lnTo>
                  <a:pt x="2088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F0E1"/>
          </a:solidFill>
          <a:ln w="6350">
            <a:solidFill>
              <a:srgbClr val="67B38B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87528" y="1249680"/>
            <a:ext cx="5492496" cy="4218432"/>
          </a:xfrm>
          <a:prstGeom prst="roundRect">
            <a:avLst>
              <a:gd name="adj" fmla="val 7514"/>
            </a:avLst>
          </a:prstGeom>
          <a:solidFill>
            <a:srgbClr val="F5FCF4"/>
          </a:solidFill>
          <a:ln w="8890">
            <a:solidFill>
              <a:srgbClr val="61B88D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193384" y="1103376"/>
            <a:ext cx="5711952" cy="5132832"/>
          </a:xfrm>
          <a:prstGeom prst="roundRect">
            <a:avLst>
              <a:gd name="adj" fmla="val 5701"/>
            </a:avLst>
          </a:prstGeom>
          <a:solidFill>
            <a:srgbClr val="F8FDF7"/>
          </a:solidFill>
          <a:ln w="8255">
            <a:solidFill>
              <a:srgbClr val="6AC395"/>
            </a:solidFill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682600" y="243840"/>
            <a:ext cx="2036064" cy="49377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58" y="0"/>
                </a:moveTo>
                <a:lnTo>
                  <a:pt x="21600" y="0"/>
                </a:lnTo>
                <a:lnTo>
                  <a:pt x="2004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B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670408" y="1670304"/>
            <a:ext cx="2450592" cy="1719072"/>
          </a:xfrm>
          <a:prstGeom prst="roundRect">
            <a:avLst>
              <a:gd name="adj" fmla="val 17376"/>
            </a:avLst>
          </a:prstGeom>
          <a:solidFill>
            <a:srgbClr val="52AC73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267304" y="1670304"/>
            <a:ext cx="2517648" cy="1719072"/>
          </a:xfrm>
          <a:prstGeom prst="roundRect">
            <a:avLst>
              <a:gd name="adj" fmla="val 17376"/>
            </a:avLst>
          </a:prstGeom>
          <a:solidFill>
            <a:srgbClr val="279DD5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591160" y="3572256"/>
            <a:ext cx="2511552" cy="1694688"/>
          </a:xfrm>
          <a:prstGeom prst="roundRect">
            <a:avLst>
              <a:gd name="adj" fmla="val 17626"/>
            </a:avLst>
          </a:prstGeom>
          <a:solidFill>
            <a:srgbClr val="E7A400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267304" y="3572256"/>
            <a:ext cx="2517648" cy="1694688"/>
          </a:xfrm>
          <a:prstGeom prst="roundRect">
            <a:avLst>
              <a:gd name="adj" fmla="val 17626"/>
            </a:avLst>
          </a:prstGeom>
          <a:solidFill>
            <a:srgbClr val="7D9DAC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12" name="Source darker left leaf behind right header."/>
          <p:cNvPicPr/>
          <p:nvPr/>
        </p:nvPicPr>
        <p:blipFill>
          <a:blip r:embed="rId5"/>
          <a:stretch>
            <a:fillRect/>
          </a:stretch>
        </p:blipFill>
        <p:spPr>
          <a:xfrm>
            <a:off x="6104454" y="956846"/>
            <a:ext cx="421700" cy="482036"/>
          </a:xfrm>
          <a:prstGeom prst="rect">
            <a:avLst/>
          </a:prstGeom>
        </p:spPr>
      </p:pic>
      <p:sp>
        <p:nvSpPr>
          <p:cNvPr id="13" name="Roundrect 13"/>
          <p:cNvSpPr/>
          <p:nvPr/>
        </p:nvSpPr>
        <p:spPr>
          <a:xfrm>
            <a:off x="1011784" y="975360"/>
            <a:ext cx="4675632" cy="518160"/>
          </a:xfrm>
          <a:prstGeom prst="roundRect">
            <a:avLst>
              <a:gd name="adj" fmla="val 27059"/>
            </a:avLst>
          </a:prstGeom>
          <a:solidFill>
            <a:srgbClr val="F4FFF8"/>
          </a:solidFill>
          <a:ln w="8890">
            <a:solidFill>
              <a:srgbClr val="8CC7A6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400648" y="841248"/>
            <a:ext cx="5376672" cy="530352"/>
          </a:xfrm>
          <a:prstGeom prst="roundRect">
            <a:avLst>
              <a:gd name="adj" fmla="val 27586"/>
            </a:avLst>
          </a:prstGeom>
          <a:solidFill>
            <a:srgbClr val="F4FFF8"/>
          </a:solidFill>
          <a:ln w="8890">
            <a:solidFill>
              <a:srgbClr val="8CC7A6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70408" y="2023872"/>
            <a:ext cx="2450592" cy="1365504"/>
          </a:xfrm>
          <a:prstGeom prst="roundRect">
            <a:avLst>
              <a:gd name="adj" fmla="val 20089"/>
            </a:avLst>
          </a:prstGeom>
          <a:solidFill>
            <a:srgbClr val="EFFAF0"/>
          </a:solidFill>
          <a:ln w="8255">
            <a:solidFill>
              <a:srgbClr val="C3E4CF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3267304" y="2023872"/>
            <a:ext cx="2517648" cy="1365504"/>
          </a:xfrm>
          <a:prstGeom prst="roundRect">
            <a:avLst>
              <a:gd name="adj" fmla="val 20089"/>
            </a:avLst>
          </a:prstGeom>
          <a:solidFill>
            <a:srgbClr val="EAF6FE"/>
          </a:solidFill>
          <a:ln w="8255">
            <a:solidFill>
              <a:srgbClr val="C4E3F5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591160" y="3931920"/>
            <a:ext cx="2511552" cy="1335024"/>
          </a:xfrm>
          <a:prstGeom prst="roundRect">
            <a:avLst>
              <a:gd name="adj" fmla="val 20548"/>
            </a:avLst>
          </a:prstGeom>
          <a:solidFill>
            <a:srgbClr val="FFF9E7"/>
          </a:solidFill>
          <a:ln w="8255">
            <a:solidFill>
              <a:srgbClr val="EFE0B8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3267304" y="3931920"/>
            <a:ext cx="2517648" cy="1335024"/>
          </a:xfrm>
          <a:prstGeom prst="roundRect">
            <a:avLst>
              <a:gd name="adj" fmla="val 20548"/>
            </a:avLst>
          </a:prstGeom>
          <a:solidFill>
            <a:srgbClr val="F0F7F9"/>
          </a:solidFill>
          <a:ln w="8255">
            <a:solidFill>
              <a:srgbClr val="D8E6E9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784696" y="1804416"/>
            <a:ext cx="1773936" cy="804672"/>
          </a:xfrm>
          <a:prstGeom prst="roundRect">
            <a:avLst>
              <a:gd name="adj" fmla="val 49242"/>
            </a:avLst>
          </a:prstGeom>
          <a:solidFill>
            <a:srgbClr val="F7FCF4"/>
          </a:solidFill>
          <a:ln w="10160">
            <a:solidFill>
              <a:srgbClr val="B3DFA3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9771736" y="1804416"/>
            <a:ext cx="1926336" cy="804672"/>
          </a:xfrm>
          <a:prstGeom prst="roundRect">
            <a:avLst>
              <a:gd name="adj" fmla="val 49242"/>
            </a:avLst>
          </a:prstGeom>
          <a:solidFill>
            <a:srgbClr val="F3FBF8"/>
          </a:solidFill>
          <a:ln w="10160">
            <a:solidFill>
              <a:srgbClr val="9DDED7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6510376" y="2907792"/>
            <a:ext cx="2078736" cy="822960"/>
          </a:xfrm>
          <a:prstGeom prst="roundRect">
            <a:avLst>
              <a:gd name="adj" fmla="val 49630"/>
            </a:avLst>
          </a:prstGeom>
          <a:solidFill>
            <a:srgbClr val="F7FCF2"/>
          </a:solidFill>
          <a:ln w="10160">
            <a:solidFill>
              <a:srgbClr val="B9DFA7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747352" y="2907792"/>
            <a:ext cx="2036064" cy="822960"/>
          </a:xfrm>
          <a:prstGeom prst="roundRect">
            <a:avLst>
              <a:gd name="adj" fmla="val 49630"/>
            </a:avLst>
          </a:prstGeom>
          <a:solidFill>
            <a:srgbClr val="FBFDF4"/>
          </a:solidFill>
          <a:ln w="10160">
            <a:solidFill>
              <a:srgbClr val="E9D57B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2968600" y="426720"/>
            <a:ext cx="109728" cy="109728"/>
          </a:xfrm>
          <a:prstGeom prst="ellipse">
            <a:avLst/>
          </a:prstGeom>
          <a:solidFill>
            <a:srgbClr val="0095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1725016" y="1054608"/>
            <a:ext cx="3974592" cy="40233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28" y="0"/>
                </a:moveTo>
                <a:lnTo>
                  <a:pt x="21600" y="0"/>
                </a:lnTo>
                <a:lnTo>
                  <a:pt x="20440" y="21600"/>
                </a:lnTo>
                <a:lnTo>
                  <a:pt x="0" y="21600"/>
                </a:lnTo>
                <a:cubicBezTo>
                  <a:pt x="331" y="21600"/>
                  <a:pt x="398" y="0"/>
                  <a:pt x="828" y="0"/>
                </a:cubicBezTo>
                <a:close/>
              </a:path>
            </a:pathLst>
          </a:custGeom>
          <a:solidFill>
            <a:srgbClr val="007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7101688" y="908304"/>
            <a:ext cx="4700016" cy="40233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00" y="0"/>
                </a:moveTo>
                <a:lnTo>
                  <a:pt x="21600" y="0"/>
                </a:lnTo>
                <a:lnTo>
                  <a:pt x="20619" y="21600"/>
                </a:lnTo>
                <a:lnTo>
                  <a:pt x="0" y="21600"/>
                </a:lnTo>
                <a:cubicBezTo>
                  <a:pt x="280" y="21600"/>
                  <a:pt x="336" y="0"/>
                  <a:pt x="700" y="0"/>
                </a:cubicBezTo>
                <a:close/>
              </a:path>
            </a:pathLst>
          </a:custGeom>
          <a:solidFill>
            <a:srgbClr val="218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8138008" y="1603248"/>
            <a:ext cx="3480816" cy="0"/>
          </a:xfrm>
          <a:prstGeom prst="line">
            <a:avLst/>
          </a:prstGeom>
          <a:noFill/>
          <a:ln w="6350">
            <a:solidFill>
              <a:srgbClr val="D5EDDD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8138008" y="4133088"/>
            <a:ext cx="3480816" cy="0"/>
          </a:xfrm>
          <a:prstGeom prst="line">
            <a:avLst/>
          </a:prstGeom>
          <a:noFill/>
          <a:ln w="6350">
            <a:solidFill>
              <a:srgbClr val="D5EDDD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6388456" y="4376928"/>
            <a:ext cx="1609344" cy="1688592"/>
          </a:xfrm>
          <a:prstGeom prst="roundRect">
            <a:avLst>
              <a:gd name="adj" fmla="val 9091"/>
            </a:avLst>
          </a:prstGeom>
          <a:solidFill>
            <a:srgbClr val="048C42"/>
          </a:solidFill>
          <a:ln w="8890">
            <a:solidFill>
              <a:srgbClr val="99D4AE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8101432" y="4376928"/>
            <a:ext cx="1652016" cy="1688592"/>
          </a:xfrm>
          <a:prstGeom prst="roundRect">
            <a:avLst>
              <a:gd name="adj" fmla="val 8856"/>
            </a:avLst>
          </a:prstGeom>
          <a:solidFill>
            <a:srgbClr val="168ECF"/>
          </a:solidFill>
          <a:ln w="8890">
            <a:solidFill>
              <a:srgbClr val="9ECFEA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9863176" y="4376928"/>
            <a:ext cx="1847088" cy="1688592"/>
          </a:xfrm>
          <a:prstGeom prst="roundRect">
            <a:avLst>
              <a:gd name="adj" fmla="val 8664"/>
            </a:avLst>
          </a:prstGeom>
          <a:solidFill>
            <a:srgbClr val="DE9E00"/>
          </a:solidFill>
          <a:ln w="8890">
            <a:solidFill>
              <a:srgbClr val="E8D294"/>
            </a:solidFill>
          </a:ln>
        </p:spPr>
        <p:txBody>
          <a:bodyPr/>
          <a:lstStyle/>
          <a:p/>
        </p:txBody>
      </p:sp>
      <p:sp>
        <p:nvSpPr>
          <p:cNvPr id="31" name="Path 31"/>
          <p:cNvSpPr/>
          <p:nvPr/>
        </p:nvSpPr>
        <p:spPr>
          <a:xfrm>
            <a:off x="4766920" y="1054608"/>
            <a:ext cx="932688" cy="40233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4659" y="0"/>
                </a:moveTo>
                <a:lnTo>
                  <a:pt x="21600" y="0"/>
                </a:lnTo>
                <a:lnTo>
                  <a:pt x="166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BBA7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10869016" y="908304"/>
            <a:ext cx="932688" cy="40233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4659" y="0"/>
                </a:moveTo>
                <a:lnTo>
                  <a:pt x="21600" y="0"/>
                </a:lnTo>
                <a:lnTo>
                  <a:pt x="166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BBA7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3" name="Source left header leaf with pointed dark-green blade."/>
          <p:cNvPicPr/>
          <p:nvPr/>
        </p:nvPicPr>
        <p:blipFill>
          <a:blip r:embed="rId3"/>
          <a:stretch>
            <a:fillRect/>
          </a:stretch>
        </p:blipFill>
        <p:spPr>
          <a:xfrm>
            <a:off x="648451" y="1054665"/>
            <a:ext cx="519401" cy="432702"/>
          </a:xfrm>
          <a:prstGeom prst="rect">
            <a:avLst/>
          </a:prstGeom>
        </p:spPr>
      </p:pic>
      <p:sp>
        <p:nvSpPr>
          <p:cNvPr id="34" name="Roundrect 34"/>
          <p:cNvSpPr/>
          <p:nvPr/>
        </p:nvSpPr>
        <p:spPr>
          <a:xfrm>
            <a:off x="6388456" y="4718304"/>
            <a:ext cx="1609344" cy="1347216"/>
          </a:xfrm>
          <a:prstGeom prst="roundRect">
            <a:avLst>
              <a:gd name="adj" fmla="val 9955"/>
            </a:avLst>
          </a:prstGeom>
          <a:solidFill>
            <a:srgbClr val="FCFEFA"/>
          </a:solidFill>
          <a:ln w="8255">
            <a:solidFill>
              <a:srgbClr val="99D4AE"/>
            </a:solidFill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8101432" y="4718304"/>
            <a:ext cx="1652016" cy="1347216"/>
          </a:xfrm>
          <a:prstGeom prst="roundRect">
            <a:avLst>
              <a:gd name="adj" fmla="val 9955"/>
            </a:avLst>
          </a:prstGeom>
          <a:solidFill>
            <a:srgbClr val="FCFEFA"/>
          </a:solidFill>
          <a:ln w="8255">
            <a:solidFill>
              <a:srgbClr val="9ECFEA"/>
            </a:solidFill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9863176" y="4718304"/>
            <a:ext cx="1847088" cy="1347216"/>
          </a:xfrm>
          <a:prstGeom prst="roundRect">
            <a:avLst>
              <a:gd name="adj" fmla="val 9955"/>
            </a:avLst>
          </a:prstGeom>
          <a:solidFill>
            <a:srgbClr val="FCFEFA"/>
          </a:solidFill>
          <a:ln w="8255">
            <a:solidFill>
              <a:srgbClr val="E8D294"/>
            </a:solidFill>
          </a:ln>
        </p:spPr>
        <p:txBody>
          <a:bodyPr/>
          <a:lstStyle/>
          <a:p/>
        </p:txBody>
      </p:sp>
      <p:sp>
        <p:nvSpPr>
          <p:cNvPr id="37" name="Path 37"/>
          <p:cNvSpPr/>
          <p:nvPr/>
        </p:nvSpPr>
        <p:spPr>
          <a:xfrm>
            <a:off x="6376264" y="1487424"/>
            <a:ext cx="1688592" cy="2438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48" y="0"/>
                </a:moveTo>
                <a:lnTo>
                  <a:pt x="21600" y="0"/>
                </a:lnTo>
                <a:lnTo>
                  <a:pt x="2035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5A952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ath 38"/>
          <p:cNvSpPr/>
          <p:nvPr/>
        </p:nvSpPr>
        <p:spPr>
          <a:xfrm>
            <a:off x="6376264" y="4017264"/>
            <a:ext cx="1688592" cy="2438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48" y="0"/>
                </a:moveTo>
                <a:lnTo>
                  <a:pt x="21600" y="0"/>
                </a:lnTo>
                <a:lnTo>
                  <a:pt x="2035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5A952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ath 39"/>
          <p:cNvSpPr/>
          <p:nvPr/>
        </p:nvSpPr>
        <p:spPr>
          <a:xfrm>
            <a:off x="7705192" y="1487424"/>
            <a:ext cx="359664" cy="2438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858" y="0"/>
                </a:moveTo>
                <a:lnTo>
                  <a:pt x="21600" y="0"/>
                </a:lnTo>
                <a:lnTo>
                  <a:pt x="1574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7DF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ath 40"/>
          <p:cNvSpPr/>
          <p:nvPr/>
        </p:nvSpPr>
        <p:spPr>
          <a:xfrm>
            <a:off x="7705192" y="4017264"/>
            <a:ext cx="359664" cy="2438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858" y="0"/>
                </a:moveTo>
                <a:lnTo>
                  <a:pt x="21600" y="0"/>
                </a:lnTo>
                <a:lnTo>
                  <a:pt x="1574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7DF9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1" name="Source four colored curved flow arrows/orbit and blank luminous center, no surrounding badges or words."/>
          <p:cNvPicPr/>
          <p:nvPr/>
        </p:nvPicPr>
        <p:blipFill>
          <a:blip r:embed="rId24"/>
          <a:stretch>
            <a:fillRect/>
          </a:stretch>
        </p:blipFill>
        <p:spPr>
          <a:xfrm>
            <a:off x="7462613" y="1564135"/>
            <a:ext cx="3399046" cy="2388610"/>
          </a:xfrm>
          <a:prstGeom prst="rect">
            <a:avLst/>
          </a:prstGeom>
        </p:spPr>
      </p:pic>
      <p:pic>
        <p:nvPicPr>
          <p:cNvPr id="42" name="Original source seed/tag emblem at green section heading, separated without words."/>
          <p:cNvPicPr/>
          <p:nvPr/>
        </p:nvPicPr>
        <p:blipFill>
          <a:blip r:embed="rId29"/>
          <a:stretch>
            <a:fillRect/>
          </a:stretch>
        </p:blipFill>
        <p:spPr>
          <a:xfrm>
            <a:off x="6332264" y="1415317"/>
            <a:ext cx="386704" cy="381958"/>
          </a:xfrm>
          <a:prstGeom prst="rect">
            <a:avLst/>
          </a:prstGeom>
        </p:spPr>
      </p:pic>
      <p:pic>
        <p:nvPicPr>
          <p:cNvPr id="43" name="Original source seed/tag emblem at green section heading, separated without words."/>
          <p:cNvPicPr/>
          <p:nvPr/>
        </p:nvPicPr>
        <p:blipFill>
          <a:blip r:embed="rId30"/>
          <a:stretch>
            <a:fillRect/>
          </a:stretch>
        </p:blipFill>
        <p:spPr>
          <a:xfrm>
            <a:off x="6332264" y="3945157"/>
            <a:ext cx="386704" cy="381958"/>
          </a:xfrm>
          <a:prstGeom prst="rect">
            <a:avLst/>
          </a:prstGeom>
        </p:spPr>
      </p:pic>
      <p:pic>
        <p:nvPicPr>
          <p:cNvPr id="44" name="Original source swot-leaf pictogram with its source pale circular base."/>
          <p:cNvPicPr/>
          <p:nvPr/>
        </p:nvPicPr>
        <p:blipFill>
          <a:blip r:embed="rId7"/>
          <a:stretch>
            <a:fillRect/>
          </a:stretch>
        </p:blipFill>
        <p:spPr>
          <a:xfrm>
            <a:off x="741247" y="2065517"/>
            <a:ext cx="528881" cy="521653"/>
          </a:xfrm>
          <a:prstGeom prst="rect">
            <a:avLst/>
          </a:prstGeom>
        </p:spPr>
      </p:pic>
      <p:pic>
        <p:nvPicPr>
          <p:cNvPr id="45" name="Original source swot-chain pictogram with its source pale circular base."/>
          <p:cNvPicPr/>
          <p:nvPr/>
        </p:nvPicPr>
        <p:blipFill>
          <a:blip r:embed="rId8"/>
          <a:stretch>
            <a:fillRect/>
          </a:stretch>
        </p:blipFill>
        <p:spPr>
          <a:xfrm>
            <a:off x="741247" y="2437373"/>
            <a:ext cx="528881" cy="526311"/>
          </a:xfrm>
          <a:prstGeom prst="rect">
            <a:avLst/>
          </a:prstGeom>
        </p:spPr>
      </p:pic>
      <p:pic>
        <p:nvPicPr>
          <p:cNvPr id="46" name="Original source swot-bars-green pictogram with its source pale circular base."/>
          <p:cNvPicPr/>
          <p:nvPr/>
        </p:nvPicPr>
        <p:blipFill>
          <a:blip r:embed="rId9"/>
          <a:stretch>
            <a:fillRect/>
          </a:stretch>
        </p:blipFill>
        <p:spPr>
          <a:xfrm>
            <a:off x="741247" y="2809229"/>
            <a:ext cx="528881" cy="526311"/>
          </a:xfrm>
          <a:prstGeom prst="rect">
            <a:avLst/>
          </a:prstGeom>
        </p:spPr>
      </p:pic>
      <p:pic>
        <p:nvPicPr>
          <p:cNvPr id="47" name="Original source swot-document pictogram with its source pale circular base."/>
          <p:cNvPicPr/>
          <p:nvPr/>
        </p:nvPicPr>
        <p:blipFill>
          <a:blip r:embed="rId10"/>
          <a:stretch>
            <a:fillRect/>
          </a:stretch>
        </p:blipFill>
        <p:spPr>
          <a:xfrm>
            <a:off x="741247" y="3972606"/>
            <a:ext cx="528881" cy="528227"/>
          </a:xfrm>
          <a:prstGeom prst="rect">
            <a:avLst/>
          </a:prstGeom>
        </p:spPr>
      </p:pic>
      <p:pic>
        <p:nvPicPr>
          <p:cNvPr id="48" name="Original source swot-handshake pictogram with its source pale circular base."/>
          <p:cNvPicPr/>
          <p:nvPr/>
        </p:nvPicPr>
        <p:blipFill>
          <a:blip r:embed="rId11"/>
          <a:stretch>
            <a:fillRect/>
          </a:stretch>
        </p:blipFill>
        <p:spPr>
          <a:xfrm>
            <a:off x="741247" y="4338366"/>
            <a:ext cx="528881" cy="528227"/>
          </a:xfrm>
          <a:prstGeom prst="rect">
            <a:avLst/>
          </a:prstGeom>
        </p:spPr>
      </p:pic>
      <p:pic>
        <p:nvPicPr>
          <p:cNvPr id="49" name="Original source swot-bars-gold pictogram with its source pale circular base."/>
          <p:cNvPicPr/>
          <p:nvPr/>
        </p:nvPicPr>
        <p:blipFill>
          <a:blip r:embed="rId12"/>
          <a:stretch>
            <a:fillRect/>
          </a:stretch>
        </p:blipFill>
        <p:spPr>
          <a:xfrm>
            <a:off x="740917" y="4692257"/>
            <a:ext cx="529542" cy="527581"/>
          </a:xfrm>
          <a:prstGeom prst="rect">
            <a:avLst/>
          </a:prstGeom>
        </p:spPr>
      </p:pic>
      <p:pic>
        <p:nvPicPr>
          <p:cNvPr id="50" name="Original source swot-cube pictogram, independently selectable."/>
          <p:cNvPicPr/>
          <p:nvPr/>
        </p:nvPicPr>
        <p:blipFill>
          <a:blip r:embed="rId13"/>
          <a:stretch>
            <a:fillRect/>
          </a:stretch>
        </p:blipFill>
        <p:spPr>
          <a:xfrm>
            <a:off x="3736973" y="2062716"/>
            <a:ext cx="566374" cy="538007"/>
          </a:xfrm>
          <a:prstGeom prst="rect">
            <a:avLst/>
          </a:prstGeom>
        </p:spPr>
      </p:pic>
      <p:pic>
        <p:nvPicPr>
          <p:cNvPr id="51" name="Original source swot-flask pictogram, independently selectable."/>
          <p:cNvPicPr/>
          <p:nvPr/>
        </p:nvPicPr>
        <p:blipFill>
          <a:blip r:embed="rId14"/>
          <a:stretch>
            <a:fillRect/>
          </a:stretch>
        </p:blipFill>
        <p:spPr>
          <a:xfrm>
            <a:off x="3736626" y="2436230"/>
            <a:ext cx="567067" cy="534692"/>
          </a:xfrm>
          <a:prstGeom prst="rect">
            <a:avLst/>
          </a:prstGeom>
        </p:spPr>
      </p:pic>
      <p:pic>
        <p:nvPicPr>
          <p:cNvPr id="52" name="Original source swot-people pictogram, independently selectable."/>
          <p:cNvPicPr/>
          <p:nvPr/>
        </p:nvPicPr>
        <p:blipFill>
          <a:blip r:embed="rId15"/>
          <a:stretch>
            <a:fillRect/>
          </a:stretch>
        </p:blipFill>
        <p:spPr>
          <a:xfrm>
            <a:off x="3736973" y="2808086"/>
            <a:ext cx="566374" cy="534692"/>
          </a:xfrm>
          <a:prstGeom prst="rect">
            <a:avLst/>
          </a:prstGeom>
        </p:spPr>
      </p:pic>
      <p:pic>
        <p:nvPicPr>
          <p:cNvPr id="53" name="Original source swot-gear pictogram, independently selectable."/>
          <p:cNvPicPr/>
          <p:nvPr/>
        </p:nvPicPr>
        <p:blipFill>
          <a:blip r:embed="rId16"/>
          <a:stretch>
            <a:fillRect/>
          </a:stretch>
        </p:blipFill>
        <p:spPr>
          <a:xfrm>
            <a:off x="3736626" y="3972098"/>
            <a:ext cx="567067" cy="535340"/>
          </a:xfrm>
          <a:prstGeom prst="rect">
            <a:avLst/>
          </a:prstGeom>
        </p:spPr>
      </p:pic>
      <p:pic>
        <p:nvPicPr>
          <p:cNvPr id="54" name="Original source swot-clock pictogram, independently selectable."/>
          <p:cNvPicPr/>
          <p:nvPr/>
        </p:nvPicPr>
        <p:blipFill>
          <a:blip r:embed="rId17"/>
          <a:stretch>
            <a:fillRect/>
          </a:stretch>
        </p:blipFill>
        <p:spPr>
          <a:xfrm>
            <a:off x="3736626" y="4338503"/>
            <a:ext cx="567067" cy="534051"/>
          </a:xfrm>
          <a:prstGeom prst="rect">
            <a:avLst/>
          </a:prstGeom>
        </p:spPr>
      </p:pic>
      <p:pic>
        <p:nvPicPr>
          <p:cNvPr id="55" name="Original source swot-warning pictogram, independently selectable."/>
          <p:cNvPicPr/>
          <p:nvPr/>
        </p:nvPicPr>
        <p:blipFill>
          <a:blip r:embed="rId18"/>
          <a:stretch>
            <a:fillRect/>
          </a:stretch>
        </p:blipFill>
        <p:spPr>
          <a:xfrm>
            <a:off x="3736973" y="4691426"/>
            <a:ext cx="566374" cy="535340"/>
          </a:xfrm>
          <a:prstGeom prst="rect">
            <a:avLst/>
          </a:prstGeom>
        </p:spPr>
      </p:pic>
      <p:pic>
        <p:nvPicPr>
          <p:cNvPr id="56" name="Source green leaf at the right end of the SWOT title strip."/>
          <p:cNvPicPr/>
          <p:nvPr/>
        </p:nvPicPr>
        <p:blipFill>
          <a:blip r:embed="rId4"/>
          <a:stretch>
            <a:fillRect/>
          </a:stretch>
        </p:blipFill>
        <p:spPr>
          <a:xfrm>
            <a:off x="5070606" y="1160495"/>
            <a:ext cx="648402" cy="428306"/>
          </a:xfrm>
          <a:prstGeom prst="rect">
            <a:avLst/>
          </a:prstGeom>
        </p:spPr>
      </p:pic>
      <p:pic>
        <p:nvPicPr>
          <p:cNvPr id="57" name="Source gold/green right end leaf."/>
          <p:cNvPicPr/>
          <p:nvPr/>
        </p:nvPicPr>
        <p:blipFill>
          <a:blip r:embed="rId6"/>
          <a:stretch>
            <a:fillRect/>
          </a:stretch>
        </p:blipFill>
        <p:spPr>
          <a:xfrm>
            <a:off x="11165877" y="878629"/>
            <a:ext cx="723014" cy="571414"/>
          </a:xfrm>
          <a:prstGeom prst="rect">
            <a:avLst/>
          </a:prstGeom>
        </p:spPr>
      </p:pic>
      <p:pic>
        <p:nvPicPr>
          <p:cNvPr id="58" name="Original large glossy curved green arrow, complete tail/head and source sweep, independently selectable."/>
          <p:cNvPicPr/>
          <p:nvPr/>
        </p:nvPicPr>
        <p:blipFill>
          <a:blip r:embed="rId37"/>
          <a:stretch>
            <a:fillRect/>
          </a:stretch>
        </p:blipFill>
        <p:spPr>
          <a:xfrm>
            <a:off x="2656888" y="4852805"/>
            <a:ext cx="3647360" cy="1254998"/>
          </a:xfrm>
          <a:prstGeom prst="rect">
            <a:avLst/>
          </a:prstGeom>
        </p:spPr>
      </p:pic>
      <p:pic>
        <p:nvPicPr>
          <p:cNvPr id="59" name="Source translucent leaf at green card corner."/>
          <p:cNvPicPr/>
          <p:nvPr/>
        </p:nvPicPr>
        <p:blipFill>
          <a:blip r:embed="rId19"/>
          <a:stretch>
            <a:fillRect/>
          </a:stretch>
        </p:blipFill>
        <p:spPr>
          <a:xfrm>
            <a:off x="627146" y="1563829"/>
            <a:ext cx="421804" cy="395829"/>
          </a:xfrm>
          <a:prstGeom prst="rect">
            <a:avLst/>
          </a:prstGeom>
        </p:spPr>
      </p:pic>
      <p:pic>
        <p:nvPicPr>
          <p:cNvPr id="60" name="Source pale leaf sticker at blue card corner."/>
          <p:cNvPicPr/>
          <p:nvPr/>
        </p:nvPicPr>
        <p:blipFill>
          <a:blip r:embed="rId20"/>
          <a:stretch>
            <a:fillRect/>
          </a:stretch>
        </p:blipFill>
        <p:spPr>
          <a:xfrm>
            <a:off x="3585475" y="1564587"/>
            <a:ext cx="345112" cy="388217"/>
          </a:xfrm>
          <a:prstGeom prst="rect">
            <a:avLst/>
          </a:prstGeom>
        </p:spPr>
      </p:pic>
      <p:pic>
        <p:nvPicPr>
          <p:cNvPr id="61" name="Source lime/gold corner leaf on opportunity card."/>
          <p:cNvPicPr/>
          <p:nvPr/>
        </p:nvPicPr>
        <p:blipFill>
          <a:blip r:embed="rId21"/>
          <a:stretch>
            <a:fillRect/>
          </a:stretch>
        </p:blipFill>
        <p:spPr>
          <a:xfrm>
            <a:off x="517539" y="3487665"/>
            <a:ext cx="525194" cy="394733"/>
          </a:xfrm>
          <a:prstGeom prst="rect">
            <a:avLst/>
          </a:prstGeom>
        </p:spPr>
      </p:pic>
      <p:pic>
        <p:nvPicPr>
          <p:cNvPr id="62" name="Source small green blade at threat card outer corner."/>
          <p:cNvPicPr/>
          <p:nvPr/>
        </p:nvPicPr>
        <p:blipFill>
          <a:blip r:embed="rId22"/>
          <a:stretch>
            <a:fillRect/>
          </a:stretch>
        </p:blipFill>
        <p:spPr>
          <a:xfrm>
            <a:off x="5638436" y="3420244"/>
            <a:ext cx="567352" cy="389369"/>
          </a:xfrm>
          <a:prstGeom prst="rect">
            <a:avLst/>
          </a:prstGeom>
        </p:spPr>
      </p:pic>
      <p:pic>
        <p:nvPicPr>
          <p:cNvPr id="63" name="Source white circular trend-seedling badge with original symbol, light rim and proportions."/>
          <p:cNvPicPr/>
          <p:nvPr/>
        </p:nvPicPr>
        <p:blipFill>
          <a:blip r:embed="rId25"/>
          <a:stretch>
            <a:fillRect/>
          </a:stretch>
        </p:blipFill>
        <p:spPr>
          <a:xfrm>
            <a:off x="7622543" y="1654302"/>
            <a:ext cx="1061410" cy="1074420"/>
          </a:xfrm>
          <a:prstGeom prst="rect">
            <a:avLst/>
          </a:prstGeom>
        </p:spPr>
      </p:pic>
      <p:pic>
        <p:nvPicPr>
          <p:cNvPr id="64" name="Source white circular trend-document badge with original symbol, light rim and proportions."/>
          <p:cNvPicPr/>
          <p:nvPr/>
        </p:nvPicPr>
        <p:blipFill>
          <a:blip r:embed="rId26"/>
          <a:stretch>
            <a:fillRect/>
          </a:stretch>
        </p:blipFill>
        <p:spPr>
          <a:xfrm>
            <a:off x="9650409" y="1652597"/>
            <a:ext cx="1059518" cy="1077831"/>
          </a:xfrm>
          <a:prstGeom prst="rect">
            <a:avLst/>
          </a:prstGeom>
        </p:spPr>
      </p:pic>
      <p:pic>
        <p:nvPicPr>
          <p:cNvPr id="65" name="Source white circular trend-sprig badge with original symbol, light rim and proportions."/>
          <p:cNvPicPr/>
          <p:nvPr/>
        </p:nvPicPr>
        <p:blipFill>
          <a:blip r:embed="rId27"/>
          <a:stretch>
            <a:fillRect/>
          </a:stretch>
        </p:blipFill>
        <p:spPr>
          <a:xfrm>
            <a:off x="7607851" y="2792549"/>
            <a:ext cx="1072505" cy="1077831"/>
          </a:xfrm>
          <a:prstGeom prst="rect">
            <a:avLst/>
          </a:prstGeom>
        </p:spPr>
      </p:pic>
      <p:pic>
        <p:nvPicPr>
          <p:cNvPr id="66" name="Source white circular trend-bars badge with original symbol, light rim and proportions."/>
          <p:cNvPicPr/>
          <p:nvPr/>
        </p:nvPicPr>
        <p:blipFill>
          <a:blip r:embed="rId28"/>
          <a:stretch>
            <a:fillRect/>
          </a:stretch>
        </p:blipFill>
        <p:spPr>
          <a:xfrm>
            <a:off x="9634921" y="2794254"/>
            <a:ext cx="1072205" cy="1074420"/>
          </a:xfrm>
          <a:prstGeom prst="rect">
            <a:avLst/>
          </a:prstGeom>
        </p:spPr>
      </p:pic>
      <p:pic>
        <p:nvPicPr>
          <p:cNvPr id="67" name="Original source circular market heading badge; title and figures native."/>
          <p:cNvPicPr/>
          <p:nvPr/>
        </p:nvPicPr>
        <p:blipFill>
          <a:blip r:embed="rId31"/>
          <a:stretch>
            <a:fillRect/>
          </a:stretch>
        </p:blipFill>
        <p:spPr>
          <a:xfrm>
            <a:off x="6364331" y="4255455"/>
            <a:ext cx="596889" cy="602610"/>
          </a:xfrm>
          <a:prstGeom prst="rect">
            <a:avLst/>
          </a:prstGeom>
        </p:spPr>
      </p:pic>
      <p:pic>
        <p:nvPicPr>
          <p:cNvPr id="68" name="Original source circular profit heading badge; title and figures native."/>
          <p:cNvPicPr/>
          <p:nvPr/>
        </p:nvPicPr>
        <p:blipFill>
          <a:blip r:embed="rId32"/>
          <a:stretch>
            <a:fillRect/>
          </a:stretch>
        </p:blipFill>
        <p:spPr>
          <a:xfrm>
            <a:off x="8095729" y="4254814"/>
            <a:ext cx="590525" cy="603891"/>
          </a:xfrm>
          <a:prstGeom prst="rect">
            <a:avLst/>
          </a:prstGeom>
        </p:spPr>
      </p:pic>
      <p:pic>
        <p:nvPicPr>
          <p:cNvPr id="69" name="Original source circular value heading badge; title and figures native."/>
          <p:cNvPicPr/>
          <p:nvPr/>
        </p:nvPicPr>
        <p:blipFill>
          <a:blip r:embed="rId33"/>
          <a:stretch>
            <a:fillRect/>
          </a:stretch>
        </p:blipFill>
        <p:spPr>
          <a:xfrm>
            <a:off x="9852830" y="4264273"/>
            <a:ext cx="605908" cy="598579"/>
          </a:xfrm>
          <a:prstGeom prst="rect">
            <a:avLst/>
          </a:prstGeom>
        </p:spPr>
      </p:pic>
      <p:pic>
        <p:nvPicPr>
          <p:cNvPr id="70" name="Original circular landscape globe/circuit rim/white leaf emblem with all SWOT text remov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2096137" y="2331802"/>
            <a:ext cx="2135069" cy="2176107"/>
          </a:xfrm>
          <a:prstGeom prst="rect">
            <a:avLst/>
          </a:prstGeom>
        </p:spPr>
      </p:pic>
      <p:pic>
        <p:nvPicPr>
          <p:cNvPr id="71" name="Original gold value pictogram value-globe with original strokes and transparent interior."/>
          <p:cNvPicPr/>
          <p:nvPr/>
        </p:nvPicPr>
        <p:blipFill>
          <a:blip r:embed="rId34"/>
          <a:stretch>
            <a:fillRect/>
          </a:stretch>
        </p:blipFill>
        <p:spPr>
          <a:xfrm>
            <a:off x="9965273" y="4821762"/>
            <a:ext cx="344446" cy="335628"/>
          </a:xfrm>
          <a:prstGeom prst="rect">
            <a:avLst/>
          </a:prstGeom>
        </p:spPr>
      </p:pic>
      <p:pic>
        <p:nvPicPr>
          <p:cNvPr id="72" name="Original gold value pictogram value-handshake with original strokes and transparent interior."/>
          <p:cNvPicPr/>
          <p:nvPr/>
        </p:nvPicPr>
        <p:blipFill>
          <a:blip r:embed="rId35"/>
          <a:stretch>
            <a:fillRect/>
          </a:stretch>
        </p:blipFill>
        <p:spPr>
          <a:xfrm>
            <a:off x="9956285" y="5215443"/>
            <a:ext cx="350229" cy="310265"/>
          </a:xfrm>
          <a:prstGeom prst="rect">
            <a:avLst/>
          </a:prstGeom>
        </p:spPr>
      </p:pic>
      <p:pic>
        <p:nvPicPr>
          <p:cNvPr id="73" name="Original gold value pictogram value-gear with original strokes and transparent interior."/>
          <p:cNvPicPr/>
          <p:nvPr/>
        </p:nvPicPr>
        <p:blipFill>
          <a:blip r:embed="rId36"/>
          <a:stretch>
            <a:fillRect/>
          </a:stretch>
        </p:blipFill>
        <p:spPr>
          <a:xfrm>
            <a:off x="9960712" y="5583221"/>
            <a:ext cx="341376" cy="348901"/>
          </a:xfrm>
          <a:prstGeom prst="rect">
            <a:avLst/>
          </a:prstGeom>
        </p:spPr>
      </p:pic>
      <p:pic>
        <p:nvPicPr>
          <p:cNvPr id="74" name="Original leafy Earth sphere, complete independent image; lower edge occluded by the source-style front wave."/>
          <p:cNvPicPr/>
          <p:nvPr/>
        </p:nvPicPr>
        <p:blipFill>
          <a:blip r:embed="rId38"/>
          <a:stretch>
            <a:fillRect/>
          </a:stretch>
        </p:blipFill>
        <p:spPr>
          <a:xfrm>
            <a:off x="1255624" y="5023104"/>
            <a:ext cx="2273808" cy="2139696"/>
          </a:xfrm>
          <a:prstGeom prst="rect">
            <a:avLst/>
          </a:prstGeom>
        </p:spPr>
      </p:pic>
      <p:sp>
        <p:nvSpPr>
          <p:cNvPr id="75" name="TextBox 75"/>
          <p:cNvSpPr txBox="1"/>
          <p:nvPr/>
        </p:nvSpPr>
        <p:spPr>
          <a:xfrm>
            <a:off x="877672" y="256032"/>
            <a:ext cx="1639824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00" b="1" i="1">
                <a:solidFill>
                  <a:srgbClr val="FAE8A0"/>
                </a:solidFill>
                <a:latin typeface="Microsoft YaHei"/>
                <a:ea typeface="Microsoft YaHei"/>
                <a:cs typeface="Microsoft YaHei"/>
              </a:rPr>
              <a:t>前景分析</a:t>
            </a:r>
            <a:endParaRPr lang="zh-CN" sz="2900"/>
          </a:p>
        </p:txBody>
      </p:sp>
      <p:sp>
        <p:nvSpPr>
          <p:cNvPr id="76" name="TextBox 76"/>
          <p:cNvSpPr txBox="1"/>
          <p:nvPr/>
        </p:nvSpPr>
        <p:spPr>
          <a:xfrm>
            <a:off x="3249016" y="274320"/>
            <a:ext cx="160324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>
                <a:solidFill>
                  <a:srgbClr val="00543A"/>
                </a:solidFill>
                <a:latin typeface="KaiTi"/>
                <a:ea typeface="KaiTi"/>
                <a:cs typeface="KaiTi"/>
              </a:rPr>
              <a:t>SWOT分析</a:t>
            </a:r>
            <a:endParaRPr lang="zh-CN" sz="2300"/>
          </a:p>
        </p:txBody>
      </p:sp>
      <p:sp>
        <p:nvSpPr>
          <p:cNvPr id="77" name="TextBox 77"/>
          <p:cNvSpPr txBox="1"/>
          <p:nvPr/>
        </p:nvSpPr>
        <p:spPr>
          <a:xfrm>
            <a:off x="1188568" y="914400"/>
            <a:ext cx="707136" cy="5547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400" b="1" i="1">
                <a:solidFill>
                  <a:srgbClr val="8C8029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4400"/>
          </a:p>
        </p:txBody>
      </p:sp>
      <p:sp>
        <p:nvSpPr>
          <p:cNvPr id="78" name="TextBox 78"/>
          <p:cNvSpPr txBox="1"/>
          <p:nvPr/>
        </p:nvSpPr>
        <p:spPr>
          <a:xfrm>
            <a:off x="6577432" y="749808"/>
            <a:ext cx="701040" cy="597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400" b="1" i="1">
                <a:solidFill>
                  <a:srgbClr val="8C8029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4400"/>
          </a:p>
        </p:txBody>
      </p:sp>
      <p:sp>
        <p:nvSpPr>
          <p:cNvPr id="79" name="TextBox 79"/>
          <p:cNvSpPr txBox="1"/>
          <p:nvPr/>
        </p:nvSpPr>
        <p:spPr>
          <a:xfrm>
            <a:off x="2157832" y="1036320"/>
            <a:ext cx="1981200" cy="4206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SWOT分析</a:t>
            </a:r>
            <a:endParaRPr lang="zh-CN" sz="2200"/>
          </a:p>
        </p:txBody>
      </p:sp>
      <p:sp>
        <p:nvSpPr>
          <p:cNvPr id="80" name="TextBox 80"/>
          <p:cNvSpPr txBox="1"/>
          <p:nvPr/>
        </p:nvSpPr>
        <p:spPr>
          <a:xfrm>
            <a:off x="7424776" y="908304"/>
            <a:ext cx="4090416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行业发展趋势与项目综合前景</a:t>
            </a:r>
            <a:endParaRPr lang="zh-CN" sz="1930"/>
          </a:p>
        </p:txBody>
      </p:sp>
      <p:sp>
        <p:nvSpPr>
          <p:cNvPr id="81" name="TextBox 81"/>
          <p:cNvSpPr txBox="1"/>
          <p:nvPr/>
        </p:nvSpPr>
        <p:spPr>
          <a:xfrm>
            <a:off x="1280008" y="1676400"/>
            <a:ext cx="1389888" cy="335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 S</a:t>
            </a:r>
            <a:endParaRPr lang="zh-CN" sz="1600"/>
          </a:p>
        </p:txBody>
      </p:sp>
      <p:sp>
        <p:nvSpPr>
          <p:cNvPr id="82" name="TextBox 82"/>
          <p:cNvSpPr txBox="1"/>
          <p:nvPr/>
        </p:nvSpPr>
        <p:spPr>
          <a:xfrm>
            <a:off x="4419448" y="1676400"/>
            <a:ext cx="1310640" cy="335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劣势 W</a:t>
            </a:r>
            <a:endParaRPr lang="zh-CN" sz="1600"/>
          </a:p>
        </p:txBody>
      </p:sp>
      <p:sp>
        <p:nvSpPr>
          <p:cNvPr id="83" name="TextBox 83"/>
          <p:cNvSpPr txBox="1"/>
          <p:nvPr/>
        </p:nvSpPr>
        <p:spPr>
          <a:xfrm>
            <a:off x="1072744" y="3584448"/>
            <a:ext cx="1645920" cy="335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机会 O</a:t>
            </a:r>
            <a:endParaRPr lang="zh-CN" sz="1600"/>
          </a:p>
        </p:txBody>
      </p:sp>
      <p:sp>
        <p:nvSpPr>
          <p:cNvPr id="84" name="TextBox 84"/>
          <p:cNvSpPr txBox="1"/>
          <p:nvPr/>
        </p:nvSpPr>
        <p:spPr>
          <a:xfrm>
            <a:off x="4632808" y="3584448"/>
            <a:ext cx="1097280" cy="335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威胁 T</a:t>
            </a:r>
            <a:endParaRPr lang="zh-CN" sz="1600"/>
          </a:p>
        </p:txBody>
      </p:sp>
      <p:sp>
        <p:nvSpPr>
          <p:cNvPr id="85" name="TextBox 85"/>
          <p:cNvSpPr txBox="1"/>
          <p:nvPr/>
        </p:nvSpPr>
        <p:spPr>
          <a:xfrm>
            <a:off x="1316584" y="2200656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全产业链技术与成本优势</a:t>
            </a:r>
            <a:endParaRPr lang="zh-CN" sz="1000"/>
          </a:p>
        </p:txBody>
      </p:sp>
      <p:sp>
        <p:nvSpPr>
          <p:cNvPr id="86" name="TextBox 86"/>
          <p:cNvSpPr txBox="1"/>
          <p:nvPr/>
        </p:nvSpPr>
        <p:spPr>
          <a:xfrm>
            <a:off x="1316584" y="2572512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RCEP长期关税红利</a:t>
            </a:r>
            <a:endParaRPr lang="zh-CN" sz="1000"/>
          </a:p>
        </p:txBody>
      </p:sp>
      <p:sp>
        <p:nvSpPr>
          <p:cNvPr id="87" name="TextBox 87"/>
          <p:cNvSpPr txBox="1"/>
          <p:nvPr/>
        </p:nvSpPr>
        <p:spPr>
          <a:xfrm>
            <a:off x="1316584" y="2944368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政府环保政策推动</a:t>
            </a:r>
            <a:endParaRPr lang="zh-CN" sz="1000"/>
          </a:p>
        </p:txBody>
      </p:sp>
      <p:sp>
        <p:nvSpPr>
          <p:cNvPr id="88" name="TextBox 88"/>
          <p:cNvSpPr txBox="1"/>
          <p:nvPr/>
        </p:nvSpPr>
        <p:spPr>
          <a:xfrm>
            <a:off x="1316584" y="4108704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进口替代空间广阔</a:t>
            </a:r>
            <a:endParaRPr lang="zh-CN" sz="1000"/>
          </a:p>
        </p:txBody>
      </p:sp>
      <p:sp>
        <p:nvSpPr>
          <p:cNvPr id="89" name="TextBox 89"/>
          <p:cNvSpPr txBox="1"/>
          <p:nvPr/>
        </p:nvSpPr>
        <p:spPr>
          <a:xfrm>
            <a:off x="1316584" y="4474464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东盟统一降解标准</a:t>
            </a:r>
            <a:endParaRPr lang="zh-CN" sz="1000"/>
          </a:p>
        </p:txBody>
      </p:sp>
      <p:sp>
        <p:nvSpPr>
          <p:cNvPr id="90" name="TextBox 90"/>
          <p:cNvSpPr txBox="1"/>
          <p:nvPr/>
        </p:nvSpPr>
        <p:spPr>
          <a:xfrm>
            <a:off x="1316584" y="4828032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热带雾照种植面积持续扩张</a:t>
            </a:r>
            <a:endParaRPr lang="zh-CN" sz="1000"/>
          </a:p>
        </p:txBody>
      </p:sp>
      <p:sp>
        <p:nvSpPr>
          <p:cNvPr id="91" name="TextBox 91"/>
          <p:cNvSpPr txBox="1"/>
          <p:nvPr/>
        </p:nvSpPr>
        <p:spPr>
          <a:xfrm>
            <a:off x="4297528" y="2200656"/>
            <a:ext cx="1475232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产品初期成本高</a:t>
            </a:r>
            <a:endParaRPr lang="zh-CN" sz="1000"/>
          </a:p>
        </p:txBody>
      </p:sp>
      <p:sp>
        <p:nvSpPr>
          <p:cNvPr id="92" name="TextBox 92"/>
          <p:cNvSpPr txBox="1"/>
          <p:nvPr/>
        </p:nvSpPr>
        <p:spPr>
          <a:xfrm>
            <a:off x="4297528" y="2572512"/>
            <a:ext cx="1475232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海外自主品牌认知度低</a:t>
            </a:r>
            <a:endParaRPr lang="zh-CN" sz="1000"/>
          </a:p>
        </p:txBody>
      </p:sp>
      <p:sp>
        <p:nvSpPr>
          <p:cNvPr id="93" name="TextBox 93"/>
          <p:cNvSpPr txBox="1"/>
          <p:nvPr/>
        </p:nvSpPr>
        <p:spPr>
          <a:xfrm>
            <a:off x="4297528" y="2944368"/>
            <a:ext cx="1475232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多国准入认证流程复杂</a:t>
            </a:r>
            <a:endParaRPr lang="zh-CN" sz="1000"/>
          </a:p>
        </p:txBody>
      </p:sp>
      <p:sp>
        <p:nvSpPr>
          <p:cNvPr id="94" name="TextBox 94"/>
          <p:cNvSpPr txBox="1"/>
          <p:nvPr/>
        </p:nvSpPr>
        <p:spPr>
          <a:xfrm>
            <a:off x="4297528" y="4108704"/>
            <a:ext cx="1475232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本土低价塑料膜仍占市场</a:t>
            </a:r>
            <a:endParaRPr lang="zh-CN" sz="1000"/>
          </a:p>
        </p:txBody>
      </p:sp>
      <p:sp>
        <p:nvSpPr>
          <p:cNvPr id="95" name="TextBox 95"/>
          <p:cNvSpPr txBox="1"/>
          <p:nvPr/>
        </p:nvSpPr>
        <p:spPr>
          <a:xfrm>
            <a:off x="4297528" y="4474464"/>
            <a:ext cx="1475232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各国环保标准提升</a:t>
            </a:r>
            <a:endParaRPr lang="zh-CN" sz="1000"/>
          </a:p>
        </p:txBody>
      </p:sp>
      <p:sp>
        <p:nvSpPr>
          <p:cNvPr id="96" name="TextBox 96"/>
          <p:cNvSpPr txBox="1"/>
          <p:nvPr/>
        </p:nvSpPr>
        <p:spPr>
          <a:xfrm>
            <a:off x="4297528" y="4828032"/>
            <a:ext cx="1475232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上游大宗商品价格波动</a:t>
            </a:r>
            <a:endParaRPr lang="zh-CN" sz="1000"/>
          </a:p>
        </p:txBody>
      </p:sp>
      <p:sp>
        <p:nvSpPr>
          <p:cNvPr id="97" name="TextBox 97"/>
          <p:cNvSpPr txBox="1"/>
          <p:nvPr/>
        </p:nvSpPr>
        <p:spPr>
          <a:xfrm>
            <a:off x="2499208" y="3115056"/>
            <a:ext cx="1359408" cy="481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SWOT</a:t>
            </a:r>
            <a:endParaRPr lang="zh-CN" sz="3000"/>
          </a:p>
        </p:txBody>
      </p:sp>
      <p:sp>
        <p:nvSpPr>
          <p:cNvPr id="98" name="TextBox 98"/>
          <p:cNvSpPr txBox="1"/>
          <p:nvPr/>
        </p:nvSpPr>
        <p:spPr>
          <a:xfrm>
            <a:off x="8613496" y="2383536"/>
            <a:ext cx="1066800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四大</a:t>
            </a:r>
            <a:endParaRPr lang="zh-CN" sz="2400"/>
          </a:p>
        </p:txBody>
      </p:sp>
      <p:sp>
        <p:nvSpPr>
          <p:cNvPr id="99" name="TextBox 99"/>
          <p:cNvSpPr txBox="1"/>
          <p:nvPr/>
        </p:nvSpPr>
        <p:spPr>
          <a:xfrm>
            <a:off x="8613496" y="2731008"/>
            <a:ext cx="1066800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趋势</a:t>
            </a:r>
            <a:endParaRPr lang="zh-CN" sz="2400"/>
          </a:p>
        </p:txBody>
      </p:sp>
      <p:sp>
        <p:nvSpPr>
          <p:cNvPr id="100" name="TextBox 100"/>
          <p:cNvSpPr txBox="1"/>
          <p:nvPr/>
        </p:nvSpPr>
        <p:spPr>
          <a:xfrm>
            <a:off x="6973672" y="1920240"/>
            <a:ext cx="731520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全球农膜</a:t>
            </a:r>
            <a:endParaRPr lang="zh-CN" sz="1000"/>
          </a:p>
        </p:txBody>
      </p:sp>
      <p:sp>
        <p:nvSpPr>
          <p:cNvPr id="101" name="TextBox 101"/>
          <p:cNvSpPr txBox="1"/>
          <p:nvPr/>
        </p:nvSpPr>
        <p:spPr>
          <a:xfrm>
            <a:off x="6973672" y="2115312"/>
            <a:ext cx="731520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结构性替代</a:t>
            </a:r>
            <a:endParaRPr lang="zh-CN" sz="1000"/>
          </a:p>
        </p:txBody>
      </p:sp>
      <p:sp>
        <p:nvSpPr>
          <p:cNvPr id="102" name="TextBox 102"/>
          <p:cNvSpPr txBox="1"/>
          <p:nvPr/>
        </p:nvSpPr>
        <p:spPr>
          <a:xfrm>
            <a:off x="6973672" y="2310384"/>
            <a:ext cx="731520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趋势不可逆</a:t>
            </a:r>
            <a:endParaRPr lang="zh-CN" sz="1000"/>
          </a:p>
        </p:txBody>
      </p:sp>
      <p:sp>
        <p:nvSpPr>
          <p:cNvPr id="103" name="TextBox 103"/>
          <p:cNvSpPr txBox="1"/>
          <p:nvPr/>
        </p:nvSpPr>
        <p:spPr>
          <a:xfrm>
            <a:off x="10692232" y="1920240"/>
            <a:ext cx="999744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RCEP协定</a:t>
            </a:r>
            <a:endParaRPr lang="zh-CN" sz="1000"/>
          </a:p>
        </p:txBody>
      </p:sp>
      <p:sp>
        <p:nvSpPr>
          <p:cNvPr id="104" name="TextBox 104"/>
          <p:cNvSpPr txBox="1"/>
          <p:nvPr/>
        </p:nvSpPr>
        <p:spPr>
          <a:xfrm>
            <a:off x="10692232" y="2115312"/>
            <a:ext cx="999744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持续放大中国</a:t>
            </a:r>
            <a:endParaRPr lang="zh-CN" sz="1000"/>
          </a:p>
        </p:txBody>
      </p:sp>
      <p:sp>
        <p:nvSpPr>
          <p:cNvPr id="105" name="TextBox 105"/>
          <p:cNvSpPr txBox="1"/>
          <p:nvPr/>
        </p:nvSpPr>
        <p:spPr>
          <a:xfrm>
            <a:off x="10692232" y="2310384"/>
            <a:ext cx="999744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产业链出口</a:t>
            </a:r>
            <a:endParaRPr lang="zh-CN" sz="1000"/>
          </a:p>
        </p:txBody>
      </p:sp>
      <p:sp>
        <p:nvSpPr>
          <p:cNvPr id="106" name="TextBox 106"/>
          <p:cNvSpPr txBox="1"/>
          <p:nvPr/>
        </p:nvSpPr>
        <p:spPr>
          <a:xfrm>
            <a:off x="6668872" y="2999232"/>
            <a:ext cx="1097280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“产品+农技</a:t>
            </a:r>
            <a:endParaRPr lang="zh-CN" sz="1000"/>
          </a:p>
        </p:txBody>
      </p:sp>
      <p:sp>
        <p:nvSpPr>
          <p:cNvPr id="107" name="TextBox 107"/>
          <p:cNvSpPr txBox="1"/>
          <p:nvPr/>
        </p:nvSpPr>
        <p:spPr>
          <a:xfrm>
            <a:off x="6668872" y="3194304"/>
            <a:ext cx="1097280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服务一体化”</a:t>
            </a:r>
            <a:endParaRPr lang="zh-CN" sz="1000"/>
          </a:p>
        </p:txBody>
      </p:sp>
      <p:sp>
        <p:nvSpPr>
          <p:cNvPr id="108" name="TextBox 108"/>
          <p:cNvSpPr txBox="1"/>
          <p:nvPr/>
        </p:nvSpPr>
        <p:spPr>
          <a:xfrm>
            <a:off x="6668872" y="3389376"/>
            <a:ext cx="1097280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贸易模式成为主流</a:t>
            </a:r>
            <a:endParaRPr lang="zh-CN" sz="1000"/>
          </a:p>
        </p:txBody>
      </p:sp>
      <p:sp>
        <p:nvSpPr>
          <p:cNvPr id="109" name="TextBox 109"/>
          <p:cNvSpPr txBox="1"/>
          <p:nvPr/>
        </p:nvSpPr>
        <p:spPr>
          <a:xfrm>
            <a:off x="10692232" y="3078480"/>
            <a:ext cx="1024128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东南亚绿色农业</a:t>
            </a:r>
            <a:endParaRPr lang="zh-CN" sz="1000"/>
          </a:p>
        </p:txBody>
      </p:sp>
      <p:sp>
        <p:nvSpPr>
          <p:cNvPr id="110" name="TextBox 110"/>
          <p:cNvSpPr txBox="1"/>
          <p:nvPr/>
        </p:nvSpPr>
        <p:spPr>
          <a:xfrm>
            <a:off x="10692232" y="3273552"/>
            <a:ext cx="1024128" cy="195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政策加速落地</a:t>
            </a:r>
            <a:endParaRPr lang="zh-CN" sz="1000"/>
          </a:p>
        </p:txBody>
      </p:sp>
      <p:sp>
        <p:nvSpPr>
          <p:cNvPr id="111" name="TextBox 111"/>
          <p:cNvSpPr txBox="1"/>
          <p:nvPr/>
        </p:nvSpPr>
        <p:spPr>
          <a:xfrm>
            <a:off x="6711544" y="148132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行业四大趋势</a:t>
            </a:r>
            <a:endParaRPr lang="zh-CN" sz="1520"/>
          </a:p>
        </p:txBody>
      </p:sp>
      <p:sp>
        <p:nvSpPr>
          <p:cNvPr id="112" name="TextBox 112"/>
          <p:cNvSpPr txBox="1"/>
          <p:nvPr/>
        </p:nvSpPr>
        <p:spPr>
          <a:xfrm>
            <a:off x="6711544" y="401116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项目综合前景</a:t>
            </a:r>
            <a:endParaRPr lang="zh-CN" sz="1520"/>
          </a:p>
        </p:txBody>
      </p:sp>
      <p:sp>
        <p:nvSpPr>
          <p:cNvPr id="113" name="TextBox 113"/>
          <p:cNvSpPr txBox="1"/>
          <p:nvPr/>
        </p:nvSpPr>
        <p:spPr>
          <a:xfrm>
            <a:off x="6931000" y="4395216"/>
            <a:ext cx="1042416" cy="316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市场规模前景</a:t>
            </a:r>
            <a:endParaRPr lang="zh-CN" sz="1250"/>
          </a:p>
        </p:txBody>
      </p:sp>
      <p:sp>
        <p:nvSpPr>
          <p:cNvPr id="114" name="TextBox 114"/>
          <p:cNvSpPr txBox="1"/>
          <p:nvPr/>
        </p:nvSpPr>
        <p:spPr>
          <a:xfrm>
            <a:off x="8717128" y="4395216"/>
            <a:ext cx="975360" cy="316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盈利前景</a:t>
            </a:r>
            <a:endParaRPr lang="zh-CN" sz="1250"/>
          </a:p>
        </p:txBody>
      </p:sp>
      <p:sp>
        <p:nvSpPr>
          <p:cNvPr id="115" name="TextBox 115"/>
          <p:cNvSpPr txBox="1"/>
          <p:nvPr/>
        </p:nvSpPr>
        <p:spPr>
          <a:xfrm>
            <a:off x="10448392" y="4395216"/>
            <a:ext cx="1207008" cy="316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多维综合价值</a:t>
            </a:r>
            <a:endParaRPr lang="zh-CN" sz="1250"/>
          </a:p>
        </p:txBody>
      </p:sp>
      <p:sp>
        <p:nvSpPr>
          <p:cNvPr id="116" name="TextBox 116"/>
          <p:cNvSpPr txBox="1"/>
          <p:nvPr/>
        </p:nvSpPr>
        <p:spPr>
          <a:xfrm>
            <a:off x="6674968" y="4797552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D49A06"/>
                </a:solidFill>
                <a:latin typeface="Liberation Serif"/>
                <a:ea typeface="Liberation Serif"/>
                <a:cs typeface="Liberation Serif"/>
              </a:rPr>
              <a:t>1.1</a:t>
            </a:r>
            <a:endParaRPr lang="zh-CN" sz="3000"/>
          </a:p>
        </p:txBody>
      </p:sp>
      <p:sp>
        <p:nvSpPr>
          <p:cNvPr id="117" name="TextBox 117"/>
          <p:cNvSpPr txBox="1"/>
          <p:nvPr/>
        </p:nvSpPr>
        <p:spPr>
          <a:xfrm>
            <a:off x="7187032" y="4980432"/>
            <a:ext cx="749808" cy="225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 i="1">
                <a:solidFill>
                  <a:srgbClr val="152822"/>
                </a:solidFill>
                <a:latin typeface="Microsoft YaHei"/>
                <a:ea typeface="Microsoft YaHei"/>
                <a:cs typeface="Microsoft YaHei"/>
              </a:rPr>
              <a:t>万吨/年</a:t>
            </a:r>
            <a:endParaRPr lang="zh-CN" sz="1230"/>
          </a:p>
        </p:txBody>
      </p:sp>
      <p:sp>
        <p:nvSpPr>
          <p:cNvPr id="118" name="TextBox 118"/>
          <p:cNvSpPr txBox="1"/>
          <p:nvPr/>
        </p:nvSpPr>
        <p:spPr>
          <a:xfrm>
            <a:off x="6583528" y="535228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东南亚进口缺口 </a:t>
            </a:r>
            <a:r>
              <a:rPr lang="zh-CN" sz="950">
                <a:solidFill>
                  <a:srgbClr val="D78900"/>
                </a:solidFill>
                <a:latin typeface="Microsoft YaHei"/>
                <a:ea typeface="Microsoft YaHei"/>
                <a:cs typeface="Microsoft YaHei"/>
              </a:rPr>
              <a:t>22</a:t>
            </a:r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 万吨</a:t>
            </a:r>
            <a:endParaRPr lang="zh-CN" sz="950"/>
          </a:p>
        </p:txBody>
      </p:sp>
      <p:sp>
        <p:nvSpPr>
          <p:cNvPr id="119" name="TextBox 119"/>
          <p:cNvSpPr txBox="1"/>
          <p:nvPr/>
        </p:nvSpPr>
        <p:spPr>
          <a:xfrm>
            <a:off x="6583528" y="5547360"/>
            <a:ext cx="1383792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DB8500"/>
                </a:solidFill>
                <a:latin typeface="Microsoft YaHei"/>
                <a:ea typeface="Microsoft YaHei"/>
                <a:cs typeface="Microsoft YaHei"/>
              </a:rPr>
              <a:t>3-5</a:t>
            </a:r>
            <a:r>
              <a:rPr lang="zh-CN" sz="10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 年占 </a:t>
            </a:r>
            <a:r>
              <a:rPr lang="zh-CN" sz="1000" b="1">
                <a:solidFill>
                  <a:srgbClr val="DB8500"/>
                </a:solidFill>
                <a:latin typeface="Microsoft YaHei"/>
                <a:ea typeface="Microsoft YaHei"/>
                <a:cs typeface="Microsoft YaHei"/>
              </a:rPr>
              <a:t>8%-12%</a:t>
            </a:r>
            <a:endParaRPr lang="zh-CN" sz="1000"/>
          </a:p>
        </p:txBody>
      </p:sp>
      <p:sp>
        <p:nvSpPr>
          <p:cNvPr id="120" name="TextBox 120"/>
          <p:cNvSpPr txBox="1"/>
          <p:nvPr/>
        </p:nvSpPr>
        <p:spPr>
          <a:xfrm>
            <a:off x="6583528" y="5748528"/>
            <a:ext cx="1377696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出口额超 </a:t>
            </a:r>
            <a:r>
              <a:rPr lang="zh-CN" sz="950">
                <a:solidFill>
                  <a:srgbClr val="D38400"/>
                </a:solidFill>
                <a:latin typeface="Microsoft YaHei"/>
                <a:ea typeface="Microsoft YaHei"/>
                <a:cs typeface="Microsoft YaHei"/>
              </a:rPr>
              <a:t>2100 万美元</a:t>
            </a:r>
            <a:endParaRPr lang="zh-CN" sz="950"/>
          </a:p>
        </p:txBody>
      </p:sp>
      <p:sp>
        <p:nvSpPr>
          <p:cNvPr id="121" name="TextBox 121"/>
          <p:cNvSpPr txBox="1"/>
          <p:nvPr/>
        </p:nvSpPr>
        <p:spPr>
          <a:xfrm>
            <a:off x="8333080" y="4828032"/>
            <a:ext cx="1347216" cy="438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80" b="1" i="1">
                <a:solidFill>
                  <a:srgbClr val="087DB9"/>
                </a:solidFill>
                <a:latin typeface="Liberation Serif"/>
                <a:ea typeface="Liberation Serif"/>
                <a:cs typeface="Liberation Serif"/>
              </a:rPr>
              <a:t>18%-24%</a:t>
            </a:r>
            <a:endParaRPr lang="zh-CN" sz="2480"/>
          </a:p>
        </p:txBody>
      </p:sp>
      <p:sp>
        <p:nvSpPr>
          <p:cNvPr id="122" name="TextBox 122"/>
          <p:cNvSpPr txBox="1"/>
          <p:nvPr/>
        </p:nvSpPr>
        <p:spPr>
          <a:xfrm>
            <a:off x="8345272" y="5346192"/>
            <a:ext cx="1365504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每吨 </a:t>
            </a:r>
            <a:r>
              <a:rPr lang="zh-CN" sz="950">
                <a:solidFill>
                  <a:srgbClr val="087FC3"/>
                </a:solidFill>
                <a:latin typeface="Microsoft YaHei"/>
                <a:ea typeface="Microsoft YaHei"/>
                <a:cs typeface="Microsoft YaHei"/>
              </a:rPr>
              <a:t>120-180</a:t>
            </a:r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 美元</a:t>
            </a:r>
            <a:endParaRPr lang="zh-CN" sz="950"/>
          </a:p>
        </p:txBody>
      </p:sp>
      <p:sp>
        <p:nvSpPr>
          <p:cNvPr id="123" name="TextBox 123"/>
          <p:cNvSpPr txBox="1"/>
          <p:nvPr/>
        </p:nvSpPr>
        <p:spPr>
          <a:xfrm>
            <a:off x="8345272" y="55229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关税节约</a:t>
            </a:r>
            <a:endParaRPr lang="zh-CN" sz="950"/>
          </a:p>
        </p:txBody>
      </p:sp>
      <p:sp>
        <p:nvSpPr>
          <p:cNvPr id="124" name="TextBox 124"/>
          <p:cNvSpPr txBox="1"/>
          <p:nvPr/>
        </p:nvSpPr>
        <p:spPr>
          <a:xfrm>
            <a:off x="8345272" y="5699760"/>
            <a:ext cx="1365504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综合毛利率 </a:t>
            </a:r>
            <a:r>
              <a:rPr lang="zh-CN" sz="950">
                <a:solidFill>
                  <a:srgbClr val="087FC3"/>
                </a:solidFill>
                <a:latin typeface="Microsoft YaHei"/>
                <a:ea typeface="Microsoft YaHei"/>
                <a:cs typeface="Microsoft YaHei"/>
              </a:rPr>
              <a:t>18%-24%</a:t>
            </a:r>
            <a:endParaRPr lang="zh-CN" sz="950"/>
          </a:p>
        </p:txBody>
      </p:sp>
      <p:sp>
        <p:nvSpPr>
          <p:cNvPr id="125" name="TextBox 125"/>
          <p:cNvSpPr txBox="1"/>
          <p:nvPr/>
        </p:nvSpPr>
        <p:spPr>
          <a:xfrm>
            <a:off x="10393528" y="4815840"/>
            <a:ext cx="1316736" cy="1767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契合国家战略</a:t>
            </a:r>
            <a:endParaRPr lang="zh-CN" sz="900"/>
          </a:p>
        </p:txBody>
      </p:sp>
      <p:sp>
        <p:nvSpPr>
          <p:cNvPr id="126" name="TextBox 126"/>
          <p:cNvSpPr txBox="1"/>
          <p:nvPr/>
        </p:nvSpPr>
        <p:spPr>
          <a:xfrm>
            <a:off x="10393528" y="4980432"/>
            <a:ext cx="1316736" cy="1767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争取外贸专项扶持</a:t>
            </a:r>
            <a:endParaRPr lang="zh-CN" sz="900"/>
          </a:p>
        </p:txBody>
      </p:sp>
      <p:sp>
        <p:nvSpPr>
          <p:cNvPr id="127" name="TextBox 127"/>
          <p:cNvSpPr txBox="1"/>
          <p:nvPr/>
        </p:nvSpPr>
        <p:spPr>
          <a:xfrm>
            <a:off x="10393528" y="5205984"/>
            <a:ext cx="1316736" cy="1767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助力东盟农田微塑料治理</a:t>
            </a:r>
            <a:endParaRPr lang="zh-CN" sz="900"/>
          </a:p>
        </p:txBody>
      </p:sp>
      <p:sp>
        <p:nvSpPr>
          <p:cNvPr id="128" name="TextBox 128"/>
          <p:cNvSpPr txBox="1"/>
          <p:nvPr/>
        </p:nvSpPr>
        <p:spPr>
          <a:xfrm>
            <a:off x="10393528" y="5370576"/>
            <a:ext cx="1316736" cy="1767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深化中-东盟绿色合作</a:t>
            </a:r>
            <a:endParaRPr lang="zh-CN" sz="900"/>
          </a:p>
        </p:txBody>
      </p:sp>
      <p:sp>
        <p:nvSpPr>
          <p:cNvPr id="129" name="TextBox 129"/>
          <p:cNvSpPr txBox="1"/>
          <p:nvPr/>
        </p:nvSpPr>
        <p:spPr>
          <a:xfrm>
            <a:off x="10393528" y="5596128"/>
            <a:ext cx="1316736" cy="1767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带动PLA/PBAT产业出口</a:t>
            </a:r>
            <a:endParaRPr lang="zh-CN" sz="900"/>
          </a:p>
        </p:txBody>
      </p:sp>
      <p:sp>
        <p:nvSpPr>
          <p:cNvPr id="130" name="TextBox 130"/>
          <p:cNvSpPr txBox="1"/>
          <p:nvPr/>
        </p:nvSpPr>
        <p:spPr>
          <a:xfrm>
            <a:off x="10393528" y="5760720"/>
            <a:ext cx="1316736" cy="1767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82923"/>
                </a:solidFill>
                <a:latin typeface="Microsoft YaHei"/>
                <a:ea typeface="Microsoft YaHei"/>
                <a:cs typeface="Microsoft YaHei"/>
              </a:rPr>
              <a:t>提升国际竞争力</a:t>
            </a:r>
            <a:endParaRPr lang="zh-CN" sz="900"/>
          </a:p>
        </p:txBody>
      </p:sp>
      <p:sp>
        <p:nvSpPr>
          <p:cNvPr id="131" name="Path 131"/>
          <p:cNvSpPr/>
          <p:nvPr/>
        </p:nvSpPr>
        <p:spPr>
          <a:xfrm>
            <a:off x="5944" y="6138672"/>
            <a:ext cx="12179808" cy="9144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440"/>
                </a:moveTo>
                <a:cubicBezTo>
                  <a:pt x="3838" y="5904"/>
                  <a:pt x="7968" y="19872"/>
                  <a:pt x="10800" y="21024"/>
                </a:cubicBezTo>
                <a:cubicBezTo>
                  <a:pt x="13503" y="19872"/>
                  <a:pt x="17870" y="6624"/>
                  <a:pt x="21600" y="1440"/>
                </a:cubicBezTo>
                <a:lnTo>
                  <a:pt x="21600" y="26352"/>
                </a:lnTo>
                <a:lnTo>
                  <a:pt x="0" y="26352"/>
                </a:lnTo>
                <a:close/>
              </a:path>
            </a:pathLst>
          </a:custGeom>
          <a:solidFill>
            <a:srgbClr val="F6FF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Path 132"/>
          <p:cNvSpPr/>
          <p:nvPr/>
        </p:nvSpPr>
        <p:spPr>
          <a:xfrm>
            <a:off x="5944" y="6138672"/>
            <a:ext cx="12179808" cy="9144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3600"/>
                </a:moveTo>
                <a:cubicBezTo>
                  <a:pt x="3838" y="8064"/>
                  <a:pt x="7968" y="22032"/>
                  <a:pt x="10800" y="23184"/>
                </a:cubicBezTo>
                <a:cubicBezTo>
                  <a:pt x="13503" y="22032"/>
                  <a:pt x="17870" y="8784"/>
                  <a:pt x="21600" y="3600"/>
                </a:cubicBezTo>
                <a:lnTo>
                  <a:pt x="21600" y="26352"/>
                </a:lnTo>
                <a:lnTo>
                  <a:pt x="0" y="26352"/>
                </a:lnTo>
                <a:close/>
              </a:path>
            </a:pathLst>
          </a:custGeom>
          <a:solidFill>
            <a:srgbClr val="258E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Path 133"/>
          <p:cNvSpPr/>
          <p:nvPr/>
        </p:nvSpPr>
        <p:spPr>
          <a:xfrm>
            <a:off x="5944" y="6138672"/>
            <a:ext cx="12179808" cy="9144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3104"/>
                </a:moveTo>
                <a:cubicBezTo>
                  <a:pt x="3838" y="17568"/>
                  <a:pt x="7968" y="29088"/>
                  <a:pt x="10800" y="30240"/>
                </a:cubicBezTo>
                <a:cubicBezTo>
                  <a:pt x="13503" y="29088"/>
                  <a:pt x="17870" y="18288"/>
                  <a:pt x="21600" y="13104"/>
                </a:cubicBezTo>
                <a:lnTo>
                  <a:pt x="21600" y="26352"/>
                </a:lnTo>
                <a:lnTo>
                  <a:pt x="0" y="26352"/>
                </a:lnTo>
                <a:close/>
              </a:path>
            </a:pathLst>
          </a:custGeom>
          <a:solidFill>
            <a:srgbClr val="A6BB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