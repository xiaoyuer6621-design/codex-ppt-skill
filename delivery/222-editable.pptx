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green wave and school-park background, every text and reconstructed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3887586" y="1814710"/>
            <a:ext cx="7973063" cy="3673148"/>
          </a:xfrm>
          <a:prstGeom prst="roundRect">
            <a:avLst>
              <a:gd name="adj" fmla="val 13492"/>
            </a:avLst>
          </a:prstGeom>
          <a:solidFill>
            <a:srgbClr val="DC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894874" y="1756406"/>
            <a:ext cx="7936623" cy="3658572"/>
          </a:xfrm>
          <a:prstGeom prst="roundRect">
            <a:avLst>
              <a:gd name="adj" fmla="val 13546"/>
            </a:avLst>
          </a:prstGeom>
          <a:solidFill>
            <a:srgbClr val="B1D9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916738" y="1778270"/>
            <a:ext cx="7892895" cy="3614844"/>
          </a:xfrm>
          <a:prstGeom prst="roundRect">
            <a:avLst>
              <a:gd name="adj" fmla="val 1330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084362" y="2915197"/>
            <a:ext cx="2441477" cy="969303"/>
          </a:xfrm>
          <a:prstGeom prst="roundRect">
            <a:avLst>
              <a:gd name="adj" fmla="val 50000"/>
            </a:avLst>
          </a:prstGeom>
          <a:solidFill>
            <a:srgbClr val="DF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671599" y="2915197"/>
            <a:ext cx="2441477" cy="969303"/>
          </a:xfrm>
          <a:prstGeom prst="roundRect">
            <a:avLst>
              <a:gd name="adj" fmla="val 50000"/>
            </a:avLst>
          </a:prstGeom>
          <a:solidFill>
            <a:srgbClr val="DF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251548" y="2915197"/>
            <a:ext cx="2441477" cy="969303"/>
          </a:xfrm>
          <a:prstGeom prst="roundRect">
            <a:avLst>
              <a:gd name="adj" fmla="val 50000"/>
            </a:avLst>
          </a:prstGeom>
          <a:solidFill>
            <a:srgbClr val="DF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84362" y="4103139"/>
            <a:ext cx="2441477" cy="969303"/>
          </a:xfrm>
          <a:prstGeom prst="roundRect">
            <a:avLst>
              <a:gd name="adj" fmla="val 50000"/>
            </a:avLst>
          </a:prstGeom>
          <a:solidFill>
            <a:srgbClr val="DF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671599" y="4103139"/>
            <a:ext cx="2441477" cy="969303"/>
          </a:xfrm>
          <a:prstGeom prst="roundRect">
            <a:avLst>
              <a:gd name="adj" fmla="val 50000"/>
            </a:avLst>
          </a:prstGeom>
          <a:solidFill>
            <a:srgbClr val="DF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9251548" y="4103139"/>
            <a:ext cx="2441477" cy="969303"/>
          </a:xfrm>
          <a:prstGeom prst="roundRect">
            <a:avLst>
              <a:gd name="adj" fmla="val 50000"/>
            </a:avLst>
          </a:prstGeom>
          <a:solidFill>
            <a:srgbClr val="DFEED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084362" y="2871469"/>
            <a:ext cx="2441477" cy="962015"/>
          </a:xfrm>
          <a:prstGeom prst="roundRect">
            <a:avLst>
              <a:gd name="adj" fmla="val 50000"/>
            </a:avLst>
          </a:prstGeom>
          <a:solidFill>
            <a:srgbClr val="EDF8E2"/>
          </a:solidFill>
          <a:ln w="13335">
            <a:solidFill>
              <a:srgbClr val="78AD6C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6671599" y="2871469"/>
            <a:ext cx="2441477" cy="962015"/>
          </a:xfrm>
          <a:prstGeom prst="roundRect">
            <a:avLst>
              <a:gd name="adj" fmla="val 50000"/>
            </a:avLst>
          </a:prstGeom>
          <a:solidFill>
            <a:srgbClr val="EDF8E2"/>
          </a:solidFill>
          <a:ln w="13335">
            <a:solidFill>
              <a:srgbClr val="78AD6C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9251548" y="2871469"/>
            <a:ext cx="2441477" cy="962015"/>
          </a:xfrm>
          <a:prstGeom prst="roundRect">
            <a:avLst>
              <a:gd name="adj" fmla="val 50000"/>
            </a:avLst>
          </a:prstGeom>
          <a:solidFill>
            <a:srgbClr val="EDF8E2"/>
          </a:solidFill>
          <a:ln w="13335">
            <a:solidFill>
              <a:srgbClr val="78AD6C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4084362" y="4059411"/>
            <a:ext cx="2441477" cy="962015"/>
          </a:xfrm>
          <a:prstGeom prst="roundRect">
            <a:avLst>
              <a:gd name="adj" fmla="val 50000"/>
            </a:avLst>
          </a:prstGeom>
          <a:solidFill>
            <a:srgbClr val="EDF8E2"/>
          </a:solidFill>
          <a:ln w="13335">
            <a:solidFill>
              <a:srgbClr val="78AD6C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671599" y="4059411"/>
            <a:ext cx="2441477" cy="962015"/>
          </a:xfrm>
          <a:prstGeom prst="roundRect">
            <a:avLst>
              <a:gd name="adj" fmla="val 50000"/>
            </a:avLst>
          </a:prstGeom>
          <a:solidFill>
            <a:srgbClr val="EDF8E2"/>
          </a:solidFill>
          <a:ln w="13335">
            <a:solidFill>
              <a:srgbClr val="78AD6C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251548" y="4059411"/>
            <a:ext cx="2441477" cy="962015"/>
          </a:xfrm>
          <a:prstGeom prst="roundRect">
            <a:avLst>
              <a:gd name="adj" fmla="val 50000"/>
            </a:avLst>
          </a:prstGeom>
          <a:solidFill>
            <a:srgbClr val="EDF8E2"/>
          </a:solidFill>
          <a:ln w="13335">
            <a:solidFill>
              <a:srgbClr val="78AD6C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106226" y="2893333"/>
            <a:ext cx="2397749" cy="918287"/>
          </a:xfrm>
          <a:prstGeom prst="roundRect">
            <a:avLst>
              <a:gd name="adj" fmla="val 50000"/>
            </a:avLst>
          </a:prstGeom>
          <a:solidFill>
            <a:srgbClr val="F0F9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693463" y="2893333"/>
            <a:ext cx="2397749" cy="918287"/>
          </a:xfrm>
          <a:prstGeom prst="roundRect">
            <a:avLst>
              <a:gd name="adj" fmla="val 50000"/>
            </a:avLst>
          </a:prstGeom>
          <a:solidFill>
            <a:srgbClr val="F0F9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9273412" y="2893333"/>
            <a:ext cx="2397749" cy="918287"/>
          </a:xfrm>
          <a:prstGeom prst="roundRect">
            <a:avLst>
              <a:gd name="adj" fmla="val 50000"/>
            </a:avLst>
          </a:prstGeom>
          <a:solidFill>
            <a:srgbClr val="F0F9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4106226" y="4081275"/>
            <a:ext cx="2397749" cy="918287"/>
          </a:xfrm>
          <a:prstGeom prst="roundRect">
            <a:avLst>
              <a:gd name="adj" fmla="val 50000"/>
            </a:avLst>
          </a:prstGeom>
          <a:solidFill>
            <a:srgbClr val="F0F9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6693463" y="4081275"/>
            <a:ext cx="2397749" cy="918287"/>
          </a:xfrm>
          <a:prstGeom prst="roundRect">
            <a:avLst>
              <a:gd name="adj" fmla="val 50000"/>
            </a:avLst>
          </a:prstGeom>
          <a:solidFill>
            <a:srgbClr val="F0F9E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9273412" y="4081275"/>
            <a:ext cx="2397749" cy="918287"/>
          </a:xfrm>
          <a:prstGeom prst="roundRect">
            <a:avLst>
              <a:gd name="adj" fmla="val 50000"/>
            </a:avLst>
          </a:prstGeom>
          <a:solidFill>
            <a:srgbClr val="F0F9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4" name="Original schoolboy with backpack, scarf, both thumbs up, shoes and four orange emphasis wedges."/>
          <p:cNvPicPr/>
          <p:nvPr/>
        </p:nvPicPr>
        <p:blipFill>
          <a:blip r:embed="rId3"/>
          <a:stretch>
            <a:fillRect/>
          </a:stretch>
        </p:blipFill>
        <p:spPr>
          <a:xfrm>
            <a:off x="724514" y="1598612"/>
            <a:ext cx="2986342" cy="4775839"/>
          </a:xfrm>
          <a:prstGeom prst="rect">
            <a:avLst/>
          </a:prstGeom>
        </p:spPr>
      </p:pic>
      <p:pic>
        <p:nvPicPr>
          <p:cNvPr id="25" name="Original overlapping dark and light green rounded squares."/>
          <p:cNvPicPr/>
          <p:nvPr/>
        </p:nvPicPr>
        <p:blipFill>
          <a:blip r:embed="rId4"/>
          <a:stretch>
            <a:fillRect/>
          </a:stretch>
        </p:blipFill>
        <p:spPr>
          <a:xfrm>
            <a:off x="677301" y="779494"/>
            <a:ext cx="603094" cy="613799"/>
          </a:xfrm>
          <a:prstGeom prst="rect">
            <a:avLst/>
          </a:prstGeom>
        </p:spPr>
      </p:pic>
      <p:pic>
        <p:nvPicPr>
          <p:cNvPr id="26" name="Original green brush heading plate and yellow accent, ordinary section text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4048981" y="1792320"/>
            <a:ext cx="3838654" cy="884777"/>
          </a:xfrm>
          <a:prstGeom prst="rect">
            <a:avLst/>
          </a:prstGeom>
        </p:spPr>
      </p:pic>
      <p:pic>
        <p:nvPicPr>
          <p:cNvPr id="27" name="Original green curved corner brush."/>
          <p:cNvPicPr/>
          <p:nvPr/>
        </p:nvPicPr>
        <p:blipFill>
          <a:blip r:embed="rId7"/>
          <a:stretch>
            <a:fillRect/>
          </a:stretch>
        </p:blipFill>
        <p:spPr>
          <a:xfrm>
            <a:off x="3797888" y="1667092"/>
            <a:ext cx="616676" cy="590184"/>
          </a:xfrm>
          <a:prstGeom prst="rect">
            <a:avLst/>
          </a:prstGeom>
        </p:spPr>
      </p:pic>
      <p:pic>
        <p:nvPicPr>
          <p:cNvPr id="28" name="Original upright green binding ornament."/>
          <p:cNvPicPr/>
          <p:nvPr/>
        </p:nvPicPr>
        <p:blipFill>
          <a:blip r:embed="rId8"/>
          <a:stretch>
            <a:fillRect/>
          </a:stretch>
        </p:blipFill>
        <p:spPr>
          <a:xfrm>
            <a:off x="11140332" y="1613290"/>
            <a:ext cx="325570" cy="483716"/>
          </a:xfrm>
          <a:prstGeom prst="rect">
            <a:avLst/>
          </a:prstGeom>
        </p:spPr>
      </p:pic>
      <p:pic>
        <p:nvPicPr>
          <p:cNvPr id="29" name="Original pale green six by four dot pattern."/>
          <p:cNvPicPr/>
          <p:nvPr/>
        </p:nvPicPr>
        <p:blipFill>
          <a:blip r:embed="rId9"/>
          <a:stretch>
            <a:fillRect/>
          </a:stretch>
        </p:blipFill>
        <p:spPr>
          <a:xfrm>
            <a:off x="10937576" y="1043197"/>
            <a:ext cx="957011" cy="598883"/>
          </a:xfrm>
          <a:prstGeom prst="rect">
            <a:avLst/>
          </a:prstGeom>
        </p:spPr>
      </p:pic>
      <p:pic>
        <p:nvPicPr>
          <p:cNvPr id="30" name="Original open-book corner emblem; separated with small highlight/opacity drift."/>
          <p:cNvPicPr/>
          <p:nvPr/>
        </p:nvPicPr>
        <p:blipFill>
          <a:blip r:embed="rId10"/>
          <a:stretch>
            <a:fillRect/>
          </a:stretch>
        </p:blipFill>
        <p:spPr>
          <a:xfrm>
            <a:off x="10982771" y="5914305"/>
            <a:ext cx="1203495" cy="777469"/>
          </a:xfrm>
          <a:prstGeom prst="rect">
            <a:avLst/>
          </a:prstGeom>
        </p:spPr>
      </p:pic>
      <p:pic>
        <p:nvPicPr>
          <p:cNvPr id="31" name="Orange circular conversation icon with white speech bubble and three dots."/>
          <p:cNvPicPr/>
          <p:nvPr/>
        </p:nvPicPr>
        <p:blipFill>
          <a:blip r:embed="rId11"/>
          <a:stretch>
            <a:fillRect/>
          </a:stretch>
        </p:blipFill>
        <p:spPr>
          <a:xfrm>
            <a:off x="4174555" y="2942891"/>
            <a:ext cx="821434" cy="802651"/>
          </a:xfrm>
          <a:prstGeom prst="rect">
            <a:avLst/>
          </a:prstGeom>
        </p:spPr>
      </p:pic>
      <p:pic>
        <p:nvPicPr>
          <p:cNvPr id="32" name="Golden circular lightbulb icon."/>
          <p:cNvPicPr/>
          <p:nvPr/>
        </p:nvPicPr>
        <p:blipFill>
          <a:blip r:embed="rId12"/>
          <a:stretch>
            <a:fillRect/>
          </a:stretch>
        </p:blipFill>
        <p:spPr>
          <a:xfrm>
            <a:off x="6764464" y="2946292"/>
            <a:ext cx="827300" cy="802651"/>
          </a:xfrm>
          <a:prstGeom prst="rect">
            <a:avLst/>
          </a:prstGeom>
        </p:spPr>
      </p:pic>
      <p:pic>
        <p:nvPicPr>
          <p:cNvPr id="33" name="Blue circular list/document icon."/>
          <p:cNvPicPr/>
          <p:nvPr/>
        </p:nvPicPr>
        <p:blipFill>
          <a:blip r:embed="rId13"/>
          <a:stretch>
            <a:fillRect/>
          </a:stretch>
        </p:blipFill>
        <p:spPr>
          <a:xfrm>
            <a:off x="9352539" y="2946292"/>
            <a:ext cx="825625" cy="802651"/>
          </a:xfrm>
          <a:prstGeom prst="rect">
            <a:avLst/>
          </a:prstGeom>
        </p:spPr>
      </p:pic>
      <p:pic>
        <p:nvPicPr>
          <p:cNvPr id="34" name="Green circular ear/listening icon."/>
          <p:cNvPicPr/>
          <p:nvPr/>
        </p:nvPicPr>
        <p:blipFill>
          <a:blip r:embed="rId14"/>
          <a:stretch>
            <a:fillRect/>
          </a:stretch>
        </p:blipFill>
        <p:spPr>
          <a:xfrm>
            <a:off x="4170360" y="4195366"/>
            <a:ext cx="826458" cy="717905"/>
          </a:xfrm>
          <a:prstGeom prst="rect">
            <a:avLst/>
          </a:prstGeom>
        </p:spPr>
      </p:pic>
      <p:pic>
        <p:nvPicPr>
          <p:cNvPr id="35" name="Red circular heart icon."/>
          <p:cNvPicPr/>
          <p:nvPr/>
        </p:nvPicPr>
        <p:blipFill>
          <a:blip r:embed="rId15"/>
          <a:stretch>
            <a:fillRect/>
          </a:stretch>
        </p:blipFill>
        <p:spPr>
          <a:xfrm>
            <a:off x="6779180" y="4195454"/>
            <a:ext cx="811335" cy="714223"/>
          </a:xfrm>
          <a:prstGeom prst="rect">
            <a:avLst/>
          </a:prstGeom>
        </p:spPr>
      </p:pic>
      <p:pic>
        <p:nvPicPr>
          <p:cNvPr id="36" name="Purple circular notepad-and-pencil icon."/>
          <p:cNvPicPr/>
          <p:nvPr/>
        </p:nvPicPr>
        <p:blipFill>
          <a:blip r:embed="rId16"/>
          <a:stretch>
            <a:fillRect/>
          </a:stretch>
        </p:blipFill>
        <p:spPr>
          <a:xfrm>
            <a:off x="9402841" y="4181672"/>
            <a:ext cx="725021" cy="724782"/>
          </a:xfrm>
          <a:prstGeom prst="rect">
            <a:avLst/>
          </a:prstGeom>
        </p:spPr>
      </p:pic>
      <p:pic>
        <p:nvPicPr>
          <p:cNvPr id="37" name="Original pale yellow brush underline behind main title."/>
          <p:cNvPicPr/>
          <p:nvPr/>
        </p:nvPicPr>
        <p:blipFill>
          <a:blip r:embed="rId5"/>
          <a:stretch>
            <a:fillRect/>
          </a:stretch>
        </p:blipFill>
        <p:spPr>
          <a:xfrm>
            <a:off x="2616182" y="1058118"/>
            <a:ext cx="4566637" cy="440985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329501" y="736087"/>
            <a:ext cx="5465994" cy="67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四、合作演练，学会劝告</a:t>
            </a:r>
            <a:endParaRPr lang="zh-CN" sz="3700"/>
          </a:p>
        </p:txBody>
      </p:sp>
      <p:sp>
        <p:nvSpPr>
          <p:cNvPr id="39" name="TextBox 39"/>
          <p:cNvSpPr txBox="1"/>
          <p:nvPr/>
        </p:nvSpPr>
        <p:spPr>
          <a:xfrm>
            <a:off x="9579508" y="51016"/>
            <a:ext cx="2266565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基础教育精品课</a:t>
            </a:r>
            <a:endParaRPr lang="zh-CN" sz="2400"/>
          </a:p>
        </p:txBody>
      </p:sp>
      <p:sp>
        <p:nvSpPr>
          <p:cNvPr id="40" name="TextBox 40"/>
          <p:cNvSpPr txBox="1"/>
          <p:nvPr/>
        </p:nvSpPr>
        <p:spPr>
          <a:xfrm>
            <a:off x="4448762" y="1924030"/>
            <a:ext cx="2696557" cy="67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评一评</a:t>
            </a:r>
            <a:endParaRPr lang="zh-CN" sz="3400"/>
          </a:p>
        </p:txBody>
      </p:sp>
      <p:sp>
        <p:nvSpPr>
          <p:cNvPr id="41" name="TextBox 41"/>
          <p:cNvSpPr txBox="1"/>
          <p:nvPr/>
        </p:nvSpPr>
        <p:spPr>
          <a:xfrm>
            <a:off x="5039089" y="3090108"/>
            <a:ext cx="1384718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语气得体</a:t>
            </a:r>
            <a:endParaRPr lang="zh-CN" sz="2400"/>
          </a:p>
        </p:txBody>
      </p:sp>
      <p:sp>
        <p:nvSpPr>
          <p:cNvPr id="42" name="TextBox 42"/>
          <p:cNvSpPr txBox="1"/>
          <p:nvPr/>
        </p:nvSpPr>
        <p:spPr>
          <a:xfrm>
            <a:off x="7619038" y="3090108"/>
            <a:ext cx="1392006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换位思考</a:t>
            </a:r>
            <a:endParaRPr lang="zh-CN" sz="2400"/>
          </a:p>
        </p:txBody>
      </p:sp>
      <p:sp>
        <p:nvSpPr>
          <p:cNvPr id="43" name="TextBox 43"/>
          <p:cNvSpPr txBox="1"/>
          <p:nvPr/>
        </p:nvSpPr>
        <p:spPr>
          <a:xfrm>
            <a:off x="10206275" y="3090108"/>
            <a:ext cx="1392006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理由清楚</a:t>
            </a:r>
            <a:endParaRPr lang="zh-CN" sz="2400"/>
          </a:p>
        </p:txBody>
      </p:sp>
      <p:sp>
        <p:nvSpPr>
          <p:cNvPr id="44" name="TextBox 44"/>
          <p:cNvSpPr txBox="1"/>
          <p:nvPr/>
        </p:nvSpPr>
        <p:spPr>
          <a:xfrm>
            <a:off x="5039089" y="4278051"/>
            <a:ext cx="1384718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听清回应</a:t>
            </a:r>
            <a:endParaRPr lang="zh-CN" sz="2400"/>
          </a:p>
        </p:txBody>
      </p:sp>
      <p:sp>
        <p:nvSpPr>
          <p:cNvPr id="45" name="TextBox 45"/>
          <p:cNvSpPr txBox="1"/>
          <p:nvPr/>
        </p:nvSpPr>
        <p:spPr>
          <a:xfrm>
            <a:off x="7619038" y="4278051"/>
            <a:ext cx="1392006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适度再劝</a:t>
            </a:r>
            <a:endParaRPr lang="zh-CN" sz="2400"/>
          </a:p>
        </p:txBody>
      </p:sp>
      <p:sp>
        <p:nvSpPr>
          <p:cNvPr id="46" name="TextBox 46"/>
          <p:cNvSpPr txBox="1"/>
          <p:nvPr/>
        </p:nvSpPr>
        <p:spPr>
          <a:xfrm>
            <a:off x="10206275" y="4278051"/>
            <a:ext cx="1392006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005238"/>
                </a:solidFill>
                <a:latin typeface="Microsoft YaHei"/>
                <a:ea typeface="Microsoft YaHei"/>
                <a:cs typeface="Microsoft YaHei"/>
              </a:rPr>
              <a:t>提出建议</a:t>
            </a:r>
            <a:endParaRPr lang="zh-CN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green upper and lower waves, blurred campus, dot grid and faint corner book;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396638" y="1727254"/>
            <a:ext cx="5917849" cy="4416523"/>
          </a:xfrm>
          <a:prstGeom prst="roundRect">
            <a:avLst>
              <a:gd name="adj" fmla="val 11881"/>
            </a:avLst>
          </a:prstGeom>
          <a:solidFill>
            <a:srgbClr val="C4E4C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438383" y="1727254"/>
            <a:ext cx="5422266" cy="4431099"/>
          </a:xfrm>
          <a:prstGeom prst="roundRect">
            <a:avLst>
              <a:gd name="adj" fmla="val 12007"/>
            </a:avLst>
          </a:prstGeom>
          <a:solidFill>
            <a:srgbClr val="C4E4C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40366" y="1683526"/>
            <a:ext cx="5844969" cy="4431099"/>
          </a:xfrm>
          <a:prstGeom prst="roundRect">
            <a:avLst>
              <a:gd name="adj" fmla="val 11349"/>
            </a:avLst>
          </a:prstGeom>
          <a:solidFill>
            <a:srgbClr val="FCFEFA"/>
          </a:solidFill>
          <a:ln w="12700">
            <a:solidFill>
              <a:srgbClr val="9FDC9B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482111" y="1698102"/>
            <a:ext cx="5356674" cy="4423811"/>
          </a:xfrm>
          <a:prstGeom prst="roundRect">
            <a:avLst>
              <a:gd name="adj" fmla="val 11862"/>
            </a:avLst>
          </a:prstGeom>
          <a:solidFill>
            <a:srgbClr val="FCFEFA"/>
          </a:solidFill>
          <a:ln w="12700">
            <a:solidFill>
              <a:srgbClr val="9FDC9B"/>
            </a:solidFill>
          </a:ln>
        </p:spPr>
        <p:txBody>
          <a:bodyPr/>
          <a:lstStyle/>
          <a:p/>
        </p:txBody>
      </p:sp>
      <p:pic>
        <p:nvPicPr>
          <p:cNvPr id="7" name="Original thin yellow title sweep with pale-green brush tip."/>
          <p:cNvPicPr/>
          <p:nvPr/>
        </p:nvPicPr>
        <p:blipFill>
          <a:blip r:embed="rId4"/>
          <a:stretch>
            <a:fillRect/>
          </a:stretch>
        </p:blipFill>
        <p:spPr>
          <a:xfrm>
            <a:off x="2472197" y="1174957"/>
            <a:ext cx="4703792" cy="368507"/>
          </a:xfrm>
          <a:prstGeom prst="rect">
            <a:avLst/>
          </a:prstGeom>
        </p:spPr>
      </p:pic>
      <p:pic>
        <p:nvPicPr>
          <p:cNvPr id="8" name="Original overlapping dark and bright green squares."/>
          <p:cNvPicPr/>
          <p:nvPr/>
        </p:nvPicPr>
        <p:blipFill>
          <a:blip r:embed="rId3"/>
          <a:stretch>
            <a:fillRect/>
          </a:stretch>
        </p:blipFill>
        <p:spPr>
          <a:xfrm>
            <a:off x="631960" y="748954"/>
            <a:ext cx="651707" cy="636305"/>
          </a:xfrm>
          <a:prstGeom prst="rect">
            <a:avLst/>
          </a:prstGeom>
        </p:spPr>
      </p:pic>
      <p:pic>
        <p:nvPicPr>
          <p:cNvPr id="9" name="Original green gradient brush plate, blank circular badge, yellow sweep and upper-left curl; ordinary label and number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509851" y="1568149"/>
            <a:ext cx="3461299" cy="1032434"/>
          </a:xfrm>
          <a:prstGeom prst="rect">
            <a:avLst/>
          </a:prstGeom>
        </p:spPr>
      </p:pic>
      <p:pic>
        <p:nvPicPr>
          <p:cNvPr id="10" name="Original right brush plate, blank circular badge, yellow sweep and upper-left curl; ordinary label and number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6496178" y="1565877"/>
            <a:ext cx="3586710" cy="1051553"/>
          </a:xfrm>
          <a:prstGeom prst="rect">
            <a:avLst/>
          </a:prstGeom>
        </p:spPr>
      </p:pic>
      <p:pic>
        <p:nvPicPr>
          <p:cNvPr id="11" name="Original schoolboy scribbling on classroom desk, framed pale-yellow rounded illustra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501179" y="3258667"/>
            <a:ext cx="3009383" cy="2636383"/>
          </a:xfrm>
          <a:prstGeom prst="rect">
            <a:avLst/>
          </a:prstGeom>
        </p:spPr>
      </p:pic>
      <p:pic>
        <p:nvPicPr>
          <p:cNvPr id="12" name="Original backpack schoolboy beside litter and green wall, framed pale-yellow rounded illustration."/>
          <p:cNvPicPr/>
          <p:nvPr/>
        </p:nvPicPr>
        <p:blipFill>
          <a:blip r:embed="rId10"/>
          <a:stretch>
            <a:fillRect/>
          </a:stretch>
        </p:blipFill>
        <p:spPr>
          <a:xfrm>
            <a:off x="3392745" y="3258667"/>
            <a:ext cx="2869879" cy="2636383"/>
          </a:xfrm>
          <a:prstGeom prst="rect">
            <a:avLst/>
          </a:prstGeom>
        </p:spPr>
      </p:pic>
      <p:pic>
        <p:nvPicPr>
          <p:cNvPr id="13" name="Original green-hoodie boy, green brush halo, ground oval and disconnected speaking emphasis marks."/>
          <p:cNvPicPr/>
          <p:nvPr/>
        </p:nvPicPr>
        <p:blipFill>
          <a:blip r:embed="rId11"/>
          <a:stretch>
            <a:fillRect/>
          </a:stretch>
        </p:blipFill>
        <p:spPr>
          <a:xfrm>
            <a:off x="7123883" y="3789669"/>
            <a:ext cx="1930460" cy="2361482"/>
          </a:xfrm>
          <a:prstGeom prst="rect">
            <a:avLst/>
          </a:prstGeom>
        </p:spPr>
      </p:pic>
      <p:pic>
        <p:nvPicPr>
          <p:cNvPr id="14" name="Original green-uniform girl, peach brush halo, ground oval and orange speaking emphasis marks."/>
          <p:cNvPicPr/>
          <p:nvPr/>
        </p:nvPicPr>
        <p:blipFill>
          <a:blip r:embed="rId12"/>
          <a:stretch>
            <a:fillRect/>
          </a:stretch>
        </p:blipFill>
        <p:spPr>
          <a:xfrm>
            <a:off x="9475767" y="3781364"/>
            <a:ext cx="2087783" cy="2363516"/>
          </a:xfrm>
          <a:prstGeom prst="rect">
            <a:avLst/>
          </a:prstGeom>
        </p:spPr>
      </p:pic>
      <p:pic>
        <p:nvPicPr>
          <p:cNvPr id="15" name="Original pale-green speech balloon backing with tail, all editable dialogue remov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6933382" y="3286649"/>
            <a:ext cx="2369767" cy="926045"/>
          </a:xfrm>
          <a:prstGeom prst="rect">
            <a:avLst/>
          </a:prstGeom>
        </p:spPr>
      </p:pic>
      <p:pic>
        <p:nvPicPr>
          <p:cNvPr id="16" name="Original tilted orange speech balloon backing with tail, all editable dialogue remov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9331716" y="3133801"/>
            <a:ext cx="2317581" cy="954267"/>
          </a:xfrm>
          <a:prstGeom prst="rect">
            <a:avLst/>
          </a:prstGeom>
        </p:spPr>
      </p:pic>
      <p:pic>
        <p:nvPicPr>
          <p:cNvPr id="17" name="Source green hanging clip decoration."/>
          <p:cNvPicPr/>
          <p:nvPr/>
        </p:nvPicPr>
        <p:blipFill>
          <a:blip r:embed="rId7"/>
          <a:stretch>
            <a:fillRect/>
          </a:stretch>
        </p:blipFill>
        <p:spPr>
          <a:xfrm>
            <a:off x="5529814" y="1545912"/>
            <a:ext cx="279373" cy="450141"/>
          </a:xfrm>
          <a:prstGeom prst="rect">
            <a:avLst/>
          </a:prstGeom>
        </p:spPr>
      </p:pic>
      <p:pic>
        <p:nvPicPr>
          <p:cNvPr id="18" name="Second positioned instance of same source green hanging clip."/>
          <p:cNvPicPr/>
          <p:nvPr/>
        </p:nvPicPr>
        <p:blipFill>
          <a:blip r:embed="rId8"/>
          <a:stretch>
            <a:fillRect/>
          </a:stretch>
        </p:blipFill>
        <p:spPr>
          <a:xfrm>
            <a:off x="11258175" y="1545912"/>
            <a:ext cx="279373" cy="450141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 rot="0">
            <a:off x="9586796" y="109320"/>
            <a:ext cx="22665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基础教育精品课</a:t>
            </a:r>
            <a:endParaRPr lang="zh-CN" sz="2400"/>
          </a:p>
        </p:txBody>
      </p:sp>
      <p:sp>
        <p:nvSpPr>
          <p:cNvPr id="20" name="TextBox 20"/>
          <p:cNvSpPr txBox="1"/>
          <p:nvPr/>
        </p:nvSpPr>
        <p:spPr>
          <a:xfrm rot="0">
            <a:off x="1336789" y="787103"/>
            <a:ext cx="5342098" cy="5976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>
                <a:solidFill>
                  <a:srgbClr val="064D31"/>
                </a:solidFill>
                <a:latin typeface="Microsoft YaHei"/>
                <a:ea typeface="Microsoft YaHei"/>
                <a:cs typeface="Microsoft YaHei"/>
              </a:rPr>
              <a:t>四、合作演练，学会劝告</a:t>
            </a:r>
            <a:endParaRPr lang="zh-CN" sz="3700"/>
          </a:p>
        </p:txBody>
      </p:sp>
      <p:sp>
        <p:nvSpPr>
          <p:cNvPr id="21" name="TextBox 21"/>
          <p:cNvSpPr txBox="1"/>
          <p:nvPr/>
        </p:nvSpPr>
        <p:spPr>
          <a:xfrm rot="0">
            <a:off x="884934" y="1763694"/>
            <a:ext cx="685071" cy="7215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0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</a:t>
            </a:r>
            <a:endParaRPr lang="zh-CN" sz="4000"/>
          </a:p>
        </p:txBody>
      </p:sp>
      <p:sp>
        <p:nvSpPr>
          <p:cNvPr id="22" name="TextBox 22"/>
          <p:cNvSpPr txBox="1"/>
          <p:nvPr/>
        </p:nvSpPr>
        <p:spPr>
          <a:xfrm rot="0">
            <a:off x="6839223" y="1763694"/>
            <a:ext cx="721511" cy="7287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0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</a:t>
            </a:r>
            <a:endParaRPr lang="zh-CN" sz="4000"/>
          </a:p>
        </p:txBody>
      </p:sp>
      <p:sp>
        <p:nvSpPr>
          <p:cNvPr id="23" name="TextBox 23"/>
          <p:cNvSpPr txBox="1"/>
          <p:nvPr/>
        </p:nvSpPr>
        <p:spPr>
          <a:xfrm rot="0">
            <a:off x="1686613" y="1880302"/>
            <a:ext cx="1566918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选情境</a:t>
            </a:r>
            <a:endParaRPr lang="zh-CN" sz="2850"/>
          </a:p>
        </p:txBody>
      </p:sp>
      <p:sp>
        <p:nvSpPr>
          <p:cNvPr id="24" name="TextBox 24"/>
          <p:cNvSpPr txBox="1"/>
          <p:nvPr/>
        </p:nvSpPr>
        <p:spPr>
          <a:xfrm rot="0">
            <a:off x="7728358" y="1887590"/>
            <a:ext cx="1603358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轮流练</a:t>
            </a:r>
            <a:endParaRPr lang="zh-CN" sz="2850"/>
          </a:p>
        </p:txBody>
      </p:sp>
      <p:sp>
        <p:nvSpPr>
          <p:cNvPr id="25" name="TextBox 25"/>
          <p:cNvSpPr txBox="1"/>
          <p:nvPr/>
        </p:nvSpPr>
        <p:spPr>
          <a:xfrm rot="0">
            <a:off x="906798" y="2601813"/>
            <a:ext cx="4919394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同桌从 “</a:t>
            </a:r>
            <a:r>
              <a:rPr lang="zh-CN" sz="1800">
                <a:solidFill>
                  <a:srgbClr val="F26700"/>
                </a:solidFill>
                <a:latin typeface="Microsoft YaHei"/>
                <a:ea typeface="Microsoft YaHei"/>
                <a:cs typeface="Microsoft YaHei"/>
              </a:rPr>
              <a:t>墙上乱画</a:t>
            </a:r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 “</a:t>
            </a:r>
            <a:r>
              <a:rPr lang="zh-CN" sz="1800">
                <a:solidFill>
                  <a:srgbClr val="F26700"/>
                </a:solidFill>
                <a:latin typeface="Microsoft YaHei"/>
                <a:ea typeface="Microsoft YaHei"/>
                <a:cs typeface="Microsoft YaHei"/>
              </a:rPr>
              <a:t>随手扔垃圾</a:t>
            </a:r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 中选一个，</a:t>
            </a:r>
            <a:endParaRPr lang="zh-CN" sz="1800"/>
          </a:p>
        </p:txBody>
      </p:sp>
      <p:sp>
        <p:nvSpPr>
          <p:cNvPr id="26" name="TextBox 26"/>
          <p:cNvSpPr txBox="1"/>
          <p:nvPr/>
        </p:nvSpPr>
        <p:spPr>
          <a:xfrm rot="0">
            <a:off x="906798" y="2915197"/>
            <a:ext cx="1821998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商量怎样劝告。</a:t>
            </a:r>
            <a:endParaRPr lang="zh-CN" sz="1800"/>
          </a:p>
        </p:txBody>
      </p:sp>
      <p:sp>
        <p:nvSpPr>
          <p:cNvPr id="27" name="TextBox 27"/>
          <p:cNvSpPr txBox="1"/>
          <p:nvPr/>
        </p:nvSpPr>
        <p:spPr>
          <a:xfrm rot="0">
            <a:off x="6948543" y="2601813"/>
            <a:ext cx="4431099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分别扮演劝告者、被劝者，听清回应后调整</a:t>
            </a:r>
            <a:endParaRPr lang="zh-CN" sz="1800"/>
          </a:p>
        </p:txBody>
      </p:sp>
      <p:sp>
        <p:nvSpPr>
          <p:cNvPr id="28" name="TextBox 28"/>
          <p:cNvSpPr txBox="1"/>
          <p:nvPr/>
        </p:nvSpPr>
        <p:spPr>
          <a:xfrm rot="0">
            <a:off x="6948543" y="2915197"/>
            <a:ext cx="2040638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说法，再练一次。</a:t>
            </a:r>
            <a:endParaRPr lang="zh-CN" sz="1800"/>
          </a:p>
        </p:txBody>
      </p:sp>
      <p:sp>
        <p:nvSpPr>
          <p:cNvPr id="29" name="TextBox 29"/>
          <p:cNvSpPr txBox="1"/>
          <p:nvPr/>
        </p:nvSpPr>
        <p:spPr>
          <a:xfrm rot="0">
            <a:off x="7232774" y="3512812"/>
            <a:ext cx="1858438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 b="1">
                <a:solidFill>
                  <a:srgbClr val="125329"/>
                </a:solidFill>
                <a:latin typeface="Microsoft YaHei"/>
                <a:ea typeface="Microsoft YaHei"/>
                <a:cs typeface="Microsoft YaHei"/>
              </a:rPr>
              <a:t>“你这样做不对……”</a:t>
            </a:r>
            <a:endParaRPr lang="zh-CN" sz="1560"/>
          </a:p>
        </p:txBody>
      </p:sp>
      <p:sp>
        <p:nvSpPr>
          <p:cNvPr id="30" name="TextBox 30"/>
          <p:cNvSpPr txBox="1"/>
          <p:nvPr/>
        </p:nvSpPr>
        <p:spPr>
          <a:xfrm rot="21300000">
            <a:off x="9579508" y="3316036"/>
            <a:ext cx="1880302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30" b="1">
                <a:solidFill>
                  <a:srgbClr val="F26700"/>
                </a:solidFill>
                <a:latin typeface="Microsoft YaHei"/>
                <a:ea typeface="Microsoft YaHei"/>
                <a:cs typeface="Microsoft YaHei"/>
              </a:rPr>
              <a:t>“对不起，我马上捡”</a:t>
            </a:r>
            <a:endParaRPr lang="zh-CN" sz="15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