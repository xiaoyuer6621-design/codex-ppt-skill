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4201775" cy="100488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Relationship Id="rId19" Type="http://schemas.openxmlformats.org/officeDocument/2006/relationships/image" Target="../media/image64.png"/><Relationship Id="rId20" Type="http://schemas.openxmlformats.org/officeDocument/2006/relationships/image" Target="../media/image65.png"/><Relationship Id="rId21" Type="http://schemas.openxmlformats.org/officeDocument/2006/relationships/image" Target="../media/image66.png"/><Relationship Id="rId22" Type="http://schemas.openxmlformats.org/officeDocument/2006/relationships/image" Target="../media/image67.png"/><Relationship Id="rId23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xact source unoccluded ivory/mountains/gate/branches/header ribbon with selected builtin completion inside full foreground masks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01775" cy="10048875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142875" y="2381250"/>
            <a:ext cx="4848225" cy="3095625"/>
          </a:xfrm>
          <a:prstGeom prst="roundRect">
            <a:avLst>
              <a:gd name="adj" fmla="val 3077"/>
            </a:avLst>
          </a:prstGeom>
          <a:solidFill>
            <a:srgbClr val="FFF8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5057775" y="2381250"/>
            <a:ext cx="5162550" cy="3095625"/>
          </a:xfrm>
          <a:prstGeom prst="roundRect">
            <a:avLst>
              <a:gd name="adj" fmla="val 3077"/>
            </a:avLst>
          </a:prstGeom>
          <a:solidFill>
            <a:srgbClr val="FFF8E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0296525" y="2381250"/>
            <a:ext cx="3752850" cy="3095625"/>
          </a:xfrm>
          <a:prstGeom prst="roundRect">
            <a:avLst>
              <a:gd name="adj" fmla="val 3077"/>
            </a:avLst>
          </a:prstGeom>
          <a:solidFill>
            <a:srgbClr val="FFF8E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42875" y="5572125"/>
            <a:ext cx="10086975" cy="4210050"/>
          </a:xfrm>
          <a:prstGeom prst="roundRect">
            <a:avLst>
              <a:gd name="adj" fmla="val 2262"/>
            </a:avLst>
          </a:prstGeom>
          <a:solidFill>
            <a:srgbClr val="FFF8E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0287000" y="5572125"/>
            <a:ext cx="3762375" cy="4210050"/>
          </a:xfrm>
          <a:prstGeom prst="roundRect">
            <a:avLst>
              <a:gd name="adj" fmla="val 2532"/>
            </a:avLst>
          </a:prstGeom>
          <a:solidFill>
            <a:srgbClr val="FFF8E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381375" y="2752725"/>
            <a:ext cx="1504950" cy="1457325"/>
          </a:xfrm>
          <a:prstGeom prst="roundRect">
            <a:avLst>
              <a:gd name="adj" fmla="val 5229"/>
            </a:avLst>
          </a:prstGeom>
          <a:solidFill>
            <a:srgbClr val="FFF8E9"/>
          </a:solidFill>
          <a:ln w="5080">
            <a:solidFill>
              <a:srgbClr val="EDD6AD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381375" y="4248150"/>
            <a:ext cx="1504950" cy="1143000"/>
          </a:xfrm>
          <a:prstGeom prst="roundRect">
            <a:avLst>
              <a:gd name="adj" fmla="val 6667"/>
            </a:avLst>
          </a:prstGeom>
          <a:solidFill>
            <a:srgbClr val="FFF8E9"/>
          </a:solidFill>
          <a:ln w="5080">
            <a:solidFill>
              <a:srgbClr val="EDD6AD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419975" y="2838450"/>
            <a:ext cx="2686050" cy="1333500"/>
          </a:xfrm>
          <a:prstGeom prst="roundRect">
            <a:avLst>
              <a:gd name="adj" fmla="val 5714"/>
            </a:avLst>
          </a:prstGeom>
          <a:solidFill>
            <a:srgbClr val="FFF8E9"/>
          </a:solidFill>
          <a:ln w="5080">
            <a:solidFill>
              <a:srgbClr val="EDD6AD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419975" y="4248150"/>
            <a:ext cx="2686050" cy="1152525"/>
          </a:xfrm>
          <a:prstGeom prst="roundRect">
            <a:avLst>
              <a:gd name="adj" fmla="val 6612"/>
            </a:avLst>
          </a:prstGeom>
          <a:solidFill>
            <a:srgbClr val="FFF8E9"/>
          </a:solidFill>
          <a:ln w="5080">
            <a:solidFill>
              <a:srgbClr val="EDD6AD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10315575" y="3667125"/>
            <a:ext cx="3667125" cy="971550"/>
          </a:xfrm>
          <a:prstGeom prst="roundRect">
            <a:avLst>
              <a:gd name="adj" fmla="val 7843"/>
            </a:avLst>
          </a:prstGeom>
          <a:solidFill>
            <a:srgbClr val="FFF8E9"/>
          </a:solidFill>
          <a:ln w="5080">
            <a:solidFill>
              <a:srgbClr val="EDD6AD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2000250" y="1819275"/>
            <a:ext cx="323850" cy="0"/>
          </a:xfrm>
          <a:prstGeom prst="line">
            <a:avLst/>
          </a:prstGeom>
          <a:noFill/>
          <a:ln w="3810">
            <a:solidFill>
              <a:srgbClr val="8D7659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685800" y="5276850"/>
            <a:ext cx="209550" cy="0"/>
          </a:xfrm>
          <a:prstGeom prst="line">
            <a:avLst/>
          </a:prstGeom>
          <a:noFill/>
          <a:ln w="5080">
            <a:solidFill>
              <a:srgbClr val="8D7659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2752725" y="5276850"/>
            <a:ext cx="219075" cy="0"/>
          </a:xfrm>
          <a:prstGeom prst="line">
            <a:avLst/>
          </a:prstGeom>
          <a:noFill/>
          <a:ln w="5080">
            <a:solidFill>
              <a:srgbClr val="8D7659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0363200" y="2809875"/>
            <a:ext cx="638175" cy="390525"/>
          </a:xfrm>
          <a:prstGeom prst="roundRect">
            <a:avLst>
              <a:gd name="adj" fmla="val 29268"/>
            </a:avLst>
          </a:prstGeom>
          <a:solidFill>
            <a:srgbClr val="A71D2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11087100" y="2809875"/>
            <a:ext cx="638175" cy="390525"/>
          </a:xfrm>
          <a:prstGeom prst="roundRect">
            <a:avLst>
              <a:gd name="adj" fmla="val 29268"/>
            </a:avLst>
          </a:prstGeom>
          <a:solidFill>
            <a:srgbClr val="D63A2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1811000" y="2809875"/>
            <a:ext cx="638175" cy="390525"/>
          </a:xfrm>
          <a:prstGeom prst="roundRect">
            <a:avLst>
              <a:gd name="adj" fmla="val 29268"/>
            </a:avLst>
          </a:prstGeom>
          <a:solidFill>
            <a:srgbClr val="D4A4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12534900" y="2809875"/>
            <a:ext cx="638175" cy="390525"/>
          </a:xfrm>
          <a:prstGeom prst="roundRect">
            <a:avLst>
              <a:gd name="adj" fmla="val 29268"/>
            </a:avLst>
          </a:prstGeom>
          <a:solidFill>
            <a:srgbClr val="347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13258800" y="2809875"/>
            <a:ext cx="638175" cy="390525"/>
          </a:xfrm>
          <a:prstGeom prst="roundRect">
            <a:avLst>
              <a:gd name="adj" fmla="val 29268"/>
            </a:avLst>
          </a:prstGeom>
          <a:solidFill>
            <a:srgbClr val="9999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448050" y="2847975"/>
            <a:ext cx="28575" cy="104775"/>
          </a:xfrm>
          <a:prstGeom prst="rect">
            <a:avLst/>
          </a:prstGeom>
          <a:solidFill>
            <a:srgbClr val="AA1D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448050" y="4352925"/>
            <a:ext cx="28575" cy="104775"/>
          </a:xfrm>
          <a:prstGeom prst="rect">
            <a:avLst/>
          </a:prstGeom>
          <a:solidFill>
            <a:srgbClr val="AA1D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534275" y="2924175"/>
            <a:ext cx="28575" cy="95250"/>
          </a:xfrm>
          <a:prstGeom prst="rect">
            <a:avLst/>
          </a:prstGeom>
          <a:solidFill>
            <a:srgbClr val="AA1D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7534275" y="4333875"/>
            <a:ext cx="28575" cy="95250"/>
          </a:xfrm>
          <a:prstGeom prst="rect">
            <a:avLst/>
          </a:prstGeom>
          <a:solidFill>
            <a:srgbClr val="AA1D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0372725" y="3724275"/>
            <a:ext cx="28575" cy="114300"/>
          </a:xfrm>
          <a:prstGeom prst="rect">
            <a:avLst/>
          </a:prstGeom>
          <a:solidFill>
            <a:srgbClr val="AA1D1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6" name="Original red square 红韵乡创 brand seal."/>
          <p:cNvPicPr/>
          <p:nvPr/>
        </p:nvPicPr>
        <p:blipFill>
          <a:blip r:embed="rId3"/>
          <a:stretch>
            <a:fillRect/>
          </a:stretch>
        </p:blipFill>
        <p:spPr>
          <a:xfrm>
            <a:off x="7699220" y="637624"/>
            <a:ext cx="470210" cy="582127"/>
          </a:xfrm>
          <a:prstGeom prst="rect">
            <a:avLst/>
          </a:prstGeom>
        </p:spPr>
      </p:pic>
      <p:pic>
        <p:nvPicPr>
          <p:cNvPr id="27" name="Original top-right girl with jujube and basket, independent foreground; source leaf detail and proportion may differ slightly."/>
          <p:cNvPicPr/>
          <p:nvPr/>
        </p:nvPicPr>
        <p:blipFill>
          <a:blip r:embed="rId4"/>
          <a:stretch>
            <a:fillRect/>
          </a:stretch>
        </p:blipFill>
        <p:spPr>
          <a:xfrm>
            <a:off x="10763357" y="-44735"/>
            <a:ext cx="2367337" cy="2642169"/>
          </a:xfrm>
          <a:prstGeom prst="rect">
            <a:avLst/>
          </a:prstGeom>
        </p:spPr>
      </p:pic>
      <p:pic>
        <p:nvPicPr>
          <p:cNvPr id="28" name="Separated blank red scalloped vertical badge; label native."/>
          <p:cNvPicPr/>
          <p:nvPr/>
        </p:nvPicPr>
        <p:blipFill>
          <a:blip r:embed="rId5"/>
          <a:stretch>
            <a:fillRect/>
          </a:stretch>
        </p:blipFill>
        <p:spPr>
          <a:xfrm>
            <a:off x="12793807" y="1450109"/>
            <a:ext cx="368011" cy="757382"/>
          </a:xfrm>
          <a:prstGeom prst="rect">
            <a:avLst/>
          </a:prstGeom>
        </p:spPr>
      </p:pic>
      <p:pic>
        <p:nvPicPr>
          <p:cNvPr id="29" name="Separated source scalloped red ordinal badge with all digits remo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232088" y="2363409"/>
            <a:ext cx="583574" cy="473832"/>
          </a:xfrm>
          <a:prstGeom prst="rect">
            <a:avLst/>
          </a:prstGeom>
        </p:spPr>
      </p:pic>
      <p:pic>
        <p:nvPicPr>
          <p:cNvPr id="30" name="Separated source scalloped red ordinal badge with all digits removed."/>
          <p:cNvPicPr/>
          <p:nvPr/>
        </p:nvPicPr>
        <p:blipFill>
          <a:blip r:embed="rId7"/>
          <a:stretch>
            <a:fillRect/>
          </a:stretch>
        </p:blipFill>
        <p:spPr>
          <a:xfrm>
            <a:off x="5089838" y="2363409"/>
            <a:ext cx="583574" cy="473832"/>
          </a:xfrm>
          <a:prstGeom prst="rect">
            <a:avLst/>
          </a:prstGeom>
        </p:spPr>
      </p:pic>
      <p:pic>
        <p:nvPicPr>
          <p:cNvPr id="31" name="Separated source scalloped red ordinal badge with all digits remo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10302160" y="2363409"/>
            <a:ext cx="560231" cy="473832"/>
          </a:xfrm>
          <a:prstGeom prst="rect">
            <a:avLst/>
          </a:prstGeom>
        </p:spPr>
      </p:pic>
      <p:pic>
        <p:nvPicPr>
          <p:cNvPr id="32" name="Separated source scalloped red ordinal badge with all digits removed."/>
          <p:cNvPicPr/>
          <p:nvPr/>
        </p:nvPicPr>
        <p:blipFill>
          <a:blip r:embed="rId9"/>
          <a:stretch>
            <a:fillRect/>
          </a:stretch>
        </p:blipFill>
        <p:spPr>
          <a:xfrm>
            <a:off x="232088" y="5563809"/>
            <a:ext cx="583574" cy="473832"/>
          </a:xfrm>
          <a:prstGeom prst="rect">
            <a:avLst/>
          </a:prstGeom>
        </p:spPr>
      </p:pic>
      <p:pic>
        <p:nvPicPr>
          <p:cNvPr id="33" name="Separated source scalloped red ordinal badge with all digits remo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10301086" y="5563809"/>
            <a:ext cx="571902" cy="473832"/>
          </a:xfrm>
          <a:prstGeom prst="rect">
            <a:avLst/>
          </a:prstGeom>
        </p:spPr>
      </p:pic>
      <p:pic>
        <p:nvPicPr>
          <p:cNvPr id="34" name="Source colored gate/ribbon/fruit brand logo including wordmarks."/>
          <p:cNvPicPr/>
          <p:nvPr/>
        </p:nvPicPr>
        <p:blipFill>
          <a:blip r:embed="rId11"/>
          <a:stretch>
            <a:fillRect/>
          </a:stretch>
        </p:blipFill>
        <p:spPr>
          <a:xfrm>
            <a:off x="288971" y="2735821"/>
            <a:ext cx="2918427" cy="2605557"/>
          </a:xfrm>
          <a:prstGeom prst="rect">
            <a:avLst/>
          </a:prstGeom>
        </p:spPr>
      </p:pic>
      <p:pic>
        <p:nvPicPr>
          <p:cNvPr id="35" name="Source monochrome logo."/>
          <p:cNvPicPr/>
          <p:nvPr/>
        </p:nvPicPr>
        <p:blipFill>
          <a:blip r:embed="rId12"/>
          <a:stretch>
            <a:fillRect/>
          </a:stretch>
        </p:blipFill>
        <p:spPr>
          <a:xfrm>
            <a:off x="3437580" y="2854982"/>
            <a:ext cx="1315710" cy="1338535"/>
          </a:xfrm>
          <a:prstGeom prst="rect">
            <a:avLst/>
          </a:prstGeom>
        </p:spPr>
      </p:pic>
      <p:pic>
        <p:nvPicPr>
          <p:cNvPr id="36" name="Original simplified red ribbon/green leaves/fruit symbol."/>
          <p:cNvPicPr/>
          <p:nvPr/>
        </p:nvPicPr>
        <p:blipFill>
          <a:blip r:embed="rId13"/>
          <a:stretch>
            <a:fillRect/>
          </a:stretch>
        </p:blipFill>
        <p:spPr>
          <a:xfrm>
            <a:off x="3461133" y="4400416"/>
            <a:ext cx="1316860" cy="981343"/>
          </a:xfrm>
          <a:prstGeom prst="rect">
            <a:avLst/>
          </a:prstGeom>
        </p:spPr>
      </p:pic>
      <p:pic>
        <p:nvPicPr>
          <p:cNvPr id="37" name="Original standing mascot holding jujube and basket."/>
          <p:cNvPicPr/>
          <p:nvPr/>
        </p:nvPicPr>
        <p:blipFill>
          <a:blip r:embed="rId14"/>
          <a:stretch>
            <a:fillRect/>
          </a:stretch>
        </p:blipFill>
        <p:spPr>
          <a:xfrm>
            <a:off x="5221974" y="2629243"/>
            <a:ext cx="2276772" cy="2907814"/>
          </a:xfrm>
          <a:prstGeom prst="rect">
            <a:avLst/>
          </a:prstGeom>
        </p:spPr>
      </p:pic>
      <p:pic>
        <p:nvPicPr>
          <p:cNvPr id="38" name="Separated blank name badge."/>
          <p:cNvPicPr/>
          <p:nvPr/>
        </p:nvPicPr>
        <p:blipFill>
          <a:blip r:embed="rId15"/>
          <a:stretch>
            <a:fillRect/>
          </a:stretch>
        </p:blipFill>
        <p:spPr>
          <a:xfrm>
            <a:off x="5021407" y="2997200"/>
            <a:ext cx="368011" cy="911225"/>
          </a:xfrm>
          <a:prstGeom prst="rect">
            <a:avLst/>
          </a:prstGeom>
        </p:spPr>
      </p:pic>
      <p:pic>
        <p:nvPicPr>
          <p:cNvPr id="39" name="Source mascot view_front pose."/>
          <p:cNvPicPr/>
          <p:nvPr/>
        </p:nvPicPr>
        <p:blipFill>
          <a:blip r:embed="rId16"/>
          <a:stretch>
            <a:fillRect/>
          </a:stretch>
        </p:blipFill>
        <p:spPr>
          <a:xfrm>
            <a:off x="7566222" y="3010983"/>
            <a:ext cx="798077" cy="1159884"/>
          </a:xfrm>
          <a:prstGeom prst="rect">
            <a:avLst/>
          </a:prstGeom>
        </p:spPr>
      </p:pic>
      <p:pic>
        <p:nvPicPr>
          <p:cNvPr id="40" name="Source mascot view_side pose."/>
          <p:cNvPicPr/>
          <p:nvPr/>
        </p:nvPicPr>
        <p:blipFill>
          <a:blip r:embed="rId17"/>
          <a:stretch>
            <a:fillRect/>
          </a:stretch>
        </p:blipFill>
        <p:spPr>
          <a:xfrm>
            <a:off x="8397240" y="3010983"/>
            <a:ext cx="810101" cy="1159884"/>
          </a:xfrm>
          <a:prstGeom prst="rect">
            <a:avLst/>
          </a:prstGeom>
        </p:spPr>
      </p:pic>
      <p:pic>
        <p:nvPicPr>
          <p:cNvPr id="41" name="Source mascot view_back pose."/>
          <p:cNvPicPr/>
          <p:nvPr/>
        </p:nvPicPr>
        <p:blipFill>
          <a:blip r:embed="rId18"/>
          <a:stretch>
            <a:fillRect/>
          </a:stretch>
        </p:blipFill>
        <p:spPr>
          <a:xfrm>
            <a:off x="9218314" y="3007279"/>
            <a:ext cx="813397" cy="1163776"/>
          </a:xfrm>
          <a:prstGeom prst="rect">
            <a:avLst/>
          </a:prstGeom>
        </p:spPr>
      </p:pic>
      <p:pic>
        <p:nvPicPr>
          <p:cNvPr id="42" name="Source mascot expression 开心."/>
          <p:cNvPicPr/>
          <p:nvPr/>
        </p:nvPicPr>
        <p:blipFill>
          <a:blip r:embed="rId19"/>
          <a:stretch>
            <a:fillRect/>
          </a:stretch>
        </p:blipFill>
        <p:spPr>
          <a:xfrm>
            <a:off x="7462086" y="4479171"/>
            <a:ext cx="533400" cy="738108"/>
          </a:xfrm>
          <a:prstGeom prst="rect">
            <a:avLst/>
          </a:prstGeom>
        </p:spPr>
      </p:pic>
      <p:pic>
        <p:nvPicPr>
          <p:cNvPr id="43" name="Source mascot expression 暖暖."/>
          <p:cNvPicPr/>
          <p:nvPr/>
        </p:nvPicPr>
        <p:blipFill>
          <a:blip r:embed="rId20"/>
          <a:stretch>
            <a:fillRect/>
          </a:stretch>
        </p:blipFill>
        <p:spPr>
          <a:xfrm>
            <a:off x="7950085" y="4476814"/>
            <a:ext cx="568556" cy="740585"/>
          </a:xfrm>
          <a:prstGeom prst="rect">
            <a:avLst/>
          </a:prstGeom>
        </p:spPr>
      </p:pic>
      <p:pic>
        <p:nvPicPr>
          <p:cNvPr id="44" name="Source mascot expression 品尝."/>
          <p:cNvPicPr/>
          <p:nvPr/>
        </p:nvPicPr>
        <p:blipFill>
          <a:blip r:embed="rId21"/>
          <a:stretch>
            <a:fillRect/>
          </a:stretch>
        </p:blipFill>
        <p:spPr>
          <a:xfrm>
            <a:off x="8463007" y="4491038"/>
            <a:ext cx="551782" cy="747712"/>
          </a:xfrm>
          <a:prstGeom prst="rect">
            <a:avLst/>
          </a:prstGeom>
        </p:spPr>
      </p:pic>
      <p:pic>
        <p:nvPicPr>
          <p:cNvPr id="45" name="Source mascot expression 惊喜."/>
          <p:cNvPicPr/>
          <p:nvPr/>
        </p:nvPicPr>
        <p:blipFill>
          <a:blip r:embed="rId22"/>
          <a:stretch>
            <a:fillRect/>
          </a:stretch>
        </p:blipFill>
        <p:spPr>
          <a:xfrm>
            <a:off x="8976613" y="4491122"/>
            <a:ext cx="572899" cy="747424"/>
          </a:xfrm>
          <a:prstGeom prst="rect">
            <a:avLst/>
          </a:prstGeom>
        </p:spPr>
      </p:pic>
      <p:pic>
        <p:nvPicPr>
          <p:cNvPr id="46" name="Source mascot expression 比心."/>
          <p:cNvPicPr/>
          <p:nvPr/>
        </p:nvPicPr>
        <p:blipFill>
          <a:blip r:embed="rId23"/>
          <a:stretch>
            <a:fillRect/>
          </a:stretch>
        </p:blipFill>
        <p:spPr>
          <a:xfrm>
            <a:off x="9495768" y="4488656"/>
            <a:ext cx="563289" cy="750094"/>
          </a:xfrm>
          <a:prstGeom prst="rect">
            <a:avLst/>
          </a:prstGeom>
        </p:spPr>
      </p:pic>
      <p:pic>
        <p:nvPicPr>
          <p:cNvPr id="47" name="Source 祥云纹 auxiliary graphic."/>
          <p:cNvPicPr/>
          <p:nvPr/>
        </p:nvPicPr>
        <p:blipFill>
          <a:blip r:embed="rId24"/>
          <a:stretch>
            <a:fillRect/>
          </a:stretch>
        </p:blipFill>
        <p:spPr>
          <a:xfrm>
            <a:off x="10301075" y="3824605"/>
            <a:ext cx="1343450" cy="675640"/>
          </a:xfrm>
          <a:prstGeom prst="rect">
            <a:avLst/>
          </a:prstGeom>
        </p:spPr>
      </p:pic>
      <p:pic>
        <p:nvPicPr>
          <p:cNvPr id="48" name="Source 红绸飘带 auxiliary graphic."/>
          <p:cNvPicPr/>
          <p:nvPr/>
        </p:nvPicPr>
        <p:blipFill>
          <a:blip r:embed="rId25"/>
          <a:stretch>
            <a:fillRect/>
          </a:stretch>
        </p:blipFill>
        <p:spPr>
          <a:xfrm>
            <a:off x="11301303" y="3791761"/>
            <a:ext cx="1705193" cy="741329"/>
          </a:xfrm>
          <a:prstGeom prst="rect">
            <a:avLst/>
          </a:prstGeom>
        </p:spPr>
      </p:pic>
      <p:pic>
        <p:nvPicPr>
          <p:cNvPr id="49" name="Source 枣枝元素 auxiliary graphic."/>
          <p:cNvPicPr/>
          <p:nvPr/>
        </p:nvPicPr>
        <p:blipFill>
          <a:blip r:embed="rId26"/>
          <a:stretch>
            <a:fillRect/>
          </a:stretch>
        </p:blipFill>
        <p:spPr>
          <a:xfrm>
            <a:off x="12891780" y="3737475"/>
            <a:ext cx="1115040" cy="792750"/>
          </a:xfrm>
          <a:prstGeom prst="rect">
            <a:avLst/>
          </a:prstGeom>
        </p:spPr>
      </p:pic>
      <p:pic>
        <p:nvPicPr>
          <p:cNvPr id="50" name="Source 屋檐纹样 auxiliary graphic."/>
          <p:cNvPicPr/>
          <p:nvPr/>
        </p:nvPicPr>
        <p:blipFill>
          <a:blip r:embed="rId27"/>
          <a:stretch>
            <a:fillRect/>
          </a:stretch>
        </p:blipFill>
        <p:spPr>
          <a:xfrm>
            <a:off x="10274382" y="4658112"/>
            <a:ext cx="1187286" cy="627877"/>
          </a:xfrm>
          <a:prstGeom prst="rect">
            <a:avLst/>
          </a:prstGeom>
        </p:spPr>
      </p:pic>
      <p:pic>
        <p:nvPicPr>
          <p:cNvPr id="51" name="Source 山水纹样 auxiliary graphic."/>
          <p:cNvPicPr/>
          <p:nvPr/>
        </p:nvPicPr>
        <p:blipFill>
          <a:blip r:embed="rId28"/>
          <a:stretch>
            <a:fillRect/>
          </a:stretch>
        </p:blipFill>
        <p:spPr>
          <a:xfrm>
            <a:off x="11322594" y="4689662"/>
            <a:ext cx="1062536" cy="602876"/>
          </a:xfrm>
          <a:prstGeom prst="rect">
            <a:avLst/>
          </a:prstGeom>
        </p:spPr>
      </p:pic>
      <p:pic>
        <p:nvPicPr>
          <p:cNvPr id="52" name="Source 传统纹样 auxiliary graphic."/>
          <p:cNvPicPr/>
          <p:nvPr/>
        </p:nvPicPr>
        <p:blipFill>
          <a:blip r:embed="rId29"/>
          <a:stretch>
            <a:fillRect/>
          </a:stretch>
        </p:blipFill>
        <p:spPr>
          <a:xfrm>
            <a:off x="12323279" y="4682703"/>
            <a:ext cx="1051891" cy="616793"/>
          </a:xfrm>
          <a:prstGeom prst="rect">
            <a:avLst/>
          </a:prstGeom>
        </p:spPr>
      </p:pic>
      <p:pic>
        <p:nvPicPr>
          <p:cNvPr id="53" name="Source 印章元素 auxiliary graphic."/>
          <p:cNvPicPr/>
          <p:nvPr/>
        </p:nvPicPr>
        <p:blipFill>
          <a:blip r:embed="rId30"/>
          <a:stretch>
            <a:fillRect/>
          </a:stretch>
        </p:blipFill>
        <p:spPr>
          <a:xfrm>
            <a:off x="13452320" y="4682915"/>
            <a:ext cx="470210" cy="616370"/>
          </a:xfrm>
          <a:prstGeom prst="rect">
            <a:avLst/>
          </a:prstGeom>
        </p:spPr>
      </p:pic>
      <p:pic>
        <p:nvPicPr>
          <p:cNvPr id="54" name="Original independently separated physical 礼盒包装 mockup."/>
          <p:cNvPicPr/>
          <p:nvPr/>
        </p:nvPicPr>
        <p:blipFill>
          <a:blip r:embed="rId31"/>
          <a:stretch>
            <a:fillRect/>
          </a:stretch>
        </p:blipFill>
        <p:spPr>
          <a:xfrm>
            <a:off x="138112" y="5839099"/>
            <a:ext cx="3291681" cy="2218778"/>
          </a:xfrm>
          <a:prstGeom prst="rect">
            <a:avLst/>
          </a:prstGeom>
        </p:spPr>
      </p:pic>
      <p:pic>
        <p:nvPicPr>
          <p:cNvPr id="55" name="Original independently separated physical 产品包装袋 mockup."/>
          <p:cNvPicPr/>
          <p:nvPr/>
        </p:nvPicPr>
        <p:blipFill>
          <a:blip r:embed="rId32"/>
          <a:stretch>
            <a:fillRect/>
          </a:stretch>
        </p:blipFill>
        <p:spPr>
          <a:xfrm>
            <a:off x="3356326" y="5779461"/>
            <a:ext cx="1378085" cy="2195178"/>
          </a:xfrm>
          <a:prstGeom prst="rect">
            <a:avLst/>
          </a:prstGeom>
        </p:spPr>
      </p:pic>
      <p:pic>
        <p:nvPicPr>
          <p:cNvPr id="56" name="Original independently separated physical 手提袋 mockup."/>
          <p:cNvPicPr/>
          <p:nvPr/>
        </p:nvPicPr>
        <p:blipFill>
          <a:blip r:embed="rId33"/>
          <a:stretch>
            <a:fillRect/>
          </a:stretch>
        </p:blipFill>
        <p:spPr>
          <a:xfrm>
            <a:off x="4718891" y="5538107"/>
            <a:ext cx="1573583" cy="2439761"/>
          </a:xfrm>
          <a:prstGeom prst="rect">
            <a:avLst/>
          </a:prstGeom>
        </p:spPr>
      </p:pic>
      <p:pic>
        <p:nvPicPr>
          <p:cNvPr id="57" name="Original independently separated physical 文创笔记本 mockup."/>
          <p:cNvPicPr/>
          <p:nvPr/>
        </p:nvPicPr>
        <p:blipFill>
          <a:blip r:embed="rId34"/>
          <a:stretch>
            <a:fillRect/>
          </a:stretch>
        </p:blipFill>
        <p:spPr>
          <a:xfrm>
            <a:off x="6160500" y="5862473"/>
            <a:ext cx="1585500" cy="2124403"/>
          </a:xfrm>
          <a:prstGeom prst="rect">
            <a:avLst/>
          </a:prstGeom>
        </p:spPr>
      </p:pic>
      <p:pic>
        <p:nvPicPr>
          <p:cNvPr id="58" name="Original independently separated physical 书签 mockup."/>
          <p:cNvPicPr/>
          <p:nvPr/>
        </p:nvPicPr>
        <p:blipFill>
          <a:blip r:embed="rId35"/>
          <a:stretch>
            <a:fillRect/>
          </a:stretch>
        </p:blipFill>
        <p:spPr>
          <a:xfrm>
            <a:off x="7662950" y="5831740"/>
            <a:ext cx="673358" cy="2173274"/>
          </a:xfrm>
          <a:prstGeom prst="rect">
            <a:avLst/>
          </a:prstGeom>
        </p:spPr>
      </p:pic>
      <p:pic>
        <p:nvPicPr>
          <p:cNvPr id="59" name="Original independently separated physical 徽章 mockup."/>
          <p:cNvPicPr/>
          <p:nvPr/>
        </p:nvPicPr>
        <p:blipFill>
          <a:blip r:embed="rId36"/>
          <a:stretch>
            <a:fillRect/>
          </a:stretch>
        </p:blipFill>
        <p:spPr>
          <a:xfrm>
            <a:off x="8338887" y="5994504"/>
            <a:ext cx="941857" cy="1003092"/>
          </a:xfrm>
          <a:prstGeom prst="rect">
            <a:avLst/>
          </a:prstGeom>
        </p:spPr>
      </p:pic>
      <p:pic>
        <p:nvPicPr>
          <p:cNvPr id="60" name="Original independently separated physical 冰箱贴 mockup."/>
          <p:cNvPicPr/>
          <p:nvPr/>
        </p:nvPicPr>
        <p:blipFill>
          <a:blip r:embed="rId37"/>
          <a:stretch>
            <a:fillRect/>
          </a:stretch>
        </p:blipFill>
        <p:spPr>
          <a:xfrm>
            <a:off x="9197096" y="5970170"/>
            <a:ext cx="1062647" cy="1023186"/>
          </a:xfrm>
          <a:prstGeom prst="rect">
            <a:avLst/>
          </a:prstGeom>
        </p:spPr>
      </p:pic>
      <p:pic>
        <p:nvPicPr>
          <p:cNvPr id="61" name="Original independently separated physical 贴纸 mockup."/>
          <p:cNvPicPr/>
          <p:nvPr/>
        </p:nvPicPr>
        <p:blipFill>
          <a:blip r:embed="rId38"/>
          <a:stretch>
            <a:fillRect/>
          </a:stretch>
        </p:blipFill>
        <p:spPr>
          <a:xfrm>
            <a:off x="8321347" y="7004304"/>
            <a:ext cx="1908898" cy="1021842"/>
          </a:xfrm>
          <a:prstGeom prst="rect">
            <a:avLst/>
          </a:prstGeom>
        </p:spPr>
      </p:pic>
      <p:pic>
        <p:nvPicPr>
          <p:cNvPr id="62" name="Original independently separated physical 折扇 mockup."/>
          <p:cNvPicPr/>
          <p:nvPr/>
        </p:nvPicPr>
        <p:blipFill>
          <a:blip r:embed="rId39"/>
          <a:stretch>
            <a:fillRect/>
          </a:stretch>
        </p:blipFill>
        <p:spPr>
          <a:xfrm>
            <a:off x="66214" y="7994777"/>
            <a:ext cx="2411649" cy="1851888"/>
          </a:xfrm>
          <a:prstGeom prst="rect">
            <a:avLst/>
          </a:prstGeom>
        </p:spPr>
      </p:pic>
      <p:pic>
        <p:nvPicPr>
          <p:cNvPr id="63" name="Original independently separated physical 明信片 mockup."/>
          <p:cNvPicPr/>
          <p:nvPr/>
        </p:nvPicPr>
        <p:blipFill>
          <a:blip r:embed="rId40"/>
          <a:stretch>
            <a:fillRect/>
          </a:stretch>
        </p:blipFill>
        <p:spPr>
          <a:xfrm>
            <a:off x="2301648" y="8036855"/>
            <a:ext cx="2016579" cy="1662289"/>
          </a:xfrm>
          <a:prstGeom prst="rect">
            <a:avLst/>
          </a:prstGeom>
        </p:spPr>
      </p:pic>
      <p:pic>
        <p:nvPicPr>
          <p:cNvPr id="64" name="Original independently separated physical 丝巾 mockup."/>
          <p:cNvPicPr/>
          <p:nvPr/>
        </p:nvPicPr>
        <p:blipFill>
          <a:blip r:embed="rId41"/>
          <a:stretch>
            <a:fillRect/>
          </a:stretch>
        </p:blipFill>
        <p:spPr>
          <a:xfrm>
            <a:off x="4235806" y="8021754"/>
            <a:ext cx="1715643" cy="1625368"/>
          </a:xfrm>
          <a:prstGeom prst="rect">
            <a:avLst/>
          </a:prstGeom>
        </p:spPr>
      </p:pic>
      <p:pic>
        <p:nvPicPr>
          <p:cNvPr id="65" name="Original independently separated physical 手机挂件 mockup."/>
          <p:cNvPicPr/>
          <p:nvPr/>
        </p:nvPicPr>
        <p:blipFill>
          <a:blip r:embed="rId42"/>
          <a:stretch>
            <a:fillRect/>
          </a:stretch>
        </p:blipFill>
        <p:spPr>
          <a:xfrm>
            <a:off x="5959209" y="8056659"/>
            <a:ext cx="693481" cy="1584132"/>
          </a:xfrm>
          <a:prstGeom prst="rect">
            <a:avLst/>
          </a:prstGeom>
        </p:spPr>
      </p:pic>
      <p:pic>
        <p:nvPicPr>
          <p:cNvPr id="66" name="Original independently separated physical 文创杯 mockup."/>
          <p:cNvPicPr/>
          <p:nvPr/>
        </p:nvPicPr>
        <p:blipFill>
          <a:blip r:embed="rId43"/>
          <a:stretch>
            <a:fillRect/>
          </a:stretch>
        </p:blipFill>
        <p:spPr>
          <a:xfrm>
            <a:off x="6483405" y="8125299"/>
            <a:ext cx="1025414" cy="1456378"/>
          </a:xfrm>
          <a:prstGeom prst="rect">
            <a:avLst/>
          </a:prstGeom>
        </p:spPr>
      </p:pic>
      <p:pic>
        <p:nvPicPr>
          <p:cNvPr id="67" name="Original independently separated physical 抱枕 mockup."/>
          <p:cNvPicPr/>
          <p:nvPr/>
        </p:nvPicPr>
        <p:blipFill>
          <a:blip r:embed="rId44"/>
          <a:stretch>
            <a:fillRect/>
          </a:stretch>
        </p:blipFill>
        <p:spPr>
          <a:xfrm>
            <a:off x="7406120" y="8061223"/>
            <a:ext cx="1718310" cy="1613105"/>
          </a:xfrm>
          <a:prstGeom prst="rect">
            <a:avLst/>
          </a:prstGeom>
        </p:spPr>
      </p:pic>
      <p:pic>
        <p:nvPicPr>
          <p:cNvPr id="68" name="Original independently separated physical 香囊 mockup."/>
          <p:cNvPicPr/>
          <p:nvPr/>
        </p:nvPicPr>
        <p:blipFill>
          <a:blip r:embed="rId45"/>
          <a:stretch>
            <a:fillRect/>
          </a:stretch>
        </p:blipFill>
        <p:spPr>
          <a:xfrm>
            <a:off x="8991815" y="8023972"/>
            <a:ext cx="1275921" cy="1648946"/>
          </a:xfrm>
          <a:prstGeom prst="rect">
            <a:avLst/>
          </a:prstGeom>
        </p:spPr>
      </p:pic>
      <p:pic>
        <p:nvPicPr>
          <p:cNvPr id="69" name="Source displayed poster artwork with ordinary headlines/Romanization removed through targeted builtin image edit."/>
          <p:cNvPicPr/>
          <p:nvPr/>
        </p:nvPicPr>
        <p:blipFill>
          <a:blip r:embed="rId46"/>
          <a:stretch>
            <a:fillRect/>
          </a:stretch>
        </p:blipFill>
        <p:spPr>
          <a:xfrm>
            <a:off x="10279515" y="5911908"/>
            <a:ext cx="1891396" cy="3578110"/>
          </a:xfrm>
          <a:prstGeom prst="rect">
            <a:avLst/>
          </a:prstGeom>
        </p:spPr>
      </p:pic>
      <p:pic>
        <p:nvPicPr>
          <p:cNvPr id="70" name="Source displayed poster artwork with ordinary headlines/Romanization removed through targeted builtin image edit."/>
          <p:cNvPicPr/>
          <p:nvPr/>
        </p:nvPicPr>
        <p:blipFill>
          <a:blip r:embed="rId47"/>
          <a:stretch>
            <a:fillRect/>
          </a:stretch>
        </p:blipFill>
        <p:spPr>
          <a:xfrm>
            <a:off x="12071200" y="5912146"/>
            <a:ext cx="1975150" cy="3577634"/>
          </a:xfrm>
          <a:prstGeom prst="rect">
            <a:avLst/>
          </a:prstGeom>
        </p:spPr>
      </p:pic>
      <p:sp>
        <p:nvSpPr>
          <p:cNvPr id="71" name="TextBox 71"/>
          <p:cNvSpPr txBox="1"/>
          <p:nvPr/>
        </p:nvSpPr>
        <p:spPr>
          <a:xfrm>
            <a:off x="1257300" y="371475"/>
            <a:ext cx="2667000" cy="962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250" b="1">
                <a:solidFill>
                  <a:srgbClr val="8C0D10"/>
                </a:solidFill>
                <a:latin typeface="Ma Shan Zheng"/>
                <a:ea typeface="Ma Shan Zheng"/>
                <a:cs typeface="Ma Shan Zheng"/>
              </a:rPr>
              <a:t>红韵乡创</a:t>
            </a:r>
            <a:endParaRPr lang="zh-CN" sz="5250"/>
          </a:p>
        </p:txBody>
      </p:sp>
      <p:sp>
        <p:nvSpPr>
          <p:cNvPr id="72" name="TextBox 72"/>
          <p:cNvSpPr txBox="1"/>
          <p:nvPr/>
        </p:nvSpPr>
        <p:spPr>
          <a:xfrm>
            <a:off x="3905250" y="400050"/>
            <a:ext cx="400050" cy="962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5250" b="1">
                <a:solidFill>
                  <a:srgbClr val="8C0D10"/>
                </a:solidFill>
                <a:latin typeface="Noto Serif CJK SC"/>
                <a:ea typeface="Noto Serif CJK SC"/>
                <a:cs typeface="Noto Serif CJK SC"/>
              </a:rPr>
              <a:t>·</a:t>
            </a:r>
            <a:endParaRPr lang="zh-CN" sz="5250"/>
          </a:p>
        </p:txBody>
      </p:sp>
      <p:sp>
        <p:nvSpPr>
          <p:cNvPr id="73" name="TextBox 73"/>
          <p:cNvSpPr txBox="1"/>
          <p:nvPr/>
        </p:nvSpPr>
        <p:spPr>
          <a:xfrm>
            <a:off x="4343400" y="371475"/>
            <a:ext cx="2266950" cy="962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250" b="1">
                <a:solidFill>
                  <a:srgbClr val="8C0D10"/>
                </a:solidFill>
                <a:latin typeface="Ma Shan Zheng"/>
                <a:ea typeface="Ma Shan Zheng"/>
                <a:cs typeface="Ma Shan Zheng"/>
              </a:rPr>
              <a:t>贵妃枣</a:t>
            </a:r>
            <a:endParaRPr lang="zh-CN" sz="5250"/>
          </a:p>
        </p:txBody>
      </p:sp>
      <p:sp>
        <p:nvSpPr>
          <p:cNvPr id="74" name="TextBox 74"/>
          <p:cNvSpPr txBox="1"/>
          <p:nvPr/>
        </p:nvSpPr>
        <p:spPr>
          <a:xfrm>
            <a:off x="6610350" y="495300"/>
            <a:ext cx="1114425" cy="828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300" b="1">
                <a:solidFill>
                  <a:srgbClr val="8C0D10"/>
                </a:solidFill>
                <a:latin typeface="Liberation Serif"/>
                <a:ea typeface="Liberation Serif"/>
                <a:cs typeface="Liberation Serif"/>
              </a:rPr>
              <a:t>VIS</a:t>
            </a:r>
            <a:endParaRPr lang="zh-CN" sz="5300"/>
          </a:p>
        </p:txBody>
      </p:sp>
      <p:sp>
        <p:nvSpPr>
          <p:cNvPr id="75" name="TextBox 75"/>
          <p:cNvSpPr txBox="1"/>
          <p:nvPr/>
        </p:nvSpPr>
        <p:spPr>
          <a:xfrm>
            <a:off x="1971675" y="1304925"/>
            <a:ext cx="1152525" cy="3429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8D1516"/>
                </a:solidFill>
                <a:latin typeface="Noto Serif CJK SC"/>
                <a:ea typeface="Noto Serif CJK SC"/>
                <a:cs typeface="Noto Serif CJK SC"/>
              </a:rPr>
              <a:t>文创应用</a:t>
            </a:r>
            <a:endParaRPr lang="zh-CN" sz="2100"/>
          </a:p>
        </p:txBody>
      </p:sp>
      <p:sp>
        <p:nvSpPr>
          <p:cNvPr id="76" name="TextBox 76"/>
          <p:cNvSpPr txBox="1"/>
          <p:nvPr/>
        </p:nvSpPr>
        <p:spPr>
          <a:xfrm>
            <a:off x="3190875" y="1381125"/>
            <a:ext cx="309562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A31916"/>
                </a:solidFill>
                <a:latin typeface="Liberation Serif"/>
                <a:ea typeface="Liberation Serif"/>
                <a:cs typeface="Liberation Serif"/>
              </a:rPr>
              <a:t>CULTURAL &amp; CREATIVE APPLICATIONS</a:t>
            </a:r>
            <a:endParaRPr lang="zh-CN" sz="1200"/>
          </a:p>
        </p:txBody>
      </p:sp>
      <p:sp>
        <p:nvSpPr>
          <p:cNvPr id="77" name="TextBox 77"/>
          <p:cNvSpPr txBox="1"/>
          <p:nvPr/>
        </p:nvSpPr>
        <p:spPr>
          <a:xfrm>
            <a:off x="2428875" y="1676400"/>
            <a:ext cx="45148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4B3021"/>
                </a:solidFill>
                <a:latin typeface="Noto Serif CJK SC"/>
                <a:ea typeface="Noto Serif CJK SC"/>
                <a:cs typeface="Noto Serif CJK SC"/>
              </a:rPr>
              <a:t>一颗贵妃枣　千年白马关　红韵润乡村</a:t>
            </a:r>
            <a:endParaRPr lang="zh-CN" sz="1200"/>
          </a:p>
        </p:txBody>
      </p:sp>
      <p:sp>
        <p:nvSpPr>
          <p:cNvPr id="78" name="TextBox 78"/>
          <p:cNvSpPr txBox="1"/>
          <p:nvPr/>
        </p:nvSpPr>
        <p:spPr>
          <a:xfrm>
            <a:off x="13573125" y="238125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红</a:t>
            </a:r>
            <a:endParaRPr lang="zh-CN" sz="1839"/>
          </a:p>
        </p:txBody>
      </p:sp>
      <p:sp>
        <p:nvSpPr>
          <p:cNvPr id="79" name="TextBox 79"/>
          <p:cNvSpPr txBox="1"/>
          <p:nvPr/>
        </p:nvSpPr>
        <p:spPr>
          <a:xfrm>
            <a:off x="13573125" y="514350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韵</a:t>
            </a:r>
            <a:endParaRPr lang="zh-CN" sz="1839"/>
          </a:p>
        </p:txBody>
      </p:sp>
      <p:sp>
        <p:nvSpPr>
          <p:cNvPr id="80" name="TextBox 80"/>
          <p:cNvSpPr txBox="1"/>
          <p:nvPr/>
        </p:nvSpPr>
        <p:spPr>
          <a:xfrm>
            <a:off x="13573125" y="790575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乡</a:t>
            </a:r>
            <a:endParaRPr lang="zh-CN" sz="1839"/>
          </a:p>
        </p:txBody>
      </p:sp>
      <p:sp>
        <p:nvSpPr>
          <p:cNvPr id="81" name="TextBox 81"/>
          <p:cNvSpPr txBox="1"/>
          <p:nvPr/>
        </p:nvSpPr>
        <p:spPr>
          <a:xfrm>
            <a:off x="13573125" y="1066800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创</a:t>
            </a:r>
            <a:endParaRPr lang="zh-CN" sz="1839"/>
          </a:p>
        </p:txBody>
      </p:sp>
      <p:sp>
        <p:nvSpPr>
          <p:cNvPr id="82" name="TextBox 82"/>
          <p:cNvSpPr txBox="1"/>
          <p:nvPr/>
        </p:nvSpPr>
        <p:spPr>
          <a:xfrm>
            <a:off x="13239750" y="276225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枣</a:t>
            </a:r>
            <a:endParaRPr lang="zh-CN" sz="1839"/>
          </a:p>
        </p:txBody>
      </p:sp>
      <p:sp>
        <p:nvSpPr>
          <p:cNvPr id="83" name="TextBox 83"/>
          <p:cNvSpPr txBox="1"/>
          <p:nvPr/>
        </p:nvSpPr>
        <p:spPr>
          <a:xfrm>
            <a:off x="13239750" y="552450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香</a:t>
            </a:r>
            <a:endParaRPr lang="zh-CN" sz="1839"/>
          </a:p>
        </p:txBody>
      </p:sp>
      <p:sp>
        <p:nvSpPr>
          <p:cNvPr id="84" name="TextBox 84"/>
          <p:cNvSpPr txBox="1"/>
          <p:nvPr/>
        </p:nvSpPr>
        <p:spPr>
          <a:xfrm>
            <a:off x="13239750" y="828675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传</a:t>
            </a:r>
            <a:endParaRPr lang="zh-CN" sz="1839"/>
          </a:p>
        </p:txBody>
      </p:sp>
      <p:sp>
        <p:nvSpPr>
          <p:cNvPr id="85" name="TextBox 85"/>
          <p:cNvSpPr txBox="1"/>
          <p:nvPr/>
        </p:nvSpPr>
        <p:spPr>
          <a:xfrm>
            <a:off x="13239750" y="1104900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千</a:t>
            </a:r>
            <a:endParaRPr lang="zh-CN" sz="1839"/>
          </a:p>
        </p:txBody>
      </p:sp>
      <p:sp>
        <p:nvSpPr>
          <p:cNvPr id="86" name="TextBox 86"/>
          <p:cNvSpPr txBox="1"/>
          <p:nvPr/>
        </p:nvSpPr>
        <p:spPr>
          <a:xfrm>
            <a:off x="13239750" y="1381125"/>
            <a:ext cx="2762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911D18"/>
                </a:solidFill>
                <a:latin typeface="Ma Shan Zheng"/>
                <a:ea typeface="Ma Shan Zheng"/>
                <a:cs typeface="Ma Shan Zheng"/>
              </a:rPr>
              <a:t>年</a:t>
            </a:r>
            <a:endParaRPr lang="zh-CN" sz="1839"/>
          </a:p>
        </p:txBody>
      </p:sp>
      <p:sp>
        <p:nvSpPr>
          <p:cNvPr id="87" name="TextBox 87"/>
          <p:cNvSpPr txBox="1"/>
          <p:nvPr/>
        </p:nvSpPr>
        <p:spPr>
          <a:xfrm>
            <a:off x="12858750" y="1524000"/>
            <a:ext cx="238125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FFF7DF"/>
                </a:solidFill>
                <a:latin typeface="Ma Shan Zheng"/>
                <a:ea typeface="Ma Shan Zheng"/>
                <a:cs typeface="Ma Shan Zheng"/>
              </a:rPr>
              <a:t>贵</a:t>
            </a:r>
            <a:endParaRPr lang="zh-CN" sz="1120"/>
          </a:p>
          <a:p>
            <a:pPr algn="ctr"/>
            <a:r>
              <a:rPr lang="zh-CN" sz="1120">
                <a:solidFill>
                  <a:srgbClr val="FFF7DF"/>
                </a:solidFill>
                <a:latin typeface="Ma Shan Zheng"/>
                <a:ea typeface="Ma Shan Zheng"/>
                <a:cs typeface="Ma Shan Zheng"/>
              </a:rPr>
              <a:t>妃</a:t>
            </a:r>
            <a:endParaRPr lang="zh-CN" sz="1120"/>
          </a:p>
          <a:p>
            <a:pPr algn="ctr"/>
            <a:r>
              <a:rPr lang="zh-CN" sz="1120">
                <a:solidFill>
                  <a:srgbClr val="FFF7DF"/>
                </a:solidFill>
                <a:latin typeface="Ma Shan Zheng"/>
                <a:ea typeface="Ma Shan Zheng"/>
                <a:cs typeface="Ma Shan Zheng"/>
              </a:rPr>
              <a:t>枣</a:t>
            </a:r>
            <a:endParaRPr lang="zh-CN" sz="1120"/>
          </a:p>
        </p:txBody>
      </p:sp>
      <p:sp>
        <p:nvSpPr>
          <p:cNvPr id="88" name="TextBox 88"/>
          <p:cNvSpPr txBox="1"/>
          <p:nvPr/>
        </p:nvSpPr>
        <p:spPr>
          <a:xfrm>
            <a:off x="285750" y="2409825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9EC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2100"/>
          </a:p>
        </p:txBody>
      </p:sp>
      <p:sp>
        <p:nvSpPr>
          <p:cNvPr id="89" name="TextBox 89"/>
          <p:cNvSpPr txBox="1"/>
          <p:nvPr/>
        </p:nvSpPr>
        <p:spPr>
          <a:xfrm>
            <a:off x="857250" y="2438400"/>
            <a:ext cx="971550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99171A"/>
                </a:solidFill>
                <a:latin typeface="Noto Serif CJK SC"/>
                <a:ea typeface="Noto Serif CJK SC"/>
                <a:cs typeface="Noto Serif CJK SC"/>
              </a:rPr>
              <a:t>标志设计</a:t>
            </a:r>
            <a:endParaRPr lang="zh-CN" sz="1600"/>
          </a:p>
        </p:txBody>
      </p:sp>
      <p:sp>
        <p:nvSpPr>
          <p:cNvPr id="90" name="TextBox 90"/>
          <p:cNvSpPr txBox="1"/>
          <p:nvPr/>
        </p:nvSpPr>
        <p:spPr>
          <a:xfrm>
            <a:off x="1847850" y="24955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A51C18"/>
                </a:solidFill>
                <a:latin typeface="Liberation Serif"/>
                <a:ea typeface="Liberation Serif"/>
                <a:cs typeface="Liberation Serif"/>
              </a:rPr>
              <a:t>LOGO DESIGN</a:t>
            </a:r>
            <a:endParaRPr lang="zh-CN" sz="950"/>
          </a:p>
        </p:txBody>
      </p:sp>
      <p:sp>
        <p:nvSpPr>
          <p:cNvPr id="91" name="TextBox 91"/>
          <p:cNvSpPr txBox="1"/>
          <p:nvPr/>
        </p:nvSpPr>
        <p:spPr>
          <a:xfrm>
            <a:off x="5143500" y="2409825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9EC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2100"/>
          </a:p>
        </p:txBody>
      </p:sp>
      <p:sp>
        <p:nvSpPr>
          <p:cNvPr id="92" name="TextBox 92"/>
          <p:cNvSpPr txBox="1"/>
          <p:nvPr/>
        </p:nvSpPr>
        <p:spPr>
          <a:xfrm>
            <a:off x="5762625" y="2438400"/>
            <a:ext cx="11144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99171A"/>
                </a:solidFill>
                <a:latin typeface="Noto Serif CJK SC"/>
                <a:ea typeface="Noto Serif CJK SC"/>
                <a:cs typeface="Noto Serif CJK SC"/>
              </a:rPr>
              <a:t>吉祥物设计</a:t>
            </a:r>
            <a:endParaRPr lang="zh-CN" sz="1600"/>
          </a:p>
        </p:txBody>
      </p:sp>
      <p:sp>
        <p:nvSpPr>
          <p:cNvPr id="93" name="TextBox 93"/>
          <p:cNvSpPr txBox="1"/>
          <p:nvPr/>
        </p:nvSpPr>
        <p:spPr>
          <a:xfrm>
            <a:off x="6934200" y="2495550"/>
            <a:ext cx="1381125" cy="209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A51C18"/>
                </a:solidFill>
                <a:latin typeface="Liberation Serif"/>
                <a:ea typeface="Liberation Serif"/>
                <a:cs typeface="Liberation Serif"/>
              </a:rPr>
              <a:t>MASCOT DESIGN</a:t>
            </a:r>
            <a:endParaRPr lang="zh-CN" sz="950"/>
          </a:p>
        </p:txBody>
      </p:sp>
      <p:sp>
        <p:nvSpPr>
          <p:cNvPr id="94" name="TextBox 94"/>
          <p:cNvSpPr txBox="1"/>
          <p:nvPr/>
        </p:nvSpPr>
        <p:spPr>
          <a:xfrm>
            <a:off x="10353675" y="2409825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9EC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2100"/>
          </a:p>
        </p:txBody>
      </p:sp>
      <p:sp>
        <p:nvSpPr>
          <p:cNvPr id="95" name="TextBox 95"/>
          <p:cNvSpPr txBox="1"/>
          <p:nvPr/>
        </p:nvSpPr>
        <p:spPr>
          <a:xfrm>
            <a:off x="10848975" y="2466975"/>
            <a:ext cx="1504950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99171A"/>
                </a:solidFill>
                <a:latin typeface="Noto Serif CJK SC"/>
                <a:ea typeface="Noto Serif CJK SC"/>
                <a:cs typeface="Noto Serif CJK SC"/>
              </a:rPr>
              <a:t>标准色与辅助图形</a:t>
            </a:r>
            <a:endParaRPr lang="zh-CN" sz="1400"/>
          </a:p>
        </p:txBody>
      </p:sp>
      <p:sp>
        <p:nvSpPr>
          <p:cNvPr id="96" name="TextBox 96"/>
          <p:cNvSpPr txBox="1"/>
          <p:nvPr/>
        </p:nvSpPr>
        <p:spPr>
          <a:xfrm>
            <a:off x="12392025" y="2514600"/>
            <a:ext cx="14859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A51C18"/>
                </a:solidFill>
                <a:latin typeface="Liberation Serif"/>
                <a:ea typeface="Liberation Serif"/>
                <a:cs typeface="Liberation Serif"/>
              </a:rPr>
              <a:t>COLOR SYSTEM</a:t>
            </a:r>
            <a:endParaRPr lang="zh-CN" sz="900"/>
          </a:p>
        </p:txBody>
      </p:sp>
      <p:sp>
        <p:nvSpPr>
          <p:cNvPr id="97" name="TextBox 97"/>
          <p:cNvSpPr txBox="1"/>
          <p:nvPr/>
        </p:nvSpPr>
        <p:spPr>
          <a:xfrm>
            <a:off x="285750" y="5610225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9EC"/>
                </a:solidFill>
                <a:latin typeface="Liberation Serif"/>
                <a:ea typeface="Liberation Serif"/>
                <a:cs typeface="Liberation Serif"/>
              </a:rPr>
              <a:t>04</a:t>
            </a:r>
            <a:endParaRPr lang="zh-CN" sz="2100"/>
          </a:p>
        </p:txBody>
      </p:sp>
      <p:sp>
        <p:nvSpPr>
          <p:cNvPr id="98" name="TextBox 98"/>
          <p:cNvSpPr txBox="1"/>
          <p:nvPr/>
        </p:nvSpPr>
        <p:spPr>
          <a:xfrm>
            <a:off x="857250" y="5657850"/>
            <a:ext cx="1257300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99171A"/>
                </a:solidFill>
                <a:latin typeface="Noto Serif CJK SC"/>
                <a:ea typeface="Noto Serif CJK SC"/>
                <a:cs typeface="Noto Serif CJK SC"/>
              </a:rPr>
              <a:t>文创应用示意</a:t>
            </a:r>
            <a:endParaRPr lang="zh-CN" sz="1600"/>
          </a:p>
        </p:txBody>
      </p:sp>
      <p:sp>
        <p:nvSpPr>
          <p:cNvPr id="99" name="TextBox 99"/>
          <p:cNvSpPr txBox="1"/>
          <p:nvPr/>
        </p:nvSpPr>
        <p:spPr>
          <a:xfrm>
            <a:off x="2114550" y="5705475"/>
            <a:ext cx="2438400" cy="209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A51C18"/>
                </a:solidFill>
                <a:latin typeface="Liberation Serif"/>
                <a:ea typeface="Liberation Serif"/>
                <a:cs typeface="Liberation Serif"/>
              </a:rPr>
              <a:t>CULTURAL CREATIVE PRODUCTS</a:t>
            </a:r>
            <a:endParaRPr lang="zh-CN" sz="950"/>
          </a:p>
        </p:txBody>
      </p:sp>
      <p:sp>
        <p:nvSpPr>
          <p:cNvPr id="100" name="TextBox 100"/>
          <p:cNvSpPr txBox="1"/>
          <p:nvPr/>
        </p:nvSpPr>
        <p:spPr>
          <a:xfrm>
            <a:off x="10353675" y="5610225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9EC"/>
                </a:solidFill>
                <a:latin typeface="Liberation Serif"/>
                <a:ea typeface="Liberation Serif"/>
                <a:cs typeface="Liberation Serif"/>
              </a:rPr>
              <a:t>05</a:t>
            </a:r>
            <a:endParaRPr lang="zh-CN" sz="2100"/>
          </a:p>
        </p:txBody>
      </p:sp>
      <p:sp>
        <p:nvSpPr>
          <p:cNvPr id="101" name="TextBox 101"/>
          <p:cNvSpPr txBox="1"/>
          <p:nvPr/>
        </p:nvSpPr>
        <p:spPr>
          <a:xfrm>
            <a:off x="10887075" y="5657850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99171A"/>
                </a:solidFill>
                <a:latin typeface="Noto Serif CJK SC"/>
                <a:ea typeface="Noto Serif CJK SC"/>
                <a:cs typeface="Noto Serif CJK SC"/>
              </a:rPr>
              <a:t>海报 / 延展物料</a:t>
            </a:r>
            <a:endParaRPr lang="zh-CN" sz="1400"/>
          </a:p>
        </p:txBody>
      </p:sp>
      <p:sp>
        <p:nvSpPr>
          <p:cNvPr id="102" name="TextBox 102"/>
          <p:cNvSpPr txBox="1"/>
          <p:nvPr/>
        </p:nvSpPr>
        <p:spPr>
          <a:xfrm>
            <a:off x="12392025" y="5715000"/>
            <a:ext cx="1533525" cy="209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A51C18"/>
                </a:solidFill>
                <a:latin typeface="Liberation Serif"/>
                <a:ea typeface="Liberation Serif"/>
                <a:cs typeface="Liberation Serif"/>
              </a:rPr>
              <a:t>POSTER &amp; EXTENSION</a:t>
            </a:r>
            <a:endParaRPr lang="zh-CN" sz="900"/>
          </a:p>
        </p:txBody>
      </p:sp>
      <p:sp>
        <p:nvSpPr>
          <p:cNvPr id="103" name="TextBox 103"/>
          <p:cNvSpPr txBox="1"/>
          <p:nvPr/>
        </p:nvSpPr>
        <p:spPr>
          <a:xfrm>
            <a:off x="933450" y="5200650"/>
            <a:ext cx="17907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白马关 · 贵妃枣 · 红韵乡创</a:t>
            </a:r>
            <a:endParaRPr lang="zh-CN" sz="819"/>
          </a:p>
        </p:txBody>
      </p:sp>
      <p:sp>
        <p:nvSpPr>
          <p:cNvPr id="104" name="TextBox 104"/>
          <p:cNvSpPr txBox="1"/>
          <p:nvPr/>
        </p:nvSpPr>
        <p:spPr>
          <a:xfrm>
            <a:off x="3514725" y="2819400"/>
            <a:ext cx="9525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标志墨稿</a:t>
            </a:r>
            <a:endParaRPr lang="zh-CN" sz="900"/>
          </a:p>
        </p:txBody>
      </p:sp>
      <p:sp>
        <p:nvSpPr>
          <p:cNvPr id="105" name="TextBox 105"/>
          <p:cNvSpPr txBox="1"/>
          <p:nvPr/>
        </p:nvSpPr>
        <p:spPr>
          <a:xfrm>
            <a:off x="3514725" y="4324350"/>
            <a:ext cx="9525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标志简化</a:t>
            </a:r>
            <a:endParaRPr lang="zh-CN" sz="900"/>
          </a:p>
        </p:txBody>
      </p:sp>
      <p:sp>
        <p:nvSpPr>
          <p:cNvPr id="106" name="TextBox 106"/>
          <p:cNvSpPr txBox="1"/>
          <p:nvPr/>
        </p:nvSpPr>
        <p:spPr>
          <a:xfrm>
            <a:off x="5086350" y="3086100"/>
            <a:ext cx="238125" cy="733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FFF9E9"/>
                </a:solidFill>
                <a:latin typeface="Ma Shan Zheng"/>
                <a:ea typeface="Ma Shan Zheng"/>
                <a:cs typeface="Ma Shan Zheng"/>
              </a:rPr>
              <a:t>枣</a:t>
            </a:r>
            <a:endParaRPr lang="zh-CN" sz="1200"/>
          </a:p>
          <a:p>
            <a:pPr algn="ctr"/>
            <a:r>
              <a:rPr lang="zh-CN" sz="1200">
                <a:solidFill>
                  <a:srgbClr val="FFF9E9"/>
                </a:solidFill>
                <a:latin typeface="Ma Shan Zheng"/>
                <a:ea typeface="Ma Shan Zheng"/>
                <a:cs typeface="Ma Shan Zheng"/>
              </a:rPr>
              <a:t>小</a:t>
            </a:r>
            <a:endParaRPr lang="zh-CN" sz="1200"/>
          </a:p>
          <a:p>
            <a:pPr algn="ctr"/>
            <a:r>
              <a:rPr lang="zh-CN" sz="1200">
                <a:solidFill>
                  <a:srgbClr val="FFF9E9"/>
                </a:solidFill>
                <a:latin typeface="Ma Shan Zheng"/>
                <a:ea typeface="Ma Shan Zheng"/>
                <a:cs typeface="Ma Shan Zheng"/>
              </a:rPr>
              <a:t>妃</a:t>
            </a:r>
            <a:endParaRPr lang="zh-CN" sz="1200"/>
          </a:p>
        </p:txBody>
      </p:sp>
      <p:sp>
        <p:nvSpPr>
          <p:cNvPr id="107" name="TextBox 107"/>
          <p:cNvSpPr txBox="1"/>
          <p:nvPr/>
        </p:nvSpPr>
        <p:spPr>
          <a:xfrm>
            <a:off x="7600950" y="288607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三视图</a:t>
            </a:r>
            <a:endParaRPr lang="zh-CN" sz="900"/>
          </a:p>
        </p:txBody>
      </p:sp>
      <p:sp>
        <p:nvSpPr>
          <p:cNvPr id="108" name="TextBox 108"/>
          <p:cNvSpPr txBox="1"/>
          <p:nvPr/>
        </p:nvSpPr>
        <p:spPr>
          <a:xfrm>
            <a:off x="7600950" y="4295775"/>
            <a:ext cx="9048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表情延展</a:t>
            </a:r>
            <a:endParaRPr lang="zh-CN" sz="900"/>
          </a:p>
        </p:txBody>
      </p:sp>
      <p:sp>
        <p:nvSpPr>
          <p:cNvPr id="109" name="TextBox 109"/>
          <p:cNvSpPr txBox="1"/>
          <p:nvPr/>
        </p:nvSpPr>
        <p:spPr>
          <a:xfrm>
            <a:off x="7477125" y="5219700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开心</a:t>
            </a:r>
            <a:endParaRPr lang="zh-CN" sz="819"/>
          </a:p>
        </p:txBody>
      </p:sp>
      <p:sp>
        <p:nvSpPr>
          <p:cNvPr id="110" name="TextBox 110"/>
          <p:cNvSpPr txBox="1"/>
          <p:nvPr/>
        </p:nvSpPr>
        <p:spPr>
          <a:xfrm>
            <a:off x="7991475" y="5219700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暖暖</a:t>
            </a:r>
            <a:endParaRPr lang="zh-CN" sz="819"/>
          </a:p>
        </p:txBody>
      </p:sp>
      <p:sp>
        <p:nvSpPr>
          <p:cNvPr id="111" name="TextBox 111"/>
          <p:cNvSpPr txBox="1"/>
          <p:nvPr/>
        </p:nvSpPr>
        <p:spPr>
          <a:xfrm>
            <a:off x="8505825" y="5219700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品尝</a:t>
            </a:r>
            <a:endParaRPr lang="zh-CN" sz="819"/>
          </a:p>
        </p:txBody>
      </p:sp>
      <p:sp>
        <p:nvSpPr>
          <p:cNvPr id="112" name="TextBox 112"/>
          <p:cNvSpPr txBox="1"/>
          <p:nvPr/>
        </p:nvSpPr>
        <p:spPr>
          <a:xfrm>
            <a:off x="9020175" y="5219700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惊喜</a:t>
            </a:r>
            <a:endParaRPr lang="zh-CN" sz="819"/>
          </a:p>
        </p:txBody>
      </p:sp>
      <p:sp>
        <p:nvSpPr>
          <p:cNvPr id="113" name="TextBox 113"/>
          <p:cNvSpPr txBox="1"/>
          <p:nvPr/>
        </p:nvSpPr>
        <p:spPr>
          <a:xfrm>
            <a:off x="9534525" y="5219700"/>
            <a:ext cx="49530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比心</a:t>
            </a:r>
            <a:endParaRPr lang="zh-CN" sz="819"/>
          </a:p>
        </p:txBody>
      </p:sp>
      <p:sp>
        <p:nvSpPr>
          <p:cNvPr id="114" name="TextBox 114"/>
          <p:cNvSpPr txBox="1"/>
          <p:nvPr/>
        </p:nvSpPr>
        <p:spPr>
          <a:xfrm>
            <a:off x="10410825" y="32385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 b="1">
                <a:solidFill>
                  <a:srgbClr val="A71D2C"/>
                </a:solidFill>
                <a:latin typeface="Noto Serif CJK SC"/>
                <a:ea typeface="Noto Serif CJK SC"/>
                <a:cs typeface="Noto Serif CJK SC"/>
              </a:rPr>
              <a:t>枣红</a:t>
            </a:r>
            <a:endParaRPr lang="zh-CN" sz="869"/>
          </a:p>
        </p:txBody>
      </p:sp>
      <p:sp>
        <p:nvSpPr>
          <p:cNvPr id="115" name="TextBox 115"/>
          <p:cNvSpPr txBox="1"/>
          <p:nvPr/>
        </p:nvSpPr>
        <p:spPr>
          <a:xfrm>
            <a:off x="10410825" y="3381375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CMYK 25 100 90 15</a:t>
            </a:r>
            <a:endParaRPr lang="zh-CN" sz="509"/>
          </a:p>
        </p:txBody>
      </p:sp>
      <p:sp>
        <p:nvSpPr>
          <p:cNvPr id="116" name="TextBox 116"/>
          <p:cNvSpPr txBox="1"/>
          <p:nvPr/>
        </p:nvSpPr>
        <p:spPr>
          <a:xfrm>
            <a:off x="10410825" y="3486150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RGB 167 35 44</a:t>
            </a:r>
            <a:endParaRPr lang="zh-CN" sz="509"/>
          </a:p>
        </p:txBody>
      </p:sp>
      <p:sp>
        <p:nvSpPr>
          <p:cNvPr id="117" name="TextBox 117"/>
          <p:cNvSpPr txBox="1"/>
          <p:nvPr/>
        </p:nvSpPr>
        <p:spPr>
          <a:xfrm>
            <a:off x="11134725" y="32385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 b="1">
                <a:solidFill>
                  <a:srgbClr val="D63A2D"/>
                </a:solidFill>
                <a:latin typeface="Noto Serif CJK SC"/>
                <a:ea typeface="Noto Serif CJK SC"/>
                <a:cs typeface="Noto Serif CJK SC"/>
              </a:rPr>
              <a:t>宫墙红</a:t>
            </a:r>
            <a:endParaRPr lang="zh-CN" sz="869"/>
          </a:p>
        </p:txBody>
      </p:sp>
      <p:sp>
        <p:nvSpPr>
          <p:cNvPr id="118" name="TextBox 118"/>
          <p:cNvSpPr txBox="1"/>
          <p:nvPr/>
        </p:nvSpPr>
        <p:spPr>
          <a:xfrm>
            <a:off x="11134725" y="3381375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CMYK 10 85 70 0</a:t>
            </a:r>
            <a:endParaRPr lang="zh-CN" sz="509"/>
          </a:p>
        </p:txBody>
      </p:sp>
      <p:sp>
        <p:nvSpPr>
          <p:cNvPr id="119" name="TextBox 119"/>
          <p:cNvSpPr txBox="1"/>
          <p:nvPr/>
        </p:nvSpPr>
        <p:spPr>
          <a:xfrm>
            <a:off x="11134725" y="3486150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RGB 212 69 63</a:t>
            </a:r>
            <a:endParaRPr lang="zh-CN" sz="509"/>
          </a:p>
        </p:txBody>
      </p:sp>
      <p:sp>
        <p:nvSpPr>
          <p:cNvPr id="120" name="TextBox 120"/>
          <p:cNvSpPr txBox="1"/>
          <p:nvPr/>
        </p:nvSpPr>
        <p:spPr>
          <a:xfrm>
            <a:off x="11858625" y="32385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 b="1">
                <a:solidFill>
                  <a:srgbClr val="D4A442"/>
                </a:solidFill>
                <a:latin typeface="Noto Serif CJK SC"/>
                <a:ea typeface="Noto Serif CJK SC"/>
                <a:cs typeface="Noto Serif CJK SC"/>
              </a:rPr>
              <a:t>金叶金</a:t>
            </a:r>
            <a:endParaRPr lang="zh-CN" sz="869"/>
          </a:p>
        </p:txBody>
      </p:sp>
      <p:sp>
        <p:nvSpPr>
          <p:cNvPr id="121" name="TextBox 121"/>
          <p:cNvSpPr txBox="1"/>
          <p:nvPr/>
        </p:nvSpPr>
        <p:spPr>
          <a:xfrm>
            <a:off x="11858625" y="3381375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CMYK 20 30 70 0</a:t>
            </a:r>
            <a:endParaRPr lang="zh-CN" sz="509"/>
          </a:p>
        </p:txBody>
      </p:sp>
      <p:sp>
        <p:nvSpPr>
          <p:cNvPr id="122" name="TextBox 122"/>
          <p:cNvSpPr txBox="1"/>
          <p:nvPr/>
        </p:nvSpPr>
        <p:spPr>
          <a:xfrm>
            <a:off x="11858625" y="3486150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RGB 214 180 87</a:t>
            </a:r>
            <a:endParaRPr lang="zh-CN" sz="509"/>
          </a:p>
        </p:txBody>
      </p:sp>
      <p:sp>
        <p:nvSpPr>
          <p:cNvPr id="123" name="TextBox 123"/>
          <p:cNvSpPr txBox="1"/>
          <p:nvPr/>
        </p:nvSpPr>
        <p:spPr>
          <a:xfrm>
            <a:off x="12582525" y="32385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 b="1">
                <a:solidFill>
                  <a:srgbClr val="347B50"/>
                </a:solidFill>
                <a:latin typeface="Noto Serif CJK SC"/>
                <a:ea typeface="Noto Serif CJK SC"/>
                <a:cs typeface="Noto Serif CJK SC"/>
              </a:rPr>
              <a:t>青枣绿</a:t>
            </a:r>
            <a:endParaRPr lang="zh-CN" sz="869"/>
          </a:p>
        </p:txBody>
      </p:sp>
      <p:sp>
        <p:nvSpPr>
          <p:cNvPr id="124" name="TextBox 124"/>
          <p:cNvSpPr txBox="1"/>
          <p:nvPr/>
        </p:nvSpPr>
        <p:spPr>
          <a:xfrm>
            <a:off x="12582525" y="3381375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CMYK 70 20 70 0</a:t>
            </a:r>
            <a:endParaRPr lang="zh-CN" sz="509"/>
          </a:p>
        </p:txBody>
      </p:sp>
      <p:sp>
        <p:nvSpPr>
          <p:cNvPr id="125" name="TextBox 125"/>
          <p:cNvSpPr txBox="1"/>
          <p:nvPr/>
        </p:nvSpPr>
        <p:spPr>
          <a:xfrm>
            <a:off x="12582525" y="3486150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RGB 54 142 89</a:t>
            </a:r>
            <a:endParaRPr lang="zh-CN" sz="509"/>
          </a:p>
        </p:txBody>
      </p:sp>
      <p:sp>
        <p:nvSpPr>
          <p:cNvPr id="126" name="TextBox 126"/>
          <p:cNvSpPr txBox="1"/>
          <p:nvPr/>
        </p:nvSpPr>
        <p:spPr>
          <a:xfrm>
            <a:off x="13306425" y="32385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 b="1">
                <a:solidFill>
                  <a:srgbClr val="999999"/>
                </a:solidFill>
                <a:latin typeface="Noto Serif CJK SC"/>
                <a:ea typeface="Noto Serif CJK SC"/>
                <a:cs typeface="Noto Serif CJK SC"/>
              </a:rPr>
              <a:t>石墙灰</a:t>
            </a:r>
            <a:endParaRPr lang="zh-CN" sz="869"/>
          </a:p>
        </p:txBody>
      </p:sp>
      <p:sp>
        <p:nvSpPr>
          <p:cNvPr id="127" name="TextBox 127"/>
          <p:cNvSpPr txBox="1"/>
          <p:nvPr/>
        </p:nvSpPr>
        <p:spPr>
          <a:xfrm>
            <a:off x="13306425" y="3381375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CMYK 0 0 0 40</a:t>
            </a:r>
            <a:endParaRPr lang="zh-CN" sz="509"/>
          </a:p>
        </p:txBody>
      </p:sp>
      <p:sp>
        <p:nvSpPr>
          <p:cNvPr id="128" name="TextBox 128"/>
          <p:cNvSpPr txBox="1"/>
          <p:nvPr/>
        </p:nvSpPr>
        <p:spPr>
          <a:xfrm>
            <a:off x="13306425" y="3486150"/>
            <a:ext cx="685800" cy="104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09">
                <a:solidFill>
                  <a:srgbClr val="29251F"/>
                </a:solidFill>
                <a:latin typeface="Liberation Sans"/>
                <a:ea typeface="Liberation Sans"/>
                <a:cs typeface="Liberation Sans"/>
              </a:rPr>
              <a:t>RGB 153 153 153</a:t>
            </a:r>
            <a:endParaRPr lang="zh-CN" sz="509"/>
          </a:p>
        </p:txBody>
      </p:sp>
      <p:sp>
        <p:nvSpPr>
          <p:cNvPr id="129" name="TextBox 129"/>
          <p:cNvSpPr txBox="1"/>
          <p:nvPr/>
        </p:nvSpPr>
        <p:spPr>
          <a:xfrm>
            <a:off x="10448925" y="3686175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9A1D16"/>
                </a:solidFill>
                <a:latin typeface="Noto Serif CJK SC"/>
                <a:ea typeface="Noto Serif CJK SC"/>
                <a:cs typeface="Noto Serif CJK SC"/>
              </a:rPr>
              <a:t>辅助图形</a:t>
            </a:r>
            <a:endParaRPr lang="zh-CN" sz="1000"/>
          </a:p>
        </p:txBody>
      </p:sp>
      <p:sp>
        <p:nvSpPr>
          <p:cNvPr id="130" name="TextBox 130"/>
          <p:cNvSpPr txBox="1"/>
          <p:nvPr/>
        </p:nvSpPr>
        <p:spPr>
          <a:xfrm>
            <a:off x="10525125" y="445770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祥云纹</a:t>
            </a:r>
            <a:endParaRPr lang="zh-CN" sz="819"/>
          </a:p>
        </p:txBody>
      </p:sp>
      <p:sp>
        <p:nvSpPr>
          <p:cNvPr id="131" name="TextBox 131"/>
          <p:cNvSpPr txBox="1"/>
          <p:nvPr/>
        </p:nvSpPr>
        <p:spPr>
          <a:xfrm>
            <a:off x="11620500" y="4457700"/>
            <a:ext cx="100012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红绸飘带</a:t>
            </a:r>
            <a:endParaRPr lang="zh-CN" sz="819"/>
          </a:p>
        </p:txBody>
      </p:sp>
      <p:sp>
        <p:nvSpPr>
          <p:cNvPr id="132" name="TextBox 132"/>
          <p:cNvSpPr txBox="1"/>
          <p:nvPr/>
        </p:nvSpPr>
        <p:spPr>
          <a:xfrm>
            <a:off x="13144500" y="4457700"/>
            <a:ext cx="79057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枣枝元素</a:t>
            </a:r>
            <a:endParaRPr lang="zh-CN" sz="819"/>
          </a:p>
        </p:txBody>
      </p:sp>
      <p:sp>
        <p:nvSpPr>
          <p:cNvPr id="133" name="TextBox 133"/>
          <p:cNvSpPr txBox="1"/>
          <p:nvPr/>
        </p:nvSpPr>
        <p:spPr>
          <a:xfrm>
            <a:off x="10496550" y="5286375"/>
            <a:ext cx="84772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屋檐纹样</a:t>
            </a:r>
            <a:endParaRPr lang="zh-CN" sz="819"/>
          </a:p>
        </p:txBody>
      </p:sp>
      <p:sp>
        <p:nvSpPr>
          <p:cNvPr id="134" name="TextBox 134"/>
          <p:cNvSpPr txBox="1"/>
          <p:nvPr/>
        </p:nvSpPr>
        <p:spPr>
          <a:xfrm>
            <a:off x="11506200" y="528637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山水纹样</a:t>
            </a:r>
            <a:endParaRPr lang="zh-CN" sz="819"/>
          </a:p>
        </p:txBody>
      </p:sp>
      <p:sp>
        <p:nvSpPr>
          <p:cNvPr id="135" name="TextBox 135"/>
          <p:cNvSpPr txBox="1"/>
          <p:nvPr/>
        </p:nvSpPr>
        <p:spPr>
          <a:xfrm>
            <a:off x="12525375" y="52863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传统纹样</a:t>
            </a:r>
            <a:endParaRPr lang="zh-CN" sz="819"/>
          </a:p>
        </p:txBody>
      </p:sp>
      <p:sp>
        <p:nvSpPr>
          <p:cNvPr id="136" name="TextBox 136"/>
          <p:cNvSpPr txBox="1"/>
          <p:nvPr/>
        </p:nvSpPr>
        <p:spPr>
          <a:xfrm>
            <a:off x="13392150" y="5286375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印章元素</a:t>
            </a:r>
            <a:endParaRPr lang="zh-CN" sz="819"/>
          </a:p>
        </p:txBody>
      </p:sp>
      <p:sp>
        <p:nvSpPr>
          <p:cNvPr id="137" name="TextBox 137"/>
          <p:cNvSpPr txBox="1"/>
          <p:nvPr/>
        </p:nvSpPr>
        <p:spPr>
          <a:xfrm>
            <a:off x="1343025" y="78867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礼盒包装</a:t>
            </a:r>
            <a:endParaRPr lang="zh-CN" sz="819"/>
          </a:p>
        </p:txBody>
      </p:sp>
      <p:sp>
        <p:nvSpPr>
          <p:cNvPr id="138" name="TextBox 138"/>
          <p:cNvSpPr txBox="1"/>
          <p:nvPr/>
        </p:nvSpPr>
        <p:spPr>
          <a:xfrm>
            <a:off x="3590925" y="7886700"/>
            <a:ext cx="104775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产品包装袋</a:t>
            </a:r>
            <a:endParaRPr lang="zh-CN" sz="819"/>
          </a:p>
        </p:txBody>
      </p:sp>
      <p:sp>
        <p:nvSpPr>
          <p:cNvPr id="139" name="TextBox 139"/>
          <p:cNvSpPr txBox="1"/>
          <p:nvPr/>
        </p:nvSpPr>
        <p:spPr>
          <a:xfrm>
            <a:off x="5038725" y="7886700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手提袋</a:t>
            </a:r>
            <a:endParaRPr lang="zh-CN" sz="819"/>
          </a:p>
        </p:txBody>
      </p:sp>
      <p:sp>
        <p:nvSpPr>
          <p:cNvPr id="140" name="TextBox 140"/>
          <p:cNvSpPr txBox="1"/>
          <p:nvPr/>
        </p:nvSpPr>
        <p:spPr>
          <a:xfrm>
            <a:off x="6438900" y="7896225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文创笔记本</a:t>
            </a:r>
            <a:endParaRPr lang="zh-CN" sz="819"/>
          </a:p>
        </p:txBody>
      </p:sp>
      <p:sp>
        <p:nvSpPr>
          <p:cNvPr id="141" name="TextBox 141"/>
          <p:cNvSpPr txBox="1"/>
          <p:nvPr/>
        </p:nvSpPr>
        <p:spPr>
          <a:xfrm>
            <a:off x="7762875" y="78962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书签</a:t>
            </a:r>
            <a:endParaRPr lang="zh-CN" sz="819"/>
          </a:p>
        </p:txBody>
      </p:sp>
      <p:sp>
        <p:nvSpPr>
          <p:cNvPr id="142" name="TextBox 142"/>
          <p:cNvSpPr txBox="1"/>
          <p:nvPr/>
        </p:nvSpPr>
        <p:spPr>
          <a:xfrm>
            <a:off x="8467725" y="6934200"/>
            <a:ext cx="6000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徽章</a:t>
            </a:r>
            <a:endParaRPr lang="zh-CN" sz="819"/>
          </a:p>
        </p:txBody>
      </p:sp>
      <p:sp>
        <p:nvSpPr>
          <p:cNvPr id="143" name="TextBox 143"/>
          <p:cNvSpPr txBox="1"/>
          <p:nvPr/>
        </p:nvSpPr>
        <p:spPr>
          <a:xfrm>
            <a:off x="9353550" y="6934200"/>
            <a:ext cx="7429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冰箱贴</a:t>
            </a:r>
            <a:endParaRPr lang="zh-CN" sz="819"/>
          </a:p>
        </p:txBody>
      </p:sp>
      <p:sp>
        <p:nvSpPr>
          <p:cNvPr id="144" name="TextBox 144"/>
          <p:cNvSpPr txBox="1"/>
          <p:nvPr/>
        </p:nvSpPr>
        <p:spPr>
          <a:xfrm>
            <a:off x="8772525" y="7934325"/>
            <a:ext cx="8191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贴纸</a:t>
            </a:r>
            <a:endParaRPr lang="zh-CN" sz="819"/>
          </a:p>
        </p:txBody>
      </p:sp>
      <p:sp>
        <p:nvSpPr>
          <p:cNvPr id="145" name="TextBox 145"/>
          <p:cNvSpPr txBox="1"/>
          <p:nvPr/>
        </p:nvSpPr>
        <p:spPr>
          <a:xfrm>
            <a:off x="828675" y="9582150"/>
            <a:ext cx="8191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折扇</a:t>
            </a:r>
            <a:endParaRPr lang="zh-CN" sz="819"/>
          </a:p>
        </p:txBody>
      </p:sp>
      <p:sp>
        <p:nvSpPr>
          <p:cNvPr id="146" name="TextBox 146"/>
          <p:cNvSpPr txBox="1"/>
          <p:nvPr/>
        </p:nvSpPr>
        <p:spPr>
          <a:xfrm>
            <a:off x="2809875" y="9591675"/>
            <a:ext cx="9620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明信片</a:t>
            </a:r>
            <a:endParaRPr lang="zh-CN" sz="819"/>
          </a:p>
        </p:txBody>
      </p:sp>
      <p:sp>
        <p:nvSpPr>
          <p:cNvPr id="147" name="TextBox 147"/>
          <p:cNvSpPr txBox="1"/>
          <p:nvPr/>
        </p:nvSpPr>
        <p:spPr>
          <a:xfrm>
            <a:off x="4610100" y="9591675"/>
            <a:ext cx="80010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丝巾</a:t>
            </a:r>
            <a:endParaRPr lang="zh-CN" sz="819"/>
          </a:p>
        </p:txBody>
      </p:sp>
      <p:sp>
        <p:nvSpPr>
          <p:cNvPr id="148" name="TextBox 148"/>
          <p:cNvSpPr txBox="1"/>
          <p:nvPr/>
        </p:nvSpPr>
        <p:spPr>
          <a:xfrm>
            <a:off x="5867400" y="9591675"/>
            <a:ext cx="86677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手机挂件</a:t>
            </a:r>
            <a:endParaRPr lang="zh-CN" sz="819"/>
          </a:p>
        </p:txBody>
      </p:sp>
      <p:sp>
        <p:nvSpPr>
          <p:cNvPr id="149" name="TextBox 149"/>
          <p:cNvSpPr txBox="1"/>
          <p:nvPr/>
        </p:nvSpPr>
        <p:spPr>
          <a:xfrm>
            <a:off x="6705600" y="9591675"/>
            <a:ext cx="7429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文创杯</a:t>
            </a:r>
            <a:endParaRPr lang="zh-CN" sz="819"/>
          </a:p>
        </p:txBody>
      </p:sp>
      <p:sp>
        <p:nvSpPr>
          <p:cNvPr id="150" name="TextBox 150"/>
          <p:cNvSpPr txBox="1"/>
          <p:nvPr/>
        </p:nvSpPr>
        <p:spPr>
          <a:xfrm>
            <a:off x="7762875" y="9591675"/>
            <a:ext cx="819150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抱枕</a:t>
            </a:r>
            <a:endParaRPr lang="zh-CN" sz="819"/>
          </a:p>
        </p:txBody>
      </p:sp>
      <p:sp>
        <p:nvSpPr>
          <p:cNvPr id="151" name="TextBox 151"/>
          <p:cNvSpPr txBox="1"/>
          <p:nvPr/>
        </p:nvSpPr>
        <p:spPr>
          <a:xfrm>
            <a:off x="9353550" y="9591675"/>
            <a:ext cx="771525" cy="180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香囊</a:t>
            </a:r>
            <a:endParaRPr lang="zh-CN" sz="819"/>
          </a:p>
        </p:txBody>
      </p:sp>
      <p:sp>
        <p:nvSpPr>
          <p:cNvPr id="152" name="TextBox 152"/>
          <p:cNvSpPr txBox="1"/>
          <p:nvPr/>
        </p:nvSpPr>
        <p:spPr>
          <a:xfrm>
            <a:off x="10487025" y="6115050"/>
            <a:ext cx="1438275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>
                <a:solidFill>
                  <a:srgbClr val="951B17"/>
                </a:solidFill>
                <a:latin typeface="Ma Shan Zheng"/>
                <a:ea typeface="Ma Shan Zheng"/>
                <a:cs typeface="Ma Shan Zheng"/>
              </a:rPr>
              <a:t>红韵乡创</a:t>
            </a:r>
            <a:endParaRPr lang="zh-CN" sz="2700"/>
          </a:p>
        </p:txBody>
      </p:sp>
      <p:sp>
        <p:nvSpPr>
          <p:cNvPr id="153" name="TextBox 153"/>
          <p:cNvSpPr txBox="1"/>
          <p:nvPr/>
        </p:nvSpPr>
        <p:spPr>
          <a:xfrm>
            <a:off x="10725150" y="6553200"/>
            <a:ext cx="1228725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951B17"/>
                </a:solidFill>
                <a:latin typeface="Ma Shan Zheng"/>
                <a:ea typeface="Ma Shan Zheng"/>
                <a:cs typeface="Ma Shan Zheng"/>
              </a:rPr>
              <a:t>枣香传千年</a:t>
            </a:r>
            <a:endParaRPr lang="zh-CN" sz="1939"/>
          </a:p>
        </p:txBody>
      </p:sp>
      <p:sp>
        <p:nvSpPr>
          <p:cNvPr id="154" name="TextBox 154"/>
          <p:cNvSpPr txBox="1"/>
          <p:nvPr/>
        </p:nvSpPr>
        <p:spPr>
          <a:xfrm>
            <a:off x="10877550" y="6953250"/>
            <a:ext cx="952500" cy="123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A31B16"/>
                </a:solidFill>
                <a:latin typeface="Liberation Serif"/>
                <a:ea typeface="Liberation Serif"/>
                <a:cs typeface="Liberation Serif"/>
              </a:rPr>
              <a:t>GUI FEI ZAO</a:t>
            </a:r>
            <a:endParaRPr lang="zh-CN" sz="620"/>
          </a:p>
        </p:txBody>
      </p:sp>
      <p:sp>
        <p:nvSpPr>
          <p:cNvPr id="155" name="TextBox 155"/>
          <p:cNvSpPr txBox="1"/>
          <p:nvPr/>
        </p:nvSpPr>
        <p:spPr>
          <a:xfrm>
            <a:off x="12696825" y="6191250"/>
            <a:ext cx="1181100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60">
                <a:solidFill>
                  <a:srgbClr val="951B17"/>
                </a:solidFill>
                <a:latin typeface="Ma Shan Zheng"/>
                <a:ea typeface="Ma Shan Zheng"/>
                <a:cs typeface="Ma Shan Zheng"/>
              </a:rPr>
              <a:t>一颗贵妃枣</a:t>
            </a:r>
            <a:endParaRPr lang="zh-CN" sz="1860"/>
          </a:p>
        </p:txBody>
      </p:sp>
      <p:sp>
        <p:nvSpPr>
          <p:cNvPr id="156" name="TextBox 156"/>
          <p:cNvSpPr txBox="1"/>
          <p:nvPr/>
        </p:nvSpPr>
        <p:spPr>
          <a:xfrm>
            <a:off x="12687300" y="6515100"/>
            <a:ext cx="12192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20">
                <a:solidFill>
                  <a:srgbClr val="951B17"/>
                </a:solidFill>
                <a:latin typeface="Ma Shan Zheng"/>
                <a:ea typeface="Ma Shan Zheng"/>
                <a:cs typeface="Ma Shan Zheng"/>
              </a:rPr>
              <a:t>千年白马关</a:t>
            </a:r>
            <a:endParaRPr lang="zh-CN" sz="1920"/>
          </a:p>
        </p:txBody>
      </p:sp>
      <p:sp>
        <p:nvSpPr>
          <p:cNvPr id="157" name="TextBox 157"/>
          <p:cNvSpPr txBox="1"/>
          <p:nvPr/>
        </p:nvSpPr>
        <p:spPr>
          <a:xfrm>
            <a:off x="13020675" y="6915150"/>
            <a:ext cx="847725" cy="123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A31B16"/>
                </a:solidFill>
                <a:latin typeface="Liberation Serif"/>
                <a:ea typeface="Liberation Serif"/>
                <a:cs typeface="Liberation Serif"/>
              </a:rPr>
              <a:t>GUI FEI ZAO</a:t>
            </a:r>
            <a:endParaRPr lang="zh-CN" sz="620"/>
          </a:p>
        </p:txBody>
      </p:sp>
      <p:sp>
        <p:nvSpPr>
          <p:cNvPr id="158" name="TextBox 158"/>
          <p:cNvSpPr txBox="1"/>
          <p:nvPr/>
        </p:nvSpPr>
        <p:spPr>
          <a:xfrm>
            <a:off x="10439400" y="9420225"/>
            <a:ext cx="158115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20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白马关 · 贵妃枣 · 红韵乡创</a:t>
            </a:r>
            <a:endParaRPr lang="zh-CN" sz="720"/>
          </a:p>
        </p:txBody>
      </p:sp>
      <p:sp>
        <p:nvSpPr>
          <p:cNvPr id="159" name="TextBox 159"/>
          <p:cNvSpPr txBox="1"/>
          <p:nvPr/>
        </p:nvSpPr>
        <p:spPr>
          <a:xfrm>
            <a:off x="12268200" y="9420225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20">
                <a:solidFill>
                  <a:srgbClr val="4D3C2F"/>
                </a:solidFill>
                <a:latin typeface="Noto Serif CJK SC"/>
                <a:ea typeface="Noto Serif CJK SC"/>
                <a:cs typeface="Noto Serif CJK SC"/>
              </a:rPr>
              <a:t>古韵 · 红韵 · 果韵 · 乡创</a:t>
            </a:r>
            <a:endParaRPr lang="zh-CN" sz="7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ing warm ivory paper, original BaiMa gate camera/mountains, edge branches, red ribbon and cream-gold cloud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01775" cy="10048875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123825" y="2905125"/>
            <a:ext cx="5000625" cy="3114675"/>
          </a:xfrm>
          <a:prstGeom prst="roundRect">
            <a:avLst>
              <a:gd name="adj" fmla="val 4587"/>
            </a:avLst>
          </a:prstGeom>
          <a:noFill/>
          <a:ln w="4445">
            <a:solidFill>
              <a:srgbClr val="F8E5C6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5191125" y="2905125"/>
            <a:ext cx="8886825" cy="3124200"/>
          </a:xfrm>
          <a:prstGeom prst="roundRect">
            <a:avLst>
              <a:gd name="adj" fmla="val 4573"/>
            </a:avLst>
          </a:prstGeom>
          <a:noFill/>
          <a:ln w="4445">
            <a:solidFill>
              <a:srgbClr val="F8E5C6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23825" y="6096000"/>
            <a:ext cx="5524500" cy="3790950"/>
          </a:xfrm>
          <a:prstGeom prst="roundRect">
            <a:avLst>
              <a:gd name="adj" fmla="val 3769"/>
            </a:avLst>
          </a:prstGeom>
          <a:noFill/>
          <a:ln w="4445">
            <a:solidFill>
              <a:srgbClr val="F8E5C6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724525" y="6096000"/>
            <a:ext cx="8362950" cy="3790950"/>
          </a:xfrm>
          <a:prstGeom prst="roundRect">
            <a:avLst>
              <a:gd name="adj" fmla="val 3769"/>
            </a:avLst>
          </a:prstGeom>
          <a:noFill/>
          <a:ln w="4445">
            <a:solidFill>
              <a:srgbClr val="F8E5C6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5381625" y="3571875"/>
            <a:ext cx="1447800" cy="342900"/>
          </a:xfrm>
          <a:prstGeom prst="roundRect">
            <a:avLst>
              <a:gd name="adj" fmla="val 33333"/>
            </a:avLst>
          </a:prstGeom>
          <a:solidFill>
            <a:srgbClr val="FBEBD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9791700" y="3571875"/>
            <a:ext cx="1438275" cy="342900"/>
          </a:xfrm>
          <a:prstGeom prst="roundRect">
            <a:avLst>
              <a:gd name="adj" fmla="val 33333"/>
            </a:avLst>
          </a:prstGeom>
          <a:solidFill>
            <a:srgbClr val="FBEBD1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552575" y="1790700"/>
            <a:ext cx="323850" cy="0"/>
          </a:xfrm>
          <a:prstGeom prst="line">
            <a:avLst/>
          </a:prstGeom>
          <a:noFill/>
          <a:ln w="8255">
            <a:solidFill>
              <a:srgbClr val="97754E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5486400" y="1790700"/>
            <a:ext cx="609600" cy="0"/>
          </a:xfrm>
          <a:prstGeom prst="line">
            <a:avLst/>
          </a:prstGeom>
          <a:noFill/>
          <a:ln w="8255">
            <a:solidFill>
              <a:srgbClr val="97754E"/>
            </a:solidFill>
          </a:ln>
        </p:spPr>
        <p:txBody>
          <a:bodyPr/>
          <a:lstStyle/>
          <a:p/>
        </p:txBody>
      </p:sp>
      <p:pic>
        <p:nvPicPr>
          <p:cNvPr id="11" name="Original upper-right ancient woman holding a jujube, source hair ornaments, orange garments and gaze. Foreground separated independently."/>
          <p:cNvPicPr/>
          <p:nvPr/>
        </p:nvPicPr>
        <p:blipFill>
          <a:blip r:embed="rId4"/>
          <a:stretch>
            <a:fillRect/>
          </a:stretch>
        </p:blipFill>
        <p:spPr>
          <a:xfrm>
            <a:off x="11147305" y="11005"/>
            <a:ext cx="3170208" cy="3492715"/>
          </a:xfrm>
          <a:prstGeom prst="rect">
            <a:avLst/>
          </a:prstGeom>
        </p:spPr>
      </p:pic>
      <p:pic>
        <p:nvPicPr>
          <p:cNvPr id="12" name="Original gate, mountain, ribbon and jujube concept image block including cut-open jujube. Independent source-faithful illustration."/>
          <p:cNvPicPr/>
          <p:nvPr/>
        </p:nvPicPr>
        <p:blipFill>
          <a:blip r:embed="rId22"/>
          <a:stretch>
            <a:fillRect/>
          </a:stretch>
        </p:blipFill>
        <p:spPr>
          <a:xfrm>
            <a:off x="5727812" y="6487744"/>
            <a:ext cx="4403500" cy="3464661"/>
          </a:xfrm>
          <a:prstGeom prst="rect">
            <a:avLst/>
          </a:prstGeom>
        </p:spPr>
      </p:pic>
      <p:pic>
        <p:nvPicPr>
          <p:cNvPr id="13" name="Original moodboard mosaic of fruit, silk, architecture, mountain and woman silhouette. Small 红韵乡创 logo tile is genuine brand identity under 3.1; no editable captions embedd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9949472" y="6701649"/>
            <a:ext cx="4132632" cy="2693953"/>
          </a:xfrm>
          <a:prstGeom prst="rect">
            <a:avLst/>
          </a:prstGeom>
        </p:spPr>
      </p:pic>
      <p:pic>
        <p:nvPicPr>
          <p:cNvPr id="14" name="Source BaiMa gate sample. Architectural signage 白马关 remains genuine background identity under 3.1."/>
          <p:cNvPicPr/>
          <p:nvPr/>
        </p:nvPicPr>
        <p:blipFill>
          <a:blip r:embed="rId17"/>
          <a:stretch>
            <a:fillRect/>
          </a:stretch>
        </p:blipFill>
        <p:spPr>
          <a:xfrm>
            <a:off x="58530" y="6611190"/>
            <a:ext cx="1959789" cy="1131794"/>
          </a:xfrm>
          <a:prstGeom prst="rect">
            <a:avLst/>
          </a:prstGeom>
        </p:spPr>
      </p:pic>
      <p:pic>
        <p:nvPicPr>
          <p:cNvPr id="15" name="Source mottled jujubes, leaves and branch specimen."/>
          <p:cNvPicPr/>
          <p:nvPr/>
        </p:nvPicPr>
        <p:blipFill>
          <a:blip r:embed="rId18"/>
          <a:stretch>
            <a:fillRect/>
          </a:stretch>
        </p:blipFill>
        <p:spPr>
          <a:xfrm>
            <a:off x="1933575" y="6616065"/>
            <a:ext cx="1881187" cy="1090136"/>
          </a:xfrm>
          <a:prstGeom prst="rect">
            <a:avLst/>
          </a:prstGeom>
        </p:spPr>
      </p:pic>
      <p:pic>
        <p:nvPicPr>
          <p:cNvPr id="16" name="Source sweeping scarlet silk ribbon specimen; all disconnected highlight strokes preserv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3756626" y="6654216"/>
            <a:ext cx="1802198" cy="1075770"/>
          </a:xfrm>
          <a:prstGeom prst="rect">
            <a:avLst/>
          </a:prstGeom>
        </p:spPr>
      </p:pic>
      <p:pic>
        <p:nvPicPr>
          <p:cNvPr id="17" name="Source green mountains and ochre wave-line motif."/>
          <p:cNvPicPr/>
          <p:nvPr/>
        </p:nvPicPr>
        <p:blipFill>
          <a:blip r:embed="rId20"/>
          <a:stretch>
            <a:fillRect/>
          </a:stretch>
        </p:blipFill>
        <p:spPr>
          <a:xfrm>
            <a:off x="320856" y="8348276"/>
            <a:ext cx="2730137" cy="819922"/>
          </a:xfrm>
          <a:prstGeom prst="rect">
            <a:avLst/>
          </a:prstGeom>
        </p:spPr>
      </p:pic>
      <p:pic>
        <p:nvPicPr>
          <p:cNvPr id="18" name="Source square red 红韵乡创 logo seal. Exact brand wordmark identity retained as 3.1 exception."/>
          <p:cNvPicPr/>
          <p:nvPr/>
        </p:nvPicPr>
        <p:blipFill>
          <a:blip r:embed="rId21"/>
          <a:stretch>
            <a:fillRect/>
          </a:stretch>
        </p:blipFill>
        <p:spPr>
          <a:xfrm>
            <a:off x="3373626" y="8347960"/>
            <a:ext cx="787023" cy="785734"/>
          </a:xfrm>
          <a:prstGeom prst="rect">
            <a:avLst/>
          </a:prstGeom>
        </p:spPr>
      </p:pic>
      <p:pic>
        <p:nvPicPr>
          <p:cNvPr id="19" name="Original profile ancient woman holding fruit; source orange-red robe and detailed hair flowers."/>
          <p:cNvPicPr/>
          <p:nvPr/>
        </p:nvPicPr>
        <p:blipFill>
          <a:blip r:embed="rId15"/>
          <a:stretch>
            <a:fillRect/>
          </a:stretch>
        </p:blipFill>
        <p:spPr>
          <a:xfrm>
            <a:off x="7386129" y="3436339"/>
            <a:ext cx="2594207" cy="2671372"/>
          </a:xfrm>
          <a:prstGeom prst="rect">
            <a:avLst/>
          </a:prstGeom>
        </p:spPr>
      </p:pic>
      <p:pic>
        <p:nvPicPr>
          <p:cNvPr id="20" name="Original source poet with dark hat, fruit and book, independent source-faithful illustration."/>
          <p:cNvPicPr/>
          <p:nvPr/>
        </p:nvPicPr>
        <p:blipFill>
          <a:blip r:embed="rId16"/>
          <a:stretch>
            <a:fillRect/>
          </a:stretch>
        </p:blipFill>
        <p:spPr>
          <a:xfrm>
            <a:off x="11372146" y="3661672"/>
            <a:ext cx="2563633" cy="2458831"/>
          </a:xfrm>
          <a:prstGeom prst="rect">
            <a:avLst/>
          </a:prstGeom>
        </p:spPr>
      </p:pic>
      <p:pic>
        <p:nvPicPr>
          <p:cNvPr id="21" name="Blank source-style scalloped red ordinal seal, original digits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266105" y="2892387"/>
            <a:ext cx="610791" cy="511252"/>
          </a:xfrm>
          <a:prstGeom prst="rect">
            <a:avLst/>
          </a:prstGeom>
        </p:spPr>
      </p:pic>
      <p:pic>
        <p:nvPicPr>
          <p:cNvPr id="22" name="Blank source-style scalloped red ordinal seal, original digits remo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5333405" y="2892387"/>
            <a:ext cx="610791" cy="511252"/>
          </a:xfrm>
          <a:prstGeom prst="rect">
            <a:avLst/>
          </a:prstGeom>
        </p:spPr>
      </p:pic>
      <p:pic>
        <p:nvPicPr>
          <p:cNvPr id="23" name="Blank source-style scalloped red ordinal seal, original digits removed."/>
          <p:cNvPicPr/>
          <p:nvPr/>
        </p:nvPicPr>
        <p:blipFill>
          <a:blip r:embed="rId7"/>
          <a:stretch>
            <a:fillRect/>
          </a:stretch>
        </p:blipFill>
        <p:spPr>
          <a:xfrm>
            <a:off x="266105" y="6121362"/>
            <a:ext cx="610791" cy="511252"/>
          </a:xfrm>
          <a:prstGeom prst="rect">
            <a:avLst/>
          </a:prstGeom>
        </p:spPr>
      </p:pic>
      <p:pic>
        <p:nvPicPr>
          <p:cNvPr id="24" name="Blank source-style scalloped red ordinal seal, original digits remo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5809655" y="6121362"/>
            <a:ext cx="610791" cy="511252"/>
          </a:xfrm>
          <a:prstGeom prst="rect">
            <a:avLst/>
          </a:prstGeom>
        </p:spPr>
      </p:pic>
      <p:sp>
        <p:nvSpPr>
          <p:cNvPr id="25" name="Ellipse 25"/>
          <p:cNvSpPr/>
          <p:nvPr/>
        </p:nvSpPr>
        <p:spPr>
          <a:xfrm>
            <a:off x="10306050" y="9353550"/>
            <a:ext cx="419100" cy="352425"/>
          </a:xfrm>
          <a:prstGeom prst="ellipse">
            <a:avLst/>
          </a:prstGeom>
          <a:solidFill>
            <a:srgbClr val="A70D0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26" name="Source brush-ring colored concept badge with all original words removed."/>
          <p:cNvPicPr/>
          <p:nvPr/>
        </p:nvPicPr>
        <p:blipFill>
          <a:blip r:embed="rId9"/>
          <a:stretch>
            <a:fillRect/>
          </a:stretch>
        </p:blipFill>
        <p:spPr>
          <a:xfrm>
            <a:off x="402219" y="4745804"/>
            <a:ext cx="1014836" cy="833492"/>
          </a:xfrm>
          <a:prstGeom prst="rect">
            <a:avLst/>
          </a:prstGeom>
        </p:spPr>
      </p:pic>
      <p:sp>
        <p:nvSpPr>
          <p:cNvPr id="27" name="Ellipse 27"/>
          <p:cNvSpPr/>
          <p:nvPr/>
        </p:nvSpPr>
        <p:spPr>
          <a:xfrm>
            <a:off x="10829925" y="9353550"/>
            <a:ext cx="419100" cy="352425"/>
          </a:xfrm>
          <a:prstGeom prst="ellipse">
            <a:avLst/>
          </a:prstGeom>
          <a:solidFill>
            <a:srgbClr val="C72A17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28" name="Source brush-ring colored concept badge with all original words remo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1589542" y="4745062"/>
            <a:ext cx="1021441" cy="834976"/>
          </a:xfrm>
          <a:prstGeom prst="rect">
            <a:avLst/>
          </a:prstGeom>
        </p:spPr>
      </p:pic>
      <p:sp>
        <p:nvSpPr>
          <p:cNvPr id="29" name="Ellipse 29"/>
          <p:cNvSpPr/>
          <p:nvPr/>
        </p:nvSpPr>
        <p:spPr>
          <a:xfrm>
            <a:off x="11363325" y="9353550"/>
            <a:ext cx="419100" cy="352425"/>
          </a:xfrm>
          <a:prstGeom prst="ellipse">
            <a:avLst/>
          </a:prstGeom>
          <a:solidFill>
            <a:srgbClr val="E4B953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30" name="Source brush-ring colored concept badge with all original words remov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2773432" y="4745559"/>
            <a:ext cx="1006337" cy="833983"/>
          </a:xfrm>
          <a:prstGeom prst="rect">
            <a:avLst/>
          </a:prstGeom>
        </p:spPr>
      </p:pic>
      <p:sp>
        <p:nvSpPr>
          <p:cNvPr id="31" name="Ellipse 31"/>
          <p:cNvSpPr/>
          <p:nvPr/>
        </p:nvSpPr>
        <p:spPr>
          <a:xfrm>
            <a:off x="11896725" y="9353550"/>
            <a:ext cx="419100" cy="352425"/>
          </a:xfrm>
          <a:prstGeom prst="ellipse">
            <a:avLst/>
          </a:prstGeom>
          <a:solidFill>
            <a:srgbClr val="355D32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32" name="Source brush-ring colored concept badge with all original words removed."/>
          <p:cNvPicPr/>
          <p:nvPr/>
        </p:nvPicPr>
        <p:blipFill>
          <a:blip r:embed="rId12"/>
          <a:stretch>
            <a:fillRect/>
          </a:stretch>
        </p:blipFill>
        <p:spPr>
          <a:xfrm>
            <a:off x="3952319" y="4744045"/>
            <a:ext cx="1029812" cy="837009"/>
          </a:xfrm>
          <a:prstGeom prst="rect">
            <a:avLst/>
          </a:prstGeom>
        </p:spPr>
      </p:pic>
      <p:sp>
        <p:nvSpPr>
          <p:cNvPr id="33" name="Ellipse 33"/>
          <p:cNvSpPr/>
          <p:nvPr/>
        </p:nvSpPr>
        <p:spPr>
          <a:xfrm>
            <a:off x="12430125" y="9353550"/>
            <a:ext cx="419100" cy="352425"/>
          </a:xfrm>
          <a:prstGeom prst="ellipse">
            <a:avLst/>
          </a:prstGeom>
          <a:solidFill>
            <a:srgbClr val="8B9275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12963525" y="9353550"/>
            <a:ext cx="419100" cy="352425"/>
          </a:xfrm>
          <a:prstGeom prst="ellipse">
            <a:avLst/>
          </a:prstGeom>
          <a:solidFill>
            <a:srgbClr val="F5E3C3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35" name="Original red/orange cultural-heading flower."/>
          <p:cNvPicPr/>
          <p:nvPr/>
        </p:nvPicPr>
        <p:blipFill>
          <a:blip r:embed="rId13"/>
          <a:stretch>
            <a:fillRect/>
          </a:stretch>
        </p:blipFill>
        <p:spPr>
          <a:xfrm>
            <a:off x="5463072" y="3603381"/>
            <a:ext cx="273772" cy="298938"/>
          </a:xfrm>
          <a:prstGeom prst="rect">
            <a:avLst/>
          </a:prstGeom>
        </p:spPr>
      </p:pic>
      <p:pic>
        <p:nvPicPr>
          <p:cNvPr id="36" name="Original red/orange cultural-heading flower."/>
          <p:cNvPicPr/>
          <p:nvPr/>
        </p:nvPicPr>
        <p:blipFill>
          <a:blip r:embed="rId14"/>
          <a:stretch>
            <a:fillRect/>
          </a:stretch>
        </p:blipFill>
        <p:spPr>
          <a:xfrm>
            <a:off x="9892197" y="3603381"/>
            <a:ext cx="273772" cy="298938"/>
          </a:xfrm>
          <a:prstGeom prst="rect">
            <a:avLst/>
          </a:prstGeom>
        </p:spPr>
      </p:pic>
      <p:pic>
        <p:nvPicPr>
          <p:cNvPr id="37" name="Original red 红韵乡创 logo seal. Genuine brand wordmark retained as identity exception under 3.1."/>
          <p:cNvPicPr/>
          <p:nvPr/>
        </p:nvPicPr>
        <p:blipFill>
          <a:blip r:embed="rId3"/>
          <a:stretch>
            <a:fillRect/>
          </a:stretch>
        </p:blipFill>
        <p:spPr>
          <a:xfrm>
            <a:off x="8096896" y="387870"/>
            <a:ext cx="351133" cy="462197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466725" y="38100"/>
            <a:ext cx="3524250" cy="1133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900" b="1">
                <a:solidFill>
                  <a:srgbClr val="9D100C"/>
                </a:solidFill>
                <a:latin typeface="Ma Shan Zheng"/>
                <a:ea typeface="Ma Shan Zheng"/>
                <a:cs typeface="Ma Shan Zheng"/>
              </a:rPr>
              <a:t>红韵乡创</a:t>
            </a:r>
            <a:endParaRPr lang="zh-CN" sz="6900"/>
          </a:p>
        </p:txBody>
      </p:sp>
      <p:sp>
        <p:nvSpPr>
          <p:cNvPr id="39" name="TextBox 39"/>
          <p:cNvSpPr txBox="1"/>
          <p:nvPr/>
        </p:nvSpPr>
        <p:spPr>
          <a:xfrm>
            <a:off x="4057650" y="38100"/>
            <a:ext cx="361950" cy="1133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0" b="1">
                <a:solidFill>
                  <a:srgbClr val="9D100C"/>
                </a:solidFill>
                <a:latin typeface="Liberation Serif"/>
                <a:ea typeface="Liberation Serif"/>
                <a:cs typeface="Liberation Serif"/>
              </a:rPr>
              <a:t>·</a:t>
            </a:r>
            <a:endParaRPr lang="zh-CN" sz="6300"/>
          </a:p>
        </p:txBody>
      </p:sp>
      <p:sp>
        <p:nvSpPr>
          <p:cNvPr id="40" name="TextBox 40"/>
          <p:cNvSpPr txBox="1"/>
          <p:nvPr/>
        </p:nvSpPr>
        <p:spPr>
          <a:xfrm>
            <a:off x="4505325" y="38100"/>
            <a:ext cx="2362200" cy="1133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200" b="1">
                <a:solidFill>
                  <a:srgbClr val="9D100C"/>
                </a:solidFill>
                <a:latin typeface="Ma Shan Zheng"/>
                <a:ea typeface="Ma Shan Zheng"/>
                <a:cs typeface="Ma Shan Zheng"/>
              </a:rPr>
              <a:t>贵妃枣</a:t>
            </a:r>
            <a:endParaRPr lang="zh-CN" sz="6200"/>
          </a:p>
        </p:txBody>
      </p:sp>
      <p:sp>
        <p:nvSpPr>
          <p:cNvPr id="41" name="TextBox 41"/>
          <p:cNvSpPr txBox="1"/>
          <p:nvPr/>
        </p:nvSpPr>
        <p:spPr>
          <a:xfrm>
            <a:off x="6867525" y="238125"/>
            <a:ext cx="1257300" cy="838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800" b="1">
                <a:solidFill>
                  <a:srgbClr val="9D100C"/>
                </a:solidFill>
                <a:latin typeface="Liberation Serif"/>
                <a:ea typeface="Liberation Serif"/>
                <a:cs typeface="Liberation Serif"/>
              </a:rPr>
              <a:t>VIS</a:t>
            </a:r>
            <a:endParaRPr lang="zh-CN" sz="5800"/>
          </a:p>
        </p:txBody>
      </p:sp>
      <p:sp>
        <p:nvSpPr>
          <p:cNvPr id="42" name="TextBox 42"/>
          <p:cNvSpPr txBox="1"/>
          <p:nvPr/>
        </p:nvSpPr>
        <p:spPr>
          <a:xfrm>
            <a:off x="1524000" y="1228725"/>
            <a:ext cx="47529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白马关古韵 × 贵妃传说 × 红色文化</a:t>
            </a:r>
            <a:endParaRPr lang="zh-CN" sz="2200"/>
          </a:p>
        </p:txBody>
      </p:sp>
      <p:sp>
        <p:nvSpPr>
          <p:cNvPr id="43" name="TextBox 43"/>
          <p:cNvSpPr txBox="1"/>
          <p:nvPr/>
        </p:nvSpPr>
        <p:spPr>
          <a:xfrm>
            <a:off x="1952625" y="1695450"/>
            <a:ext cx="345757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0">
                <a:solidFill>
                  <a:srgbClr val="5D351D"/>
                </a:solidFill>
                <a:latin typeface="SimSun"/>
                <a:ea typeface="SimSun"/>
                <a:cs typeface="SimSun"/>
              </a:rPr>
              <a:t>一颗贵妃枣  千年白马关  红韵润乡村</a:t>
            </a:r>
            <a:endParaRPr lang="zh-CN" sz="1240"/>
          </a:p>
        </p:txBody>
      </p:sp>
      <p:sp>
        <p:nvSpPr>
          <p:cNvPr id="44" name="TextBox 44"/>
          <p:cNvSpPr txBox="1"/>
          <p:nvPr/>
        </p:nvSpPr>
        <p:spPr>
          <a:xfrm>
            <a:off x="314325" y="2933700"/>
            <a:ext cx="51435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2350"/>
          </a:p>
        </p:txBody>
      </p:sp>
      <p:sp>
        <p:nvSpPr>
          <p:cNvPr id="45" name="TextBox 45"/>
          <p:cNvSpPr txBox="1"/>
          <p:nvPr/>
        </p:nvSpPr>
        <p:spPr>
          <a:xfrm>
            <a:off x="1000125" y="2981325"/>
            <a:ext cx="1209675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设计理念</a:t>
            </a:r>
            <a:endParaRPr lang="zh-CN" sz="2000"/>
          </a:p>
        </p:txBody>
      </p:sp>
      <p:sp>
        <p:nvSpPr>
          <p:cNvPr id="46" name="TextBox 46"/>
          <p:cNvSpPr txBox="1"/>
          <p:nvPr/>
        </p:nvSpPr>
        <p:spPr>
          <a:xfrm>
            <a:off x="2286000" y="3057525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BA5524"/>
                </a:solidFill>
                <a:latin typeface="Liberation Serif"/>
                <a:ea typeface="Liberation Serif"/>
                <a:cs typeface="Liberation Serif"/>
              </a:rPr>
              <a:t>DESIGN CONCEPT</a:t>
            </a:r>
            <a:endParaRPr lang="zh-CN" sz="1050"/>
          </a:p>
        </p:txBody>
      </p:sp>
      <p:sp>
        <p:nvSpPr>
          <p:cNvPr id="47" name="TextBox 47"/>
          <p:cNvSpPr txBox="1"/>
          <p:nvPr/>
        </p:nvSpPr>
        <p:spPr>
          <a:xfrm>
            <a:off x="5381625" y="2933700"/>
            <a:ext cx="51435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2350"/>
          </a:p>
        </p:txBody>
      </p:sp>
      <p:sp>
        <p:nvSpPr>
          <p:cNvPr id="48" name="TextBox 48"/>
          <p:cNvSpPr txBox="1"/>
          <p:nvPr/>
        </p:nvSpPr>
        <p:spPr>
          <a:xfrm>
            <a:off x="6048375" y="2981325"/>
            <a:ext cx="1209675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文化溯源</a:t>
            </a:r>
            <a:endParaRPr lang="zh-CN" sz="2000"/>
          </a:p>
        </p:txBody>
      </p:sp>
      <p:sp>
        <p:nvSpPr>
          <p:cNvPr id="49" name="TextBox 49"/>
          <p:cNvSpPr txBox="1"/>
          <p:nvPr/>
        </p:nvSpPr>
        <p:spPr>
          <a:xfrm>
            <a:off x="7191375" y="3057525"/>
            <a:ext cx="1562100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BA5524"/>
                </a:solidFill>
                <a:latin typeface="Liberation Serif"/>
                <a:ea typeface="Liberation Serif"/>
                <a:cs typeface="Liberation Serif"/>
              </a:rPr>
              <a:t>CULTURAL ORIGIN</a:t>
            </a:r>
            <a:endParaRPr lang="zh-CN" sz="1050"/>
          </a:p>
        </p:txBody>
      </p:sp>
      <p:sp>
        <p:nvSpPr>
          <p:cNvPr id="50" name="TextBox 50"/>
          <p:cNvSpPr txBox="1"/>
          <p:nvPr/>
        </p:nvSpPr>
        <p:spPr>
          <a:xfrm>
            <a:off x="314325" y="6162675"/>
            <a:ext cx="51435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2350"/>
          </a:p>
        </p:txBody>
      </p:sp>
      <p:sp>
        <p:nvSpPr>
          <p:cNvPr id="51" name="TextBox 51"/>
          <p:cNvSpPr txBox="1"/>
          <p:nvPr/>
        </p:nvSpPr>
        <p:spPr>
          <a:xfrm>
            <a:off x="952500" y="6210300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设计元素提炼</a:t>
            </a:r>
            <a:endParaRPr lang="zh-CN" sz="2000"/>
          </a:p>
        </p:txBody>
      </p:sp>
      <p:sp>
        <p:nvSpPr>
          <p:cNvPr id="52" name="TextBox 52"/>
          <p:cNvSpPr txBox="1"/>
          <p:nvPr/>
        </p:nvSpPr>
        <p:spPr>
          <a:xfrm>
            <a:off x="2552700" y="6286500"/>
            <a:ext cx="16287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BA5524"/>
                </a:solidFill>
                <a:latin typeface="Liberation Serif"/>
                <a:ea typeface="Liberation Serif"/>
                <a:cs typeface="Liberation Serif"/>
              </a:rPr>
              <a:t>DESIGN ELEMENTS</a:t>
            </a:r>
            <a:endParaRPr lang="zh-CN" sz="1050"/>
          </a:p>
        </p:txBody>
      </p:sp>
      <p:sp>
        <p:nvSpPr>
          <p:cNvPr id="53" name="TextBox 53"/>
          <p:cNvSpPr txBox="1"/>
          <p:nvPr/>
        </p:nvSpPr>
        <p:spPr>
          <a:xfrm>
            <a:off x="5857875" y="6162675"/>
            <a:ext cx="514350" cy="428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04</a:t>
            </a:r>
            <a:endParaRPr lang="zh-CN" sz="2350"/>
          </a:p>
        </p:txBody>
      </p:sp>
      <p:sp>
        <p:nvSpPr>
          <p:cNvPr id="54" name="TextBox 54"/>
          <p:cNvSpPr txBox="1"/>
          <p:nvPr/>
        </p:nvSpPr>
        <p:spPr>
          <a:xfrm>
            <a:off x="6477000" y="6210300"/>
            <a:ext cx="1285875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概念情绪板</a:t>
            </a:r>
            <a:endParaRPr lang="zh-CN" sz="2000"/>
          </a:p>
        </p:txBody>
      </p:sp>
      <p:sp>
        <p:nvSpPr>
          <p:cNvPr id="55" name="TextBox 55"/>
          <p:cNvSpPr txBox="1"/>
          <p:nvPr/>
        </p:nvSpPr>
        <p:spPr>
          <a:xfrm>
            <a:off x="7820025" y="6286500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BA5524"/>
                </a:solidFill>
                <a:latin typeface="Liberation Serif"/>
                <a:ea typeface="Liberation Serif"/>
                <a:cs typeface="Liberation Serif"/>
              </a:rPr>
              <a:t>CONCEPT MOODBOARD</a:t>
            </a:r>
            <a:endParaRPr lang="zh-CN" sz="1050"/>
          </a:p>
        </p:txBody>
      </p:sp>
      <p:sp>
        <p:nvSpPr>
          <p:cNvPr id="56" name="TextBox 56"/>
          <p:cNvSpPr txBox="1"/>
          <p:nvPr/>
        </p:nvSpPr>
        <p:spPr>
          <a:xfrm>
            <a:off x="847725" y="3448050"/>
            <a:ext cx="41338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以贵妃枣的自然形态与色彩为核心，融合白马关古建筑</a:t>
            </a:r>
            <a:endParaRPr lang="zh-CN" sz="1310"/>
          </a:p>
        </p:txBody>
      </p:sp>
      <p:sp>
        <p:nvSpPr>
          <p:cNvPr id="57" name="TextBox 57"/>
          <p:cNvSpPr txBox="1"/>
          <p:nvPr/>
        </p:nvSpPr>
        <p:spPr>
          <a:xfrm>
            <a:off x="847725" y="3689033"/>
            <a:ext cx="41338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的历史底蕴、杨贵妃的浪漫文化记忆与红色文化精神，</a:t>
            </a:r>
            <a:endParaRPr lang="zh-CN" sz="1310"/>
          </a:p>
        </p:txBody>
      </p:sp>
      <p:sp>
        <p:nvSpPr>
          <p:cNvPr id="58" name="TextBox 58"/>
          <p:cNvSpPr txBox="1"/>
          <p:nvPr/>
        </p:nvSpPr>
        <p:spPr>
          <a:xfrm>
            <a:off x="847725" y="3930015"/>
            <a:ext cx="41338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提炼</a:t>
            </a:r>
            <a:r>
              <a:rPr lang="zh-CN" sz="131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“古韵、红韵、果韵、乡创”</a:t>
            </a:r>
            <a:r>
              <a:rPr lang="zh-CN" sz="131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的视觉语言，打造具</a:t>
            </a:r>
            <a:endParaRPr lang="zh-CN" sz="1310"/>
          </a:p>
        </p:txBody>
      </p:sp>
      <p:sp>
        <p:nvSpPr>
          <p:cNvPr id="59" name="TextBox 59"/>
          <p:cNvSpPr txBox="1"/>
          <p:nvPr/>
        </p:nvSpPr>
        <p:spPr>
          <a:xfrm>
            <a:off x="847725" y="4170998"/>
            <a:ext cx="41338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有地域文化特色的农产品品牌形象，展现当地的特色资</a:t>
            </a:r>
            <a:endParaRPr lang="zh-CN" sz="1310"/>
          </a:p>
        </p:txBody>
      </p:sp>
      <p:sp>
        <p:nvSpPr>
          <p:cNvPr id="60" name="TextBox 60"/>
          <p:cNvSpPr txBox="1"/>
          <p:nvPr/>
        </p:nvSpPr>
        <p:spPr>
          <a:xfrm>
            <a:off x="847725" y="4411980"/>
            <a:ext cx="41338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源、生态品质、文化厚度，助力乡村振兴与产业发展。</a:t>
            </a:r>
            <a:endParaRPr lang="zh-CN" sz="1310"/>
          </a:p>
        </p:txBody>
      </p:sp>
      <p:sp>
        <p:nvSpPr>
          <p:cNvPr id="61" name="TextBox 61"/>
          <p:cNvSpPr txBox="1"/>
          <p:nvPr/>
        </p:nvSpPr>
        <p:spPr>
          <a:xfrm>
            <a:off x="476250" y="4810125"/>
            <a:ext cx="866775" cy="704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2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古韵</a:t>
            </a:r>
            <a:endParaRPr lang="zh-CN" sz="2620"/>
          </a:p>
        </p:txBody>
      </p:sp>
      <p:sp>
        <p:nvSpPr>
          <p:cNvPr id="62" name="TextBox 62"/>
          <p:cNvSpPr txBox="1"/>
          <p:nvPr/>
        </p:nvSpPr>
        <p:spPr>
          <a:xfrm>
            <a:off x="447675" y="5553075"/>
            <a:ext cx="92392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历史底蕴</a:t>
            </a:r>
            <a:endParaRPr lang="zh-CN" sz="1130"/>
          </a:p>
        </p:txBody>
      </p:sp>
      <p:sp>
        <p:nvSpPr>
          <p:cNvPr id="63" name="TextBox 63"/>
          <p:cNvSpPr txBox="1"/>
          <p:nvPr/>
        </p:nvSpPr>
        <p:spPr>
          <a:xfrm>
            <a:off x="447675" y="5734050"/>
            <a:ext cx="92392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古建风华</a:t>
            </a:r>
            <a:endParaRPr lang="zh-CN" sz="1130"/>
          </a:p>
        </p:txBody>
      </p:sp>
      <p:sp>
        <p:nvSpPr>
          <p:cNvPr id="64" name="TextBox 64"/>
          <p:cNvSpPr txBox="1"/>
          <p:nvPr/>
        </p:nvSpPr>
        <p:spPr>
          <a:xfrm>
            <a:off x="1666875" y="4810125"/>
            <a:ext cx="866775" cy="704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2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红韵</a:t>
            </a:r>
            <a:endParaRPr lang="zh-CN" sz="2620"/>
          </a:p>
        </p:txBody>
      </p:sp>
      <p:sp>
        <p:nvSpPr>
          <p:cNvPr id="65" name="TextBox 65"/>
          <p:cNvSpPr txBox="1"/>
          <p:nvPr/>
        </p:nvSpPr>
        <p:spPr>
          <a:xfrm>
            <a:off x="1638300" y="5553075"/>
            <a:ext cx="92392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红色精神</a:t>
            </a:r>
            <a:endParaRPr lang="zh-CN" sz="1130"/>
          </a:p>
        </p:txBody>
      </p:sp>
      <p:sp>
        <p:nvSpPr>
          <p:cNvPr id="66" name="TextBox 66"/>
          <p:cNvSpPr txBox="1"/>
          <p:nvPr/>
        </p:nvSpPr>
        <p:spPr>
          <a:xfrm>
            <a:off x="1638300" y="5734050"/>
            <a:ext cx="92392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时代传承</a:t>
            </a:r>
            <a:endParaRPr lang="zh-CN" sz="1130"/>
          </a:p>
        </p:txBody>
      </p:sp>
      <p:sp>
        <p:nvSpPr>
          <p:cNvPr id="67" name="TextBox 67"/>
          <p:cNvSpPr txBox="1"/>
          <p:nvPr/>
        </p:nvSpPr>
        <p:spPr>
          <a:xfrm>
            <a:off x="2847975" y="4810125"/>
            <a:ext cx="857250" cy="704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2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果韵</a:t>
            </a:r>
            <a:endParaRPr lang="zh-CN" sz="2620"/>
          </a:p>
        </p:txBody>
      </p:sp>
      <p:sp>
        <p:nvSpPr>
          <p:cNvPr id="68" name="TextBox 68"/>
          <p:cNvSpPr txBox="1"/>
          <p:nvPr/>
        </p:nvSpPr>
        <p:spPr>
          <a:xfrm>
            <a:off x="2819400" y="5553075"/>
            <a:ext cx="9144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自然本真</a:t>
            </a:r>
            <a:endParaRPr lang="zh-CN" sz="1130"/>
          </a:p>
        </p:txBody>
      </p:sp>
      <p:sp>
        <p:nvSpPr>
          <p:cNvPr id="69" name="TextBox 69"/>
          <p:cNvSpPr txBox="1"/>
          <p:nvPr/>
        </p:nvSpPr>
        <p:spPr>
          <a:xfrm>
            <a:off x="2819400" y="5734050"/>
            <a:ext cx="9144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生态品质</a:t>
            </a:r>
            <a:endParaRPr lang="zh-CN" sz="1130"/>
          </a:p>
        </p:txBody>
      </p:sp>
      <p:sp>
        <p:nvSpPr>
          <p:cNvPr id="70" name="TextBox 70"/>
          <p:cNvSpPr txBox="1"/>
          <p:nvPr/>
        </p:nvSpPr>
        <p:spPr>
          <a:xfrm>
            <a:off x="4029075" y="4810125"/>
            <a:ext cx="876300" cy="704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2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乡创</a:t>
            </a:r>
            <a:endParaRPr lang="zh-CN" sz="2620"/>
          </a:p>
        </p:txBody>
      </p:sp>
      <p:sp>
        <p:nvSpPr>
          <p:cNvPr id="71" name="TextBox 71"/>
          <p:cNvSpPr txBox="1"/>
          <p:nvPr/>
        </p:nvSpPr>
        <p:spPr>
          <a:xfrm>
            <a:off x="4000500" y="5553075"/>
            <a:ext cx="93345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乡村振兴</a:t>
            </a:r>
            <a:endParaRPr lang="zh-CN" sz="1130"/>
          </a:p>
        </p:txBody>
      </p:sp>
      <p:sp>
        <p:nvSpPr>
          <p:cNvPr id="72" name="TextBox 72"/>
          <p:cNvSpPr txBox="1"/>
          <p:nvPr/>
        </p:nvSpPr>
        <p:spPr>
          <a:xfrm>
            <a:off x="4000500" y="5734050"/>
            <a:ext cx="93345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创新发展</a:t>
            </a:r>
            <a:endParaRPr lang="zh-CN" sz="1130"/>
          </a:p>
        </p:txBody>
      </p:sp>
      <p:sp>
        <p:nvSpPr>
          <p:cNvPr id="73" name="TextBox 73"/>
          <p:cNvSpPr txBox="1"/>
          <p:nvPr/>
        </p:nvSpPr>
        <p:spPr>
          <a:xfrm>
            <a:off x="5829300" y="3590925"/>
            <a:ext cx="981075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贵妃传说</a:t>
            </a:r>
            <a:endParaRPr lang="zh-CN" sz="1730"/>
          </a:p>
        </p:txBody>
      </p:sp>
      <p:sp>
        <p:nvSpPr>
          <p:cNvPr id="74" name="TextBox 74"/>
          <p:cNvSpPr txBox="1"/>
          <p:nvPr/>
        </p:nvSpPr>
        <p:spPr>
          <a:xfrm>
            <a:off x="10239375" y="3590925"/>
            <a:ext cx="971550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调元雅赞</a:t>
            </a:r>
            <a:endParaRPr lang="zh-CN" sz="1730"/>
          </a:p>
        </p:txBody>
      </p:sp>
      <p:sp>
        <p:nvSpPr>
          <p:cNvPr id="75" name="TextBox 75"/>
          <p:cNvSpPr txBox="1"/>
          <p:nvPr/>
        </p:nvSpPr>
        <p:spPr>
          <a:xfrm>
            <a:off x="5448300" y="3990975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相传唐代杨贵妃在马嵬之变后南下，</a:t>
            </a:r>
            <a:endParaRPr lang="zh-CN" sz="1080"/>
          </a:p>
        </p:txBody>
      </p:sp>
      <p:sp>
        <p:nvSpPr>
          <p:cNvPr id="76" name="TextBox 76"/>
          <p:cNvSpPr txBox="1"/>
          <p:nvPr/>
        </p:nvSpPr>
        <p:spPr>
          <a:xfrm>
            <a:off x="5448300" y="420243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途经罗江一带，随行带来的宫中鲜枣</a:t>
            </a:r>
            <a:endParaRPr lang="zh-CN" sz="1080"/>
          </a:p>
        </p:txBody>
      </p:sp>
      <p:sp>
        <p:nvSpPr>
          <p:cNvPr id="77" name="TextBox 77"/>
          <p:cNvSpPr txBox="1"/>
          <p:nvPr/>
        </p:nvSpPr>
        <p:spPr>
          <a:xfrm>
            <a:off x="5448300" y="4413885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不慎遗落，枣核在此地生根发芽，</a:t>
            </a:r>
            <a:endParaRPr lang="zh-CN" sz="1080"/>
          </a:p>
        </p:txBody>
      </p:sp>
      <p:sp>
        <p:nvSpPr>
          <p:cNvPr id="78" name="TextBox 78"/>
          <p:cNvSpPr txBox="1"/>
          <p:nvPr/>
        </p:nvSpPr>
        <p:spPr>
          <a:xfrm>
            <a:off x="5448300" y="462534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经当地百姓精心培育，长成了形美</a:t>
            </a:r>
            <a:endParaRPr lang="zh-CN" sz="1080"/>
          </a:p>
        </p:txBody>
      </p:sp>
      <p:sp>
        <p:nvSpPr>
          <p:cNvPr id="79" name="TextBox 79"/>
          <p:cNvSpPr txBox="1"/>
          <p:nvPr/>
        </p:nvSpPr>
        <p:spPr>
          <a:xfrm>
            <a:off x="5448300" y="4836795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味甜、脆嫩多汁的枣子，后被称为</a:t>
            </a:r>
            <a:endParaRPr lang="zh-CN" sz="1080"/>
          </a:p>
        </p:txBody>
      </p:sp>
      <p:sp>
        <p:nvSpPr>
          <p:cNvPr id="80" name="TextBox 80"/>
          <p:cNvSpPr txBox="1"/>
          <p:nvPr/>
        </p:nvSpPr>
        <p:spPr>
          <a:xfrm>
            <a:off x="5448300" y="50482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“贵妃枣”</a:t>
            </a:r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。这个美丽的传说，赋予</a:t>
            </a:r>
            <a:endParaRPr lang="zh-CN" sz="1080"/>
          </a:p>
        </p:txBody>
      </p:sp>
      <p:sp>
        <p:nvSpPr>
          <p:cNvPr id="81" name="TextBox 81"/>
          <p:cNvSpPr txBox="1"/>
          <p:nvPr/>
        </p:nvSpPr>
        <p:spPr>
          <a:xfrm>
            <a:off x="5448300" y="5259705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了贵妃枣浪漫的文化记忆与深厚的</a:t>
            </a:r>
            <a:endParaRPr lang="zh-CN" sz="1080"/>
          </a:p>
        </p:txBody>
      </p:sp>
      <p:sp>
        <p:nvSpPr>
          <p:cNvPr id="82" name="TextBox 82"/>
          <p:cNvSpPr txBox="1"/>
          <p:nvPr/>
        </p:nvSpPr>
        <p:spPr>
          <a:xfrm>
            <a:off x="5448300" y="547116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历史底蕴。</a:t>
            </a:r>
            <a:endParaRPr lang="zh-CN" sz="1080"/>
          </a:p>
        </p:txBody>
      </p:sp>
      <p:sp>
        <p:nvSpPr>
          <p:cNvPr id="83" name="TextBox 83"/>
          <p:cNvSpPr txBox="1"/>
          <p:nvPr/>
        </p:nvSpPr>
        <p:spPr>
          <a:xfrm>
            <a:off x="9934575" y="3990975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清代文学家李调元曾品尝</a:t>
            </a:r>
            <a:endParaRPr lang="zh-CN" sz="1080"/>
          </a:p>
        </p:txBody>
      </p:sp>
      <p:sp>
        <p:nvSpPr>
          <p:cNvPr id="84" name="TextBox 84"/>
          <p:cNvSpPr txBox="1"/>
          <p:nvPr/>
        </p:nvSpPr>
        <p:spPr>
          <a:xfrm>
            <a:off x="9934575" y="4202430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贵妃枣，盛赞其“色如琥珀、</a:t>
            </a:r>
            <a:endParaRPr lang="zh-CN" sz="1050"/>
          </a:p>
        </p:txBody>
      </p:sp>
      <p:sp>
        <p:nvSpPr>
          <p:cNvPr id="85" name="TextBox 85"/>
          <p:cNvSpPr txBox="1"/>
          <p:nvPr/>
        </p:nvSpPr>
        <p:spPr>
          <a:xfrm>
            <a:off x="9934575" y="4413885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味甘腴美”，并为之题咏，</a:t>
            </a:r>
            <a:endParaRPr lang="zh-CN" sz="1080"/>
          </a:p>
        </p:txBody>
      </p:sp>
      <p:sp>
        <p:nvSpPr>
          <p:cNvPr id="86" name="TextBox 86"/>
          <p:cNvSpPr txBox="1"/>
          <p:nvPr/>
        </p:nvSpPr>
        <p:spPr>
          <a:xfrm>
            <a:off x="9934575" y="4625340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使贵妃枣名声远播。当地百</a:t>
            </a:r>
            <a:endParaRPr lang="zh-CN" sz="1080"/>
          </a:p>
        </p:txBody>
      </p:sp>
      <p:sp>
        <p:nvSpPr>
          <p:cNvPr id="87" name="TextBox 87"/>
          <p:cNvSpPr txBox="1"/>
          <p:nvPr/>
        </p:nvSpPr>
        <p:spPr>
          <a:xfrm>
            <a:off x="9934575" y="4836795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姓亦称其为“调元枣”，</a:t>
            </a:r>
            <a:endParaRPr lang="zh-CN" sz="1080"/>
          </a:p>
        </p:txBody>
      </p:sp>
      <p:sp>
        <p:nvSpPr>
          <p:cNvPr id="88" name="TextBox 88"/>
          <p:cNvSpPr txBox="1"/>
          <p:nvPr/>
        </p:nvSpPr>
        <p:spPr>
          <a:xfrm>
            <a:off x="9934575" y="5048250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这一雅号不仅提升了贵妃枣</a:t>
            </a:r>
            <a:endParaRPr lang="zh-CN" sz="1080"/>
          </a:p>
        </p:txBody>
      </p:sp>
      <p:sp>
        <p:nvSpPr>
          <p:cNvPr id="89" name="TextBox 89"/>
          <p:cNvSpPr txBox="1"/>
          <p:nvPr/>
        </p:nvSpPr>
        <p:spPr>
          <a:xfrm>
            <a:off x="9934575" y="5259705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的文化内涵，也成为其品牌</a:t>
            </a:r>
            <a:endParaRPr lang="zh-CN" sz="1080"/>
          </a:p>
        </p:txBody>
      </p:sp>
      <p:sp>
        <p:nvSpPr>
          <p:cNvPr id="90" name="TextBox 90"/>
          <p:cNvSpPr txBox="1"/>
          <p:nvPr/>
        </p:nvSpPr>
        <p:spPr>
          <a:xfrm>
            <a:off x="9934575" y="5471160"/>
            <a:ext cx="16859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故事的重要组成部分。</a:t>
            </a:r>
            <a:endParaRPr lang="zh-CN" sz="1080"/>
          </a:p>
        </p:txBody>
      </p:sp>
      <p:sp>
        <p:nvSpPr>
          <p:cNvPr id="91" name="TextBox 91"/>
          <p:cNvSpPr txBox="1"/>
          <p:nvPr/>
        </p:nvSpPr>
        <p:spPr>
          <a:xfrm>
            <a:off x="333375" y="7696200"/>
            <a:ext cx="147637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白马关古建筑</a:t>
            </a:r>
            <a:endParaRPr lang="zh-CN" sz="1310"/>
          </a:p>
        </p:txBody>
      </p:sp>
      <p:sp>
        <p:nvSpPr>
          <p:cNvPr id="92" name="TextBox 92"/>
          <p:cNvSpPr txBox="1"/>
          <p:nvPr/>
        </p:nvSpPr>
        <p:spPr>
          <a:xfrm>
            <a:off x="285750" y="7915275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城门·屋檐·城墙</a:t>
            </a:r>
            <a:endParaRPr lang="zh-CN" sz="1080"/>
          </a:p>
        </p:txBody>
      </p:sp>
      <p:sp>
        <p:nvSpPr>
          <p:cNvPr id="93" name="TextBox 93"/>
          <p:cNvSpPr txBox="1"/>
          <p:nvPr/>
        </p:nvSpPr>
        <p:spPr>
          <a:xfrm>
            <a:off x="285750" y="8086725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历史厚重感</a:t>
            </a:r>
            <a:endParaRPr lang="zh-CN" sz="1080"/>
          </a:p>
        </p:txBody>
      </p:sp>
      <p:sp>
        <p:nvSpPr>
          <p:cNvPr id="94" name="TextBox 94"/>
          <p:cNvSpPr txBox="1"/>
          <p:nvPr/>
        </p:nvSpPr>
        <p:spPr>
          <a:xfrm>
            <a:off x="1971675" y="7696200"/>
            <a:ext cx="17716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贵妃枣果实与叶片</a:t>
            </a:r>
            <a:endParaRPr lang="zh-CN" sz="1310"/>
          </a:p>
        </p:txBody>
      </p:sp>
      <p:sp>
        <p:nvSpPr>
          <p:cNvPr id="95" name="TextBox 95"/>
          <p:cNvSpPr txBox="1"/>
          <p:nvPr/>
        </p:nvSpPr>
        <p:spPr>
          <a:xfrm>
            <a:off x="1924050" y="7915275"/>
            <a:ext cx="18669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自然形态·红绿相间</a:t>
            </a:r>
            <a:endParaRPr lang="zh-CN" sz="1080"/>
          </a:p>
        </p:txBody>
      </p:sp>
      <p:sp>
        <p:nvSpPr>
          <p:cNvPr id="96" name="TextBox 96"/>
          <p:cNvSpPr txBox="1"/>
          <p:nvPr/>
        </p:nvSpPr>
        <p:spPr>
          <a:xfrm>
            <a:off x="1924050" y="8086725"/>
            <a:ext cx="18669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圆润饱满·生态品质</a:t>
            </a:r>
            <a:endParaRPr lang="zh-CN" sz="1080"/>
          </a:p>
        </p:txBody>
      </p:sp>
      <p:sp>
        <p:nvSpPr>
          <p:cNvPr id="97" name="TextBox 97"/>
          <p:cNvSpPr txBox="1"/>
          <p:nvPr/>
        </p:nvSpPr>
        <p:spPr>
          <a:xfrm>
            <a:off x="3876675" y="7696200"/>
            <a:ext cx="16954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红飘带 / 红色文化</a:t>
            </a:r>
            <a:endParaRPr lang="zh-CN" sz="1310"/>
          </a:p>
        </p:txBody>
      </p:sp>
      <p:sp>
        <p:nvSpPr>
          <p:cNvPr id="98" name="TextBox 98"/>
          <p:cNvSpPr txBox="1"/>
          <p:nvPr/>
        </p:nvSpPr>
        <p:spPr>
          <a:xfrm>
            <a:off x="3829050" y="7915275"/>
            <a:ext cx="17907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革命精神·红色基因</a:t>
            </a:r>
            <a:endParaRPr lang="zh-CN" sz="1080"/>
          </a:p>
        </p:txBody>
      </p:sp>
      <p:sp>
        <p:nvSpPr>
          <p:cNvPr id="99" name="TextBox 99"/>
          <p:cNvSpPr txBox="1"/>
          <p:nvPr/>
        </p:nvSpPr>
        <p:spPr>
          <a:xfrm>
            <a:off x="3829050" y="8086725"/>
            <a:ext cx="17907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时代传承·奋进力量</a:t>
            </a:r>
            <a:endParaRPr lang="zh-CN" sz="1080"/>
          </a:p>
        </p:txBody>
      </p:sp>
      <p:sp>
        <p:nvSpPr>
          <p:cNvPr id="100" name="TextBox 100"/>
          <p:cNvSpPr txBox="1"/>
          <p:nvPr/>
        </p:nvSpPr>
        <p:spPr>
          <a:xfrm>
            <a:off x="857250" y="9115425"/>
            <a:ext cx="14287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山水纹样</a:t>
            </a:r>
            <a:endParaRPr lang="zh-CN" sz="1310"/>
          </a:p>
        </p:txBody>
      </p:sp>
      <p:sp>
        <p:nvSpPr>
          <p:cNvPr id="101" name="TextBox 101"/>
          <p:cNvSpPr txBox="1"/>
          <p:nvPr/>
        </p:nvSpPr>
        <p:spPr>
          <a:xfrm>
            <a:off x="809625" y="9363075"/>
            <a:ext cx="15240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罗江山水·自然生态</a:t>
            </a:r>
            <a:endParaRPr lang="zh-CN" sz="1080"/>
          </a:p>
        </p:txBody>
      </p:sp>
      <p:sp>
        <p:nvSpPr>
          <p:cNvPr id="102" name="TextBox 102"/>
          <p:cNvSpPr txBox="1"/>
          <p:nvPr/>
        </p:nvSpPr>
        <p:spPr>
          <a:xfrm>
            <a:off x="809625" y="9534525"/>
            <a:ext cx="1524000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诗意田园·地域特征</a:t>
            </a:r>
            <a:endParaRPr lang="zh-CN" sz="1080"/>
          </a:p>
        </p:txBody>
      </p:sp>
      <p:sp>
        <p:nvSpPr>
          <p:cNvPr id="103" name="TextBox 103"/>
          <p:cNvSpPr txBox="1"/>
          <p:nvPr/>
        </p:nvSpPr>
        <p:spPr>
          <a:xfrm>
            <a:off x="3057525" y="9115425"/>
            <a:ext cx="14573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>
                <a:solidFill>
                  <a:srgbClr val="9D100C"/>
                </a:solidFill>
                <a:latin typeface="SimSun"/>
                <a:ea typeface="SimSun"/>
                <a:cs typeface="SimSun"/>
              </a:rPr>
              <a:t>印章感乡创符号</a:t>
            </a:r>
            <a:endParaRPr lang="zh-CN" sz="1310"/>
          </a:p>
        </p:txBody>
      </p:sp>
      <p:sp>
        <p:nvSpPr>
          <p:cNvPr id="104" name="TextBox 104"/>
          <p:cNvSpPr txBox="1"/>
          <p:nvPr/>
        </p:nvSpPr>
        <p:spPr>
          <a:xfrm>
            <a:off x="3009900" y="9363075"/>
            <a:ext cx="155257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文化印记·品牌专属</a:t>
            </a:r>
            <a:endParaRPr lang="zh-CN" sz="1080"/>
          </a:p>
        </p:txBody>
      </p:sp>
      <p:sp>
        <p:nvSpPr>
          <p:cNvPr id="105" name="TextBox 105"/>
          <p:cNvSpPr txBox="1"/>
          <p:nvPr/>
        </p:nvSpPr>
        <p:spPr>
          <a:xfrm>
            <a:off x="3009900" y="9534525"/>
            <a:ext cx="1552575" cy="200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302C25"/>
                </a:solidFill>
                <a:latin typeface="SimSun"/>
                <a:ea typeface="SimSun"/>
                <a:cs typeface="SimSun"/>
              </a:rPr>
              <a:t>乡土气息·现代表达</a:t>
            </a:r>
            <a:endParaRPr lang="zh-CN" sz="1080"/>
          </a:p>
        </p:txBody>
      </p:sp>
      <p:sp>
        <p:nvSpPr>
          <p:cNvPr id="106" name="TextBox 106"/>
          <p:cNvSpPr txBox="1"/>
          <p:nvPr/>
        </p:nvSpPr>
        <p:spPr>
          <a:xfrm>
            <a:off x="10201275" y="6210300"/>
            <a:ext cx="338137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9D100C"/>
                </a:solidFill>
                <a:latin typeface="Ma Shan Zheng"/>
                <a:ea typeface="Ma Shan Zheng"/>
                <a:cs typeface="Ma Shan Zheng"/>
              </a:rPr>
              <a:t>一颗贵妃枣，承载千年故事</a:t>
            </a:r>
            <a:endParaRPr lang="zh-CN" sz="1600"/>
          </a:p>
        </p:txBody>
      </p:sp>
      <p:sp>
        <p:nvSpPr>
          <p:cNvPr id="107" name="TextBox 107"/>
          <p:cNvSpPr txBox="1"/>
          <p:nvPr/>
        </p:nvSpPr>
        <p:spPr>
          <a:xfrm>
            <a:off x="9915525" y="6486525"/>
            <a:ext cx="40290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00">
                <a:solidFill>
                  <a:srgbClr val="9D100C"/>
                </a:solidFill>
                <a:latin typeface="Ma Shan Zheng"/>
                <a:ea typeface="Ma Shan Zheng"/>
                <a:cs typeface="Ma Shan Zheng"/>
              </a:rPr>
              <a:t>让古韵、红韵、果韵在罗江大地生生不息。</a:t>
            </a:r>
            <a:endParaRPr lang="zh-CN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