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27089"/>
            <a:ext cx="12191695" cy="617209"/>
          </a:xfrm>
          <a:prstGeom prst="rect">
            <a:avLst/>
          </a:prstGeom>
          <a:solidFill>
            <a:srgbClr val="075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ath 3"/>
          <p:cNvSpPr/>
          <p:nvPr/>
        </p:nvSpPr>
        <p:spPr>
          <a:xfrm>
            <a:off x="0" y="4158759"/>
            <a:ext cx="12191695" cy="267215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3409" y="17139"/>
                  <a:pt x="15592" y="25298"/>
                  <a:pt x="21600" y="10272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0" y="27089"/>
            <a:ext cx="7261284" cy="61720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cubicBezTo>
                  <a:pt x="14904" y="8894"/>
                  <a:pt x="9072" y="20075"/>
                  <a:pt x="0" y="21600"/>
                </a:cubicBezTo>
                <a:close/>
              </a:path>
            </a:pathLst>
          </a:custGeom>
          <a:solidFill>
            <a:srgbClr val="073A7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0" y="5059158"/>
            <a:ext cx="12191695" cy="177175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6188" y="24521"/>
                  <a:pt x="16557" y="23459"/>
                  <a:pt x="21600" y="911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FE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8408566" y="27089"/>
            <a:ext cx="3783129" cy="61720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cubicBezTo>
                  <a:pt x="11401" y="18296"/>
                  <a:pt x="17496" y="5591"/>
                  <a:pt x="21600" y="0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1266A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0" y="5269735"/>
            <a:ext cx="893138" cy="55911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971" y="8696"/>
                  <a:pt x="13522" y="16270"/>
                  <a:pt x="21600" y="21600"/>
                </a:cubicBezTo>
                <a:cubicBezTo>
                  <a:pt x="11063" y="16270"/>
                  <a:pt x="4741" y="10660"/>
                  <a:pt x="0" y="5891"/>
                </a:cubicBezTo>
                <a:close/>
              </a:path>
            </a:pathLst>
          </a:custGeom>
          <a:solidFill>
            <a:srgbClr val="FFF1C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9279920" y="27089"/>
            <a:ext cx="2911775" cy="61720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cubicBezTo>
                  <a:pt x="9265" y="17026"/>
                  <a:pt x="17237" y="7115"/>
                  <a:pt x="21600" y="0"/>
                </a:cubicBezTo>
                <a:lnTo>
                  <a:pt x="20253" y="0"/>
                </a:lnTo>
                <a:cubicBezTo>
                  <a:pt x="15729" y="8894"/>
                  <a:pt x="8080" y="18551"/>
                  <a:pt x="0" y="21600"/>
                </a:cubicBezTo>
                <a:close/>
              </a:path>
            </a:pathLst>
          </a:custGeom>
          <a:solidFill>
            <a:srgbClr val="FFDB7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9650246" y="27089"/>
            <a:ext cx="2541449" cy="5663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cubicBezTo>
                  <a:pt x="10245" y="16062"/>
                  <a:pt x="18144" y="5815"/>
                  <a:pt x="21600" y="0"/>
                </a:cubicBezTo>
                <a:lnTo>
                  <a:pt x="20551" y="0"/>
                </a:lnTo>
                <a:cubicBezTo>
                  <a:pt x="15120" y="9692"/>
                  <a:pt x="7899" y="18000"/>
                  <a:pt x="0" y="21600"/>
                </a:cubicBezTo>
                <a:close/>
              </a:path>
            </a:pathLst>
          </a:custGeom>
          <a:solidFill>
            <a:srgbClr val="F4F9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958489" y="150530"/>
            <a:ext cx="0" cy="384848"/>
          </a:xfrm>
          <a:prstGeom prst="line">
            <a:avLst/>
          </a:prstGeom>
          <a:noFill/>
          <a:ln w="10160">
            <a:solidFill>
              <a:srgbClr val="E7F6FF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174271" y="804046"/>
            <a:ext cx="11835892" cy="2737504"/>
          </a:xfrm>
          <a:prstGeom prst="roundRect">
            <a:avLst>
              <a:gd name="adj" fmla="val 4509"/>
            </a:avLst>
          </a:prstGeom>
          <a:solidFill>
            <a:srgbClr val="DDF1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174271" y="3643208"/>
            <a:ext cx="11835892" cy="2374440"/>
          </a:xfrm>
          <a:prstGeom prst="roundRect">
            <a:avLst>
              <a:gd name="adj" fmla="val 5199"/>
            </a:avLst>
          </a:prstGeom>
          <a:solidFill>
            <a:srgbClr val="DDF1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167010" y="767740"/>
            <a:ext cx="11850415" cy="2744765"/>
          </a:xfrm>
          <a:prstGeom prst="roundRect">
            <a:avLst>
              <a:gd name="adj" fmla="val 4497"/>
            </a:avLst>
          </a:prstGeom>
          <a:solidFill>
            <a:srgbClr val="FEFEFF"/>
          </a:solidFill>
          <a:ln w="6985">
            <a:solidFill>
              <a:srgbClr val="8DD6F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67010" y="3606901"/>
            <a:ext cx="11850415" cy="2396224"/>
          </a:xfrm>
          <a:prstGeom prst="roundRect">
            <a:avLst>
              <a:gd name="adj" fmla="val 5152"/>
            </a:avLst>
          </a:prstGeom>
          <a:solidFill>
            <a:srgbClr val="FEFEFF"/>
          </a:solidFill>
          <a:ln w="6985">
            <a:solidFill>
              <a:srgbClr val="8DD6FF"/>
            </a:solidFill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537335" y="2074771"/>
            <a:ext cx="3841219" cy="1299770"/>
          </a:xfrm>
          <a:prstGeom prst="ellipse">
            <a:avLst/>
          </a:prstGeom>
          <a:solidFill>
            <a:srgbClr val="F3FCFF"/>
          </a:solidFill>
          <a:ln w="6350">
            <a:solidFill>
              <a:srgbClr val="E8F8FF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5903424" y="3962704"/>
            <a:ext cx="5954253" cy="624470"/>
          </a:xfrm>
          <a:prstGeom prst="roundRect">
            <a:avLst>
              <a:gd name="adj" fmla="val 17442"/>
            </a:avLst>
          </a:prstGeom>
          <a:solidFill>
            <a:srgbClr val="E4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5903424" y="4652526"/>
            <a:ext cx="5954253" cy="624470"/>
          </a:xfrm>
          <a:prstGeom prst="roundRect">
            <a:avLst>
              <a:gd name="adj" fmla="val 17442"/>
            </a:avLst>
          </a:prstGeom>
          <a:solidFill>
            <a:srgbClr val="E4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5903424" y="5349610"/>
            <a:ext cx="5954253" cy="624470"/>
          </a:xfrm>
          <a:prstGeom prst="roundRect">
            <a:avLst>
              <a:gd name="adj" fmla="val 17442"/>
            </a:avLst>
          </a:prstGeom>
          <a:solidFill>
            <a:srgbClr val="E4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268667" y="825830"/>
            <a:ext cx="522812" cy="43567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5400"/>
                </a:moveTo>
                <a:quadBezTo>
                  <a:pt x="0" y="0"/>
                  <a:pt x="4800" y="0"/>
                </a:quadBezTo>
                <a:lnTo>
                  <a:pt x="20100" y="0"/>
                </a:lnTo>
                <a:quadBezTo>
                  <a:pt x="22200" y="0"/>
                  <a:pt x="21000" y="3600"/>
                </a:quadBezTo>
                <a:lnTo>
                  <a:pt x="17100" y="15840"/>
                </a:lnTo>
                <a:quadBezTo>
                  <a:pt x="15900" y="21600"/>
                  <a:pt x="11700" y="21600"/>
                </a:quadBezTo>
                <a:lnTo>
                  <a:pt x="3600" y="21600"/>
                </a:lnTo>
                <a:quadBezTo>
                  <a:pt x="0" y="21600"/>
                  <a:pt x="0" y="17280"/>
                </a:quadBezTo>
                <a:close/>
              </a:path>
            </a:pathLst>
          </a:custGeom>
          <a:solidFill>
            <a:srgbClr val="0564B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268667" y="3650469"/>
            <a:ext cx="522812" cy="43567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5400"/>
                </a:moveTo>
                <a:quadBezTo>
                  <a:pt x="0" y="0"/>
                  <a:pt x="4800" y="0"/>
                </a:quadBezTo>
                <a:lnTo>
                  <a:pt x="20100" y="0"/>
                </a:lnTo>
                <a:quadBezTo>
                  <a:pt x="22200" y="0"/>
                  <a:pt x="21000" y="3600"/>
                </a:quadBezTo>
                <a:lnTo>
                  <a:pt x="17100" y="15840"/>
                </a:lnTo>
                <a:quadBezTo>
                  <a:pt x="15900" y="21600"/>
                  <a:pt x="11700" y="21600"/>
                </a:quadBezTo>
                <a:lnTo>
                  <a:pt x="3600" y="21600"/>
                </a:lnTo>
                <a:quadBezTo>
                  <a:pt x="0" y="21600"/>
                  <a:pt x="0" y="17280"/>
                </a:quadBezTo>
                <a:close/>
              </a:path>
            </a:pathLst>
          </a:custGeom>
          <a:solidFill>
            <a:srgbClr val="0564B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2759288" y="4122453"/>
            <a:ext cx="1423212" cy="421154"/>
          </a:xfrm>
          <a:prstGeom prst="roundRect">
            <a:avLst>
              <a:gd name="adj" fmla="val 50000"/>
            </a:avLst>
          </a:prstGeom>
          <a:solidFill>
            <a:srgbClr val="E7F6FF"/>
          </a:solidFill>
          <a:ln w="6350">
            <a:solidFill>
              <a:srgbClr val="85D2FF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501029" y="4623481"/>
            <a:ext cx="1321554" cy="479245"/>
          </a:xfrm>
          <a:prstGeom prst="roundRect">
            <a:avLst>
              <a:gd name="adj" fmla="val 50000"/>
            </a:avLst>
          </a:prstGeom>
          <a:solidFill>
            <a:srgbClr val="E7F6FF"/>
          </a:solidFill>
          <a:ln w="6350">
            <a:solidFill>
              <a:srgbClr val="85D2F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030012" y="4623481"/>
            <a:ext cx="1379644" cy="493767"/>
          </a:xfrm>
          <a:prstGeom prst="roundRect">
            <a:avLst>
              <a:gd name="adj" fmla="val 50000"/>
            </a:avLst>
          </a:prstGeom>
          <a:solidFill>
            <a:srgbClr val="E7F6FF"/>
          </a:solidFill>
          <a:ln w="6350">
            <a:solidFill>
              <a:srgbClr val="85D2FF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86506" y="5422222"/>
            <a:ext cx="1539392" cy="471983"/>
          </a:xfrm>
          <a:prstGeom prst="roundRect">
            <a:avLst>
              <a:gd name="adj" fmla="val 50000"/>
            </a:avLst>
          </a:prstGeom>
          <a:solidFill>
            <a:srgbClr val="E7F6FF"/>
          </a:solidFill>
          <a:ln w="6350">
            <a:solidFill>
              <a:srgbClr val="85D2FF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3826696" y="5422222"/>
            <a:ext cx="1619266" cy="471983"/>
          </a:xfrm>
          <a:prstGeom prst="roundRect">
            <a:avLst>
              <a:gd name="adj" fmla="val 50000"/>
            </a:avLst>
          </a:prstGeom>
          <a:solidFill>
            <a:srgbClr val="E7F6FF"/>
          </a:solidFill>
          <a:ln w="6350">
            <a:solidFill>
              <a:srgbClr val="85D2FF"/>
            </a:solidFill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1706402" y="4282201"/>
            <a:ext cx="2381701" cy="170640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6793" y="0"/>
                  <a:pt x="21600" y="4871"/>
                  <a:pt x="21600" y="10846"/>
                </a:cubicBezTo>
                <a:cubicBezTo>
                  <a:pt x="21600" y="16820"/>
                  <a:pt x="16793" y="21600"/>
                  <a:pt x="10800" y="21600"/>
                </a:cubicBezTo>
                <a:cubicBezTo>
                  <a:pt x="4807" y="21600"/>
                  <a:pt x="0" y="16820"/>
                  <a:pt x="0" y="10846"/>
                </a:cubicBezTo>
                <a:cubicBezTo>
                  <a:pt x="0" y="4871"/>
                  <a:pt x="4807" y="0"/>
                  <a:pt x="10800" y="0"/>
                </a:cubicBezTo>
                <a:close/>
              </a:path>
            </a:pathLst>
          </a:custGeom>
          <a:noFill/>
          <a:ln w="8255">
            <a:solidFill>
              <a:srgbClr val="2897FF"/>
            </a:solidFill>
            <a:prstDash val="dash"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8016457" y="862136"/>
            <a:ext cx="3921093" cy="2555972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6985">
            <a:solidFill>
              <a:srgbClr val="80C7FF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8401305" y="956533"/>
            <a:ext cx="1444995" cy="377587"/>
          </a:xfrm>
          <a:prstGeom prst="roundRect">
            <a:avLst>
              <a:gd name="adj" fmla="val 30769"/>
            </a:avLst>
          </a:prstGeom>
          <a:solidFill>
            <a:srgbClr val="DF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0202103" y="956533"/>
            <a:ext cx="1444995" cy="377587"/>
          </a:xfrm>
          <a:prstGeom prst="roundRect">
            <a:avLst>
              <a:gd name="adj" fmla="val 30769"/>
            </a:avLst>
          </a:prstGeom>
          <a:solidFill>
            <a:srgbClr val="DF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0064139" y="971055"/>
            <a:ext cx="0" cy="2330872"/>
          </a:xfrm>
          <a:prstGeom prst="line">
            <a:avLst/>
          </a:prstGeom>
          <a:noFill/>
          <a:ln w="5715">
            <a:solidFill>
              <a:srgbClr val="E4F0F8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181532" y="6039431"/>
            <a:ext cx="11821370" cy="689822"/>
          </a:xfrm>
          <a:prstGeom prst="roundRect">
            <a:avLst>
              <a:gd name="adj" fmla="val 26316"/>
            </a:avLst>
          </a:prstGeom>
          <a:solidFill>
            <a:srgbClr val="07539E"/>
          </a:solidFill>
          <a:ln w="13335">
            <a:solidFill>
              <a:srgbClr val="E9C54F"/>
            </a:solidFill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7667916" y="6191918"/>
            <a:ext cx="4313202" cy="52281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cubicBezTo>
                  <a:pt x="10691" y="18900"/>
                  <a:pt x="16800" y="10200"/>
                  <a:pt x="21600" y="0"/>
                </a:cubicBezTo>
                <a:lnTo>
                  <a:pt x="21600" y="14400"/>
                </a:lnTo>
                <a:quadBezTo>
                  <a:pt x="21600" y="21600"/>
                  <a:pt x="20800" y="21600"/>
                </a:quadBezTo>
                <a:close/>
              </a:path>
            </a:pathLst>
          </a:custGeom>
          <a:solidFill>
            <a:srgbClr val="0C6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940820" y="4608959"/>
            <a:ext cx="0" cy="130703"/>
          </a:xfrm>
          <a:prstGeom prst="line">
            <a:avLst/>
          </a:prstGeom>
          <a:noFill/>
          <a:ln w="8255">
            <a:solidFill>
              <a:srgbClr val="299AFF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076727" y="4877626"/>
            <a:ext cx="239622" cy="94397"/>
          </a:xfrm>
          <a:prstGeom prst="line">
            <a:avLst/>
          </a:prstGeom>
          <a:noFill/>
          <a:ln w="8255">
            <a:solidFill>
              <a:srgbClr val="299AFF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V="1">
            <a:off x="3543506" y="4877626"/>
            <a:ext cx="275929" cy="101658"/>
          </a:xfrm>
          <a:prstGeom prst="line">
            <a:avLst/>
          </a:prstGeom>
          <a:noFill/>
          <a:ln w="8255">
            <a:solidFill>
              <a:srgbClr val="299AFF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 flipH="1">
            <a:off x="2200169" y="5494835"/>
            <a:ext cx="108919" cy="94397"/>
          </a:xfrm>
          <a:prstGeom prst="line">
            <a:avLst/>
          </a:prstGeom>
          <a:noFill/>
          <a:ln w="8255">
            <a:solidFill>
              <a:srgbClr val="299AFF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3507200" y="5502096"/>
            <a:ext cx="232361" cy="101658"/>
          </a:xfrm>
          <a:prstGeom prst="line">
            <a:avLst/>
          </a:prstGeom>
          <a:noFill/>
          <a:ln w="8255">
            <a:solidFill>
              <a:srgbClr val="299AFF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4472951" y="1370426"/>
            <a:ext cx="0" cy="2040421"/>
          </a:xfrm>
          <a:prstGeom prst="line">
            <a:avLst/>
          </a:prstGeom>
          <a:noFill/>
          <a:ln w="6985">
            <a:solidFill>
              <a:srgbClr val="78C8FC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634756" y="3962704"/>
            <a:ext cx="0" cy="1967808"/>
          </a:xfrm>
          <a:prstGeom prst="line">
            <a:avLst/>
          </a:prstGeom>
          <a:noFill/>
          <a:ln w="6985">
            <a:solidFill>
              <a:srgbClr val="72BFFF"/>
            </a:solidFill>
            <a:prstDash val="dash"/>
            <a:tailEnd type="none"/>
          </a:ln>
        </p:spPr>
        <p:txBody>
          <a:bodyPr/>
          <a:lstStyle/>
          <a:p/>
        </p:txBody>
      </p:sp>
      <p:pic>
        <p:nvPicPr>
          <p:cNvPr id="40" name="Original pale decorative echo arrow, whole existing source arrow."/>
          <p:cNvPicPr/>
          <p:nvPr/>
        </p:nvPicPr>
        <p:blipFill>
          <a:blip r:embed="rId3"/>
          <a:stretch>
            <a:fillRect/>
          </a:stretch>
        </p:blipFill>
        <p:spPr>
          <a:xfrm>
            <a:off x="1440415" y="1391505"/>
            <a:ext cx="1642949" cy="1083341"/>
          </a:xfrm>
          <a:prstGeom prst="rect">
            <a:avLst/>
          </a:prstGeom>
        </p:spPr>
      </p:pic>
      <p:pic>
        <p:nvPicPr>
          <p:cNvPr id="41" name="Existing low anal fistula illustration. Low left internal/external tract relationship and muscle/fat/vessel anatomy preserved; ordinary labels removed."/>
          <p:cNvPicPr/>
          <p:nvPr/>
        </p:nvPicPr>
        <p:blipFill>
          <a:blip r:embed="rId7"/>
          <a:stretch>
            <a:fillRect/>
          </a:stretch>
        </p:blipFill>
        <p:spPr>
          <a:xfrm>
            <a:off x="8534239" y="1352848"/>
            <a:ext cx="1505886" cy="1596332"/>
          </a:xfrm>
          <a:prstGeom prst="rect">
            <a:avLst/>
          </a:prstGeom>
        </p:spPr>
      </p:pic>
      <p:pic>
        <p:nvPicPr>
          <p:cNvPr id="42" name="Existing high anal fistula illustration. High right internal opening and long right tract to external opening preserved; ordinary labels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10143603" y="1353490"/>
            <a:ext cx="1387725" cy="1595048"/>
          </a:xfrm>
          <a:prstGeom prst="rect">
            <a:avLst/>
          </a:prstGeom>
        </p:spPr>
      </p:pic>
      <p:pic>
        <p:nvPicPr>
          <p:cNvPr id="43" name="Original blank icy-blue elliptical platform rings; main centered text removed and rebuilt native."/>
          <p:cNvPicPr/>
          <p:nvPr/>
        </p:nvPicPr>
        <p:blipFill>
          <a:blip r:embed="rId2"/>
          <a:stretch>
            <a:fillRect/>
          </a:stretch>
        </p:blipFill>
        <p:spPr>
          <a:xfrm>
            <a:off x="1380004" y="2044002"/>
            <a:ext cx="2715000" cy="1201560"/>
          </a:xfrm>
          <a:prstGeom prst="rect">
            <a:avLst/>
          </a:prstGeom>
        </p:spPr>
      </p:pic>
      <p:pic>
        <p:nvPicPr>
          <p:cNvPr id="44" name="Original blank central nurse-and-ring visual, source nurse cap/body preserved, all native center words removed."/>
          <p:cNvPicPr/>
          <p:nvPr/>
        </p:nvPicPr>
        <p:blipFill>
          <a:blip r:embed="rId9"/>
          <a:stretch>
            <a:fillRect/>
          </a:stretch>
        </p:blipFill>
        <p:spPr>
          <a:xfrm>
            <a:off x="2083988" y="4346831"/>
            <a:ext cx="1713663" cy="1598925"/>
          </a:xfrm>
          <a:prstGeom prst="rect">
            <a:avLst/>
          </a:prstGeom>
        </p:spPr>
      </p:pic>
      <p:pic>
        <p:nvPicPr>
          <p:cNvPr id="45" name="Original tapered shaded curved blue arrow from tract complexity toward center."/>
          <p:cNvPicPr/>
          <p:nvPr/>
        </p:nvPicPr>
        <p:blipFill>
          <a:blip r:embed="rId4"/>
          <a:stretch>
            <a:fillRect/>
          </a:stretch>
        </p:blipFill>
        <p:spPr>
          <a:xfrm>
            <a:off x="1496339" y="1657446"/>
            <a:ext cx="1364092" cy="798342"/>
          </a:xfrm>
          <a:prstGeom prst="rect">
            <a:avLst/>
          </a:prstGeom>
        </p:spPr>
      </p:pic>
      <p:pic>
        <p:nvPicPr>
          <p:cNvPr id="46" name="Original shaded curved blue arrow from infection toward center."/>
          <p:cNvPicPr/>
          <p:nvPr/>
        </p:nvPicPr>
        <p:blipFill>
          <a:blip r:embed="rId5"/>
          <a:stretch>
            <a:fillRect/>
          </a:stretch>
        </p:blipFill>
        <p:spPr>
          <a:xfrm>
            <a:off x="3408907" y="1855052"/>
            <a:ext cx="675831" cy="686320"/>
          </a:xfrm>
          <a:prstGeom prst="rect">
            <a:avLst/>
          </a:prstGeom>
        </p:spPr>
      </p:pic>
      <p:pic>
        <p:nvPicPr>
          <p:cNvPr id="47" name="Original shaded lower curved arrow, complete up-right orientation."/>
          <p:cNvPicPr/>
          <p:nvPr/>
        </p:nvPicPr>
        <p:blipFill>
          <a:blip r:embed="rId6"/>
          <a:stretch>
            <a:fillRect/>
          </a:stretch>
        </p:blipFill>
        <p:spPr>
          <a:xfrm>
            <a:off x="1491450" y="2799379"/>
            <a:ext cx="1671582" cy="612987"/>
          </a:xfrm>
          <a:prstGeom prst="rect">
            <a:avLst/>
          </a:prstGeom>
        </p:spPr>
      </p:pic>
      <p:pic>
        <p:nvPicPr>
          <p:cNvPr id="48" name="Original source circular nursing medallion with complete border and exact semantic identity."/>
          <p:cNvPicPr/>
          <p:nvPr/>
        </p:nvPicPr>
        <p:blipFill>
          <a:blip r:embed="rId10"/>
          <a:stretch>
            <a:fillRect/>
          </a:stretch>
        </p:blipFill>
        <p:spPr>
          <a:xfrm>
            <a:off x="2438539" y="4026604"/>
            <a:ext cx="670542" cy="670943"/>
          </a:xfrm>
          <a:prstGeom prst="rect">
            <a:avLst/>
          </a:prstGeom>
        </p:spPr>
      </p:pic>
      <p:pic>
        <p:nvPicPr>
          <p:cNvPr id="49" name="Original source circular nursing medallion with complete border and exact semantic identity."/>
          <p:cNvPicPr/>
          <p:nvPr/>
        </p:nvPicPr>
        <p:blipFill>
          <a:blip r:embed="rId11"/>
          <a:stretch>
            <a:fillRect/>
          </a:stretch>
        </p:blipFill>
        <p:spPr>
          <a:xfrm>
            <a:off x="1446547" y="4472782"/>
            <a:ext cx="730286" cy="722554"/>
          </a:xfrm>
          <a:prstGeom prst="rect">
            <a:avLst/>
          </a:prstGeom>
        </p:spPr>
      </p:pic>
      <p:pic>
        <p:nvPicPr>
          <p:cNvPr id="50" name="Original source circular nursing medallion with complete border and exact semantic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3720660" y="4473877"/>
            <a:ext cx="713102" cy="713102"/>
          </a:xfrm>
          <a:prstGeom prst="rect">
            <a:avLst/>
          </a:prstGeom>
        </p:spPr>
      </p:pic>
      <p:pic>
        <p:nvPicPr>
          <p:cNvPr id="51" name="Original source circular nursing medallion with complete border and exact semantic identity."/>
          <p:cNvPicPr/>
          <p:nvPr/>
        </p:nvPicPr>
        <p:blipFill>
          <a:blip r:embed="rId13"/>
          <a:stretch>
            <a:fillRect/>
          </a:stretch>
        </p:blipFill>
        <p:spPr>
          <a:xfrm>
            <a:off x="1666097" y="5280089"/>
            <a:ext cx="719601" cy="712683"/>
          </a:xfrm>
          <a:prstGeom prst="rect">
            <a:avLst/>
          </a:prstGeom>
        </p:spPr>
      </p:pic>
      <p:pic>
        <p:nvPicPr>
          <p:cNvPr id="52" name="Original source circular nursing medallion with complete border and exact semantic identity."/>
          <p:cNvPicPr/>
          <p:nvPr/>
        </p:nvPicPr>
        <p:blipFill>
          <a:blip r:embed="rId14"/>
          <a:stretch>
            <a:fillRect/>
          </a:stretch>
        </p:blipFill>
        <p:spPr>
          <a:xfrm>
            <a:off x="3510018" y="5280297"/>
            <a:ext cx="727754" cy="712266"/>
          </a:xfrm>
          <a:prstGeom prst="rect">
            <a:avLst/>
          </a:prstGeom>
        </p:spPr>
      </p:pic>
      <p:pic>
        <p:nvPicPr>
          <p:cNvPr id="53" name="Original source risk medallion; infection-risk."/>
          <p:cNvPicPr/>
          <p:nvPr/>
        </p:nvPicPr>
        <p:blipFill>
          <a:blip r:embed="rId15"/>
          <a:stretch>
            <a:fillRect/>
          </a:stretch>
        </p:blipFill>
        <p:spPr>
          <a:xfrm>
            <a:off x="5984430" y="3956575"/>
            <a:ext cx="643990" cy="643990"/>
          </a:xfrm>
          <a:prstGeom prst="rect">
            <a:avLst/>
          </a:prstGeom>
        </p:spPr>
      </p:pic>
      <p:pic>
        <p:nvPicPr>
          <p:cNvPr id="54" name="Original source risk medallion; glycemic-risk."/>
          <p:cNvPicPr/>
          <p:nvPr/>
        </p:nvPicPr>
        <p:blipFill>
          <a:blip r:embed="rId16"/>
          <a:stretch>
            <a:fillRect/>
          </a:stretch>
        </p:blipFill>
        <p:spPr>
          <a:xfrm>
            <a:off x="5984049" y="4645434"/>
            <a:ext cx="644752" cy="645917"/>
          </a:xfrm>
          <a:prstGeom prst="rect">
            <a:avLst/>
          </a:prstGeom>
        </p:spPr>
      </p:pic>
      <p:pic>
        <p:nvPicPr>
          <p:cNvPr id="55" name="Original source risk medallion; bleeding-risk."/>
          <p:cNvPicPr/>
          <p:nvPr/>
        </p:nvPicPr>
        <p:blipFill>
          <a:blip r:embed="rId17"/>
          <a:stretch>
            <a:fillRect/>
          </a:stretch>
        </p:blipFill>
        <p:spPr>
          <a:xfrm>
            <a:off x="5984430" y="5342907"/>
            <a:ext cx="643990" cy="645137"/>
          </a:xfrm>
          <a:prstGeom prst="rect">
            <a:avLst/>
          </a:prstGeom>
        </p:spPr>
      </p:pic>
      <p:pic>
        <p:nvPicPr>
          <p:cNvPr id="56" name="Original yellow circular medical-note/checklist visual; ordinary final statement is native."/>
          <p:cNvPicPr/>
          <p:nvPr/>
        </p:nvPicPr>
        <p:blipFill>
          <a:blip r:embed="rId18"/>
          <a:stretch>
            <a:fillRect/>
          </a:stretch>
        </p:blipFill>
        <p:spPr>
          <a:xfrm>
            <a:off x="631732" y="6053954"/>
            <a:ext cx="660777" cy="660777"/>
          </a:xfrm>
          <a:prstGeom prst="rect">
            <a:avLst/>
          </a:prstGeom>
        </p:spPr>
      </p:pic>
      <p:sp>
        <p:nvSpPr>
          <p:cNvPr id="57" name="Roundrect 57"/>
          <p:cNvSpPr/>
          <p:nvPr/>
        </p:nvSpPr>
        <p:spPr>
          <a:xfrm>
            <a:off x="682561" y="1537436"/>
            <a:ext cx="980273" cy="297713"/>
          </a:xfrm>
          <a:prstGeom prst="roundRect">
            <a:avLst>
              <a:gd name="adj" fmla="val 24390"/>
            </a:avLst>
          </a:prstGeom>
          <a:solidFill>
            <a:srgbClr val="064C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3420065" y="1515652"/>
            <a:ext cx="943967" cy="297713"/>
          </a:xfrm>
          <a:prstGeom prst="roundRect">
            <a:avLst>
              <a:gd name="adj" fmla="val 24390"/>
            </a:avLst>
          </a:prstGeom>
          <a:solidFill>
            <a:srgbClr val="DF050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914922" y="2960647"/>
            <a:ext cx="965751" cy="290451"/>
          </a:xfrm>
          <a:prstGeom prst="roundRect">
            <a:avLst>
              <a:gd name="adj" fmla="val 25000"/>
            </a:avLst>
          </a:prstGeom>
          <a:solidFill>
            <a:srgbClr val="0859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1430473" y="6170135"/>
            <a:ext cx="0" cy="428416"/>
          </a:xfrm>
          <a:prstGeom prst="line">
            <a:avLst/>
          </a:prstGeom>
          <a:noFill/>
          <a:ln w="10160">
            <a:solidFill>
              <a:srgbClr val="DFEFFF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1" name="Path 61"/>
          <p:cNvSpPr/>
          <p:nvPr/>
        </p:nvSpPr>
        <p:spPr>
          <a:xfrm>
            <a:off x="8452134" y="1689923"/>
            <a:ext cx="602687" cy="89313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3643" y="0"/>
                </a:lnTo>
                <a:lnTo>
                  <a:pt x="21600" y="21600"/>
                </a:lnTo>
              </a:path>
            </a:pathLst>
          </a:custGeom>
          <a:noFill/>
          <a:ln w="8255">
            <a:solidFill>
              <a:srgbClr val="0867B6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Path 62"/>
          <p:cNvSpPr/>
          <p:nvPr/>
        </p:nvSpPr>
        <p:spPr>
          <a:xfrm>
            <a:off x="8437612" y="2416051"/>
            <a:ext cx="406632" cy="26866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6171" y="0"/>
                </a:lnTo>
                <a:lnTo>
                  <a:pt x="21600" y="21600"/>
                </a:lnTo>
              </a:path>
            </a:pathLst>
          </a:custGeom>
          <a:noFill/>
          <a:ln w="8255">
            <a:solidFill>
              <a:srgbClr val="0867B6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V="1">
            <a:off x="8561053" y="2822683"/>
            <a:ext cx="254145" cy="29045"/>
          </a:xfrm>
          <a:prstGeom prst="line">
            <a:avLst/>
          </a:prstGeom>
          <a:noFill/>
          <a:ln w="8255">
            <a:solidFill>
              <a:srgbClr val="0867B6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4" name="Path 64"/>
          <p:cNvSpPr/>
          <p:nvPr/>
        </p:nvSpPr>
        <p:spPr>
          <a:xfrm>
            <a:off x="11182377" y="1588265"/>
            <a:ext cx="355803" cy="3630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14106" y="0"/>
                </a:lnTo>
                <a:lnTo>
                  <a:pt x="0" y="21600"/>
                </a:lnTo>
              </a:path>
            </a:pathLst>
          </a:custGeom>
          <a:noFill/>
          <a:ln w="8255">
            <a:solidFill>
              <a:srgbClr val="0867B6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H="1">
            <a:off x="11276773" y="2227258"/>
            <a:ext cx="196055" cy="0"/>
          </a:xfrm>
          <a:prstGeom prst="line">
            <a:avLst/>
          </a:prstGeom>
          <a:noFill/>
          <a:ln w="8255">
            <a:solidFill>
              <a:srgbClr val="0867B6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 flipV="1">
            <a:off x="11225944" y="2844467"/>
            <a:ext cx="283190" cy="21784"/>
          </a:xfrm>
          <a:prstGeom prst="line">
            <a:avLst/>
          </a:prstGeom>
          <a:noFill/>
          <a:ln w="8255">
            <a:solidFill>
              <a:srgbClr val="0867B6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4610915" y="1384949"/>
            <a:ext cx="87135" cy="87135"/>
          </a:xfrm>
          <a:prstGeom prst="ellipse">
            <a:avLst/>
          </a:prstGeom>
          <a:solidFill>
            <a:srgbClr val="071F69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4610915" y="2212735"/>
            <a:ext cx="87135" cy="87135"/>
          </a:xfrm>
          <a:prstGeom prst="ellipse">
            <a:avLst/>
          </a:prstGeom>
          <a:solidFill>
            <a:srgbClr val="071F69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4610915" y="3040521"/>
            <a:ext cx="87135" cy="87135"/>
          </a:xfrm>
          <a:prstGeom prst="ellipse">
            <a:avLst/>
          </a:prstGeom>
          <a:solidFill>
            <a:srgbClr val="071F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extBox 70"/>
          <p:cNvSpPr txBox="1"/>
          <p:nvPr/>
        </p:nvSpPr>
        <p:spPr>
          <a:xfrm>
            <a:off x="239622" y="63395"/>
            <a:ext cx="580903" cy="5082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7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zh-CN" sz="3279"/>
          </a:p>
        </p:txBody>
      </p:sp>
      <p:sp>
        <p:nvSpPr>
          <p:cNvPr id="71" name="TextBox 71"/>
          <p:cNvSpPr txBox="1"/>
          <p:nvPr/>
        </p:nvSpPr>
        <p:spPr>
          <a:xfrm>
            <a:off x="1147283" y="63395"/>
            <a:ext cx="6825607" cy="3485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病例特点与临床护理难点</a:t>
            </a:r>
            <a:endParaRPr lang="zh-CN" sz="2150"/>
          </a:p>
        </p:txBody>
      </p:sp>
      <p:sp>
        <p:nvSpPr>
          <p:cNvPr id="72" name="TextBox 72"/>
          <p:cNvSpPr txBox="1"/>
          <p:nvPr/>
        </p:nvSpPr>
        <p:spPr>
          <a:xfrm>
            <a:off x="1161805" y="404675"/>
            <a:ext cx="7624348" cy="2178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 PROFILE &amp; CLINICAL NURSING CHALLENGES</a:t>
            </a:r>
            <a:endParaRPr lang="zh-CN" sz="1170"/>
          </a:p>
        </p:txBody>
      </p:sp>
      <p:sp>
        <p:nvSpPr>
          <p:cNvPr id="73" name="TextBox 73"/>
          <p:cNvSpPr txBox="1"/>
          <p:nvPr/>
        </p:nvSpPr>
        <p:spPr>
          <a:xfrm>
            <a:off x="268667" y="825830"/>
            <a:ext cx="522812" cy="4356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zh-CN" sz="2550"/>
          </a:p>
        </p:txBody>
      </p:sp>
      <p:sp>
        <p:nvSpPr>
          <p:cNvPr id="74" name="TextBox 74"/>
          <p:cNvSpPr txBox="1"/>
          <p:nvPr/>
        </p:nvSpPr>
        <p:spPr>
          <a:xfrm>
            <a:off x="268667" y="3650469"/>
            <a:ext cx="522812" cy="4356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zh-CN" sz="2550"/>
          </a:p>
        </p:txBody>
      </p:sp>
      <p:sp>
        <p:nvSpPr>
          <p:cNvPr id="75" name="TextBox 75"/>
          <p:cNvSpPr txBox="1"/>
          <p:nvPr/>
        </p:nvSpPr>
        <p:spPr>
          <a:xfrm>
            <a:off x="900399" y="825830"/>
            <a:ext cx="6172091" cy="3122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9" b="1">
                <a:solidFill>
                  <a:srgbClr val="081F65"/>
                </a:solidFill>
                <a:latin typeface="Microsoft YaHei"/>
                <a:ea typeface="Microsoft YaHei"/>
                <a:cs typeface="Microsoft YaHei"/>
              </a:rPr>
              <a:t>复杂性肛瘘难治与复发风险并存</a:t>
            </a:r>
            <a:endParaRPr lang="zh-CN" sz="1739"/>
          </a:p>
        </p:txBody>
      </p:sp>
      <p:sp>
        <p:nvSpPr>
          <p:cNvPr id="76" name="TextBox 76"/>
          <p:cNvSpPr txBox="1"/>
          <p:nvPr/>
        </p:nvSpPr>
        <p:spPr>
          <a:xfrm>
            <a:off x="900399" y="1101759"/>
            <a:ext cx="6738471" cy="2178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48639A"/>
                </a:solidFill>
                <a:latin typeface="Arial"/>
                <a:ea typeface="Arial"/>
                <a:cs typeface="Arial"/>
              </a:rPr>
              <a:t>Complex anal fistula is characterized by treatment difficulty and a high risk of recurrence</a:t>
            </a:r>
            <a:endParaRPr lang="zh-CN" sz="1040"/>
          </a:p>
        </p:txBody>
      </p:sp>
      <p:sp>
        <p:nvSpPr>
          <p:cNvPr id="77" name="TextBox 77"/>
          <p:cNvSpPr txBox="1"/>
          <p:nvPr/>
        </p:nvSpPr>
        <p:spPr>
          <a:xfrm>
            <a:off x="907660" y="3643208"/>
            <a:ext cx="7333896" cy="297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9" b="1">
                <a:solidFill>
                  <a:srgbClr val="081F65"/>
                </a:solidFill>
                <a:latin typeface="Microsoft YaHei"/>
                <a:ea typeface="Microsoft YaHei"/>
                <a:cs typeface="Microsoft YaHei"/>
              </a:rPr>
              <a:t>本例围手术期护理面临多重风险叠加</a:t>
            </a:r>
            <a:endParaRPr lang="zh-CN" sz="1739"/>
          </a:p>
        </p:txBody>
      </p:sp>
      <p:sp>
        <p:nvSpPr>
          <p:cNvPr id="78" name="TextBox 78"/>
          <p:cNvSpPr txBox="1"/>
          <p:nvPr/>
        </p:nvSpPr>
        <p:spPr>
          <a:xfrm>
            <a:off x="907660" y="3919137"/>
            <a:ext cx="5983298" cy="2105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48639A"/>
                </a:solidFill>
                <a:latin typeface="Arial"/>
                <a:ea typeface="Arial"/>
                <a:cs typeface="Arial"/>
              </a:rPr>
              <a:t>This case involved overlapping perioperative nursing risks.</a:t>
            </a:r>
            <a:endParaRPr lang="zh-CN" sz="1040"/>
          </a:p>
        </p:txBody>
      </p:sp>
      <p:sp>
        <p:nvSpPr>
          <p:cNvPr id="79" name="TextBox 79"/>
          <p:cNvSpPr txBox="1"/>
          <p:nvPr/>
        </p:nvSpPr>
        <p:spPr>
          <a:xfrm>
            <a:off x="682561" y="1537436"/>
            <a:ext cx="980273" cy="297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瘘管复杂</a:t>
            </a:r>
            <a:endParaRPr lang="zh-CN" sz="1300"/>
          </a:p>
        </p:txBody>
      </p:sp>
      <p:sp>
        <p:nvSpPr>
          <p:cNvPr id="80" name="TextBox 80"/>
          <p:cNvSpPr txBox="1"/>
          <p:nvPr/>
        </p:nvSpPr>
        <p:spPr>
          <a:xfrm>
            <a:off x="646254" y="1842410"/>
            <a:ext cx="1140022" cy="1815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>
                <a:solidFill>
                  <a:srgbClr val="092D72"/>
                </a:solidFill>
                <a:latin typeface="Arial"/>
                <a:ea typeface="Arial"/>
                <a:cs typeface="Arial"/>
              </a:rPr>
              <a:t>Complex fistula tract</a:t>
            </a:r>
            <a:endParaRPr lang="zh-CN" sz="800"/>
          </a:p>
        </p:txBody>
      </p:sp>
      <p:sp>
        <p:nvSpPr>
          <p:cNvPr id="81" name="TextBox 81"/>
          <p:cNvSpPr txBox="1"/>
          <p:nvPr/>
        </p:nvSpPr>
        <p:spPr>
          <a:xfrm>
            <a:off x="3420065" y="1515652"/>
            <a:ext cx="943967" cy="297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感染迁延</a:t>
            </a:r>
            <a:endParaRPr lang="zh-CN" sz="1300"/>
          </a:p>
        </p:txBody>
      </p:sp>
      <p:sp>
        <p:nvSpPr>
          <p:cNvPr id="82" name="TextBox 82"/>
          <p:cNvSpPr txBox="1"/>
          <p:nvPr/>
        </p:nvSpPr>
        <p:spPr>
          <a:xfrm>
            <a:off x="3296623" y="1820626"/>
            <a:ext cx="1227157" cy="1815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>
                <a:solidFill>
                  <a:srgbClr val="092D72"/>
                </a:solidFill>
                <a:latin typeface="Arial"/>
                <a:ea typeface="Arial"/>
                <a:cs typeface="Arial"/>
              </a:rPr>
              <a:t>Persistent infection</a:t>
            </a:r>
            <a:endParaRPr lang="zh-CN" sz="800"/>
          </a:p>
        </p:txBody>
      </p:sp>
      <p:sp>
        <p:nvSpPr>
          <p:cNvPr id="83" name="TextBox 83"/>
          <p:cNvSpPr txBox="1"/>
          <p:nvPr/>
        </p:nvSpPr>
        <p:spPr>
          <a:xfrm>
            <a:off x="914922" y="2960647"/>
            <a:ext cx="965751" cy="2904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创面难愈</a:t>
            </a:r>
            <a:endParaRPr lang="zh-CN" sz="1300"/>
          </a:p>
        </p:txBody>
      </p:sp>
      <p:sp>
        <p:nvSpPr>
          <p:cNvPr id="84" name="TextBox 84"/>
          <p:cNvSpPr txBox="1"/>
          <p:nvPr/>
        </p:nvSpPr>
        <p:spPr>
          <a:xfrm>
            <a:off x="726128" y="3265621"/>
            <a:ext cx="1401428" cy="1815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>
                <a:solidFill>
                  <a:srgbClr val="092D72"/>
                </a:solidFill>
                <a:latin typeface="Arial"/>
                <a:ea typeface="Arial"/>
                <a:cs typeface="Arial"/>
              </a:rPr>
              <a:t>Delayed wound healing</a:t>
            </a:r>
            <a:endParaRPr lang="zh-CN" sz="800"/>
          </a:p>
        </p:txBody>
      </p:sp>
      <p:sp>
        <p:nvSpPr>
          <p:cNvPr id="85" name="TextBox 85"/>
          <p:cNvSpPr txBox="1"/>
          <p:nvPr/>
        </p:nvSpPr>
        <p:spPr>
          <a:xfrm>
            <a:off x="2033159" y="2336177"/>
            <a:ext cx="1684618" cy="3267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30" b="1">
                <a:solidFill>
                  <a:srgbClr val="061C65"/>
                </a:solidFill>
                <a:latin typeface="Microsoft YaHei"/>
                <a:ea typeface="Microsoft YaHei"/>
                <a:cs typeface="Microsoft YaHei"/>
              </a:rPr>
              <a:t>复杂性肛瘘</a:t>
            </a:r>
            <a:endParaRPr lang="zh-CN" sz="1930"/>
          </a:p>
        </p:txBody>
      </p:sp>
      <p:sp>
        <p:nvSpPr>
          <p:cNvPr id="86" name="TextBox 86"/>
          <p:cNvSpPr txBox="1"/>
          <p:nvPr/>
        </p:nvSpPr>
        <p:spPr>
          <a:xfrm>
            <a:off x="1960547" y="2633889"/>
            <a:ext cx="1822582" cy="225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061C65"/>
                </a:solidFill>
                <a:latin typeface="Arial"/>
                <a:ea typeface="Arial"/>
                <a:cs typeface="Arial"/>
              </a:rPr>
              <a:t>Complex anal fistula</a:t>
            </a:r>
            <a:endParaRPr lang="zh-CN" sz="1080"/>
          </a:p>
        </p:txBody>
      </p:sp>
      <p:sp>
        <p:nvSpPr>
          <p:cNvPr id="87" name="TextBox 87"/>
          <p:cNvSpPr txBox="1"/>
          <p:nvPr/>
        </p:nvSpPr>
        <p:spPr>
          <a:xfrm>
            <a:off x="4806970" y="1334120"/>
            <a:ext cx="3180442" cy="1742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肛瘘是肛管或直肠与肛周皮肤之间形成的异常感染性管道，</a:t>
            </a:r>
            <a:endParaRPr lang="zh-CN" sz="919"/>
          </a:p>
        </p:txBody>
      </p:sp>
      <p:sp>
        <p:nvSpPr>
          <p:cNvPr id="88" name="TextBox 88"/>
          <p:cNvSpPr txBox="1"/>
          <p:nvPr/>
        </p:nvSpPr>
        <p:spPr>
          <a:xfrm>
            <a:off x="4806970" y="1493868"/>
            <a:ext cx="3180442" cy="1742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是结直肠肛门外科常见疾病之一。</a:t>
            </a:r>
            <a:endParaRPr lang="zh-CN" sz="919"/>
          </a:p>
        </p:txBody>
      </p:sp>
      <p:sp>
        <p:nvSpPr>
          <p:cNvPr id="89" name="TextBox 89"/>
          <p:cNvSpPr txBox="1"/>
          <p:nvPr/>
        </p:nvSpPr>
        <p:spPr>
          <a:xfrm>
            <a:off x="4806970" y="2176429"/>
            <a:ext cx="3180442" cy="1742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复杂性肛瘘因瘘管走行复杂或内口位置较高，</a:t>
            </a:r>
            <a:r>
              <a:rPr lang="zh-CN" sz="919" b="1">
                <a:solidFill>
                  <a:srgbClr val="EF0000"/>
                </a:solidFill>
                <a:latin typeface="Microsoft YaHei"/>
                <a:ea typeface="Microsoft YaHei"/>
                <a:cs typeface="Microsoft YaHei"/>
              </a:rPr>
              <a:t>术后复发风险</a:t>
            </a:r>
            <a:endParaRPr lang="zh-CN" sz="919"/>
          </a:p>
        </p:txBody>
      </p:sp>
      <p:sp>
        <p:nvSpPr>
          <p:cNvPr id="90" name="TextBox 90"/>
          <p:cNvSpPr txBox="1"/>
          <p:nvPr/>
        </p:nvSpPr>
        <p:spPr>
          <a:xfrm>
            <a:off x="4806970" y="2336177"/>
            <a:ext cx="3180442" cy="1742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EF0000"/>
                </a:solidFill>
                <a:latin typeface="Microsoft YaHei"/>
                <a:ea typeface="Microsoft YaHei"/>
                <a:cs typeface="Microsoft YaHei"/>
              </a:rPr>
              <a:t>显著高于单纯性肛瘘。</a:t>
            </a:r>
            <a:endParaRPr lang="zh-CN" sz="919"/>
          </a:p>
        </p:txBody>
      </p:sp>
      <p:sp>
        <p:nvSpPr>
          <p:cNvPr id="91" name="TextBox 91"/>
          <p:cNvSpPr txBox="1"/>
          <p:nvPr/>
        </p:nvSpPr>
        <p:spPr>
          <a:xfrm>
            <a:off x="4806970" y="3011476"/>
            <a:ext cx="3180442" cy="1742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反复发作可导致创面迁延不愈，</a:t>
            </a:r>
            <a:r>
              <a:rPr lang="zh-CN" sz="919" b="1">
                <a:solidFill>
                  <a:srgbClr val="EF0000"/>
                </a:solidFill>
                <a:latin typeface="Microsoft YaHei"/>
                <a:ea typeface="Microsoft YaHei"/>
                <a:cs typeface="Microsoft YaHei"/>
              </a:rPr>
              <a:t>严重影响患者生活质量。</a:t>
            </a:r>
            <a:endParaRPr lang="zh-CN" sz="919"/>
          </a:p>
        </p:txBody>
      </p:sp>
      <p:sp>
        <p:nvSpPr>
          <p:cNvPr id="92" name="TextBox 92"/>
          <p:cNvSpPr txBox="1"/>
          <p:nvPr/>
        </p:nvSpPr>
        <p:spPr>
          <a:xfrm>
            <a:off x="4806970" y="1675400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Anal fistula is an abnormal infectious tract connecting the anal canal</a:t>
            </a:r>
            <a:endParaRPr lang="zh-CN" sz="790"/>
          </a:p>
        </p:txBody>
      </p:sp>
      <p:sp>
        <p:nvSpPr>
          <p:cNvPr id="93" name="TextBox 93"/>
          <p:cNvSpPr txBox="1"/>
          <p:nvPr/>
        </p:nvSpPr>
        <p:spPr>
          <a:xfrm>
            <a:off x="4806970" y="1813364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or rectum with the perianal skin and is one of the common anorectal</a:t>
            </a:r>
            <a:endParaRPr lang="zh-CN" sz="790"/>
          </a:p>
        </p:txBody>
      </p:sp>
      <p:sp>
        <p:nvSpPr>
          <p:cNvPr id="94" name="TextBox 94"/>
          <p:cNvSpPr txBox="1"/>
          <p:nvPr/>
        </p:nvSpPr>
        <p:spPr>
          <a:xfrm>
            <a:off x="4806970" y="1951329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surgical diseases.</a:t>
            </a:r>
            <a:endParaRPr lang="zh-CN" sz="790"/>
          </a:p>
        </p:txBody>
      </p:sp>
      <p:sp>
        <p:nvSpPr>
          <p:cNvPr id="95" name="TextBox 95"/>
          <p:cNvSpPr txBox="1"/>
          <p:nvPr/>
        </p:nvSpPr>
        <p:spPr>
          <a:xfrm>
            <a:off x="4806970" y="2510448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Complex anal fistula has a significantly higher postoperative recurrence</a:t>
            </a:r>
            <a:endParaRPr lang="zh-CN" sz="790"/>
          </a:p>
        </p:txBody>
      </p:sp>
      <p:sp>
        <p:nvSpPr>
          <p:cNvPr id="96" name="TextBox 96"/>
          <p:cNvSpPr txBox="1"/>
          <p:nvPr/>
        </p:nvSpPr>
        <p:spPr>
          <a:xfrm>
            <a:off x="4806970" y="2648412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risk than simple anal fistula because of its complicated tract pattern or</a:t>
            </a:r>
            <a:endParaRPr lang="zh-CN" sz="790"/>
          </a:p>
        </p:txBody>
      </p:sp>
      <p:sp>
        <p:nvSpPr>
          <p:cNvPr id="97" name="TextBox 97"/>
          <p:cNvSpPr txBox="1"/>
          <p:nvPr/>
        </p:nvSpPr>
        <p:spPr>
          <a:xfrm>
            <a:off x="4806970" y="2786376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high internal opening.</a:t>
            </a:r>
            <a:endParaRPr lang="zh-CN" sz="790"/>
          </a:p>
        </p:txBody>
      </p:sp>
      <p:sp>
        <p:nvSpPr>
          <p:cNvPr id="98" name="TextBox 98"/>
          <p:cNvSpPr txBox="1"/>
          <p:nvPr/>
        </p:nvSpPr>
        <p:spPr>
          <a:xfrm>
            <a:off x="4806970" y="3185747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Repeated recurrence may lead to prolonged wound non-healing and</a:t>
            </a:r>
            <a:endParaRPr lang="zh-CN" sz="790"/>
          </a:p>
        </p:txBody>
      </p:sp>
      <p:sp>
        <p:nvSpPr>
          <p:cNvPr id="99" name="TextBox 99"/>
          <p:cNvSpPr txBox="1"/>
          <p:nvPr/>
        </p:nvSpPr>
        <p:spPr>
          <a:xfrm>
            <a:off x="4806970" y="3323711"/>
            <a:ext cx="3180442" cy="152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90">
                <a:solidFill>
                  <a:srgbClr val="3F578A"/>
                </a:solidFill>
                <a:latin typeface="Arial"/>
                <a:ea typeface="Arial"/>
                <a:cs typeface="Arial"/>
              </a:rPr>
              <a:t>substantially impair quality of life.</a:t>
            </a:r>
            <a:endParaRPr lang="zh-CN" sz="790"/>
          </a:p>
        </p:txBody>
      </p:sp>
      <p:sp>
        <p:nvSpPr>
          <p:cNvPr id="100" name="TextBox 100"/>
          <p:cNvSpPr txBox="1"/>
          <p:nvPr/>
        </p:nvSpPr>
        <p:spPr>
          <a:xfrm>
            <a:off x="8401305" y="971055"/>
            <a:ext cx="1444995" cy="1887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0" b="1">
                <a:solidFill>
                  <a:srgbClr val="031B5B"/>
                </a:solidFill>
                <a:latin typeface="Microsoft YaHei"/>
                <a:ea typeface="Microsoft YaHei"/>
                <a:cs typeface="Microsoft YaHei"/>
              </a:rPr>
              <a:t>低位肛瘘</a:t>
            </a:r>
            <a:endParaRPr lang="zh-CN" sz="1140"/>
          </a:p>
        </p:txBody>
      </p:sp>
      <p:sp>
        <p:nvSpPr>
          <p:cNvPr id="101" name="TextBox 101"/>
          <p:cNvSpPr txBox="1"/>
          <p:nvPr/>
        </p:nvSpPr>
        <p:spPr>
          <a:xfrm>
            <a:off x="8401305" y="1152588"/>
            <a:ext cx="1444995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40">
                <a:solidFill>
                  <a:srgbClr val="031B5B"/>
                </a:solidFill>
                <a:latin typeface="Arial"/>
                <a:ea typeface="Arial"/>
                <a:cs typeface="Arial"/>
              </a:rPr>
              <a:t>Low anal fistula</a:t>
            </a:r>
            <a:endParaRPr lang="zh-CN" sz="940"/>
          </a:p>
        </p:txBody>
      </p:sp>
      <p:sp>
        <p:nvSpPr>
          <p:cNvPr id="102" name="TextBox 102"/>
          <p:cNvSpPr txBox="1"/>
          <p:nvPr/>
        </p:nvSpPr>
        <p:spPr>
          <a:xfrm>
            <a:off x="10202103" y="971055"/>
            <a:ext cx="1444995" cy="1887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0" b="1">
                <a:solidFill>
                  <a:srgbClr val="031B5B"/>
                </a:solidFill>
                <a:latin typeface="Microsoft YaHei"/>
                <a:ea typeface="Microsoft YaHei"/>
                <a:cs typeface="Microsoft YaHei"/>
              </a:rPr>
              <a:t>高位肛瘘</a:t>
            </a:r>
            <a:endParaRPr lang="zh-CN" sz="1140"/>
          </a:p>
        </p:txBody>
      </p:sp>
      <p:sp>
        <p:nvSpPr>
          <p:cNvPr id="103" name="TextBox 103"/>
          <p:cNvSpPr txBox="1"/>
          <p:nvPr/>
        </p:nvSpPr>
        <p:spPr>
          <a:xfrm>
            <a:off x="10202103" y="1152588"/>
            <a:ext cx="1444995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40">
                <a:solidFill>
                  <a:srgbClr val="031B5B"/>
                </a:solidFill>
                <a:latin typeface="Arial"/>
                <a:ea typeface="Arial"/>
                <a:cs typeface="Arial"/>
              </a:rPr>
              <a:t>High anal fistula</a:t>
            </a:r>
            <a:endParaRPr lang="zh-CN" sz="940"/>
          </a:p>
        </p:txBody>
      </p:sp>
      <p:sp>
        <p:nvSpPr>
          <p:cNvPr id="104" name="TextBox 104"/>
          <p:cNvSpPr txBox="1"/>
          <p:nvPr/>
        </p:nvSpPr>
        <p:spPr>
          <a:xfrm>
            <a:off x="8081809" y="1595526"/>
            <a:ext cx="464722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内口</a:t>
            </a:r>
            <a:endParaRPr lang="zh-CN" sz="710"/>
          </a:p>
        </p:txBody>
      </p:sp>
      <p:sp>
        <p:nvSpPr>
          <p:cNvPr id="105" name="TextBox 105"/>
          <p:cNvSpPr txBox="1"/>
          <p:nvPr/>
        </p:nvSpPr>
        <p:spPr>
          <a:xfrm>
            <a:off x="8081809" y="1704445"/>
            <a:ext cx="464722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（低位）</a:t>
            </a:r>
            <a:endParaRPr lang="zh-CN" sz="710"/>
          </a:p>
        </p:txBody>
      </p:sp>
      <p:sp>
        <p:nvSpPr>
          <p:cNvPr id="106" name="TextBox 106"/>
          <p:cNvSpPr txBox="1"/>
          <p:nvPr/>
        </p:nvSpPr>
        <p:spPr>
          <a:xfrm>
            <a:off x="8081809" y="1813364"/>
            <a:ext cx="464722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Internal</a:t>
            </a:r>
            <a:endParaRPr lang="zh-CN" sz="630"/>
          </a:p>
        </p:txBody>
      </p:sp>
      <p:sp>
        <p:nvSpPr>
          <p:cNvPr id="107" name="TextBox 107"/>
          <p:cNvSpPr txBox="1"/>
          <p:nvPr/>
        </p:nvSpPr>
        <p:spPr>
          <a:xfrm>
            <a:off x="8081809" y="1907761"/>
            <a:ext cx="464722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opening</a:t>
            </a:r>
            <a:endParaRPr lang="zh-CN" sz="630"/>
          </a:p>
        </p:txBody>
      </p:sp>
      <p:sp>
        <p:nvSpPr>
          <p:cNvPr id="108" name="TextBox 108"/>
          <p:cNvSpPr txBox="1"/>
          <p:nvPr/>
        </p:nvSpPr>
        <p:spPr>
          <a:xfrm>
            <a:off x="8081809" y="2002158"/>
            <a:ext cx="464722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(low)</a:t>
            </a:r>
            <a:endParaRPr lang="zh-CN" sz="630"/>
          </a:p>
        </p:txBody>
      </p:sp>
      <p:sp>
        <p:nvSpPr>
          <p:cNvPr id="109" name="TextBox 109"/>
          <p:cNvSpPr txBox="1"/>
          <p:nvPr/>
        </p:nvSpPr>
        <p:spPr>
          <a:xfrm>
            <a:off x="8060025" y="2278087"/>
            <a:ext cx="559119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瘘管</a:t>
            </a:r>
            <a:endParaRPr lang="zh-CN" sz="710"/>
          </a:p>
        </p:txBody>
      </p:sp>
      <p:sp>
        <p:nvSpPr>
          <p:cNvPr id="110" name="TextBox 110"/>
          <p:cNvSpPr txBox="1"/>
          <p:nvPr/>
        </p:nvSpPr>
        <p:spPr>
          <a:xfrm>
            <a:off x="8060025" y="2387006"/>
            <a:ext cx="559119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（浅部）</a:t>
            </a:r>
            <a:endParaRPr lang="zh-CN" sz="710"/>
          </a:p>
        </p:txBody>
      </p:sp>
      <p:sp>
        <p:nvSpPr>
          <p:cNvPr id="111" name="TextBox 111"/>
          <p:cNvSpPr txBox="1"/>
          <p:nvPr/>
        </p:nvSpPr>
        <p:spPr>
          <a:xfrm>
            <a:off x="8060025" y="2495925"/>
            <a:ext cx="559119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Fistula tract</a:t>
            </a:r>
            <a:endParaRPr lang="zh-CN" sz="630"/>
          </a:p>
        </p:txBody>
      </p:sp>
      <p:sp>
        <p:nvSpPr>
          <p:cNvPr id="112" name="TextBox 112"/>
          <p:cNvSpPr txBox="1"/>
          <p:nvPr/>
        </p:nvSpPr>
        <p:spPr>
          <a:xfrm>
            <a:off x="8060025" y="2590322"/>
            <a:ext cx="559119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(superficial)</a:t>
            </a:r>
            <a:endParaRPr lang="zh-CN" sz="630"/>
          </a:p>
        </p:txBody>
      </p:sp>
      <p:sp>
        <p:nvSpPr>
          <p:cNvPr id="113" name="TextBox 113"/>
          <p:cNvSpPr txBox="1"/>
          <p:nvPr/>
        </p:nvSpPr>
        <p:spPr>
          <a:xfrm>
            <a:off x="8045502" y="2815422"/>
            <a:ext cx="580903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外口</a:t>
            </a:r>
            <a:endParaRPr lang="zh-CN" sz="710"/>
          </a:p>
        </p:txBody>
      </p:sp>
      <p:sp>
        <p:nvSpPr>
          <p:cNvPr id="114" name="TextBox 114"/>
          <p:cNvSpPr txBox="1"/>
          <p:nvPr/>
        </p:nvSpPr>
        <p:spPr>
          <a:xfrm>
            <a:off x="8045502" y="2924341"/>
            <a:ext cx="580903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（肛周皮肤）</a:t>
            </a:r>
            <a:endParaRPr lang="zh-CN" sz="710"/>
          </a:p>
        </p:txBody>
      </p:sp>
      <p:sp>
        <p:nvSpPr>
          <p:cNvPr id="115" name="TextBox 115"/>
          <p:cNvSpPr txBox="1"/>
          <p:nvPr/>
        </p:nvSpPr>
        <p:spPr>
          <a:xfrm>
            <a:off x="8045502" y="3033260"/>
            <a:ext cx="580903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External</a:t>
            </a:r>
            <a:endParaRPr lang="zh-CN" sz="630"/>
          </a:p>
        </p:txBody>
      </p:sp>
      <p:sp>
        <p:nvSpPr>
          <p:cNvPr id="116" name="TextBox 116"/>
          <p:cNvSpPr txBox="1"/>
          <p:nvPr/>
        </p:nvSpPr>
        <p:spPr>
          <a:xfrm>
            <a:off x="8045502" y="3127657"/>
            <a:ext cx="580903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opening</a:t>
            </a:r>
            <a:endParaRPr lang="zh-CN" sz="630"/>
          </a:p>
        </p:txBody>
      </p:sp>
      <p:sp>
        <p:nvSpPr>
          <p:cNvPr id="117" name="TextBox 117"/>
          <p:cNvSpPr txBox="1"/>
          <p:nvPr/>
        </p:nvSpPr>
        <p:spPr>
          <a:xfrm>
            <a:off x="8045502" y="3222053"/>
            <a:ext cx="580903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(perianal skin)</a:t>
            </a:r>
            <a:endParaRPr lang="zh-CN" sz="630"/>
          </a:p>
        </p:txBody>
      </p:sp>
      <p:sp>
        <p:nvSpPr>
          <p:cNvPr id="118" name="TextBox 118"/>
          <p:cNvSpPr txBox="1"/>
          <p:nvPr/>
        </p:nvSpPr>
        <p:spPr>
          <a:xfrm>
            <a:off x="11501873" y="1443039"/>
            <a:ext cx="392109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内口</a:t>
            </a:r>
            <a:endParaRPr lang="zh-CN" sz="710"/>
          </a:p>
        </p:txBody>
      </p:sp>
      <p:sp>
        <p:nvSpPr>
          <p:cNvPr id="119" name="TextBox 119"/>
          <p:cNvSpPr txBox="1"/>
          <p:nvPr/>
        </p:nvSpPr>
        <p:spPr>
          <a:xfrm>
            <a:off x="11501873" y="1551958"/>
            <a:ext cx="392109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（高位）</a:t>
            </a:r>
            <a:endParaRPr lang="zh-CN" sz="710"/>
          </a:p>
        </p:txBody>
      </p:sp>
      <p:sp>
        <p:nvSpPr>
          <p:cNvPr id="120" name="TextBox 120"/>
          <p:cNvSpPr txBox="1"/>
          <p:nvPr/>
        </p:nvSpPr>
        <p:spPr>
          <a:xfrm>
            <a:off x="11501873" y="1660877"/>
            <a:ext cx="392109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Internal</a:t>
            </a:r>
            <a:endParaRPr lang="zh-CN" sz="630"/>
          </a:p>
        </p:txBody>
      </p:sp>
      <p:sp>
        <p:nvSpPr>
          <p:cNvPr id="121" name="TextBox 121"/>
          <p:cNvSpPr txBox="1"/>
          <p:nvPr/>
        </p:nvSpPr>
        <p:spPr>
          <a:xfrm>
            <a:off x="11501873" y="1755274"/>
            <a:ext cx="392109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opening</a:t>
            </a:r>
            <a:endParaRPr lang="zh-CN" sz="630"/>
          </a:p>
        </p:txBody>
      </p:sp>
      <p:sp>
        <p:nvSpPr>
          <p:cNvPr id="122" name="TextBox 122"/>
          <p:cNvSpPr txBox="1"/>
          <p:nvPr/>
        </p:nvSpPr>
        <p:spPr>
          <a:xfrm>
            <a:off x="11501873" y="1849671"/>
            <a:ext cx="392109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(high)</a:t>
            </a:r>
            <a:endParaRPr lang="zh-CN" sz="630"/>
          </a:p>
        </p:txBody>
      </p:sp>
      <p:sp>
        <p:nvSpPr>
          <p:cNvPr id="123" name="TextBox 123"/>
          <p:cNvSpPr txBox="1"/>
          <p:nvPr/>
        </p:nvSpPr>
        <p:spPr>
          <a:xfrm>
            <a:off x="11334864" y="2067509"/>
            <a:ext cx="595425" cy="1161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瘘管</a:t>
            </a:r>
            <a:endParaRPr lang="zh-CN" sz="710"/>
          </a:p>
        </p:txBody>
      </p:sp>
      <p:sp>
        <p:nvSpPr>
          <p:cNvPr id="124" name="TextBox 124"/>
          <p:cNvSpPr txBox="1"/>
          <p:nvPr/>
        </p:nvSpPr>
        <p:spPr>
          <a:xfrm>
            <a:off x="11334864" y="2169167"/>
            <a:ext cx="595425" cy="1161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（深部，</a:t>
            </a:r>
            <a:endParaRPr lang="zh-CN" sz="710"/>
          </a:p>
        </p:txBody>
      </p:sp>
      <p:sp>
        <p:nvSpPr>
          <p:cNvPr id="125" name="TextBox 125"/>
          <p:cNvSpPr txBox="1"/>
          <p:nvPr/>
        </p:nvSpPr>
        <p:spPr>
          <a:xfrm>
            <a:off x="11334864" y="2270825"/>
            <a:ext cx="595425" cy="1161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跨括约肌）</a:t>
            </a:r>
            <a:endParaRPr lang="zh-CN" sz="710"/>
          </a:p>
        </p:txBody>
      </p:sp>
      <p:sp>
        <p:nvSpPr>
          <p:cNvPr id="126" name="TextBox 126"/>
          <p:cNvSpPr txBox="1"/>
          <p:nvPr/>
        </p:nvSpPr>
        <p:spPr>
          <a:xfrm>
            <a:off x="11334864" y="2372483"/>
            <a:ext cx="595425" cy="1016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Fistula tract</a:t>
            </a:r>
            <a:endParaRPr lang="zh-CN" sz="630"/>
          </a:p>
        </p:txBody>
      </p:sp>
      <p:sp>
        <p:nvSpPr>
          <p:cNvPr id="127" name="TextBox 127"/>
          <p:cNvSpPr txBox="1"/>
          <p:nvPr/>
        </p:nvSpPr>
        <p:spPr>
          <a:xfrm>
            <a:off x="11334864" y="2459619"/>
            <a:ext cx="595425" cy="1016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(deep,</a:t>
            </a:r>
            <a:endParaRPr lang="zh-CN" sz="630"/>
          </a:p>
        </p:txBody>
      </p:sp>
      <p:sp>
        <p:nvSpPr>
          <p:cNvPr id="128" name="TextBox 128"/>
          <p:cNvSpPr txBox="1"/>
          <p:nvPr/>
        </p:nvSpPr>
        <p:spPr>
          <a:xfrm>
            <a:off x="11334864" y="2546754"/>
            <a:ext cx="595425" cy="1016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transsphincteric)</a:t>
            </a:r>
            <a:endParaRPr lang="zh-CN" sz="630"/>
          </a:p>
        </p:txBody>
      </p:sp>
      <p:sp>
        <p:nvSpPr>
          <p:cNvPr id="129" name="TextBox 129"/>
          <p:cNvSpPr txBox="1"/>
          <p:nvPr/>
        </p:nvSpPr>
        <p:spPr>
          <a:xfrm>
            <a:off x="11385693" y="2808160"/>
            <a:ext cx="551858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外口</a:t>
            </a:r>
            <a:endParaRPr lang="zh-CN" sz="710"/>
          </a:p>
        </p:txBody>
      </p:sp>
      <p:sp>
        <p:nvSpPr>
          <p:cNvPr id="130" name="TextBox 130"/>
          <p:cNvSpPr txBox="1"/>
          <p:nvPr/>
        </p:nvSpPr>
        <p:spPr>
          <a:xfrm>
            <a:off x="11385693" y="2917080"/>
            <a:ext cx="551858" cy="1234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10" b="1">
                <a:solidFill>
                  <a:srgbClr val="071A54"/>
                </a:solidFill>
                <a:latin typeface="Microsoft YaHei"/>
                <a:ea typeface="Microsoft YaHei"/>
                <a:cs typeface="Microsoft YaHei"/>
              </a:rPr>
              <a:t>（肛周皮肤）</a:t>
            </a:r>
            <a:endParaRPr lang="zh-CN" sz="710"/>
          </a:p>
        </p:txBody>
      </p:sp>
      <p:sp>
        <p:nvSpPr>
          <p:cNvPr id="131" name="TextBox 131"/>
          <p:cNvSpPr txBox="1"/>
          <p:nvPr/>
        </p:nvSpPr>
        <p:spPr>
          <a:xfrm>
            <a:off x="11385693" y="3025999"/>
            <a:ext cx="551858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External</a:t>
            </a:r>
            <a:endParaRPr lang="zh-CN" sz="630"/>
          </a:p>
        </p:txBody>
      </p:sp>
      <p:sp>
        <p:nvSpPr>
          <p:cNvPr id="132" name="TextBox 132"/>
          <p:cNvSpPr txBox="1"/>
          <p:nvPr/>
        </p:nvSpPr>
        <p:spPr>
          <a:xfrm>
            <a:off x="11385693" y="3120395"/>
            <a:ext cx="551858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opening</a:t>
            </a:r>
            <a:endParaRPr lang="zh-CN" sz="630"/>
          </a:p>
        </p:txBody>
      </p:sp>
      <p:sp>
        <p:nvSpPr>
          <p:cNvPr id="133" name="TextBox 133"/>
          <p:cNvSpPr txBox="1"/>
          <p:nvPr/>
        </p:nvSpPr>
        <p:spPr>
          <a:xfrm>
            <a:off x="11385693" y="3214792"/>
            <a:ext cx="551858" cy="108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>
                <a:solidFill>
                  <a:srgbClr val="071A54"/>
                </a:solidFill>
                <a:latin typeface="Arial"/>
                <a:ea typeface="Arial"/>
                <a:cs typeface="Arial"/>
              </a:rPr>
              <a:t>(perianal skin)</a:t>
            </a:r>
            <a:endParaRPr lang="zh-CN" sz="630"/>
          </a:p>
        </p:txBody>
      </p:sp>
      <p:sp>
        <p:nvSpPr>
          <p:cNvPr id="134" name="TextBox 134"/>
          <p:cNvSpPr txBox="1"/>
          <p:nvPr/>
        </p:nvSpPr>
        <p:spPr>
          <a:xfrm>
            <a:off x="2294566" y="5226168"/>
            <a:ext cx="1307031" cy="2178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 b="1">
                <a:solidFill>
                  <a:srgbClr val="031D62"/>
                </a:solidFill>
                <a:latin typeface="Microsoft YaHei"/>
                <a:ea typeface="Microsoft YaHei"/>
                <a:cs typeface="Microsoft YaHei"/>
              </a:rPr>
              <a:t>围手术期护理核心</a:t>
            </a:r>
            <a:endParaRPr lang="zh-CN" sz="1080"/>
          </a:p>
        </p:txBody>
      </p:sp>
      <p:sp>
        <p:nvSpPr>
          <p:cNvPr id="135" name="TextBox 135"/>
          <p:cNvSpPr txBox="1"/>
          <p:nvPr/>
        </p:nvSpPr>
        <p:spPr>
          <a:xfrm>
            <a:off x="2294566" y="5429484"/>
            <a:ext cx="1307031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40">
                <a:solidFill>
                  <a:srgbClr val="031D62"/>
                </a:solidFill>
                <a:latin typeface="Arial"/>
                <a:ea typeface="Arial"/>
                <a:cs typeface="Arial"/>
              </a:rPr>
              <a:t>Core perioperative</a:t>
            </a:r>
            <a:endParaRPr lang="zh-CN" sz="840"/>
          </a:p>
        </p:txBody>
      </p:sp>
      <p:sp>
        <p:nvSpPr>
          <p:cNvPr id="136" name="TextBox 136"/>
          <p:cNvSpPr txBox="1"/>
          <p:nvPr/>
        </p:nvSpPr>
        <p:spPr>
          <a:xfrm>
            <a:off x="2294566" y="5560187"/>
            <a:ext cx="1307031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40">
                <a:solidFill>
                  <a:srgbClr val="031D62"/>
                </a:solidFill>
                <a:latin typeface="Arial"/>
                <a:ea typeface="Arial"/>
                <a:cs typeface="Arial"/>
              </a:rPr>
              <a:t>nursing priorities</a:t>
            </a:r>
            <a:endParaRPr lang="zh-CN" sz="840"/>
          </a:p>
        </p:txBody>
      </p:sp>
      <p:sp>
        <p:nvSpPr>
          <p:cNvPr id="137" name="TextBox 137"/>
          <p:cNvSpPr txBox="1"/>
          <p:nvPr/>
        </p:nvSpPr>
        <p:spPr>
          <a:xfrm>
            <a:off x="3115091" y="4158759"/>
            <a:ext cx="1038364" cy="196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10" b="1">
                <a:solidFill>
                  <a:srgbClr val="071E63"/>
                </a:solidFill>
                <a:latin typeface="Microsoft YaHei"/>
                <a:ea typeface="Microsoft YaHei"/>
                <a:cs typeface="Microsoft YaHei"/>
              </a:rPr>
              <a:t>感染控制</a:t>
            </a:r>
            <a:endParaRPr lang="zh-CN" sz="1110"/>
          </a:p>
        </p:txBody>
      </p:sp>
      <p:sp>
        <p:nvSpPr>
          <p:cNvPr id="138" name="TextBox 138"/>
          <p:cNvSpPr txBox="1"/>
          <p:nvPr/>
        </p:nvSpPr>
        <p:spPr>
          <a:xfrm>
            <a:off x="3115091" y="4347552"/>
            <a:ext cx="1038364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Infection control</a:t>
            </a:r>
            <a:endParaRPr lang="zh-CN" sz="869"/>
          </a:p>
        </p:txBody>
      </p:sp>
      <p:sp>
        <p:nvSpPr>
          <p:cNvPr id="139" name="TextBox 139"/>
          <p:cNvSpPr txBox="1"/>
          <p:nvPr/>
        </p:nvSpPr>
        <p:spPr>
          <a:xfrm>
            <a:off x="602687" y="4638004"/>
            <a:ext cx="885877" cy="196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10" b="1">
                <a:solidFill>
                  <a:srgbClr val="071E63"/>
                </a:solidFill>
                <a:latin typeface="Microsoft YaHei"/>
                <a:ea typeface="Microsoft YaHei"/>
                <a:cs typeface="Microsoft YaHei"/>
              </a:rPr>
              <a:t>复发预防</a:t>
            </a:r>
            <a:endParaRPr lang="zh-CN" sz="1110"/>
          </a:p>
        </p:txBody>
      </p:sp>
      <p:sp>
        <p:nvSpPr>
          <p:cNvPr id="140" name="TextBox 140"/>
          <p:cNvSpPr txBox="1"/>
          <p:nvPr/>
        </p:nvSpPr>
        <p:spPr>
          <a:xfrm>
            <a:off x="602687" y="4826797"/>
            <a:ext cx="885877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Recurrence</a:t>
            </a:r>
            <a:endParaRPr lang="zh-CN" sz="869"/>
          </a:p>
        </p:txBody>
      </p:sp>
      <p:sp>
        <p:nvSpPr>
          <p:cNvPr id="141" name="TextBox 141"/>
          <p:cNvSpPr txBox="1"/>
          <p:nvPr/>
        </p:nvSpPr>
        <p:spPr>
          <a:xfrm>
            <a:off x="602687" y="4957500"/>
            <a:ext cx="885877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prevention</a:t>
            </a:r>
            <a:endParaRPr lang="zh-CN" sz="869"/>
          </a:p>
        </p:txBody>
      </p:sp>
      <p:sp>
        <p:nvSpPr>
          <p:cNvPr id="142" name="TextBox 142"/>
          <p:cNvSpPr txBox="1"/>
          <p:nvPr/>
        </p:nvSpPr>
        <p:spPr>
          <a:xfrm>
            <a:off x="4414860" y="4659788"/>
            <a:ext cx="914922" cy="196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10" b="1">
                <a:solidFill>
                  <a:srgbClr val="071E63"/>
                </a:solidFill>
                <a:latin typeface="Microsoft YaHei"/>
                <a:ea typeface="Microsoft YaHei"/>
                <a:cs typeface="Microsoft YaHei"/>
              </a:rPr>
              <a:t>引流通畅</a:t>
            </a:r>
            <a:endParaRPr lang="zh-CN" sz="1110"/>
          </a:p>
        </p:txBody>
      </p:sp>
      <p:sp>
        <p:nvSpPr>
          <p:cNvPr id="143" name="TextBox 143"/>
          <p:cNvSpPr txBox="1"/>
          <p:nvPr/>
        </p:nvSpPr>
        <p:spPr>
          <a:xfrm>
            <a:off x="4414860" y="4848581"/>
            <a:ext cx="914922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Drainage</a:t>
            </a:r>
            <a:endParaRPr lang="zh-CN" sz="869"/>
          </a:p>
        </p:txBody>
      </p:sp>
      <p:sp>
        <p:nvSpPr>
          <p:cNvPr id="144" name="TextBox 144"/>
          <p:cNvSpPr txBox="1"/>
          <p:nvPr/>
        </p:nvSpPr>
        <p:spPr>
          <a:xfrm>
            <a:off x="4414860" y="4979284"/>
            <a:ext cx="914922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maintenance</a:t>
            </a:r>
            <a:endParaRPr lang="zh-CN" sz="869"/>
          </a:p>
        </p:txBody>
      </p:sp>
      <p:sp>
        <p:nvSpPr>
          <p:cNvPr id="145" name="TextBox 145"/>
          <p:cNvSpPr txBox="1"/>
          <p:nvPr/>
        </p:nvSpPr>
        <p:spPr>
          <a:xfrm>
            <a:off x="588164" y="5473051"/>
            <a:ext cx="1096454" cy="196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10" b="1">
                <a:solidFill>
                  <a:srgbClr val="071E63"/>
                </a:solidFill>
                <a:latin typeface="Microsoft YaHei"/>
                <a:ea typeface="Microsoft YaHei"/>
                <a:cs typeface="Microsoft YaHei"/>
              </a:rPr>
              <a:t>疼痛管理</a:t>
            </a:r>
            <a:endParaRPr lang="zh-CN" sz="1110"/>
          </a:p>
        </p:txBody>
      </p:sp>
      <p:sp>
        <p:nvSpPr>
          <p:cNvPr id="146" name="TextBox 146"/>
          <p:cNvSpPr txBox="1"/>
          <p:nvPr/>
        </p:nvSpPr>
        <p:spPr>
          <a:xfrm>
            <a:off x="588164" y="5661845"/>
            <a:ext cx="1096454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Pain management</a:t>
            </a:r>
            <a:endParaRPr lang="zh-CN" sz="869"/>
          </a:p>
        </p:txBody>
      </p:sp>
      <p:sp>
        <p:nvSpPr>
          <p:cNvPr id="147" name="TextBox 147"/>
          <p:cNvSpPr txBox="1"/>
          <p:nvPr/>
        </p:nvSpPr>
        <p:spPr>
          <a:xfrm>
            <a:off x="4226067" y="5458529"/>
            <a:ext cx="1132760" cy="196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10" b="1">
                <a:solidFill>
                  <a:srgbClr val="071E63"/>
                </a:solidFill>
                <a:latin typeface="Microsoft YaHei"/>
                <a:ea typeface="Microsoft YaHei"/>
                <a:cs typeface="Microsoft YaHei"/>
              </a:rPr>
              <a:t>功能保护</a:t>
            </a:r>
            <a:endParaRPr lang="zh-CN" sz="1110"/>
          </a:p>
        </p:txBody>
      </p:sp>
      <p:sp>
        <p:nvSpPr>
          <p:cNvPr id="148" name="TextBox 148"/>
          <p:cNvSpPr txBox="1"/>
          <p:nvPr/>
        </p:nvSpPr>
        <p:spPr>
          <a:xfrm>
            <a:off x="4226067" y="5647322"/>
            <a:ext cx="1132760" cy="1597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>
                <a:solidFill>
                  <a:srgbClr val="071E63"/>
                </a:solidFill>
                <a:latin typeface="Arial"/>
                <a:ea typeface="Arial"/>
                <a:cs typeface="Arial"/>
              </a:rPr>
              <a:t>Functional protection</a:t>
            </a:r>
            <a:endParaRPr lang="zh-CN" sz="869"/>
          </a:p>
        </p:txBody>
      </p:sp>
      <p:sp>
        <p:nvSpPr>
          <p:cNvPr id="149" name="TextBox 149"/>
          <p:cNvSpPr txBox="1"/>
          <p:nvPr/>
        </p:nvSpPr>
        <p:spPr>
          <a:xfrm>
            <a:off x="6731210" y="3991749"/>
            <a:ext cx="4995763" cy="2105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071B60"/>
                </a:solidFill>
                <a:latin typeface="Microsoft YaHei"/>
                <a:ea typeface="Microsoft YaHei"/>
                <a:cs typeface="Microsoft YaHei"/>
              </a:rPr>
              <a:t>急性淋巴细胞白血病异基因造血干细胞移植术后，</a:t>
            </a:r>
            <a:r>
              <a:rPr lang="zh-CN" sz="1030" b="1">
                <a:solidFill>
                  <a:srgbClr val="F00808"/>
                </a:solidFill>
                <a:latin typeface="Microsoft YaHei"/>
                <a:ea typeface="Microsoft YaHei"/>
                <a:cs typeface="Microsoft YaHei"/>
              </a:rPr>
              <a:t>感染防控要求更高。</a:t>
            </a:r>
            <a:endParaRPr lang="zh-CN" sz="1030"/>
          </a:p>
        </p:txBody>
      </p:sp>
      <p:sp>
        <p:nvSpPr>
          <p:cNvPr id="150" name="TextBox 150"/>
          <p:cNvSpPr txBox="1"/>
          <p:nvPr/>
        </p:nvSpPr>
        <p:spPr>
          <a:xfrm>
            <a:off x="6731210" y="4209588"/>
            <a:ext cx="5003024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415B8E"/>
                </a:solidFill>
                <a:latin typeface="Arial"/>
                <a:ea typeface="Arial"/>
                <a:cs typeface="Arial"/>
              </a:rPr>
              <a:t>After allogeneic hematopoietic stem cell transplantation for acute lymphoblastic leukemia,</a:t>
            </a:r>
            <a:endParaRPr lang="zh-CN" sz="950"/>
          </a:p>
        </p:txBody>
      </p:sp>
      <p:sp>
        <p:nvSpPr>
          <p:cNvPr id="151" name="TextBox 151"/>
          <p:cNvSpPr txBox="1"/>
          <p:nvPr/>
        </p:nvSpPr>
        <p:spPr>
          <a:xfrm>
            <a:off x="6731210" y="4347552"/>
            <a:ext cx="5003024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415B8E"/>
                </a:solidFill>
                <a:latin typeface="Arial"/>
                <a:ea typeface="Arial"/>
                <a:cs typeface="Arial"/>
              </a:rPr>
              <a:t>stricter infection prevention and surveillance are required.</a:t>
            </a:r>
            <a:endParaRPr lang="zh-CN" sz="950"/>
          </a:p>
        </p:txBody>
      </p:sp>
      <p:sp>
        <p:nvSpPr>
          <p:cNvPr id="152" name="TextBox 152"/>
          <p:cNvSpPr txBox="1"/>
          <p:nvPr/>
        </p:nvSpPr>
        <p:spPr>
          <a:xfrm>
            <a:off x="6731210" y="4681571"/>
            <a:ext cx="4995763" cy="2105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071B60"/>
                </a:solidFill>
                <a:latin typeface="Microsoft YaHei"/>
                <a:ea typeface="Microsoft YaHei"/>
                <a:cs typeface="Microsoft YaHei"/>
              </a:rPr>
              <a:t>合并2型糖尿病，围手术期</a:t>
            </a:r>
            <a:r>
              <a:rPr lang="zh-CN" sz="1030" b="1">
                <a:solidFill>
                  <a:srgbClr val="F00808"/>
                </a:solidFill>
                <a:latin typeface="Microsoft YaHei"/>
                <a:ea typeface="Microsoft YaHei"/>
                <a:cs typeface="Microsoft YaHei"/>
              </a:rPr>
              <a:t>血糖波动明显，影响创面修复。</a:t>
            </a:r>
            <a:endParaRPr lang="zh-CN" sz="1030"/>
          </a:p>
        </p:txBody>
      </p:sp>
      <p:sp>
        <p:nvSpPr>
          <p:cNvPr id="153" name="TextBox 153"/>
          <p:cNvSpPr txBox="1"/>
          <p:nvPr/>
        </p:nvSpPr>
        <p:spPr>
          <a:xfrm>
            <a:off x="6731210" y="4899410"/>
            <a:ext cx="5003024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415B8E"/>
                </a:solidFill>
                <a:latin typeface="Arial"/>
                <a:ea typeface="Arial"/>
                <a:cs typeface="Arial"/>
              </a:rPr>
              <a:t>Comorbid type 2 diabetes caused marked perioperative glycemic fluctuation, which may</a:t>
            </a:r>
            <a:endParaRPr lang="zh-CN" sz="950"/>
          </a:p>
        </p:txBody>
      </p:sp>
      <p:sp>
        <p:nvSpPr>
          <p:cNvPr id="154" name="TextBox 154"/>
          <p:cNvSpPr txBox="1"/>
          <p:nvPr/>
        </p:nvSpPr>
        <p:spPr>
          <a:xfrm>
            <a:off x="6731210" y="5037374"/>
            <a:ext cx="5003024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415B8E"/>
                </a:solidFill>
                <a:latin typeface="Arial"/>
                <a:ea typeface="Arial"/>
                <a:cs typeface="Arial"/>
              </a:rPr>
              <a:t>affect wound healing.</a:t>
            </a:r>
            <a:endParaRPr lang="zh-CN" sz="950"/>
          </a:p>
        </p:txBody>
      </p:sp>
      <p:sp>
        <p:nvSpPr>
          <p:cNvPr id="155" name="TextBox 155"/>
          <p:cNvSpPr txBox="1"/>
          <p:nvPr/>
        </p:nvSpPr>
        <p:spPr>
          <a:xfrm>
            <a:off x="6731210" y="5378655"/>
            <a:ext cx="4995763" cy="2105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071B60"/>
                </a:solidFill>
                <a:latin typeface="Microsoft YaHei"/>
                <a:ea typeface="Microsoft YaHei"/>
                <a:cs typeface="Microsoft YaHei"/>
              </a:rPr>
              <a:t>血小板减少及凝血相关指标异常，</a:t>
            </a:r>
            <a:r>
              <a:rPr lang="zh-CN" sz="1030" b="1">
                <a:solidFill>
                  <a:srgbClr val="F00808"/>
                </a:solidFill>
                <a:latin typeface="Microsoft YaHei"/>
                <a:ea typeface="Microsoft YaHei"/>
                <a:cs typeface="Microsoft YaHei"/>
              </a:rPr>
              <a:t>需警惕出血风险。</a:t>
            </a:r>
            <a:endParaRPr lang="zh-CN" sz="1030"/>
          </a:p>
        </p:txBody>
      </p:sp>
      <p:sp>
        <p:nvSpPr>
          <p:cNvPr id="156" name="TextBox 156"/>
          <p:cNvSpPr txBox="1"/>
          <p:nvPr/>
        </p:nvSpPr>
        <p:spPr>
          <a:xfrm>
            <a:off x="6731210" y="5596493"/>
            <a:ext cx="5003024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415B8E"/>
                </a:solidFill>
                <a:latin typeface="Arial"/>
                <a:ea typeface="Arial"/>
                <a:cs typeface="Arial"/>
              </a:rPr>
              <a:t>Thrombocytopenia and coagulation-related abnormalities require close attention</a:t>
            </a:r>
            <a:endParaRPr lang="zh-CN" sz="950"/>
          </a:p>
        </p:txBody>
      </p:sp>
      <p:sp>
        <p:nvSpPr>
          <p:cNvPr id="157" name="TextBox 157"/>
          <p:cNvSpPr txBox="1"/>
          <p:nvPr/>
        </p:nvSpPr>
        <p:spPr>
          <a:xfrm>
            <a:off x="6731210" y="5734458"/>
            <a:ext cx="5003024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415B8E"/>
                </a:solidFill>
                <a:latin typeface="Arial"/>
                <a:ea typeface="Arial"/>
                <a:cs typeface="Arial"/>
              </a:rPr>
              <a:t>to bleeding risk.</a:t>
            </a:r>
            <a:endParaRPr lang="zh-CN" sz="950"/>
          </a:p>
        </p:txBody>
      </p:sp>
      <p:sp>
        <p:nvSpPr>
          <p:cNvPr id="158" name="TextBox 158"/>
          <p:cNvSpPr txBox="1"/>
          <p:nvPr/>
        </p:nvSpPr>
        <p:spPr>
          <a:xfrm>
            <a:off x="1626528" y="6126567"/>
            <a:ext cx="10194842" cy="2686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因此，本例护理难点不在于单一创面换药，而在于如何同时兼顾</a:t>
            </a:r>
            <a:r>
              <a:rPr lang="zh-CN" sz="1240" b="1">
                <a:solidFill>
                  <a:srgbClr val="FFE173"/>
                </a:solidFill>
                <a:latin typeface="Microsoft YaHei"/>
                <a:ea typeface="Microsoft YaHei"/>
                <a:cs typeface="Microsoft YaHei"/>
              </a:rPr>
              <a:t>感染控制、挂线引流、疼痛缓解、血糖管理、出血防护及创面修复。</a:t>
            </a:r>
            <a:endParaRPr lang="zh-CN" sz="1240"/>
          </a:p>
        </p:txBody>
      </p:sp>
      <p:sp>
        <p:nvSpPr>
          <p:cNvPr id="159" name="TextBox 159"/>
          <p:cNvSpPr txBox="1"/>
          <p:nvPr/>
        </p:nvSpPr>
        <p:spPr>
          <a:xfrm>
            <a:off x="1626528" y="6380712"/>
            <a:ext cx="10151275" cy="1742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FFFFFF"/>
                </a:solidFill>
                <a:latin typeface="Arial"/>
                <a:ea typeface="Arial"/>
                <a:cs typeface="Arial"/>
              </a:rPr>
              <a:t>Therefore, the nursing challenge in this case was not limited to local dressing change, but lay in simultaneously coordinating infection control, seton drainage,</a:t>
            </a:r>
            <a:endParaRPr lang="zh-CN" sz="1075"/>
          </a:p>
        </p:txBody>
      </p:sp>
      <p:sp>
        <p:nvSpPr>
          <p:cNvPr id="160" name="TextBox 160"/>
          <p:cNvSpPr txBox="1"/>
          <p:nvPr/>
        </p:nvSpPr>
        <p:spPr>
          <a:xfrm>
            <a:off x="1626528" y="6533199"/>
            <a:ext cx="10151275" cy="167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 relief, glycemic management, bleeding precautions, and wound healing.</a:t>
            </a:r>
            <a:endParaRPr lang="zh-CN" sz="10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