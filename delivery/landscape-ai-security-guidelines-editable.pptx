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unoccluded sweeping architectural canopy and contour lines; alpha excludes all source title/foreground. Native off-white canvas carries regular main region."/>
          <p:cNvPicPr/>
          <p:nvPr/>
        </p:nvPicPr>
        <p:blipFill>
          <a:blip r:embed="rId2"/>
          <a:stretch>
            <a:fillRect/>
          </a:stretch>
        </p:blipFill>
        <p:spPr>
          <a:xfrm>
            <a:off x="6052120" y="0"/>
            <a:ext cx="6136489" cy="1953182"/>
          </a:xfrm>
          <a:prstGeom prst="rect">
            <a:avLst/>
          </a:prstGeom>
        </p:spPr>
      </p:pic>
      <p:pic>
        <p:nvPicPr>
          <p:cNvPr id="3" name="Original bottom arch/glass/stone/trees retained pixel-for-pixel outside complete footer-logo removal rectangle [1285,850,340,72]. Only that local rectangle uses builtin image-edit completion. Alpha excludes source slogan and all ordinary foreground. Metadata assets/background-repair.json."/>
          <p:cNvPicPr/>
          <p:nvPr/>
        </p:nvPicPr>
        <p:blipFill>
          <a:blip r:embed="rId3"/>
          <a:stretch>
            <a:fillRect/>
          </a:stretch>
        </p:blipFill>
        <p:spPr>
          <a:xfrm>
            <a:off x="3087" y="5684633"/>
            <a:ext cx="12185522" cy="1173367"/>
          </a:xfrm>
          <a:prstGeom prst="rect">
            <a:avLst/>
          </a:prstGeom>
        </p:spPr>
      </p:pic>
      <p:sp>
        <p:nvSpPr>
          <p:cNvPr id="4" name="Path 4"/>
          <p:cNvSpPr/>
          <p:nvPr/>
        </p:nvSpPr>
        <p:spPr>
          <a:xfrm>
            <a:off x="433078" y="1909454"/>
            <a:ext cx="3512812" cy="4591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658" y="0"/>
                </a:moveTo>
                <a:lnTo>
                  <a:pt x="21600" y="0"/>
                </a:lnTo>
                <a:cubicBezTo>
                  <a:pt x="21600" y="12000"/>
                  <a:pt x="20480" y="21600"/>
                  <a:pt x="18777" y="21600"/>
                </a:cubicBezTo>
                <a:lnTo>
                  <a:pt x="0" y="21600"/>
                </a:lnTo>
                <a:lnTo>
                  <a:pt x="0" y="12686"/>
                </a:lnTo>
                <a:cubicBezTo>
                  <a:pt x="0" y="5486"/>
                  <a:pt x="672" y="0"/>
                  <a:pt x="1658" y="0"/>
                </a:cubicBezTo>
                <a:close/>
              </a:path>
            </a:pathLst>
          </a:custGeom>
          <a:solidFill>
            <a:srgbClr val="EDE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4339442" y="1909454"/>
            <a:ext cx="3512812" cy="4591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658" y="0"/>
                </a:moveTo>
                <a:lnTo>
                  <a:pt x="21600" y="0"/>
                </a:lnTo>
                <a:cubicBezTo>
                  <a:pt x="21600" y="12000"/>
                  <a:pt x="20480" y="21600"/>
                  <a:pt x="18777" y="21600"/>
                </a:cubicBezTo>
                <a:lnTo>
                  <a:pt x="0" y="21600"/>
                </a:lnTo>
                <a:lnTo>
                  <a:pt x="0" y="12686"/>
                </a:lnTo>
                <a:cubicBezTo>
                  <a:pt x="0" y="5486"/>
                  <a:pt x="672" y="0"/>
                  <a:pt x="1658" y="0"/>
                </a:cubicBezTo>
                <a:close/>
              </a:path>
            </a:pathLst>
          </a:custGeom>
          <a:solidFill>
            <a:srgbClr val="EDE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Path 6"/>
          <p:cNvSpPr/>
          <p:nvPr/>
        </p:nvSpPr>
        <p:spPr>
          <a:xfrm>
            <a:off x="8274957" y="1909454"/>
            <a:ext cx="3512812" cy="4591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658" y="0"/>
                </a:moveTo>
                <a:lnTo>
                  <a:pt x="21600" y="0"/>
                </a:lnTo>
                <a:cubicBezTo>
                  <a:pt x="21600" y="12000"/>
                  <a:pt x="20480" y="21600"/>
                  <a:pt x="18777" y="21600"/>
                </a:cubicBezTo>
                <a:lnTo>
                  <a:pt x="0" y="21600"/>
                </a:lnTo>
                <a:lnTo>
                  <a:pt x="0" y="12686"/>
                </a:lnTo>
                <a:cubicBezTo>
                  <a:pt x="0" y="5486"/>
                  <a:pt x="672" y="0"/>
                  <a:pt x="1658" y="0"/>
                </a:cubicBezTo>
                <a:close/>
              </a:path>
            </a:pathLst>
          </a:custGeom>
          <a:solidFill>
            <a:srgbClr val="EDE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360198" y="5065154"/>
            <a:ext cx="11493163" cy="69964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77" y="0"/>
                </a:moveTo>
                <a:lnTo>
                  <a:pt x="21504" y="0"/>
                </a:lnTo>
                <a:cubicBezTo>
                  <a:pt x="21573" y="0"/>
                  <a:pt x="21600" y="900"/>
                  <a:pt x="21600" y="2475"/>
                </a:cubicBezTo>
                <a:cubicBezTo>
                  <a:pt x="21600" y="12825"/>
                  <a:pt x="21148" y="21600"/>
                  <a:pt x="20491" y="21600"/>
                </a:cubicBezTo>
                <a:lnTo>
                  <a:pt x="110" y="21600"/>
                </a:lnTo>
                <a:cubicBezTo>
                  <a:pt x="27" y="21600"/>
                  <a:pt x="0" y="20925"/>
                  <a:pt x="0" y="19350"/>
                </a:cubicBezTo>
                <a:lnTo>
                  <a:pt x="0" y="14400"/>
                </a:lnTo>
                <a:cubicBezTo>
                  <a:pt x="0" y="6075"/>
                  <a:pt x="370" y="0"/>
                  <a:pt x="877" y="0"/>
                </a:cubicBezTo>
                <a:close/>
              </a:path>
            </a:pathLst>
          </a:custGeom>
          <a:solidFill>
            <a:srgbClr val="F4F0EA"/>
          </a:solidFill>
          <a:ln w="4445">
            <a:solidFill>
              <a:srgbClr val="E8E2DA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4142666" y="1909454"/>
            <a:ext cx="0" cy="2966213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8070893" y="1909454"/>
            <a:ext cx="0" cy="2966213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454942" y="3199428"/>
            <a:ext cx="3476372" cy="0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454942" y="4059411"/>
            <a:ext cx="3476372" cy="0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4368594" y="3060956"/>
            <a:ext cx="3469084" cy="0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4368594" y="3709588"/>
            <a:ext cx="3469084" cy="0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4368594" y="4358219"/>
            <a:ext cx="3469084" cy="0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8296821" y="3235868"/>
            <a:ext cx="3483660" cy="0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8296821" y="4103139"/>
            <a:ext cx="3483660" cy="0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2575748" y="5218202"/>
            <a:ext cx="0" cy="408128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4558081" y="5218202"/>
            <a:ext cx="0" cy="408128"/>
          </a:xfrm>
          <a:prstGeom prst="line">
            <a:avLst/>
          </a:prstGeom>
          <a:noFill/>
          <a:ln w="5715">
            <a:solidFill>
              <a:srgbClr val="C7BEB5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498670" y="6151065"/>
            <a:ext cx="218640" cy="0"/>
          </a:xfrm>
          <a:prstGeom prst="line">
            <a:avLst/>
          </a:prstGeom>
          <a:noFill/>
          <a:ln w="10160">
            <a:solidFill>
              <a:srgbClr val="635449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10563386" y="6304113"/>
            <a:ext cx="0" cy="306096"/>
          </a:xfrm>
          <a:prstGeom prst="line">
            <a:avLst/>
          </a:prstGeom>
          <a:noFill/>
          <a:ln w="8255">
            <a:solidFill>
              <a:srgbClr val="C7BEB5"/>
            </a:solidFill>
          </a:ln>
        </p:spPr>
        <p:txBody>
          <a:bodyPr/>
          <a:lstStyle/>
          <a:p/>
        </p:txBody>
      </p:sp>
      <p:pic>
        <p:nvPicPr>
          <p:cNvPr id="21" name="Source left AI-strip photographic metallic laptop/architecture vignette with original asymmetric rounded silhouette; app tiles removed in image edit and rebuilt independently."/>
          <p:cNvPicPr/>
          <p:nvPr/>
        </p:nvPicPr>
        <p:blipFill>
          <a:blip r:embed="rId19"/>
          <a:stretch>
            <a:fillRect/>
          </a:stretch>
        </p:blipFill>
        <p:spPr>
          <a:xfrm>
            <a:off x="254002" y="4968093"/>
            <a:ext cx="2194727" cy="893769"/>
          </a:xfrm>
          <a:prstGeom prst="rect">
            <a:avLst/>
          </a:prstGeom>
        </p:spPr>
      </p:pic>
      <p:sp>
        <p:nvSpPr>
          <p:cNvPr id="22" name="Roundrect 22"/>
          <p:cNvSpPr/>
          <p:nvPr/>
        </p:nvSpPr>
        <p:spPr>
          <a:xfrm>
            <a:off x="921374" y="5152610"/>
            <a:ext cx="466431" cy="459143"/>
          </a:xfrm>
          <a:prstGeom prst="roundRect">
            <a:avLst>
              <a:gd name="adj" fmla="val 17460"/>
            </a:avLst>
          </a:prstGeom>
          <a:solidFill>
            <a:srgbClr val="FDFC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1482549" y="5152610"/>
            <a:ext cx="466431" cy="459143"/>
          </a:xfrm>
          <a:prstGeom prst="roundRect">
            <a:avLst>
              <a:gd name="adj" fmla="val 17460"/>
            </a:avLst>
          </a:prstGeom>
          <a:solidFill>
            <a:srgbClr val="FDFCF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4" name="Source brown circular prohibition/slash header pictogram."/>
          <p:cNvPicPr/>
          <p:nvPr/>
        </p:nvPicPr>
        <p:blipFill>
          <a:blip r:embed="rId4"/>
          <a:stretch>
            <a:fillRect/>
          </a:stretch>
        </p:blipFill>
        <p:spPr>
          <a:xfrm>
            <a:off x="554913" y="1929257"/>
            <a:ext cx="426825" cy="426825"/>
          </a:xfrm>
          <a:prstGeom prst="rect">
            <a:avLst/>
          </a:prstGeom>
        </p:spPr>
      </p:pic>
      <p:pic>
        <p:nvPicPr>
          <p:cNvPr id="25" name="Source brown outlined shield with check header pictogram."/>
          <p:cNvPicPr/>
          <p:nvPr/>
        </p:nvPicPr>
        <p:blipFill>
          <a:blip r:embed="rId5"/>
          <a:stretch>
            <a:fillRect/>
          </a:stretch>
        </p:blipFill>
        <p:spPr>
          <a:xfrm>
            <a:off x="4483044" y="1920603"/>
            <a:ext cx="383290" cy="451421"/>
          </a:xfrm>
          <a:prstGeom prst="rect">
            <a:avLst/>
          </a:prstGeom>
        </p:spPr>
      </p:pic>
      <p:pic>
        <p:nvPicPr>
          <p:cNvPr id="26" name="Source outlined envelope header pictogram."/>
          <p:cNvPicPr/>
          <p:nvPr/>
        </p:nvPicPr>
        <p:blipFill>
          <a:blip r:embed="rId6"/>
          <a:stretch>
            <a:fillRect/>
          </a:stretch>
        </p:blipFill>
        <p:spPr>
          <a:xfrm>
            <a:off x="8395185" y="1982717"/>
            <a:ext cx="400887" cy="341768"/>
          </a:xfrm>
          <a:prstGeom prst="rect">
            <a:avLst/>
          </a:prstGeom>
        </p:spPr>
      </p:pic>
      <p:pic>
        <p:nvPicPr>
          <p:cNvPr id="27" name="Source USB-drive silhouette and beige circular base."/>
          <p:cNvPicPr/>
          <p:nvPr/>
        </p:nvPicPr>
        <p:blipFill>
          <a:blip r:embed="rId7"/>
          <a:stretch>
            <a:fillRect/>
          </a:stretch>
        </p:blipFill>
        <p:spPr>
          <a:xfrm>
            <a:off x="417381" y="2449004"/>
            <a:ext cx="709178" cy="699169"/>
          </a:xfrm>
          <a:prstGeom prst="rect">
            <a:avLst/>
          </a:prstGeom>
        </p:spPr>
      </p:pic>
      <p:pic>
        <p:nvPicPr>
          <p:cNvPr id="28" name="Source down-arrow/download-tray pictogram and beige circular base."/>
          <p:cNvPicPr/>
          <p:nvPr/>
        </p:nvPicPr>
        <p:blipFill>
          <a:blip r:embed="rId8"/>
          <a:stretch>
            <a:fillRect/>
          </a:stretch>
        </p:blipFill>
        <p:spPr>
          <a:xfrm>
            <a:off x="418581" y="3256866"/>
            <a:ext cx="706778" cy="715957"/>
          </a:xfrm>
          <a:prstGeom prst="rect">
            <a:avLst/>
          </a:prstGeom>
        </p:spPr>
      </p:pic>
      <p:pic>
        <p:nvPicPr>
          <p:cNvPr id="29" name="Source WiFi with x badge and beige circular base."/>
          <p:cNvPicPr/>
          <p:nvPr/>
        </p:nvPicPr>
        <p:blipFill>
          <a:blip r:embed="rId9"/>
          <a:stretch>
            <a:fillRect/>
          </a:stretch>
        </p:blipFill>
        <p:spPr>
          <a:xfrm>
            <a:off x="417235" y="4131424"/>
            <a:ext cx="716758" cy="715957"/>
          </a:xfrm>
          <a:prstGeom prst="rect">
            <a:avLst/>
          </a:prstGeom>
        </p:spPr>
      </p:pic>
      <p:pic>
        <p:nvPicPr>
          <p:cNvPr id="30" name="Source padlock and beige circular base."/>
          <p:cNvPicPr/>
          <p:nvPr/>
        </p:nvPicPr>
        <p:blipFill>
          <a:blip r:embed="rId10"/>
          <a:stretch>
            <a:fillRect/>
          </a:stretch>
        </p:blipFill>
        <p:spPr>
          <a:xfrm>
            <a:off x="4376236" y="2420665"/>
            <a:ext cx="633346" cy="631951"/>
          </a:xfrm>
          <a:prstGeom prst="rect">
            <a:avLst/>
          </a:prstGeom>
        </p:spPr>
      </p:pic>
      <p:pic>
        <p:nvPicPr>
          <p:cNvPr id="31" name="Source circular refresh arrow and beige circular base."/>
          <p:cNvPicPr/>
          <p:nvPr/>
        </p:nvPicPr>
        <p:blipFill>
          <a:blip r:embed="rId11"/>
          <a:stretch>
            <a:fillRect/>
          </a:stretch>
        </p:blipFill>
        <p:spPr>
          <a:xfrm>
            <a:off x="4375523" y="3068950"/>
            <a:ext cx="634772" cy="632645"/>
          </a:xfrm>
          <a:prstGeom prst="rect">
            <a:avLst/>
          </a:prstGeom>
        </p:spPr>
      </p:pic>
      <p:pic>
        <p:nvPicPr>
          <p:cNvPr id="32" name="Source WiFi and beige circular base."/>
          <p:cNvPicPr/>
          <p:nvPr/>
        </p:nvPicPr>
        <p:blipFill>
          <a:blip r:embed="rId12"/>
          <a:stretch>
            <a:fillRect/>
          </a:stretch>
        </p:blipFill>
        <p:spPr>
          <a:xfrm>
            <a:off x="4375882" y="3719609"/>
            <a:ext cx="634055" cy="631322"/>
          </a:xfrm>
          <a:prstGeom prst="rect">
            <a:avLst/>
          </a:prstGeom>
        </p:spPr>
      </p:pic>
      <p:pic>
        <p:nvPicPr>
          <p:cNvPr id="33" name="Source document/page and beige circular base."/>
          <p:cNvPicPr/>
          <p:nvPr/>
        </p:nvPicPr>
        <p:blipFill>
          <a:blip r:embed="rId13"/>
          <a:stretch>
            <a:fillRect/>
          </a:stretch>
        </p:blipFill>
        <p:spPr>
          <a:xfrm>
            <a:off x="4375882" y="4354575"/>
            <a:ext cx="634055" cy="622173"/>
          </a:xfrm>
          <a:prstGeom prst="rect">
            <a:avLst/>
          </a:prstGeom>
        </p:spPr>
      </p:pic>
      <p:pic>
        <p:nvPicPr>
          <p:cNvPr id="34" name="Source outline envelope and beige circular base."/>
          <p:cNvPicPr/>
          <p:nvPr/>
        </p:nvPicPr>
        <p:blipFill>
          <a:blip r:embed="rId14"/>
          <a:stretch>
            <a:fillRect/>
          </a:stretch>
        </p:blipFill>
        <p:spPr>
          <a:xfrm>
            <a:off x="8267748" y="2462557"/>
            <a:ext cx="706778" cy="699961"/>
          </a:xfrm>
          <a:prstGeom prst="rect">
            <a:avLst/>
          </a:prstGeom>
        </p:spPr>
      </p:pic>
      <p:pic>
        <p:nvPicPr>
          <p:cNvPr id="35" name="Source envelope with warning triangle and beige circular base."/>
          <p:cNvPicPr/>
          <p:nvPr/>
        </p:nvPicPr>
        <p:blipFill>
          <a:blip r:embed="rId15"/>
          <a:stretch>
            <a:fillRect/>
          </a:stretch>
        </p:blipFill>
        <p:spPr>
          <a:xfrm>
            <a:off x="8266952" y="3337116"/>
            <a:ext cx="708369" cy="699961"/>
          </a:xfrm>
          <a:prstGeom prst="rect">
            <a:avLst/>
          </a:prstGeom>
        </p:spPr>
      </p:pic>
      <p:pic>
        <p:nvPicPr>
          <p:cNvPr id="36" name="Source document/page with padlock and beige circular base."/>
          <p:cNvPicPr/>
          <p:nvPr/>
        </p:nvPicPr>
        <p:blipFill>
          <a:blip r:embed="rId16"/>
          <a:stretch>
            <a:fillRect/>
          </a:stretch>
        </p:blipFill>
        <p:spPr>
          <a:xfrm>
            <a:off x="8269289" y="4185302"/>
            <a:ext cx="703696" cy="702946"/>
          </a:xfrm>
          <a:prstGeom prst="rect">
            <a:avLst/>
          </a:prstGeom>
        </p:spPr>
      </p:pic>
      <p:pic>
        <p:nvPicPr>
          <p:cNvPr id="37" name="Source multicolor Microsoft Copilot ribbon symbol. Brand identity retained; ordinary AI heading is native text."/>
          <p:cNvPicPr/>
          <p:nvPr/>
        </p:nvPicPr>
        <p:blipFill>
          <a:blip r:embed="rId17"/>
          <a:stretch>
            <a:fillRect/>
          </a:stretch>
        </p:blipFill>
        <p:spPr>
          <a:xfrm>
            <a:off x="940187" y="5167091"/>
            <a:ext cx="428805" cy="430181"/>
          </a:xfrm>
          <a:prstGeom prst="rect">
            <a:avLst/>
          </a:prstGeom>
        </p:spPr>
      </p:pic>
      <p:pic>
        <p:nvPicPr>
          <p:cNvPr id="38" name="Source blue-cyan Azure/AI Platform A symbol. Brand identity retained."/>
          <p:cNvPicPr/>
          <p:nvPr/>
        </p:nvPicPr>
        <p:blipFill>
          <a:blip r:embed="rId18"/>
          <a:stretch>
            <a:fillRect/>
          </a:stretch>
        </p:blipFill>
        <p:spPr>
          <a:xfrm>
            <a:off x="1492040" y="5168385"/>
            <a:ext cx="447449" cy="427593"/>
          </a:xfrm>
          <a:prstGeom prst="rect">
            <a:avLst/>
          </a:prstGeom>
        </p:spPr>
      </p:pic>
      <p:pic>
        <p:nvPicPr>
          <p:cNvPr id="39" name="Source Taikoo Li Qiantan brown stacked logo/Chinese-English wordmark identity retained under brand exception."/>
          <p:cNvPicPr/>
          <p:nvPr/>
        </p:nvPicPr>
        <p:blipFill>
          <a:blip r:embed="rId20"/>
          <a:stretch>
            <a:fillRect/>
          </a:stretch>
        </p:blipFill>
        <p:spPr>
          <a:xfrm>
            <a:off x="427505" y="284734"/>
            <a:ext cx="747233" cy="1019314"/>
          </a:xfrm>
          <a:prstGeom prst="rect">
            <a:avLst/>
          </a:prstGeom>
        </p:spPr>
      </p:pic>
      <p:pic>
        <p:nvPicPr>
          <p:cNvPr id="40" name="Source Lujiazui Group orange symbol and Chinese/English brand wordmark identity."/>
          <p:cNvPicPr/>
          <p:nvPr/>
        </p:nvPicPr>
        <p:blipFill>
          <a:blip r:embed="rId21"/>
          <a:stretch>
            <a:fillRect/>
          </a:stretch>
        </p:blipFill>
        <p:spPr>
          <a:xfrm>
            <a:off x="9377244" y="6229795"/>
            <a:ext cx="1031294" cy="442436"/>
          </a:xfrm>
          <a:prstGeom prst="rect">
            <a:avLst/>
          </a:prstGeom>
        </p:spPr>
      </p:pic>
      <p:pic>
        <p:nvPicPr>
          <p:cNvPr id="41" name="Source Swire Properties red-blue symbol and Chinese/English brand wordmark identity."/>
          <p:cNvPicPr/>
          <p:nvPr/>
        </p:nvPicPr>
        <p:blipFill>
          <a:blip r:embed="rId22"/>
          <a:stretch>
            <a:fillRect/>
          </a:stretch>
        </p:blipFill>
        <p:spPr>
          <a:xfrm>
            <a:off x="10748793" y="6248521"/>
            <a:ext cx="1028481" cy="409992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1642885" y="276944"/>
            <a:ext cx="4737194" cy="962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40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信  息  安  全  须  知</a:t>
            </a:r>
            <a:endParaRPr lang="zh-CN" sz="5400"/>
          </a:p>
        </p:txBody>
      </p:sp>
      <p:sp>
        <p:nvSpPr>
          <p:cNvPr id="43" name="TextBox 43"/>
          <p:cNvSpPr txBox="1"/>
          <p:nvPr/>
        </p:nvSpPr>
        <p:spPr>
          <a:xfrm>
            <a:off x="1708477" y="1144215"/>
            <a:ext cx="4627875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635449"/>
                </a:solidFill>
                <a:latin typeface="Liberation Sans"/>
                <a:ea typeface="Liberation Sans"/>
                <a:cs typeface="Liberation Sans"/>
              </a:rPr>
              <a:t>I   N   F   O   R   M   A   T   I   O   N         S   E   C   U   R   I   T   Y</a:t>
            </a:r>
            <a:endParaRPr lang="zh-CN" sz="1200"/>
          </a:p>
        </p:txBody>
      </p:sp>
      <p:sp>
        <p:nvSpPr>
          <p:cNvPr id="44" name="TextBox 44"/>
          <p:cNvSpPr txBox="1"/>
          <p:nvPr/>
        </p:nvSpPr>
        <p:spPr>
          <a:xfrm>
            <a:off x="1708477" y="1421158"/>
            <a:ext cx="3206716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保  护  公  司  数  据  ，  从  日  常  细  节  开  始</a:t>
            </a:r>
            <a:endParaRPr lang="zh-CN" sz="1100"/>
          </a:p>
        </p:txBody>
      </p:sp>
      <p:sp>
        <p:nvSpPr>
          <p:cNvPr id="45" name="TextBox 45"/>
          <p:cNvSpPr txBox="1"/>
          <p:nvPr/>
        </p:nvSpPr>
        <p:spPr>
          <a:xfrm>
            <a:off x="1118149" y="1953182"/>
            <a:ext cx="2587237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禁止事项</a:t>
            </a:r>
            <a:endParaRPr lang="zh-CN" sz="1750"/>
          </a:p>
        </p:txBody>
      </p:sp>
      <p:sp>
        <p:nvSpPr>
          <p:cNvPr id="46" name="TextBox 46"/>
          <p:cNvSpPr txBox="1"/>
          <p:nvPr/>
        </p:nvSpPr>
        <p:spPr>
          <a:xfrm>
            <a:off x="5024513" y="1953182"/>
            <a:ext cx="2587237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安全操作建议</a:t>
            </a:r>
            <a:endParaRPr lang="zh-CN" sz="1750"/>
          </a:p>
        </p:txBody>
      </p:sp>
      <p:sp>
        <p:nvSpPr>
          <p:cNvPr id="47" name="TextBox 47"/>
          <p:cNvSpPr txBox="1"/>
          <p:nvPr/>
        </p:nvSpPr>
        <p:spPr>
          <a:xfrm>
            <a:off x="8981892" y="1953182"/>
            <a:ext cx="2623677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邮件与信息防护</a:t>
            </a:r>
            <a:endParaRPr lang="zh-CN" sz="1750"/>
          </a:p>
        </p:txBody>
      </p:sp>
      <p:sp>
        <p:nvSpPr>
          <p:cNvPr id="48" name="TextBox 48"/>
          <p:cNvSpPr txBox="1"/>
          <p:nvPr/>
        </p:nvSpPr>
        <p:spPr>
          <a:xfrm>
            <a:off x="1256621" y="2528933"/>
            <a:ext cx="2689269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禁止使用 USB 移动存储设备</a:t>
            </a:r>
            <a:endParaRPr lang="zh-CN" sz="1350"/>
          </a:p>
        </p:txBody>
      </p:sp>
      <p:sp>
        <p:nvSpPr>
          <p:cNvPr id="49" name="TextBox 49"/>
          <p:cNvSpPr txBox="1"/>
          <p:nvPr/>
        </p:nvSpPr>
        <p:spPr>
          <a:xfrm>
            <a:off x="1256621" y="3352476"/>
            <a:ext cx="2689269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禁止私自下载安装、运行软件</a:t>
            </a:r>
            <a:endParaRPr lang="zh-CN" sz="1350"/>
          </a:p>
        </p:txBody>
      </p:sp>
      <p:sp>
        <p:nvSpPr>
          <p:cNvPr id="50" name="TextBox 50"/>
          <p:cNvSpPr txBox="1"/>
          <p:nvPr/>
        </p:nvSpPr>
        <p:spPr>
          <a:xfrm>
            <a:off x="1256621" y="4278051"/>
            <a:ext cx="2689269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禁止非公司设备接入公司网络</a:t>
            </a:r>
            <a:endParaRPr lang="zh-CN" sz="1350"/>
          </a:p>
        </p:txBody>
      </p:sp>
      <p:sp>
        <p:nvSpPr>
          <p:cNvPr id="51" name="TextBox 51"/>
          <p:cNvSpPr txBox="1"/>
          <p:nvPr/>
        </p:nvSpPr>
        <p:spPr>
          <a:xfrm>
            <a:off x="5155697" y="2463341"/>
            <a:ext cx="266011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设置复杂密码</a:t>
            </a:r>
            <a:endParaRPr lang="zh-CN" sz="1350"/>
          </a:p>
        </p:txBody>
      </p:sp>
      <p:sp>
        <p:nvSpPr>
          <p:cNvPr id="52" name="TextBox 52"/>
          <p:cNvSpPr txBox="1"/>
          <p:nvPr/>
        </p:nvSpPr>
        <p:spPr>
          <a:xfrm>
            <a:off x="5155697" y="3111972"/>
            <a:ext cx="266011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定期更新密码</a:t>
            </a:r>
            <a:endParaRPr lang="zh-CN" sz="1350"/>
          </a:p>
        </p:txBody>
      </p:sp>
      <p:sp>
        <p:nvSpPr>
          <p:cNvPr id="53" name="TextBox 53"/>
          <p:cNvSpPr txBox="1"/>
          <p:nvPr/>
        </p:nvSpPr>
        <p:spPr>
          <a:xfrm>
            <a:off x="5155697" y="3775180"/>
            <a:ext cx="266011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避免连接不安全公共 WiFi</a:t>
            </a:r>
            <a:endParaRPr lang="zh-CN" sz="1350"/>
          </a:p>
        </p:txBody>
      </p:sp>
      <p:sp>
        <p:nvSpPr>
          <p:cNvPr id="54" name="TextBox 54"/>
          <p:cNvSpPr txBox="1"/>
          <p:nvPr/>
        </p:nvSpPr>
        <p:spPr>
          <a:xfrm>
            <a:off x="5155697" y="4416523"/>
            <a:ext cx="2660117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敏感资料不外传</a:t>
            </a:r>
            <a:endParaRPr lang="zh-CN" sz="1350"/>
          </a:p>
        </p:txBody>
      </p:sp>
      <p:sp>
        <p:nvSpPr>
          <p:cNvPr id="55" name="TextBox 55"/>
          <p:cNvSpPr txBox="1"/>
          <p:nvPr/>
        </p:nvSpPr>
        <p:spPr>
          <a:xfrm>
            <a:off x="9134940" y="2667405"/>
            <a:ext cx="2623677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工作内容不使用私人邮箱</a:t>
            </a:r>
            <a:endParaRPr lang="zh-CN" sz="1350"/>
          </a:p>
        </p:txBody>
      </p:sp>
      <p:sp>
        <p:nvSpPr>
          <p:cNvPr id="56" name="TextBox 56"/>
          <p:cNvSpPr txBox="1"/>
          <p:nvPr/>
        </p:nvSpPr>
        <p:spPr>
          <a:xfrm>
            <a:off x="9134940" y="3505524"/>
            <a:ext cx="2696557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警惕陌生邮件、链接、文件和程序</a:t>
            </a:r>
            <a:endParaRPr lang="zh-CN" sz="1350"/>
          </a:p>
        </p:txBody>
      </p:sp>
      <p:sp>
        <p:nvSpPr>
          <p:cNvPr id="57" name="TextBox 57"/>
          <p:cNvSpPr txBox="1"/>
          <p:nvPr/>
        </p:nvSpPr>
        <p:spPr>
          <a:xfrm>
            <a:off x="9134940" y="4285339"/>
            <a:ext cx="2623677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对外发送敏感信息请加密</a:t>
            </a:r>
            <a:endParaRPr lang="zh-CN" sz="1350"/>
          </a:p>
        </p:txBody>
      </p:sp>
      <p:sp>
        <p:nvSpPr>
          <p:cNvPr id="58" name="TextBox 58"/>
          <p:cNvSpPr txBox="1"/>
          <p:nvPr/>
        </p:nvSpPr>
        <p:spPr>
          <a:xfrm>
            <a:off x="1263909" y="2798589"/>
            <a:ext cx="2652829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包括 U 盘、移动硬盘、网盘</a:t>
            </a:r>
            <a:endParaRPr lang="zh-CN" sz="1050"/>
          </a:p>
        </p:txBody>
      </p:sp>
      <p:sp>
        <p:nvSpPr>
          <p:cNvPr id="59" name="TextBox 59"/>
          <p:cNvSpPr txBox="1"/>
          <p:nvPr/>
        </p:nvSpPr>
        <p:spPr>
          <a:xfrm>
            <a:off x="1263909" y="3614844"/>
            <a:ext cx="2660117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包括各类安装包、免安装软件</a:t>
            </a:r>
            <a:endParaRPr lang="zh-CN" sz="1050"/>
          </a:p>
        </p:txBody>
      </p:sp>
      <p:sp>
        <p:nvSpPr>
          <p:cNvPr id="60" name="TextBox 60"/>
          <p:cNvSpPr txBox="1"/>
          <p:nvPr/>
        </p:nvSpPr>
        <p:spPr>
          <a:xfrm>
            <a:off x="1263909" y="4533131"/>
            <a:ext cx="2711133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如需上网，请联系 IT 协助连接访客 WiFi</a:t>
            </a:r>
            <a:endParaRPr lang="zh-CN" sz="1050"/>
          </a:p>
        </p:txBody>
      </p:sp>
      <p:sp>
        <p:nvSpPr>
          <p:cNvPr id="61" name="TextBox 61"/>
          <p:cNvSpPr txBox="1"/>
          <p:nvPr/>
        </p:nvSpPr>
        <p:spPr>
          <a:xfrm>
            <a:off x="5155697" y="2711133"/>
            <a:ext cx="2769437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包含大小写字母、数字、符号，8 位以上</a:t>
            </a:r>
            <a:endParaRPr lang="zh-CN" sz="1050"/>
          </a:p>
        </p:txBody>
      </p:sp>
      <p:sp>
        <p:nvSpPr>
          <p:cNvPr id="62" name="TextBox 62"/>
          <p:cNvSpPr txBox="1"/>
          <p:nvPr/>
        </p:nvSpPr>
        <p:spPr>
          <a:xfrm>
            <a:off x="5155697" y="3359764"/>
            <a:ext cx="2769437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密码有效期 120 天，近 6 次不重复</a:t>
            </a:r>
            <a:endParaRPr lang="zh-CN" sz="1050"/>
          </a:p>
        </p:txBody>
      </p:sp>
      <p:sp>
        <p:nvSpPr>
          <p:cNvPr id="63" name="TextBox 63"/>
          <p:cNvSpPr txBox="1"/>
          <p:nvPr/>
        </p:nvSpPr>
        <p:spPr>
          <a:xfrm>
            <a:off x="5155697" y="4022971"/>
            <a:ext cx="2660117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建议优先使用手机热点</a:t>
            </a:r>
            <a:endParaRPr lang="zh-CN" sz="1050"/>
          </a:p>
        </p:txBody>
      </p:sp>
      <p:sp>
        <p:nvSpPr>
          <p:cNvPr id="64" name="TextBox 64"/>
          <p:cNvSpPr txBox="1"/>
          <p:nvPr/>
        </p:nvSpPr>
        <p:spPr>
          <a:xfrm>
            <a:off x="5155697" y="4657027"/>
            <a:ext cx="2849605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不发个人邮箱、不存个人电脑、不转给外部人员</a:t>
            </a:r>
            <a:endParaRPr lang="zh-CN" sz="1050"/>
          </a:p>
        </p:txBody>
      </p:sp>
      <p:sp>
        <p:nvSpPr>
          <p:cNvPr id="65" name="TextBox 65"/>
          <p:cNvSpPr txBox="1"/>
          <p:nvPr/>
        </p:nvSpPr>
        <p:spPr>
          <a:xfrm>
            <a:off x="9134940" y="4533131"/>
            <a:ext cx="2587237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文件 &gt; 选项 &gt; 加密</a:t>
            </a:r>
            <a:endParaRPr lang="zh-CN" sz="1050"/>
          </a:p>
        </p:txBody>
      </p:sp>
      <p:sp>
        <p:nvSpPr>
          <p:cNvPr id="66" name="TextBox 66"/>
          <p:cNvSpPr txBox="1"/>
          <p:nvPr/>
        </p:nvSpPr>
        <p:spPr>
          <a:xfrm>
            <a:off x="2852691" y="5167186"/>
            <a:ext cx="1632510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AI 工具使用</a:t>
            </a:r>
            <a:endParaRPr lang="zh-CN" sz="2200"/>
          </a:p>
        </p:txBody>
      </p:sp>
      <p:sp>
        <p:nvSpPr>
          <p:cNvPr id="67" name="TextBox 67"/>
          <p:cNvSpPr txBox="1"/>
          <p:nvPr/>
        </p:nvSpPr>
        <p:spPr>
          <a:xfrm>
            <a:off x="4805873" y="5254642"/>
            <a:ext cx="6690376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仅使用集团已批准的 AI 工具，目前批准工具为 MS Copilot 与 AI Platform。</a:t>
            </a:r>
            <a:endParaRPr lang="zh-CN" sz="1200"/>
          </a:p>
        </p:txBody>
      </p:sp>
      <p:sp>
        <p:nvSpPr>
          <p:cNvPr id="68" name="TextBox 68"/>
          <p:cNvSpPr txBox="1"/>
          <p:nvPr/>
        </p:nvSpPr>
        <p:spPr>
          <a:xfrm>
            <a:off x="491382" y="6260385"/>
            <a:ext cx="2303005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>
                <a:solidFill>
                  <a:srgbClr val="635449"/>
                </a:solidFill>
                <a:latin typeface="Noto Sans CJK SC"/>
                <a:ea typeface="Noto Sans CJK SC"/>
                <a:cs typeface="Noto Sans CJK SC"/>
              </a:rPr>
              <a:t>共 建 安 全 的 工 作 环 境</a:t>
            </a:r>
            <a:endParaRPr lang="zh-CN" sz="14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urrent original ivory/beige upper canopy and lower architectural arcs with all foreground removed.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484094" y="3771536"/>
            <a:ext cx="5393114" cy="0"/>
          </a:xfrm>
          <a:prstGeom prst="line">
            <a:avLst/>
          </a:prstGeom>
          <a:noFill/>
          <a:ln w="6985">
            <a:solidFill>
              <a:srgbClr val="C8BDB3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6212455" y="3771536"/>
            <a:ext cx="5502434" cy="0"/>
          </a:xfrm>
          <a:prstGeom prst="line">
            <a:avLst/>
          </a:prstGeom>
          <a:noFill/>
          <a:ln w="6985">
            <a:solidFill>
              <a:srgbClr val="C8BDB3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2765235" y="2601813"/>
            <a:ext cx="0" cy="881847"/>
          </a:xfrm>
          <a:prstGeom prst="line">
            <a:avLst/>
          </a:prstGeom>
          <a:noFill/>
          <a:ln w="6985">
            <a:solidFill>
              <a:srgbClr val="C8BDB3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8238517" y="2550797"/>
            <a:ext cx="0" cy="1100487"/>
          </a:xfrm>
          <a:prstGeom prst="line">
            <a:avLst/>
          </a:prstGeom>
          <a:noFill/>
          <a:ln w="6985">
            <a:solidFill>
              <a:srgbClr val="C8BDB3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2765235" y="4132291"/>
            <a:ext cx="0" cy="925575"/>
          </a:xfrm>
          <a:prstGeom prst="line">
            <a:avLst/>
          </a:prstGeom>
          <a:noFill/>
          <a:ln w="6985">
            <a:solidFill>
              <a:srgbClr val="C8BDB3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8238517" y="4081275"/>
            <a:ext cx="0" cy="1034895"/>
          </a:xfrm>
          <a:prstGeom prst="line">
            <a:avLst/>
          </a:prstGeom>
          <a:noFill/>
          <a:ln w="6985">
            <a:solidFill>
              <a:srgbClr val="C8BDB3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484094" y="5677345"/>
            <a:ext cx="262368" cy="0"/>
          </a:xfrm>
          <a:prstGeom prst="line">
            <a:avLst/>
          </a:prstGeom>
          <a:noFill/>
          <a:ln w="12065">
            <a:solidFill>
              <a:srgbClr val="66584F"/>
            </a:solidFill>
          </a:ln>
        </p:spPr>
        <p:txBody>
          <a:bodyPr/>
          <a:lstStyle/>
          <a:p/>
        </p:txBody>
      </p:sp>
      <p:pic>
        <p:nvPicPr>
          <p:cNvPr id="10" name="TAI KOO LI 太古里 前滩 source brand; brand-wordmark identity exception."/>
          <p:cNvPicPr/>
          <p:nvPr/>
        </p:nvPicPr>
        <p:blipFill>
          <a:blip r:embed="rId3"/>
          <a:stretch>
            <a:fillRect/>
          </a:stretch>
        </p:blipFill>
        <p:spPr>
          <a:xfrm>
            <a:off x="386396" y="394573"/>
            <a:ext cx="771148" cy="1083868"/>
          </a:xfrm>
          <a:prstGeom prst="rect">
            <a:avLst/>
          </a:prstGeom>
        </p:spPr>
      </p:pic>
      <p:pic>
        <p:nvPicPr>
          <p:cNvPr id="11" name="Silver laptop with Copilot and AI Platform app marks in asymmetric leaf photo frame."/>
          <p:cNvPicPr/>
          <p:nvPr/>
        </p:nvPicPr>
        <p:blipFill>
          <a:blip r:embed="rId4"/>
          <a:stretch>
            <a:fillRect/>
          </a:stretch>
        </p:blipFill>
        <p:spPr>
          <a:xfrm>
            <a:off x="373251" y="2214559"/>
            <a:ext cx="2276900" cy="1539747"/>
          </a:xfrm>
          <a:prstGeom prst="rect">
            <a:avLst/>
          </a:prstGeom>
        </p:spPr>
      </p:pic>
      <p:pic>
        <p:nvPicPr>
          <p:cNvPr id="12" name="Source glass/masonry building and tree photo, asymmetric leaf frame."/>
          <p:cNvPicPr/>
          <p:nvPr/>
        </p:nvPicPr>
        <p:blipFill>
          <a:blip r:embed="rId5"/>
          <a:stretch>
            <a:fillRect/>
          </a:stretch>
        </p:blipFill>
        <p:spPr>
          <a:xfrm>
            <a:off x="6105444" y="2221069"/>
            <a:ext cx="2019400" cy="1526727"/>
          </a:xfrm>
          <a:prstGeom prst="rect">
            <a:avLst/>
          </a:prstGeom>
        </p:spPr>
      </p:pic>
      <p:pic>
        <p:nvPicPr>
          <p:cNvPr id="13" name="Source crossed-out brown AI pictogram and beige asymmetric leaf panel. AI letters are semantic pictogram identity; main title and heading are native."/>
          <p:cNvPicPr/>
          <p:nvPr/>
        </p:nvPicPr>
        <p:blipFill>
          <a:blip r:embed="rId6"/>
          <a:stretch>
            <a:fillRect/>
          </a:stretch>
        </p:blipFill>
        <p:spPr>
          <a:xfrm>
            <a:off x="375834" y="3776772"/>
            <a:ext cx="2232870" cy="1571021"/>
          </a:xfrm>
          <a:prstGeom prst="rect">
            <a:avLst/>
          </a:prstGeom>
        </p:spPr>
      </p:pic>
      <p:pic>
        <p:nvPicPr>
          <p:cNvPr id="14" name="Metallic pen on beige notebook, source close-up angle and asymmetric leaf silhouette."/>
          <p:cNvPicPr/>
          <p:nvPr/>
        </p:nvPicPr>
        <p:blipFill>
          <a:blip r:embed="rId7"/>
          <a:stretch>
            <a:fillRect/>
          </a:stretch>
        </p:blipFill>
        <p:spPr>
          <a:xfrm>
            <a:off x="6107866" y="3776772"/>
            <a:ext cx="2006852" cy="1571021"/>
          </a:xfrm>
          <a:prstGeom prst="rect">
            <a:avLst/>
          </a:prstGeom>
        </p:spPr>
      </p:pic>
      <p:pic>
        <p:nvPicPr>
          <p:cNvPr id="15" name="Lujiazui Group 陆家嘴集团 and Swire Properties 太古地产 emblems/wordmarks and lockup rule; brand identity exception."/>
          <p:cNvPicPr/>
          <p:nvPr/>
        </p:nvPicPr>
        <p:blipFill>
          <a:blip r:embed="rId8"/>
          <a:stretch>
            <a:fillRect/>
          </a:stretch>
        </p:blipFill>
        <p:spPr>
          <a:xfrm>
            <a:off x="9095523" y="5978504"/>
            <a:ext cx="2673360" cy="585625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570005" y="553887"/>
            <a:ext cx="867271" cy="9109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21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AI</a:t>
            </a:r>
            <a:endParaRPr lang="zh-CN" sz="6210"/>
          </a:p>
        </p:txBody>
      </p:sp>
      <p:sp>
        <p:nvSpPr>
          <p:cNvPr id="17" name="TextBox 17"/>
          <p:cNvSpPr txBox="1"/>
          <p:nvPr/>
        </p:nvSpPr>
        <p:spPr>
          <a:xfrm>
            <a:off x="2561172" y="546599"/>
            <a:ext cx="3170276" cy="9328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97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使用须知</a:t>
            </a:r>
            <a:endParaRPr lang="zh-CN" sz="5970"/>
          </a:p>
        </p:txBody>
      </p:sp>
      <p:sp>
        <p:nvSpPr>
          <p:cNvPr id="18" name="TextBox 18"/>
          <p:cNvSpPr txBox="1"/>
          <p:nvPr/>
        </p:nvSpPr>
        <p:spPr>
          <a:xfrm>
            <a:off x="1591869" y="1472174"/>
            <a:ext cx="4008395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90">
                <a:solidFill>
                  <a:srgbClr val="66584F"/>
                </a:solidFill>
                <a:latin typeface="Liberation Sans"/>
                <a:ea typeface="Liberation Sans"/>
                <a:cs typeface="Liberation Sans"/>
              </a:rPr>
              <a:t>A  I    U  S  A  G  E    G  U  I  D  E  L  I  N  E</a:t>
            </a:r>
            <a:endParaRPr lang="zh-CN" sz="1490"/>
          </a:p>
        </p:txBody>
      </p:sp>
      <p:sp>
        <p:nvSpPr>
          <p:cNvPr id="19" name="TextBox 19"/>
          <p:cNvSpPr txBox="1"/>
          <p:nvPr/>
        </p:nvSpPr>
        <p:spPr>
          <a:xfrm>
            <a:off x="1591869" y="1778270"/>
            <a:ext cx="4022971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7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规 范 使 用 AI 工 具，确 保 信 息 与 数 据 安 全</a:t>
            </a:r>
            <a:endParaRPr lang="zh-CN" sz="1470"/>
          </a:p>
        </p:txBody>
      </p:sp>
      <p:sp>
        <p:nvSpPr>
          <p:cNvPr id="20" name="TextBox 20"/>
          <p:cNvSpPr txBox="1"/>
          <p:nvPr/>
        </p:nvSpPr>
        <p:spPr>
          <a:xfrm>
            <a:off x="2947435" y="2550797"/>
            <a:ext cx="2871469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1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已批准工具</a:t>
            </a:r>
            <a:endParaRPr lang="zh-CN" sz="2010"/>
          </a:p>
        </p:txBody>
      </p:sp>
      <p:sp>
        <p:nvSpPr>
          <p:cNvPr id="21" name="TextBox 21"/>
          <p:cNvSpPr txBox="1"/>
          <p:nvPr/>
        </p:nvSpPr>
        <p:spPr>
          <a:xfrm>
            <a:off x="8420717" y="2507069"/>
            <a:ext cx="3265020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1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模型使用路径</a:t>
            </a:r>
            <a:endParaRPr lang="zh-CN" sz="2010"/>
          </a:p>
        </p:txBody>
      </p:sp>
      <p:sp>
        <p:nvSpPr>
          <p:cNvPr id="22" name="TextBox 22"/>
          <p:cNvSpPr txBox="1"/>
          <p:nvPr/>
        </p:nvSpPr>
        <p:spPr>
          <a:xfrm>
            <a:off x="2940147" y="4037547"/>
            <a:ext cx="2929773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1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暂未批准工具</a:t>
            </a:r>
            <a:endParaRPr lang="zh-CN" sz="2010"/>
          </a:p>
        </p:txBody>
      </p:sp>
      <p:sp>
        <p:nvSpPr>
          <p:cNvPr id="23" name="TextBox 23"/>
          <p:cNvSpPr txBox="1"/>
          <p:nvPr/>
        </p:nvSpPr>
        <p:spPr>
          <a:xfrm>
            <a:off x="8420717" y="4037547"/>
            <a:ext cx="3279596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1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使用要求</a:t>
            </a:r>
            <a:endParaRPr lang="zh-CN" sz="2010"/>
          </a:p>
        </p:txBody>
      </p:sp>
      <p:sp>
        <p:nvSpPr>
          <p:cNvPr id="24" name="TextBox 24"/>
          <p:cNvSpPr txBox="1"/>
          <p:nvPr/>
        </p:nvSpPr>
        <p:spPr>
          <a:xfrm>
            <a:off x="2954723" y="2966213"/>
            <a:ext cx="2900621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目前集团正式批准的 AI 工具为</a:t>
            </a:r>
            <a:endParaRPr lang="zh-CN" sz="1320"/>
          </a:p>
        </p:txBody>
      </p:sp>
      <p:sp>
        <p:nvSpPr>
          <p:cNvPr id="25" name="TextBox 25"/>
          <p:cNvSpPr txBox="1"/>
          <p:nvPr/>
        </p:nvSpPr>
        <p:spPr>
          <a:xfrm>
            <a:off x="2954723" y="3221292"/>
            <a:ext cx="2900621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MS Copilot 与 AI Platform。</a:t>
            </a:r>
            <a:endParaRPr lang="zh-CN" sz="1320"/>
          </a:p>
        </p:txBody>
      </p:sp>
      <p:sp>
        <p:nvSpPr>
          <p:cNvPr id="26" name="TextBox 26"/>
          <p:cNvSpPr txBox="1"/>
          <p:nvPr/>
        </p:nvSpPr>
        <p:spPr>
          <a:xfrm>
            <a:off x="8420717" y="2907909"/>
            <a:ext cx="341078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AI Guideline 中提到的相关模型，是通过</a:t>
            </a:r>
            <a:endParaRPr lang="zh-CN" sz="1320"/>
          </a:p>
        </p:txBody>
      </p:sp>
      <p:sp>
        <p:nvSpPr>
          <p:cNvPr id="27" name="TextBox 27"/>
          <p:cNvSpPr txBox="1"/>
          <p:nvPr/>
        </p:nvSpPr>
        <p:spPr>
          <a:xfrm>
            <a:off x="8420717" y="3155700"/>
            <a:ext cx="341078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AI Platform 调用，并不代表可通过独立</a:t>
            </a:r>
            <a:endParaRPr lang="zh-CN" sz="1320"/>
          </a:p>
        </p:txBody>
      </p:sp>
      <p:sp>
        <p:nvSpPr>
          <p:cNvPr id="28" name="TextBox 28"/>
          <p:cNvSpPr txBox="1"/>
          <p:nvPr/>
        </p:nvSpPr>
        <p:spPr>
          <a:xfrm>
            <a:off x="8420717" y="3403492"/>
            <a:ext cx="341078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客户端或网页版直接使用。</a:t>
            </a:r>
            <a:endParaRPr lang="zh-CN" sz="1320"/>
          </a:p>
        </p:txBody>
      </p:sp>
      <p:sp>
        <p:nvSpPr>
          <p:cNvPr id="29" name="TextBox 29"/>
          <p:cNvSpPr txBox="1"/>
          <p:nvPr/>
        </p:nvSpPr>
        <p:spPr>
          <a:xfrm>
            <a:off x="2947435" y="4452963"/>
            <a:ext cx="300994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6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WorkBuddy、豆包等独立客户端或网页版，</a:t>
            </a:r>
            <a:endParaRPr lang="zh-CN" sz="1260"/>
          </a:p>
        </p:txBody>
      </p:sp>
      <p:sp>
        <p:nvSpPr>
          <p:cNvPr id="30" name="TextBox 30"/>
          <p:cNvSpPr txBox="1"/>
          <p:nvPr/>
        </p:nvSpPr>
        <p:spPr>
          <a:xfrm>
            <a:off x="2947435" y="4700755"/>
            <a:ext cx="300994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目前尚未获得集团正式批准，相关工具仍在</a:t>
            </a:r>
            <a:endParaRPr lang="zh-CN" sz="1250"/>
          </a:p>
        </p:txBody>
      </p:sp>
      <p:sp>
        <p:nvSpPr>
          <p:cNvPr id="31" name="TextBox 31"/>
          <p:cNvSpPr txBox="1"/>
          <p:nvPr/>
        </p:nvSpPr>
        <p:spPr>
          <a:xfrm>
            <a:off x="2947435" y="4941258"/>
            <a:ext cx="300994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评估中。</a:t>
            </a:r>
            <a:endParaRPr lang="zh-CN" sz="1320"/>
          </a:p>
        </p:txBody>
      </p:sp>
      <p:sp>
        <p:nvSpPr>
          <p:cNvPr id="32" name="TextBox 32"/>
          <p:cNvSpPr txBox="1"/>
          <p:nvPr/>
        </p:nvSpPr>
        <p:spPr>
          <a:xfrm>
            <a:off x="8420717" y="4438387"/>
            <a:ext cx="3549252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现阶段请勿使用未获批准的 AI 工具。</a:t>
            </a:r>
            <a:endParaRPr lang="zh-CN" sz="1320"/>
          </a:p>
        </p:txBody>
      </p:sp>
      <p:sp>
        <p:nvSpPr>
          <p:cNvPr id="33" name="TextBox 33"/>
          <p:cNvSpPr txBox="1"/>
          <p:nvPr/>
        </p:nvSpPr>
        <p:spPr>
          <a:xfrm>
            <a:off x="8420717" y="4678891"/>
            <a:ext cx="3549252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未经批准的工具不得输入公司内部、敏感或个人信息。</a:t>
            </a:r>
            <a:endParaRPr lang="zh-CN" sz="1180"/>
          </a:p>
        </p:txBody>
      </p:sp>
      <p:sp>
        <p:nvSpPr>
          <p:cNvPr id="34" name="TextBox 34"/>
          <p:cNvSpPr txBox="1"/>
          <p:nvPr/>
        </p:nvSpPr>
        <p:spPr>
          <a:xfrm>
            <a:off x="8420717" y="4919394"/>
            <a:ext cx="3549252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2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如有疑问，请先咨询 IT 或信息安全同事。</a:t>
            </a:r>
            <a:endParaRPr lang="zh-CN" sz="1320"/>
          </a:p>
        </p:txBody>
      </p:sp>
      <p:sp>
        <p:nvSpPr>
          <p:cNvPr id="35" name="TextBox 35"/>
          <p:cNvSpPr txBox="1"/>
          <p:nvPr/>
        </p:nvSpPr>
        <p:spPr>
          <a:xfrm>
            <a:off x="476806" y="5844969"/>
            <a:ext cx="1413870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合 规 使 用  AI</a:t>
            </a:r>
            <a:endParaRPr lang="zh-CN" sz="1550"/>
          </a:p>
        </p:txBody>
      </p:sp>
      <p:sp>
        <p:nvSpPr>
          <p:cNvPr id="36" name="TextBox 36"/>
          <p:cNvSpPr txBox="1"/>
          <p:nvPr/>
        </p:nvSpPr>
        <p:spPr>
          <a:xfrm>
            <a:off x="476806" y="6129201"/>
            <a:ext cx="1413870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60">
                <a:solidFill>
                  <a:srgbClr val="66584F"/>
                </a:solidFill>
                <a:latin typeface="Noto Sans CJK SC"/>
                <a:ea typeface="Noto Sans CJK SC"/>
                <a:cs typeface="Noto Sans CJK SC"/>
              </a:rPr>
              <a:t>保 障 信 息 安 全</a:t>
            </a:r>
            <a:endParaRPr lang="zh-CN" sz="14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