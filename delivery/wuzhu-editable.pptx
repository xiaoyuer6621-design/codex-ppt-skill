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classroom scene with all editable lettering and separate ornaments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7175" y="0"/>
            <a:ext cx="12177346" cy="6858000"/>
          </a:xfrm>
          <a:prstGeom prst="rect">
            <a:avLst/>
          </a:prstGeom>
        </p:spPr>
      </p:pic>
      <p:pic>
        <p:nvPicPr>
          <p:cNvPr id="3" name="Original dark blue brushed top banner with tiny gold accent; all lettering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2486697" y="236944"/>
            <a:ext cx="7350185" cy="1646449"/>
          </a:xfrm>
          <a:prstGeom prst="rect">
            <a:avLst/>
          </a:prstGeom>
        </p:spPr>
      </p:pic>
      <p:pic>
        <p:nvPicPr>
          <p:cNvPr id="4" name="Original thin gold title flourish with disconnected tails treated as one selectable ornament."/>
          <p:cNvPicPr/>
          <p:nvPr/>
        </p:nvPicPr>
        <p:blipFill>
          <a:blip r:embed="rId4"/>
          <a:stretch>
            <a:fillRect/>
          </a:stretch>
        </p:blipFill>
        <p:spPr>
          <a:xfrm>
            <a:off x="1640091" y="3188234"/>
            <a:ext cx="9054388" cy="772905"/>
          </a:xfrm>
          <a:prstGeom prst="rect">
            <a:avLst/>
          </a:prstGeom>
        </p:spPr>
      </p:pic>
      <p:pic>
        <p:nvPicPr>
          <p:cNvPr id="5" name="Original muted blue underline beneath first phrase; no character reflections."/>
          <p:cNvPicPr/>
          <p:nvPr/>
        </p:nvPicPr>
        <p:blipFill>
          <a:blip r:embed="rId5"/>
          <a:stretch>
            <a:fillRect/>
          </a:stretch>
        </p:blipFill>
        <p:spPr>
          <a:xfrm>
            <a:off x="1852013" y="4553337"/>
            <a:ext cx="2431968" cy="352522"/>
          </a:xfrm>
          <a:prstGeom prst="rect">
            <a:avLst/>
          </a:prstGeom>
        </p:spPr>
      </p:pic>
      <p:pic>
        <p:nvPicPr>
          <p:cNvPr id="6" name="Original faint short blue/gray underline beneath second phrase."/>
          <p:cNvPicPr/>
          <p:nvPr/>
        </p:nvPicPr>
        <p:blipFill>
          <a:blip r:embed="rId6"/>
          <a:stretch>
            <a:fillRect/>
          </a:stretch>
        </p:blipFill>
        <p:spPr>
          <a:xfrm>
            <a:off x="5049319" y="4551710"/>
            <a:ext cx="1807308" cy="392272"/>
          </a:xfrm>
          <a:prstGeom prst="rect">
            <a:avLst/>
          </a:prstGeom>
        </p:spPr>
      </p:pic>
      <p:pic>
        <p:nvPicPr>
          <p:cNvPr id="7" name="Original orange brush stroke beneath help plea."/>
          <p:cNvPicPr/>
          <p:nvPr/>
        </p:nvPicPr>
        <p:blipFill>
          <a:blip r:embed="rId7"/>
          <a:stretch>
            <a:fillRect/>
          </a:stretch>
        </p:blipFill>
        <p:spPr>
          <a:xfrm>
            <a:off x="8033537" y="4730466"/>
            <a:ext cx="2696871" cy="32971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623011" y="406644"/>
            <a:ext cx="1692519" cy="118696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800">
                <a:solidFill>
                  <a:srgbClr val="FFDE8B"/>
                </a:solidFill>
                <a:latin typeface="KaiTi"/>
                <a:ea typeface="KaiTi"/>
                <a:cs typeface="KaiTi"/>
              </a:rPr>
              <a:t>真相</a:t>
            </a:r>
            <a:endParaRPr lang="zh-CN" sz="6800"/>
          </a:p>
        </p:txBody>
      </p:sp>
      <p:sp>
        <p:nvSpPr>
          <p:cNvPr id="9" name="TextBox 9"/>
          <p:cNvSpPr txBox="1"/>
          <p:nvPr/>
        </p:nvSpPr>
        <p:spPr>
          <a:xfrm>
            <a:off x="5282559" y="747346"/>
            <a:ext cx="241788" cy="5385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200" b="1">
                <a:solidFill>
                  <a:srgbClr val="FFDE8B"/>
                </a:solidFill>
                <a:latin typeface="SimSun"/>
                <a:ea typeface="SimSun"/>
                <a:cs typeface="SimSun"/>
              </a:rPr>
              <a:t>:</a:t>
            </a:r>
            <a:endParaRPr lang="zh-CN" sz="4200"/>
          </a:p>
        </p:txBody>
      </p:sp>
      <p:sp>
        <p:nvSpPr>
          <p:cNvPr id="10" name="TextBox 10"/>
          <p:cNvSpPr txBox="1"/>
          <p:nvPr/>
        </p:nvSpPr>
        <p:spPr>
          <a:xfrm>
            <a:off x="5502367" y="549519"/>
            <a:ext cx="3143250" cy="9341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850">
                <a:solidFill>
                  <a:srgbClr val="FFFFFF"/>
                </a:solidFill>
                <a:latin typeface="KaiTi"/>
                <a:ea typeface="KaiTi"/>
                <a:cs typeface="KaiTi"/>
              </a:rPr>
              <a:t>沉默的呼救</a:t>
            </a:r>
            <a:endParaRPr lang="zh-CN" sz="4850"/>
          </a:p>
        </p:txBody>
      </p:sp>
      <p:sp>
        <p:nvSpPr>
          <p:cNvPr id="11" name="TextBox 11"/>
          <p:cNvSpPr txBox="1"/>
          <p:nvPr/>
        </p:nvSpPr>
        <p:spPr>
          <a:xfrm>
            <a:off x="1963463" y="1912327"/>
            <a:ext cx="8572500" cy="18683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200">
                <a:solidFill>
                  <a:srgbClr val="D9250B"/>
                </a:solidFill>
                <a:latin typeface="KaiTi"/>
                <a:ea typeface="KaiTi"/>
                <a:cs typeface="KaiTi"/>
              </a:rPr>
              <a:t>“习得性无助”</a:t>
            </a:r>
            <a:endParaRPr lang="zh-CN" sz="12200"/>
          </a:p>
        </p:txBody>
      </p:sp>
      <p:sp>
        <p:nvSpPr>
          <p:cNvPr id="12" name="TextBox 12"/>
          <p:cNvSpPr txBox="1"/>
          <p:nvPr/>
        </p:nvSpPr>
        <p:spPr>
          <a:xfrm>
            <a:off x="1886530" y="3934558"/>
            <a:ext cx="2560760" cy="9451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850" b="1">
                <a:solidFill>
                  <a:srgbClr val="274D70"/>
                </a:solidFill>
                <a:latin typeface="SimSun"/>
                <a:ea typeface="SimSun"/>
                <a:cs typeface="SimSun"/>
              </a:rPr>
              <a:t>“我不会”</a:t>
            </a:r>
            <a:endParaRPr lang="zh-CN" sz="4850"/>
          </a:p>
        </p:txBody>
      </p:sp>
      <p:sp>
        <p:nvSpPr>
          <p:cNvPr id="13" name="TextBox 13"/>
          <p:cNvSpPr txBox="1"/>
          <p:nvPr/>
        </p:nvSpPr>
        <p:spPr>
          <a:xfrm>
            <a:off x="4919876" y="3934558"/>
            <a:ext cx="2011240" cy="9451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850" b="1">
                <a:solidFill>
                  <a:srgbClr val="274D70"/>
                </a:solidFill>
                <a:latin typeface="SimSun"/>
                <a:ea typeface="SimSun"/>
                <a:cs typeface="SimSun"/>
              </a:rPr>
              <a:t>“我笨”</a:t>
            </a:r>
            <a:endParaRPr lang="zh-CN" sz="4850"/>
          </a:p>
        </p:txBody>
      </p:sp>
      <p:sp>
        <p:nvSpPr>
          <p:cNvPr id="14" name="TextBox 14"/>
          <p:cNvSpPr txBox="1"/>
          <p:nvPr/>
        </p:nvSpPr>
        <p:spPr>
          <a:xfrm>
            <a:off x="7073992" y="4088423"/>
            <a:ext cx="461596" cy="6814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29">
                <a:solidFill>
                  <a:srgbClr val="36516F"/>
                </a:solidFill>
                <a:latin typeface="Liberation Sans"/>
                <a:ea typeface="Liberation Sans"/>
                <a:cs typeface="Liberation Sans"/>
              </a:rPr>
              <a:t>=</a:t>
            </a:r>
            <a:endParaRPr lang="zh-CN" sz="3629"/>
          </a:p>
        </p:txBody>
      </p:sp>
      <p:sp>
        <p:nvSpPr>
          <p:cNvPr id="15" name="TextBox 15"/>
          <p:cNvSpPr txBox="1"/>
          <p:nvPr/>
        </p:nvSpPr>
        <p:spPr>
          <a:xfrm>
            <a:off x="7799357" y="3890596"/>
            <a:ext cx="3044337" cy="1033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5540" b="1">
                <a:solidFill>
                  <a:srgbClr val="E32D06"/>
                </a:solidFill>
                <a:latin typeface="SimSun"/>
                <a:ea typeface="SimSun"/>
                <a:cs typeface="SimSun"/>
              </a:rPr>
              <a:t>“救救我”</a:t>
            </a:r>
            <a:endParaRPr lang="zh-CN" sz="55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