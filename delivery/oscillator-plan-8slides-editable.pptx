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image" Target="../media/image44.png"/><Relationship Id="rId20" Type="http://schemas.openxmlformats.org/officeDocument/2006/relationships/image" Target="../media/image45.png"/><Relationship Id="rId21" Type="http://schemas.openxmlformats.org/officeDocument/2006/relationships/image" Target="../media/image46.png"/><Relationship Id="rId22" Type="http://schemas.openxmlformats.org/officeDocument/2006/relationships/image" Target="../media/image47.png"/><Relationship Id="rId23" Type="http://schemas.openxmlformats.org/officeDocument/2006/relationships/image" Target="../media/image4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image" Target="../media/image82.png"/><Relationship Id="rId15" Type="http://schemas.openxmlformats.org/officeDocument/2006/relationships/image" Target="../media/image8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Relationship Id="rId9" Type="http://schemas.openxmlformats.org/officeDocument/2006/relationships/image" Target="../media/image91.png"/><Relationship Id="rId10" Type="http://schemas.openxmlformats.org/officeDocument/2006/relationships/image" Target="../media/image92.png"/><Relationship Id="rId11" Type="http://schemas.openxmlformats.org/officeDocument/2006/relationships/image" Target="../media/image93.png"/><Relationship Id="rId12" Type="http://schemas.openxmlformats.org/officeDocument/2006/relationships/image" Target="../media/image94.png"/><Relationship Id="rId13" Type="http://schemas.openxmlformats.org/officeDocument/2006/relationships/image" Target="../media/image95.png"/><Relationship Id="rId14" Type="http://schemas.openxmlformats.org/officeDocument/2006/relationships/image" Target="../media/image96.png"/><Relationship Id="rId15" Type="http://schemas.openxmlformats.org/officeDocument/2006/relationships/image" Target="../media/image97.png"/><Relationship Id="rId16" Type="http://schemas.openxmlformats.org/officeDocument/2006/relationships/image" Target="../media/image98.png"/><Relationship Id="rId17" Type="http://schemas.openxmlformats.org/officeDocument/2006/relationships/image" Target="../media/image99.png"/><Relationship Id="rId18" Type="http://schemas.openxmlformats.org/officeDocument/2006/relationships/image" Target="../media/image100.png"/><Relationship Id="rId19" Type="http://schemas.openxmlformats.org/officeDocument/2006/relationships/image" Target="../media/image101.png"/><Relationship Id="rId20" Type="http://schemas.openxmlformats.org/officeDocument/2006/relationships/image" Target="../media/image102.png"/><Relationship Id="rId21" Type="http://schemas.openxmlformats.org/officeDocument/2006/relationships/image" Target="../media/image103.png"/><Relationship Id="rId22" Type="http://schemas.openxmlformats.org/officeDocument/2006/relationships/image" Target="../media/image104.png"/><Relationship Id="rId23" Type="http://schemas.openxmlformats.org/officeDocument/2006/relationships/image" Target="../media/image10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image" Target="../media/image112.png"/><Relationship Id="rId9" Type="http://schemas.openxmlformats.org/officeDocument/2006/relationships/image" Target="../media/image113.png"/><Relationship Id="rId10" Type="http://schemas.openxmlformats.org/officeDocument/2006/relationships/image" Target="../media/image114.png"/><Relationship Id="rId11" Type="http://schemas.openxmlformats.org/officeDocument/2006/relationships/image" Target="../media/image115.png"/><Relationship Id="rId12" Type="http://schemas.openxmlformats.org/officeDocument/2006/relationships/image" Target="../media/image116.png"/><Relationship Id="rId13" Type="http://schemas.openxmlformats.org/officeDocument/2006/relationships/image" Target="../media/image117.png"/><Relationship Id="rId14" Type="http://schemas.openxmlformats.org/officeDocument/2006/relationships/image" Target="../media/image118.png"/><Relationship Id="rId15" Type="http://schemas.openxmlformats.org/officeDocument/2006/relationships/image" Target="../media/image119.png"/><Relationship Id="rId16" Type="http://schemas.openxmlformats.org/officeDocument/2006/relationships/image" Target="../media/image120.png"/><Relationship Id="rId17" Type="http://schemas.openxmlformats.org/officeDocument/2006/relationships/image" Target="../media/image121.png"/><Relationship Id="rId18" Type="http://schemas.openxmlformats.org/officeDocument/2006/relationships/image" Target="../media/image12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7.png"/><Relationship Id="rId9" Type="http://schemas.openxmlformats.org/officeDocument/2006/relationships/image" Target="../media/image138.png"/><Relationship Id="rId10" Type="http://schemas.openxmlformats.org/officeDocument/2006/relationships/image" Target="../media/image139.png"/><Relationship Id="rId11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5871" y="0"/>
            <a:ext cx="12179953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376330" y="1102340"/>
            <a:ext cx="5918300" cy="515028"/>
          </a:xfrm>
          <a:prstGeom prst="roundRect">
            <a:avLst>
              <a:gd name="adj" fmla="val 17544"/>
            </a:avLst>
          </a:prstGeom>
          <a:solidFill>
            <a:srgbClr val="D5E9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7261437" y="1084269"/>
            <a:ext cx="4689462" cy="515028"/>
          </a:xfrm>
          <a:prstGeom prst="roundRect">
            <a:avLst>
              <a:gd name="adj" fmla="val 15789"/>
            </a:avLst>
          </a:prstGeom>
          <a:solidFill>
            <a:srgbClr val="D6EEE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olygon 5"/>
          <p:cNvSpPr/>
          <p:nvPr/>
        </p:nvSpPr>
        <p:spPr>
          <a:xfrm>
            <a:off x="1035927" y="180711"/>
            <a:ext cx="5330988" cy="6686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3211"/>
                </a:lnTo>
                <a:lnTo>
                  <a:pt x="20941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9D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1063033" y="189747"/>
            <a:ext cx="406601" cy="668632"/>
          </a:xfrm>
          <a:prstGeom prst="rect">
            <a:avLst/>
          </a:prstGeom>
          <a:solidFill>
            <a:srgbClr val="A4D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385365" y="1084269"/>
            <a:ext cx="5909265" cy="505992"/>
          </a:xfrm>
          <a:prstGeom prst="roundRect">
            <a:avLst>
              <a:gd name="adj" fmla="val 17857"/>
            </a:avLst>
          </a:prstGeom>
          <a:solidFill>
            <a:srgbClr val="E9F7FF"/>
          </a:solidFill>
          <a:ln w="10160">
            <a:solidFill>
              <a:srgbClr val="66B8FF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7270472" y="1075233"/>
            <a:ext cx="4680427" cy="496957"/>
          </a:xfrm>
          <a:prstGeom prst="roundRect">
            <a:avLst>
              <a:gd name="adj" fmla="val 16364"/>
            </a:avLst>
          </a:prstGeom>
          <a:solidFill>
            <a:srgbClr val="ECFBF4"/>
          </a:solidFill>
          <a:ln w="10160">
            <a:solidFill>
              <a:srgbClr val="20AA76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31152" y="4427431"/>
            <a:ext cx="6496577" cy="1590261"/>
          </a:xfrm>
          <a:prstGeom prst="roundRect">
            <a:avLst>
              <a:gd name="adj" fmla="val 11364"/>
            </a:avLst>
          </a:prstGeom>
          <a:solidFill>
            <a:srgbClr val="C0E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990369" y="4427431"/>
            <a:ext cx="4915352" cy="1608332"/>
          </a:xfrm>
          <a:prstGeom prst="roundRect">
            <a:avLst>
              <a:gd name="adj" fmla="val 11236"/>
            </a:avLst>
          </a:prstGeom>
          <a:solidFill>
            <a:srgbClr val="DAE8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1126282" y="189747"/>
            <a:ext cx="4951494" cy="6686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891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96B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49223" y="1996862"/>
            <a:ext cx="1716759" cy="1590261"/>
          </a:xfrm>
          <a:prstGeom prst="roundRect">
            <a:avLst>
              <a:gd name="adj" fmla="val 7955"/>
            </a:avLst>
          </a:prstGeom>
          <a:solidFill>
            <a:srgbClr val="CCE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2337049" y="1996862"/>
            <a:ext cx="1716759" cy="1590261"/>
          </a:xfrm>
          <a:prstGeom prst="roundRect">
            <a:avLst>
              <a:gd name="adj" fmla="val 7955"/>
            </a:avLst>
          </a:prstGeom>
          <a:solidFill>
            <a:srgbClr val="CCE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288733" y="1996862"/>
            <a:ext cx="1698688" cy="1590261"/>
          </a:xfrm>
          <a:prstGeom prst="roundRect">
            <a:avLst>
              <a:gd name="adj" fmla="val 7955"/>
            </a:avLst>
          </a:prstGeom>
          <a:solidFill>
            <a:srgbClr val="CCE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6258488" y="1996862"/>
            <a:ext cx="1599296" cy="1590261"/>
          </a:xfrm>
          <a:prstGeom prst="roundRect">
            <a:avLst>
              <a:gd name="adj" fmla="val 7955"/>
            </a:avLst>
          </a:prstGeom>
          <a:solidFill>
            <a:srgbClr val="CCE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8562559" y="1996862"/>
            <a:ext cx="1581225" cy="1590261"/>
          </a:xfrm>
          <a:prstGeom prst="roundRect">
            <a:avLst>
              <a:gd name="adj" fmla="val 8000"/>
            </a:avLst>
          </a:prstGeom>
          <a:solidFill>
            <a:srgbClr val="CCE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10414852" y="1996862"/>
            <a:ext cx="1499905" cy="1590261"/>
          </a:xfrm>
          <a:prstGeom prst="roundRect">
            <a:avLst>
              <a:gd name="adj" fmla="val 8434"/>
            </a:avLst>
          </a:prstGeom>
          <a:solidFill>
            <a:srgbClr val="CCE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1035927" y="3749763"/>
            <a:ext cx="10146949" cy="478885"/>
          </a:xfrm>
          <a:prstGeom prst="roundRect">
            <a:avLst>
              <a:gd name="adj" fmla="val 18868"/>
            </a:avLst>
          </a:prstGeom>
          <a:solidFill>
            <a:srgbClr val="EFD9D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331152" y="4400324"/>
            <a:ext cx="6487542" cy="1590261"/>
          </a:xfrm>
          <a:prstGeom prst="roundRect">
            <a:avLst>
              <a:gd name="adj" fmla="val 11364"/>
            </a:avLst>
          </a:prstGeom>
          <a:solidFill>
            <a:srgbClr val="E9F8FF"/>
          </a:solidFill>
          <a:ln w="11430">
            <a:solidFill>
              <a:srgbClr val="4DB9F6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6981334" y="4409360"/>
            <a:ext cx="4915352" cy="1608332"/>
          </a:xfrm>
          <a:prstGeom prst="roundRect">
            <a:avLst>
              <a:gd name="adj" fmla="val 11236"/>
            </a:avLst>
          </a:prstGeom>
          <a:solidFill>
            <a:srgbClr val="FFF9EE"/>
          </a:solidFill>
          <a:ln w="11430">
            <a:solidFill>
              <a:srgbClr val="F6AB48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6077776" y="858379"/>
            <a:ext cx="6108047" cy="0"/>
          </a:xfrm>
          <a:prstGeom prst="line">
            <a:avLst/>
          </a:prstGeom>
          <a:noFill/>
          <a:ln w="8890">
            <a:solidFill>
              <a:srgbClr val="3F98EE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340188" y="1969755"/>
            <a:ext cx="1716759" cy="1590261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078EFF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2328014" y="1969755"/>
            <a:ext cx="1716759" cy="1590261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08B3B9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4279697" y="1969755"/>
            <a:ext cx="1698688" cy="1590261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F59A07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6249452" y="1969755"/>
            <a:ext cx="1599296" cy="1590261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7941EF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8553523" y="1969755"/>
            <a:ext cx="1581225" cy="159026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3E55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10405816" y="1969755"/>
            <a:ext cx="1499905" cy="1590261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08AA67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1026891" y="3740727"/>
            <a:ext cx="10146949" cy="469850"/>
          </a:xfrm>
          <a:prstGeom prst="roundRect">
            <a:avLst>
              <a:gd name="adj" fmla="val 19231"/>
            </a:avLst>
          </a:prstGeom>
          <a:solidFill>
            <a:srgbClr val="FFF1F2"/>
          </a:solidFill>
          <a:ln w="11430">
            <a:solidFill>
              <a:srgbClr val="F75B60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358259" y="4788854"/>
            <a:ext cx="6433328" cy="1165589"/>
          </a:xfrm>
          <a:prstGeom prst="roundRect">
            <a:avLst>
              <a:gd name="adj" fmla="val 10853"/>
            </a:avLst>
          </a:prstGeom>
          <a:solidFill>
            <a:srgbClr val="F8F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349223" y="6171296"/>
            <a:ext cx="9134964" cy="442743"/>
          </a:xfrm>
          <a:prstGeom prst="roundRect">
            <a:avLst>
              <a:gd name="adj" fmla="val 24490"/>
            </a:avLst>
          </a:prstGeom>
          <a:solidFill>
            <a:srgbClr val="EFF9FF"/>
          </a:solidFill>
          <a:ln w="10160">
            <a:solidFill>
              <a:srgbClr val="C5E9FF"/>
            </a:solidFill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358259" y="1987826"/>
            <a:ext cx="1680617" cy="505992"/>
          </a:xfrm>
          <a:prstGeom prst="roundRect">
            <a:avLst>
              <a:gd name="adj" fmla="val 21429"/>
            </a:avLst>
          </a:prstGeom>
          <a:solidFill>
            <a:srgbClr val="078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2346085" y="1987826"/>
            <a:ext cx="1680617" cy="505992"/>
          </a:xfrm>
          <a:prstGeom prst="roundRect">
            <a:avLst>
              <a:gd name="adj" fmla="val 21429"/>
            </a:avLst>
          </a:prstGeom>
          <a:solidFill>
            <a:srgbClr val="08B3B9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4297769" y="1987826"/>
            <a:ext cx="1662545" cy="505992"/>
          </a:xfrm>
          <a:prstGeom prst="roundRect">
            <a:avLst>
              <a:gd name="adj" fmla="val 21429"/>
            </a:avLst>
          </a:prstGeom>
          <a:solidFill>
            <a:srgbClr val="F59A0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6267523" y="1987826"/>
            <a:ext cx="1563154" cy="505992"/>
          </a:xfrm>
          <a:prstGeom prst="roundRect">
            <a:avLst>
              <a:gd name="adj" fmla="val 21429"/>
            </a:avLst>
          </a:prstGeom>
          <a:solidFill>
            <a:srgbClr val="7941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8571595" y="1987826"/>
            <a:ext cx="1545083" cy="505992"/>
          </a:xfrm>
          <a:prstGeom prst="roundRect">
            <a:avLst>
              <a:gd name="adj" fmla="val 21429"/>
            </a:avLst>
          </a:prstGeom>
          <a:solidFill>
            <a:srgbClr val="F03E55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10423887" y="1987826"/>
            <a:ext cx="1463763" cy="505992"/>
          </a:xfrm>
          <a:prstGeom prst="roundRect">
            <a:avLst>
              <a:gd name="adj" fmla="val 21429"/>
            </a:avLst>
          </a:prstGeom>
          <a:solidFill>
            <a:srgbClr val="08AA67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520899" y="4951494"/>
            <a:ext cx="1409549" cy="813202"/>
          </a:xfrm>
          <a:prstGeom prst="roundRect">
            <a:avLst>
              <a:gd name="adj" fmla="val 11111"/>
            </a:avLst>
          </a:prstGeom>
          <a:solidFill>
            <a:srgbClr val="FBFEFF"/>
          </a:solidFill>
          <a:ln w="10160">
            <a:solidFill>
              <a:srgbClr val="08A5F8"/>
            </a:solidFill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2029840" y="4951494"/>
            <a:ext cx="1391478" cy="813202"/>
          </a:xfrm>
          <a:prstGeom prst="roundRect">
            <a:avLst>
              <a:gd name="adj" fmla="val 11111"/>
            </a:avLst>
          </a:prstGeom>
          <a:solidFill>
            <a:srgbClr val="FBFEFF"/>
          </a:solidFill>
          <a:ln w="10160">
            <a:solidFill>
              <a:srgbClr val="02B697"/>
            </a:solidFill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3520709" y="4951494"/>
            <a:ext cx="1554119" cy="813202"/>
          </a:xfrm>
          <a:prstGeom prst="roundRect">
            <a:avLst>
              <a:gd name="adj" fmla="val 11111"/>
            </a:avLst>
          </a:prstGeom>
          <a:solidFill>
            <a:srgbClr val="FBFEFF"/>
          </a:solidFill>
          <a:ln w="10160">
            <a:solidFill>
              <a:srgbClr val="8354F5"/>
            </a:solidFill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5174219" y="4951494"/>
            <a:ext cx="1481834" cy="813202"/>
          </a:xfrm>
          <a:prstGeom prst="roundRect">
            <a:avLst>
              <a:gd name="adj" fmla="val 11111"/>
            </a:avLst>
          </a:prstGeom>
          <a:solidFill>
            <a:srgbClr val="FBFEFF"/>
          </a:solidFill>
          <a:ln w="10160">
            <a:solidFill>
              <a:srgbClr val="FF9500"/>
            </a:solidFill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7162045" y="4797889"/>
            <a:ext cx="4562964" cy="334316"/>
          </a:xfrm>
          <a:prstGeom prst="roundRect">
            <a:avLst>
              <a:gd name="adj" fmla="val 18919"/>
            </a:avLst>
          </a:prstGeom>
          <a:solidFill>
            <a:srgbClr val="F6FBFF"/>
          </a:solidFill>
          <a:ln w="6350">
            <a:solidFill>
              <a:srgbClr val="BAD7F3"/>
            </a:solidFill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7162045" y="5195455"/>
            <a:ext cx="4562964" cy="334316"/>
          </a:xfrm>
          <a:prstGeom prst="roundRect">
            <a:avLst>
              <a:gd name="adj" fmla="val 18919"/>
            </a:avLst>
          </a:prstGeom>
          <a:solidFill>
            <a:srgbClr val="F6FBFF"/>
          </a:solidFill>
          <a:ln w="6350">
            <a:solidFill>
              <a:srgbClr val="BAD7F3"/>
            </a:solidFill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7162045" y="5593020"/>
            <a:ext cx="4562964" cy="334316"/>
          </a:xfrm>
          <a:prstGeom prst="roundRect">
            <a:avLst>
              <a:gd name="adj" fmla="val 18919"/>
            </a:avLst>
          </a:prstGeom>
          <a:solidFill>
            <a:srgbClr val="F6FBFF"/>
          </a:solidFill>
          <a:ln w="6350">
            <a:solidFill>
              <a:srgbClr val="BAD7F3"/>
            </a:solidFill>
          </a:ln>
        </p:spPr>
        <p:txBody>
          <a:bodyPr/>
          <a:lstStyle/>
          <a:p/>
        </p:txBody>
      </p:sp>
      <p:sp>
        <p:nvSpPr>
          <p:cNvPr id="44" name="Path 44"/>
          <p:cNvSpPr/>
          <p:nvPr/>
        </p:nvSpPr>
        <p:spPr>
          <a:xfrm>
            <a:off x="8589666" y="6216474"/>
            <a:ext cx="1798079" cy="406601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120"/>
                </a:moveTo>
                <a:lnTo>
                  <a:pt x="2062" y="12960"/>
                </a:lnTo>
                <a:lnTo>
                  <a:pt x="10203" y="12960"/>
                </a:lnTo>
                <a:lnTo>
                  <a:pt x="13134" y="480"/>
                </a:lnTo>
                <a:lnTo>
                  <a:pt x="21491" y="480"/>
                </a:lnTo>
              </a:path>
            </a:pathLst>
          </a:custGeom>
          <a:noFill/>
          <a:ln w="10160">
            <a:solidFill>
              <a:srgbClr val="70C4FF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358259" y="2385391"/>
            <a:ext cx="1680617" cy="1156553"/>
          </a:xfrm>
          <a:prstGeom prst="roundRect">
            <a:avLst>
              <a:gd name="adj" fmla="val 8594"/>
            </a:avLst>
          </a:prstGeom>
          <a:solidFill>
            <a:srgbClr val="EAF8FF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2346085" y="2385391"/>
            <a:ext cx="1680617" cy="1156553"/>
          </a:xfrm>
          <a:prstGeom prst="roundRect">
            <a:avLst>
              <a:gd name="adj" fmla="val 8594"/>
            </a:avLst>
          </a:prstGeom>
          <a:solidFill>
            <a:srgbClr val="EBFCFC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7" name="Roundrect 47"/>
          <p:cNvSpPr/>
          <p:nvPr/>
        </p:nvSpPr>
        <p:spPr>
          <a:xfrm>
            <a:off x="4297769" y="2385391"/>
            <a:ext cx="1662545" cy="1156553"/>
          </a:xfrm>
          <a:prstGeom prst="roundRect">
            <a:avLst>
              <a:gd name="adj" fmla="val 8594"/>
            </a:avLst>
          </a:prstGeom>
          <a:solidFill>
            <a:srgbClr val="FFF7EA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6267523" y="2385391"/>
            <a:ext cx="1563154" cy="1156553"/>
          </a:xfrm>
          <a:prstGeom prst="roundRect">
            <a:avLst>
              <a:gd name="adj" fmla="val 8594"/>
            </a:avLst>
          </a:prstGeom>
          <a:solidFill>
            <a:srgbClr val="F7F2FF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9" name="Roundrect 49"/>
          <p:cNvSpPr/>
          <p:nvPr/>
        </p:nvSpPr>
        <p:spPr>
          <a:xfrm>
            <a:off x="8571595" y="2385391"/>
            <a:ext cx="1545083" cy="1156553"/>
          </a:xfrm>
          <a:prstGeom prst="roundRect">
            <a:avLst>
              <a:gd name="adj" fmla="val 8594"/>
            </a:avLst>
          </a:prstGeom>
          <a:solidFill>
            <a:srgbClr val="FFF4F4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0" name="Roundrect 50"/>
          <p:cNvSpPr/>
          <p:nvPr/>
        </p:nvSpPr>
        <p:spPr>
          <a:xfrm>
            <a:off x="10423887" y="2385391"/>
            <a:ext cx="1463763" cy="1156553"/>
          </a:xfrm>
          <a:prstGeom prst="roundRect">
            <a:avLst>
              <a:gd name="adj" fmla="val 8594"/>
            </a:avLst>
          </a:prstGeom>
          <a:solidFill>
            <a:srgbClr val="EFFCF6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1" name="Path 51"/>
          <p:cNvSpPr/>
          <p:nvPr/>
        </p:nvSpPr>
        <p:spPr>
          <a:xfrm>
            <a:off x="6294630" y="1337265"/>
            <a:ext cx="433708" cy="62345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313"/>
                </a:moveTo>
                <a:cubicBezTo>
                  <a:pt x="8100" y="626"/>
                  <a:pt x="20700" y="313"/>
                  <a:pt x="20700" y="3443"/>
                </a:cubicBezTo>
                <a:lnTo>
                  <a:pt x="20700" y="21600"/>
                </a:lnTo>
              </a:path>
            </a:pathLst>
          </a:custGeom>
          <a:noFill/>
          <a:ln w="17780">
            <a:solidFill>
              <a:srgbClr val="008BEB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2" name="Path 52"/>
          <p:cNvSpPr/>
          <p:nvPr/>
        </p:nvSpPr>
        <p:spPr>
          <a:xfrm>
            <a:off x="7053618" y="1752901"/>
            <a:ext cx="4165399" cy="22588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553" y="20736"/>
                </a:moveTo>
                <a:lnTo>
                  <a:pt x="21553" y="8640"/>
                </a:lnTo>
                <a:quadBezTo>
                  <a:pt x="21553" y="864"/>
                  <a:pt x="21085" y="864"/>
                </a:quadBezTo>
                <a:lnTo>
                  <a:pt x="515" y="864"/>
                </a:lnTo>
                <a:quadBezTo>
                  <a:pt x="47" y="864"/>
                  <a:pt x="47" y="9504"/>
                </a:quadBezTo>
                <a:lnTo>
                  <a:pt x="47" y="19872"/>
                </a:lnTo>
              </a:path>
            </a:pathLst>
          </a:custGeom>
          <a:noFill/>
          <a:ln w="20320">
            <a:solidFill>
              <a:srgbClr val="07964B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2047911" y="2719708"/>
            <a:ext cx="271067" cy="0"/>
          </a:xfrm>
          <a:prstGeom prst="line">
            <a:avLst/>
          </a:prstGeom>
          <a:noFill/>
          <a:ln w="19050">
            <a:solidFill>
              <a:srgbClr val="008EFF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4044773" y="2719708"/>
            <a:ext cx="234925" cy="0"/>
          </a:xfrm>
          <a:prstGeom prst="line">
            <a:avLst/>
          </a:prstGeom>
          <a:noFill/>
          <a:ln w="19050">
            <a:solidFill>
              <a:srgbClr val="008EFF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5978385" y="2719708"/>
            <a:ext cx="271067" cy="0"/>
          </a:xfrm>
          <a:prstGeom prst="line">
            <a:avLst/>
          </a:prstGeom>
          <a:noFill/>
          <a:ln w="19050">
            <a:solidFill>
              <a:srgbClr val="008EFF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10134749" y="2719708"/>
            <a:ext cx="271067" cy="0"/>
          </a:xfrm>
          <a:prstGeom prst="line">
            <a:avLst/>
          </a:prstGeom>
          <a:noFill/>
          <a:ln w="19050">
            <a:solidFill>
              <a:srgbClr val="008EFF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7839713" y="2728743"/>
            <a:ext cx="704775" cy="0"/>
          </a:xfrm>
          <a:prstGeom prst="line">
            <a:avLst/>
          </a:prstGeom>
          <a:noFill/>
          <a:ln w="20320">
            <a:solidFill>
              <a:srgbClr val="F02330"/>
            </a:solidFill>
            <a:prstDash val="dash"/>
            <a:tailEnd type="triangle"/>
          </a:ln>
        </p:spPr>
        <p:txBody>
          <a:bodyPr/>
          <a:lstStyle/>
          <a:p/>
        </p:txBody>
      </p:sp>
      <p:pic>
        <p:nvPicPr>
          <p:cNvPr id="58" name="normal-gear"/>
          <p:cNvPicPr/>
          <p:nvPr/>
        </p:nvPicPr>
        <p:blipFill>
          <a:blip r:embed="rId3"/>
          <a:stretch>
            <a:fillRect/>
          </a:stretch>
        </p:blipFill>
        <p:spPr>
          <a:xfrm>
            <a:off x="437338" y="1061680"/>
            <a:ext cx="537589" cy="480015"/>
          </a:xfrm>
          <a:prstGeom prst="rect">
            <a:avLst/>
          </a:prstGeom>
        </p:spPr>
      </p:pic>
      <p:pic>
        <p:nvPicPr>
          <p:cNvPr id="59" name="recovery-cycle-medallion"/>
          <p:cNvPicPr/>
          <p:nvPr/>
        </p:nvPicPr>
        <p:blipFill>
          <a:blip r:embed="rId4"/>
          <a:stretch>
            <a:fillRect/>
          </a:stretch>
        </p:blipFill>
        <p:spPr>
          <a:xfrm>
            <a:off x="7331038" y="1052644"/>
            <a:ext cx="538475" cy="480015"/>
          </a:xfrm>
          <a:prstGeom prst="rect">
            <a:avLst/>
          </a:prstGeom>
        </p:spPr>
      </p:pic>
      <p:pic>
        <p:nvPicPr>
          <p:cNvPr id="60" name="badge1"/>
          <p:cNvPicPr/>
          <p:nvPr/>
        </p:nvPicPr>
        <p:blipFill>
          <a:blip r:embed="rId5"/>
          <a:stretch>
            <a:fillRect/>
          </a:stretch>
        </p:blipFill>
        <p:spPr>
          <a:xfrm>
            <a:off x="225680" y="1863804"/>
            <a:ext cx="563341" cy="503209"/>
          </a:xfrm>
          <a:prstGeom prst="rect">
            <a:avLst/>
          </a:prstGeom>
        </p:spPr>
      </p:pic>
      <p:pic>
        <p:nvPicPr>
          <p:cNvPr id="61" name="state1-document-magnifier"/>
          <p:cNvPicPr/>
          <p:nvPr/>
        </p:nvPicPr>
        <p:blipFill>
          <a:blip r:embed="rId6"/>
          <a:stretch>
            <a:fillRect/>
          </a:stretch>
        </p:blipFill>
        <p:spPr>
          <a:xfrm>
            <a:off x="915455" y="2391698"/>
            <a:ext cx="674659" cy="595363"/>
          </a:xfrm>
          <a:prstGeom prst="rect">
            <a:avLst/>
          </a:prstGeom>
        </p:spPr>
      </p:pic>
      <p:pic>
        <p:nvPicPr>
          <p:cNvPr id="62" name="badge2"/>
          <p:cNvPicPr/>
          <p:nvPr/>
        </p:nvPicPr>
        <p:blipFill>
          <a:blip r:embed="rId7"/>
          <a:stretch>
            <a:fillRect/>
          </a:stretch>
        </p:blipFill>
        <p:spPr>
          <a:xfrm>
            <a:off x="2214436" y="1863804"/>
            <a:ext cx="561480" cy="503209"/>
          </a:xfrm>
          <a:prstGeom prst="rect">
            <a:avLst/>
          </a:prstGeom>
        </p:spPr>
      </p:pic>
      <p:pic>
        <p:nvPicPr>
          <p:cNvPr id="63" name="state2-wave-gear"/>
          <p:cNvPicPr/>
          <p:nvPr/>
        </p:nvPicPr>
        <p:blipFill>
          <a:blip r:embed="rId8"/>
          <a:stretch>
            <a:fillRect/>
          </a:stretch>
        </p:blipFill>
        <p:spPr>
          <a:xfrm>
            <a:off x="2823579" y="2406209"/>
            <a:ext cx="856952" cy="549995"/>
          </a:xfrm>
          <a:prstGeom prst="rect">
            <a:avLst/>
          </a:prstGeom>
        </p:spPr>
      </p:pic>
      <p:pic>
        <p:nvPicPr>
          <p:cNvPr id="64" name="badge3"/>
          <p:cNvPicPr/>
          <p:nvPr/>
        </p:nvPicPr>
        <p:blipFill>
          <a:blip r:embed="rId9"/>
          <a:stretch>
            <a:fillRect/>
          </a:stretch>
        </p:blipFill>
        <p:spPr>
          <a:xfrm>
            <a:off x="4166572" y="1863804"/>
            <a:ext cx="560567" cy="503209"/>
          </a:xfrm>
          <a:prstGeom prst="rect">
            <a:avLst/>
          </a:prstGeom>
        </p:spPr>
      </p:pic>
      <p:pic>
        <p:nvPicPr>
          <p:cNvPr id="65" name="state3-bars-arrow"/>
          <p:cNvPicPr/>
          <p:nvPr/>
        </p:nvPicPr>
        <p:blipFill>
          <a:blip r:embed="rId10"/>
          <a:stretch>
            <a:fillRect/>
          </a:stretch>
        </p:blipFill>
        <p:spPr>
          <a:xfrm>
            <a:off x="4823106" y="2379789"/>
            <a:ext cx="657049" cy="603603"/>
          </a:xfrm>
          <a:prstGeom prst="rect">
            <a:avLst/>
          </a:prstGeom>
        </p:spPr>
      </p:pic>
      <p:pic>
        <p:nvPicPr>
          <p:cNvPr id="66" name="badge4"/>
          <p:cNvPicPr/>
          <p:nvPr/>
        </p:nvPicPr>
        <p:blipFill>
          <a:blip r:embed="rId11"/>
          <a:stretch>
            <a:fillRect/>
          </a:stretch>
        </p:blipFill>
        <p:spPr>
          <a:xfrm>
            <a:off x="6136327" y="1863804"/>
            <a:ext cx="560567" cy="526476"/>
          </a:xfrm>
          <a:prstGeom prst="rect">
            <a:avLst/>
          </a:prstGeom>
        </p:spPr>
      </p:pic>
      <p:pic>
        <p:nvPicPr>
          <p:cNvPr id="67" name="state4-monitor-magnifier"/>
          <p:cNvPicPr/>
          <p:nvPr/>
        </p:nvPicPr>
        <p:blipFill>
          <a:blip r:embed="rId12"/>
          <a:stretch>
            <a:fillRect/>
          </a:stretch>
        </p:blipFill>
        <p:spPr>
          <a:xfrm>
            <a:off x="6716718" y="2399776"/>
            <a:ext cx="755112" cy="602131"/>
          </a:xfrm>
          <a:prstGeom prst="rect">
            <a:avLst/>
          </a:prstGeom>
        </p:spPr>
      </p:pic>
      <p:pic>
        <p:nvPicPr>
          <p:cNvPr id="68" name="badge5"/>
          <p:cNvPicPr/>
          <p:nvPr/>
        </p:nvPicPr>
        <p:blipFill>
          <a:blip r:embed="rId13"/>
          <a:stretch>
            <a:fillRect/>
          </a:stretch>
        </p:blipFill>
        <p:spPr>
          <a:xfrm>
            <a:off x="8439946" y="1864283"/>
            <a:ext cx="561480" cy="522898"/>
          </a:xfrm>
          <a:prstGeom prst="rect">
            <a:avLst/>
          </a:prstGeom>
        </p:spPr>
      </p:pic>
      <p:pic>
        <p:nvPicPr>
          <p:cNvPr id="69" name="state5-pause"/>
          <p:cNvPicPr/>
          <p:nvPr/>
        </p:nvPicPr>
        <p:blipFill>
          <a:blip r:embed="rId14"/>
          <a:stretch>
            <a:fillRect/>
          </a:stretch>
        </p:blipFill>
        <p:spPr>
          <a:xfrm>
            <a:off x="9068045" y="2406779"/>
            <a:ext cx="579289" cy="575286"/>
          </a:xfrm>
          <a:prstGeom prst="rect">
            <a:avLst/>
          </a:prstGeom>
        </p:spPr>
      </p:pic>
      <p:pic>
        <p:nvPicPr>
          <p:cNvPr id="70" name="badge6"/>
          <p:cNvPicPr/>
          <p:nvPr/>
        </p:nvPicPr>
        <p:blipFill>
          <a:blip r:embed="rId15"/>
          <a:stretch>
            <a:fillRect/>
          </a:stretch>
        </p:blipFill>
        <p:spPr>
          <a:xfrm>
            <a:off x="10291769" y="1864283"/>
            <a:ext cx="562401" cy="525780"/>
          </a:xfrm>
          <a:prstGeom prst="rect">
            <a:avLst/>
          </a:prstGeom>
        </p:spPr>
      </p:pic>
      <p:pic>
        <p:nvPicPr>
          <p:cNvPr id="71" name="state6-cycle"/>
          <p:cNvPicPr/>
          <p:nvPr/>
        </p:nvPicPr>
        <p:blipFill>
          <a:blip r:embed="rId16"/>
          <a:stretch>
            <a:fillRect/>
          </a:stretch>
        </p:blipFill>
        <p:spPr>
          <a:xfrm>
            <a:off x="10899303" y="2419510"/>
            <a:ext cx="612314" cy="548008"/>
          </a:xfrm>
          <a:prstGeom prst="rect">
            <a:avLst/>
          </a:prstGeom>
        </p:spPr>
      </p:pic>
      <p:pic>
        <p:nvPicPr>
          <p:cNvPr id="72" name="alert-triangle"/>
          <p:cNvPicPr/>
          <p:nvPr/>
        </p:nvPicPr>
        <p:blipFill>
          <a:blip r:embed="rId17"/>
          <a:stretch>
            <a:fillRect/>
          </a:stretch>
        </p:blipFill>
        <p:spPr>
          <a:xfrm>
            <a:off x="1217777" y="3766976"/>
            <a:ext cx="422395" cy="399282"/>
          </a:xfrm>
          <a:prstGeom prst="rect">
            <a:avLst/>
          </a:prstGeom>
        </p:spPr>
      </p:pic>
      <p:pic>
        <p:nvPicPr>
          <p:cNvPr id="73" name="status-database"/>
          <p:cNvPicPr/>
          <p:nvPr/>
        </p:nvPicPr>
        <p:blipFill>
          <a:blip r:embed="rId18"/>
          <a:stretch>
            <a:fillRect/>
          </a:stretch>
        </p:blipFill>
        <p:spPr>
          <a:xfrm>
            <a:off x="432667" y="4369450"/>
            <a:ext cx="501745" cy="519039"/>
          </a:xfrm>
          <a:prstGeom prst="rect">
            <a:avLst/>
          </a:prstGeom>
        </p:spPr>
      </p:pic>
      <p:pic>
        <p:nvPicPr>
          <p:cNvPr id="74" name="flag-check"/>
          <p:cNvPicPr/>
          <p:nvPr/>
        </p:nvPicPr>
        <p:blipFill>
          <a:blip r:embed="rId19"/>
          <a:stretch>
            <a:fillRect/>
          </a:stretch>
        </p:blipFill>
        <p:spPr>
          <a:xfrm>
            <a:off x="581293" y="4995452"/>
            <a:ext cx="475560" cy="459107"/>
          </a:xfrm>
          <a:prstGeom prst="rect">
            <a:avLst/>
          </a:prstGeom>
        </p:spPr>
      </p:pic>
      <p:pic>
        <p:nvPicPr>
          <p:cNvPr id="75" name="flag-play"/>
          <p:cNvPicPr/>
          <p:nvPr/>
        </p:nvPicPr>
        <p:blipFill>
          <a:blip r:embed="rId20"/>
          <a:stretch>
            <a:fillRect/>
          </a:stretch>
        </p:blipFill>
        <p:spPr>
          <a:xfrm>
            <a:off x="2152335" y="4989145"/>
            <a:ext cx="477855" cy="471856"/>
          </a:xfrm>
          <a:prstGeom prst="rect">
            <a:avLst/>
          </a:prstGeom>
        </p:spPr>
      </p:pic>
      <p:pic>
        <p:nvPicPr>
          <p:cNvPr id="76" name="flag-clock"/>
          <p:cNvPicPr/>
          <p:nvPr/>
        </p:nvPicPr>
        <p:blipFill>
          <a:blip r:embed="rId21"/>
          <a:stretch>
            <a:fillRect/>
          </a:stretch>
        </p:blipFill>
        <p:spPr>
          <a:xfrm>
            <a:off x="3608210" y="5000611"/>
            <a:ext cx="475560" cy="456025"/>
          </a:xfrm>
          <a:prstGeom prst="rect">
            <a:avLst/>
          </a:prstGeom>
        </p:spPr>
      </p:pic>
      <p:pic>
        <p:nvPicPr>
          <p:cNvPr id="77" name="flag-cube"/>
          <p:cNvPicPr/>
          <p:nvPr/>
        </p:nvPicPr>
        <p:blipFill>
          <a:blip r:embed="rId22"/>
          <a:stretch>
            <a:fillRect/>
          </a:stretch>
        </p:blipFill>
        <p:spPr>
          <a:xfrm>
            <a:off x="5276981" y="4993970"/>
            <a:ext cx="454074" cy="473780"/>
          </a:xfrm>
          <a:prstGeom prst="rect">
            <a:avLst/>
          </a:prstGeom>
        </p:spPr>
      </p:pic>
      <p:pic>
        <p:nvPicPr>
          <p:cNvPr id="78" name="strategy-gear"/>
          <p:cNvPicPr/>
          <p:nvPr/>
        </p:nvPicPr>
        <p:blipFill>
          <a:blip r:embed="rId23"/>
          <a:stretch>
            <a:fillRect/>
          </a:stretch>
        </p:blipFill>
        <p:spPr>
          <a:xfrm>
            <a:off x="7085478" y="4407580"/>
            <a:ext cx="487442" cy="473292"/>
          </a:xfrm>
          <a:prstGeom prst="rect">
            <a:avLst/>
          </a:prstGeom>
        </p:spPr>
      </p:pic>
      <p:pic>
        <p:nvPicPr>
          <p:cNvPr id="79" name="strategy-bars"/>
          <p:cNvPicPr/>
          <p:nvPr/>
        </p:nvPicPr>
        <p:blipFill>
          <a:blip r:embed="rId24"/>
          <a:stretch>
            <a:fillRect/>
          </a:stretch>
        </p:blipFill>
        <p:spPr>
          <a:xfrm>
            <a:off x="7365165" y="4814759"/>
            <a:ext cx="307571" cy="318658"/>
          </a:xfrm>
          <a:prstGeom prst="rect">
            <a:avLst/>
          </a:prstGeom>
        </p:spPr>
      </p:pic>
      <p:pic>
        <p:nvPicPr>
          <p:cNvPr id="80" name="strategy-wave"/>
          <p:cNvPicPr/>
          <p:nvPr/>
        </p:nvPicPr>
        <p:blipFill>
          <a:blip r:embed="rId25"/>
          <a:stretch>
            <a:fillRect/>
          </a:stretch>
        </p:blipFill>
        <p:spPr>
          <a:xfrm>
            <a:off x="7353898" y="5206071"/>
            <a:ext cx="348177" cy="327314"/>
          </a:xfrm>
          <a:prstGeom prst="rect">
            <a:avLst/>
          </a:prstGeom>
        </p:spPr>
      </p:pic>
      <p:pic>
        <p:nvPicPr>
          <p:cNvPr id="81" name="strategy-clock"/>
          <p:cNvPicPr/>
          <p:nvPr/>
        </p:nvPicPr>
        <p:blipFill>
          <a:blip r:embed="rId26"/>
          <a:stretch>
            <a:fillRect/>
          </a:stretch>
        </p:blipFill>
        <p:spPr>
          <a:xfrm>
            <a:off x="7361686" y="5616530"/>
            <a:ext cx="341635" cy="330991"/>
          </a:xfrm>
          <a:prstGeom prst="rect">
            <a:avLst/>
          </a:prstGeom>
        </p:spPr>
      </p:pic>
      <p:pic>
        <p:nvPicPr>
          <p:cNvPr id="82" name="footer-document"/>
          <p:cNvPicPr/>
          <p:nvPr/>
        </p:nvPicPr>
        <p:blipFill>
          <a:blip r:embed="rId27"/>
          <a:stretch>
            <a:fillRect/>
          </a:stretch>
        </p:blipFill>
        <p:spPr>
          <a:xfrm>
            <a:off x="506803" y="6164438"/>
            <a:ext cx="407685" cy="438397"/>
          </a:xfrm>
          <a:prstGeom prst="rect">
            <a:avLst/>
          </a:prstGeom>
        </p:spPr>
      </p:pic>
      <p:sp>
        <p:nvSpPr>
          <p:cNvPr id="83" name="TextBox 83"/>
          <p:cNvSpPr txBox="1"/>
          <p:nvPr/>
        </p:nvSpPr>
        <p:spPr>
          <a:xfrm>
            <a:off x="1198567" y="216854"/>
            <a:ext cx="4635249" cy="5602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驯服、失锁与恢复状态机</a:t>
            </a:r>
            <a:endParaRPr lang="zh-CN" sz="3200"/>
          </a:p>
        </p:txBody>
      </p:sp>
      <p:sp>
        <p:nvSpPr>
          <p:cNvPr id="84" name="TextBox 84"/>
          <p:cNvSpPr txBox="1"/>
          <p:nvPr/>
        </p:nvSpPr>
        <p:spPr>
          <a:xfrm>
            <a:off x="1008820" y="1156553"/>
            <a:ext cx="5204490" cy="3252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0054A8"/>
                </a:solidFill>
                <a:latin typeface="Noto Sans CJK SC"/>
                <a:ea typeface="Noto Sans CJK SC"/>
                <a:cs typeface="Noto Sans CJK SC"/>
              </a:rPr>
              <a:t>正常路径：自检/预热 → 粗捕获 → 低带宽 PI 驯服 → 锁定监测</a:t>
            </a:r>
            <a:endParaRPr lang="zh-CN" sz="1400"/>
          </a:p>
        </p:txBody>
      </p:sp>
      <p:sp>
        <p:nvSpPr>
          <p:cNvPr id="85" name="TextBox 85"/>
          <p:cNvSpPr txBox="1"/>
          <p:nvPr/>
        </p:nvSpPr>
        <p:spPr>
          <a:xfrm>
            <a:off x="7884891" y="1165589"/>
            <a:ext cx="894522" cy="2981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10" b="1">
                <a:solidFill>
                  <a:srgbClr val="008D4B"/>
                </a:solidFill>
                <a:latin typeface="Noto Sans CJK SC"/>
                <a:ea typeface="Noto Sans CJK SC"/>
                <a:cs typeface="Noto Sans CJK SC"/>
              </a:rPr>
              <a:t>恢复路径：</a:t>
            </a:r>
            <a:endParaRPr lang="zh-CN" sz="1410"/>
          </a:p>
        </p:txBody>
      </p:sp>
      <p:sp>
        <p:nvSpPr>
          <p:cNvPr id="86" name="TextBox 86"/>
          <p:cNvSpPr txBox="1"/>
          <p:nvPr/>
        </p:nvSpPr>
        <p:spPr>
          <a:xfrm>
            <a:off x="8797484" y="1192696"/>
            <a:ext cx="3072095" cy="2620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0" b="1">
                <a:solidFill>
                  <a:srgbClr val="008348"/>
                </a:solidFill>
                <a:latin typeface="Noto Sans CJK SC"/>
                <a:ea typeface="Noto Sans CJK SC"/>
                <a:cs typeface="Noto Sans CJK SC"/>
              </a:rPr>
              <a:t>确认参考连续有效 → 限速拉回 → 观察稳定后重新锁定</a:t>
            </a:r>
            <a:endParaRPr lang="zh-CN" sz="1010"/>
          </a:p>
        </p:txBody>
      </p:sp>
      <p:sp>
        <p:nvSpPr>
          <p:cNvPr id="87" name="TextBox 87"/>
          <p:cNvSpPr txBox="1"/>
          <p:nvPr/>
        </p:nvSpPr>
        <p:spPr>
          <a:xfrm>
            <a:off x="225680" y="1863804"/>
            <a:ext cx="563341" cy="5032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</a:t>
            </a:r>
            <a:endParaRPr lang="zh-CN" sz="2250"/>
          </a:p>
        </p:txBody>
      </p:sp>
      <p:sp>
        <p:nvSpPr>
          <p:cNvPr id="88" name="TextBox 88"/>
          <p:cNvSpPr txBox="1"/>
          <p:nvPr/>
        </p:nvSpPr>
        <p:spPr>
          <a:xfrm>
            <a:off x="819073" y="2014933"/>
            <a:ext cx="1120411" cy="3614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自检与预热</a:t>
            </a:r>
            <a:endParaRPr lang="zh-CN" sz="1550"/>
          </a:p>
        </p:txBody>
      </p:sp>
      <p:sp>
        <p:nvSpPr>
          <p:cNvPr id="89" name="TextBox 89"/>
          <p:cNvSpPr txBox="1"/>
          <p:nvPr/>
        </p:nvSpPr>
        <p:spPr>
          <a:xfrm>
            <a:off x="412472" y="2990775"/>
            <a:ext cx="1572190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检查参考输入、输出</a:t>
            </a:r>
            <a:endParaRPr lang="zh-CN" sz="1200"/>
          </a:p>
        </p:txBody>
      </p:sp>
      <p:sp>
        <p:nvSpPr>
          <p:cNvPr id="90" name="TextBox 90"/>
          <p:cNvSpPr txBox="1"/>
          <p:nvPr/>
        </p:nvSpPr>
        <p:spPr>
          <a:xfrm>
            <a:off x="412472" y="3207628"/>
            <a:ext cx="1572190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与传感器状态</a:t>
            </a:r>
            <a:endParaRPr lang="zh-CN" sz="1200"/>
          </a:p>
        </p:txBody>
      </p:sp>
      <p:sp>
        <p:nvSpPr>
          <p:cNvPr id="91" name="TextBox 91"/>
          <p:cNvSpPr txBox="1"/>
          <p:nvPr/>
        </p:nvSpPr>
        <p:spPr>
          <a:xfrm>
            <a:off x="2214436" y="1863804"/>
            <a:ext cx="561480" cy="5032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</a:t>
            </a:r>
            <a:endParaRPr lang="zh-CN" sz="2250"/>
          </a:p>
        </p:txBody>
      </p:sp>
      <p:sp>
        <p:nvSpPr>
          <p:cNvPr id="92" name="TextBox 92"/>
          <p:cNvSpPr txBox="1"/>
          <p:nvPr/>
        </p:nvSpPr>
        <p:spPr>
          <a:xfrm>
            <a:off x="2951468" y="2014933"/>
            <a:ext cx="768024" cy="3614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粗捕获</a:t>
            </a:r>
            <a:endParaRPr lang="zh-CN" sz="1550"/>
          </a:p>
        </p:txBody>
      </p:sp>
      <p:sp>
        <p:nvSpPr>
          <p:cNvPr id="93" name="TextBox 93"/>
          <p:cNvSpPr txBox="1"/>
          <p:nvPr/>
        </p:nvSpPr>
        <p:spPr>
          <a:xfrm>
            <a:off x="2400298" y="2990775"/>
            <a:ext cx="1572190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确认频差在可调范围</a:t>
            </a:r>
            <a:endParaRPr lang="zh-CN" sz="1200"/>
          </a:p>
        </p:txBody>
      </p:sp>
      <p:sp>
        <p:nvSpPr>
          <p:cNvPr id="94" name="TextBox 94"/>
          <p:cNvSpPr txBox="1"/>
          <p:nvPr/>
        </p:nvSpPr>
        <p:spPr>
          <a:xfrm>
            <a:off x="2400298" y="3207628"/>
            <a:ext cx="1572190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建立初始控制方向</a:t>
            </a:r>
            <a:endParaRPr lang="zh-CN" sz="1200"/>
          </a:p>
        </p:txBody>
      </p:sp>
      <p:sp>
        <p:nvSpPr>
          <p:cNvPr id="95" name="TextBox 95"/>
          <p:cNvSpPr txBox="1"/>
          <p:nvPr/>
        </p:nvSpPr>
        <p:spPr>
          <a:xfrm>
            <a:off x="4166572" y="1863804"/>
            <a:ext cx="560567" cy="5032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</a:t>
            </a:r>
            <a:endParaRPr lang="zh-CN" sz="2250"/>
          </a:p>
        </p:txBody>
      </p:sp>
      <p:sp>
        <p:nvSpPr>
          <p:cNvPr id="96" name="TextBox 96"/>
          <p:cNvSpPr txBox="1"/>
          <p:nvPr/>
        </p:nvSpPr>
        <p:spPr>
          <a:xfrm>
            <a:off x="4677263" y="2014933"/>
            <a:ext cx="1274016" cy="3614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低带宽 PI 驯服</a:t>
            </a:r>
            <a:endParaRPr lang="zh-CN" sz="1470"/>
          </a:p>
        </p:txBody>
      </p:sp>
      <p:sp>
        <p:nvSpPr>
          <p:cNvPr id="97" name="TextBox 97"/>
          <p:cNvSpPr txBox="1"/>
          <p:nvPr/>
        </p:nvSpPr>
        <p:spPr>
          <a:xfrm>
            <a:off x="4351982" y="2990775"/>
            <a:ext cx="1554119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小步调整 DAC</a:t>
            </a:r>
            <a:endParaRPr lang="zh-CN" sz="1200"/>
          </a:p>
        </p:txBody>
      </p:sp>
      <p:sp>
        <p:nvSpPr>
          <p:cNvPr id="98" name="TextBox 98"/>
          <p:cNvSpPr txBox="1"/>
          <p:nvPr/>
        </p:nvSpPr>
        <p:spPr>
          <a:xfrm>
            <a:off x="4351982" y="3207628"/>
            <a:ext cx="1554119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限制控制变化速度</a:t>
            </a:r>
            <a:endParaRPr lang="zh-CN" sz="1200"/>
          </a:p>
        </p:txBody>
      </p:sp>
      <p:sp>
        <p:nvSpPr>
          <p:cNvPr id="99" name="TextBox 99"/>
          <p:cNvSpPr txBox="1"/>
          <p:nvPr/>
        </p:nvSpPr>
        <p:spPr>
          <a:xfrm>
            <a:off x="6136327" y="1863804"/>
            <a:ext cx="560567" cy="5264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4</a:t>
            </a:r>
            <a:endParaRPr lang="zh-CN" sz="2250"/>
          </a:p>
        </p:txBody>
      </p:sp>
      <p:sp>
        <p:nvSpPr>
          <p:cNvPr id="100" name="TextBox 100"/>
          <p:cNvSpPr txBox="1"/>
          <p:nvPr/>
        </p:nvSpPr>
        <p:spPr>
          <a:xfrm>
            <a:off x="6737373" y="2014933"/>
            <a:ext cx="912593" cy="3614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锁定监测</a:t>
            </a:r>
            <a:endParaRPr lang="zh-CN" sz="1550"/>
          </a:p>
        </p:txBody>
      </p:sp>
      <p:sp>
        <p:nvSpPr>
          <p:cNvPr id="101" name="TextBox 101"/>
          <p:cNvSpPr txBox="1"/>
          <p:nvPr/>
        </p:nvSpPr>
        <p:spPr>
          <a:xfrm>
            <a:off x="6321737" y="2990775"/>
            <a:ext cx="1454727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持续检查参考有效性</a:t>
            </a:r>
            <a:endParaRPr lang="zh-CN" sz="1200"/>
          </a:p>
        </p:txBody>
      </p:sp>
      <p:sp>
        <p:nvSpPr>
          <p:cNvPr id="102" name="TextBox 102"/>
          <p:cNvSpPr txBox="1"/>
          <p:nvPr/>
        </p:nvSpPr>
        <p:spPr>
          <a:xfrm>
            <a:off x="6321737" y="3207628"/>
            <a:ext cx="1454727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误差与输出状态</a:t>
            </a:r>
            <a:endParaRPr lang="zh-CN" sz="1200"/>
          </a:p>
        </p:txBody>
      </p:sp>
      <p:sp>
        <p:nvSpPr>
          <p:cNvPr id="103" name="TextBox 103"/>
          <p:cNvSpPr txBox="1"/>
          <p:nvPr/>
        </p:nvSpPr>
        <p:spPr>
          <a:xfrm>
            <a:off x="8439946" y="1864283"/>
            <a:ext cx="561480" cy="5228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5</a:t>
            </a:r>
            <a:endParaRPr lang="zh-CN" sz="2250"/>
          </a:p>
        </p:txBody>
      </p:sp>
      <p:sp>
        <p:nvSpPr>
          <p:cNvPr id="104" name="TextBox 104"/>
          <p:cNvSpPr txBox="1"/>
          <p:nvPr/>
        </p:nvSpPr>
        <p:spPr>
          <a:xfrm>
            <a:off x="9032409" y="2014933"/>
            <a:ext cx="948735" cy="3614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保持模式</a:t>
            </a:r>
            <a:endParaRPr lang="zh-CN" sz="1550"/>
          </a:p>
        </p:txBody>
      </p:sp>
      <p:sp>
        <p:nvSpPr>
          <p:cNvPr id="105" name="TextBox 105"/>
          <p:cNvSpPr txBox="1"/>
          <p:nvPr/>
        </p:nvSpPr>
        <p:spPr>
          <a:xfrm>
            <a:off x="8625808" y="2990775"/>
            <a:ext cx="1436656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冻结不可信观测</a:t>
            </a:r>
            <a:endParaRPr lang="zh-CN" sz="1200"/>
          </a:p>
        </p:txBody>
      </p:sp>
      <p:sp>
        <p:nvSpPr>
          <p:cNvPr id="106" name="TextBox 106"/>
          <p:cNvSpPr txBox="1"/>
          <p:nvPr/>
        </p:nvSpPr>
        <p:spPr>
          <a:xfrm>
            <a:off x="8625808" y="3207628"/>
            <a:ext cx="1436656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使用保持策略</a:t>
            </a:r>
            <a:endParaRPr lang="zh-CN" sz="1200"/>
          </a:p>
        </p:txBody>
      </p:sp>
      <p:sp>
        <p:nvSpPr>
          <p:cNvPr id="107" name="TextBox 107"/>
          <p:cNvSpPr txBox="1"/>
          <p:nvPr/>
        </p:nvSpPr>
        <p:spPr>
          <a:xfrm>
            <a:off x="10291769" y="1864283"/>
            <a:ext cx="562401" cy="5257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6</a:t>
            </a:r>
            <a:endParaRPr lang="zh-CN" sz="2250"/>
          </a:p>
        </p:txBody>
      </p:sp>
      <p:sp>
        <p:nvSpPr>
          <p:cNvPr id="108" name="TextBox 108"/>
          <p:cNvSpPr txBox="1"/>
          <p:nvPr/>
        </p:nvSpPr>
        <p:spPr>
          <a:xfrm>
            <a:off x="10902773" y="2014933"/>
            <a:ext cx="948735" cy="3614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恢复确认</a:t>
            </a:r>
            <a:endParaRPr lang="zh-CN" sz="1550"/>
          </a:p>
        </p:txBody>
      </p:sp>
      <p:sp>
        <p:nvSpPr>
          <p:cNvPr id="109" name="TextBox 109"/>
          <p:cNvSpPr txBox="1"/>
          <p:nvPr/>
        </p:nvSpPr>
        <p:spPr>
          <a:xfrm>
            <a:off x="10478101" y="2990775"/>
            <a:ext cx="1355336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参考连续有效后</a:t>
            </a:r>
            <a:endParaRPr lang="zh-CN" sz="1200"/>
          </a:p>
        </p:txBody>
      </p:sp>
      <p:sp>
        <p:nvSpPr>
          <p:cNvPr id="110" name="TextBox 110"/>
          <p:cNvSpPr txBox="1"/>
          <p:nvPr/>
        </p:nvSpPr>
        <p:spPr>
          <a:xfrm>
            <a:off x="10478101" y="3207628"/>
            <a:ext cx="1355336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再次拉回</a:t>
            </a:r>
            <a:endParaRPr lang="zh-CN" sz="1200"/>
          </a:p>
        </p:txBody>
      </p:sp>
      <p:sp>
        <p:nvSpPr>
          <p:cNvPr id="111" name="TextBox 111"/>
          <p:cNvSpPr txBox="1"/>
          <p:nvPr/>
        </p:nvSpPr>
        <p:spPr>
          <a:xfrm>
            <a:off x="7848749" y="2385391"/>
            <a:ext cx="704775" cy="2258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EF151A"/>
                </a:solidFill>
                <a:latin typeface="Noto Sans CJK SC"/>
                <a:ea typeface="Noto Sans CJK SC"/>
                <a:cs typeface="Noto Sans CJK SC"/>
              </a:rPr>
              <a:t>参考异常</a:t>
            </a:r>
            <a:endParaRPr lang="zh-CN" sz="1200"/>
          </a:p>
        </p:txBody>
      </p:sp>
      <p:sp>
        <p:nvSpPr>
          <p:cNvPr id="112" name="TextBox 112"/>
          <p:cNvSpPr txBox="1"/>
          <p:nvPr/>
        </p:nvSpPr>
        <p:spPr>
          <a:xfrm>
            <a:off x="1767808" y="3813012"/>
            <a:ext cx="9288569" cy="343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EF101C"/>
                </a:solidFill>
                <a:latin typeface="Noto Sans CJK SC"/>
                <a:ea typeface="Noto Sans CJK SC"/>
                <a:cs typeface="Noto Sans CJK SC"/>
              </a:rPr>
              <a:t>异常分支：参考丢失、脉冲异常或观测不可信时，停止使用该段观测值并切入保持；不要把异常值继续送入 PI。</a:t>
            </a:r>
            <a:endParaRPr lang="zh-CN" sz="1450"/>
          </a:p>
        </p:txBody>
      </p:sp>
      <p:sp>
        <p:nvSpPr>
          <p:cNvPr id="113" name="TextBox 113"/>
          <p:cNvSpPr txBox="1"/>
          <p:nvPr/>
        </p:nvSpPr>
        <p:spPr>
          <a:xfrm>
            <a:off x="999784" y="4481644"/>
            <a:ext cx="2484783" cy="3072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064BC"/>
                </a:solidFill>
                <a:latin typeface="Noto Sans CJK SC"/>
                <a:ea typeface="Noto Sans CJK SC"/>
                <a:cs typeface="Noto Sans CJK SC"/>
              </a:rPr>
              <a:t>状态标志 | 分别上报</a:t>
            </a:r>
            <a:endParaRPr lang="zh-CN" sz="1500"/>
          </a:p>
        </p:txBody>
      </p:sp>
      <p:sp>
        <p:nvSpPr>
          <p:cNvPr id="114" name="TextBox 114"/>
          <p:cNvSpPr txBox="1"/>
          <p:nvPr/>
        </p:nvSpPr>
        <p:spPr>
          <a:xfrm>
            <a:off x="1081105" y="5059921"/>
            <a:ext cx="795130" cy="3162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8A5F8"/>
                </a:solidFill>
                <a:latin typeface="Noto Sans CJK SC"/>
                <a:ea typeface="Noto Sans CJK SC"/>
                <a:cs typeface="Noto Sans CJK SC"/>
              </a:rPr>
              <a:t>参考有效</a:t>
            </a:r>
            <a:endParaRPr lang="zh-CN" sz="1250"/>
          </a:p>
        </p:txBody>
      </p:sp>
      <p:sp>
        <p:nvSpPr>
          <p:cNvPr id="115" name="TextBox 115"/>
          <p:cNvSpPr txBox="1"/>
          <p:nvPr/>
        </p:nvSpPr>
        <p:spPr>
          <a:xfrm>
            <a:off x="566077" y="5439415"/>
            <a:ext cx="1319194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073C7C"/>
                </a:solidFill>
                <a:latin typeface="Liberation Sans"/>
                <a:ea typeface="Liberation Sans"/>
                <a:cs typeface="Liberation Sans"/>
              </a:rPr>
              <a:t>REF_VALID</a:t>
            </a:r>
            <a:endParaRPr lang="zh-CN" sz="1150"/>
          </a:p>
        </p:txBody>
      </p:sp>
      <p:sp>
        <p:nvSpPr>
          <p:cNvPr id="116" name="TextBox 116"/>
          <p:cNvSpPr txBox="1"/>
          <p:nvPr/>
        </p:nvSpPr>
        <p:spPr>
          <a:xfrm>
            <a:off x="2590045" y="5059921"/>
            <a:ext cx="777059" cy="3162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2B697"/>
                </a:solidFill>
                <a:latin typeface="Noto Sans CJK SC"/>
                <a:ea typeface="Noto Sans CJK SC"/>
                <a:cs typeface="Noto Sans CJK SC"/>
              </a:rPr>
              <a:t>输出有效</a:t>
            </a:r>
            <a:endParaRPr lang="zh-CN" sz="1250"/>
          </a:p>
        </p:txBody>
      </p:sp>
      <p:sp>
        <p:nvSpPr>
          <p:cNvPr id="117" name="TextBox 117"/>
          <p:cNvSpPr txBox="1"/>
          <p:nvPr/>
        </p:nvSpPr>
        <p:spPr>
          <a:xfrm>
            <a:off x="2075018" y="5439415"/>
            <a:ext cx="1301123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073C7C"/>
                </a:solidFill>
                <a:latin typeface="Liberation Sans"/>
                <a:ea typeface="Liberation Sans"/>
                <a:cs typeface="Liberation Sans"/>
              </a:rPr>
              <a:t>OUT_VALID</a:t>
            </a:r>
            <a:endParaRPr lang="zh-CN" sz="1150"/>
          </a:p>
        </p:txBody>
      </p:sp>
      <p:sp>
        <p:nvSpPr>
          <p:cNvPr id="118" name="TextBox 118"/>
          <p:cNvSpPr txBox="1"/>
          <p:nvPr/>
        </p:nvSpPr>
        <p:spPr>
          <a:xfrm>
            <a:off x="4080915" y="5059921"/>
            <a:ext cx="939700" cy="3162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8354F5"/>
                </a:solidFill>
                <a:latin typeface="Noto Sans CJK SC"/>
                <a:ea typeface="Noto Sans CJK SC"/>
                <a:cs typeface="Noto Sans CJK SC"/>
              </a:rPr>
              <a:t>时间对齐</a:t>
            </a:r>
            <a:endParaRPr lang="zh-CN" sz="1250"/>
          </a:p>
        </p:txBody>
      </p:sp>
      <p:sp>
        <p:nvSpPr>
          <p:cNvPr id="119" name="TextBox 119"/>
          <p:cNvSpPr txBox="1"/>
          <p:nvPr/>
        </p:nvSpPr>
        <p:spPr>
          <a:xfrm>
            <a:off x="3565887" y="5439415"/>
            <a:ext cx="1463763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073C7C"/>
                </a:solidFill>
                <a:latin typeface="Liberation Sans"/>
                <a:ea typeface="Liberation Sans"/>
                <a:cs typeface="Liberation Sans"/>
              </a:rPr>
              <a:t>TIME_ALIGNED</a:t>
            </a:r>
            <a:endParaRPr lang="zh-CN" sz="1150"/>
          </a:p>
        </p:txBody>
      </p:sp>
      <p:sp>
        <p:nvSpPr>
          <p:cNvPr id="120" name="TextBox 120"/>
          <p:cNvSpPr txBox="1"/>
          <p:nvPr/>
        </p:nvSpPr>
        <p:spPr>
          <a:xfrm>
            <a:off x="5734425" y="5059921"/>
            <a:ext cx="867415" cy="3162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FF9500"/>
                </a:solidFill>
                <a:latin typeface="Noto Sans CJK SC"/>
                <a:ea typeface="Noto Sans CJK SC"/>
                <a:cs typeface="Noto Sans CJK SC"/>
              </a:rPr>
              <a:t>模型可用</a:t>
            </a:r>
            <a:endParaRPr lang="zh-CN" sz="1250"/>
          </a:p>
        </p:txBody>
      </p:sp>
      <p:sp>
        <p:nvSpPr>
          <p:cNvPr id="121" name="TextBox 121"/>
          <p:cNvSpPr txBox="1"/>
          <p:nvPr/>
        </p:nvSpPr>
        <p:spPr>
          <a:xfrm>
            <a:off x="5219397" y="5439415"/>
            <a:ext cx="1391478" cy="252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073C7C"/>
                </a:solidFill>
                <a:latin typeface="Liberation Sans"/>
                <a:ea typeface="Liberation Sans"/>
                <a:cs typeface="Liberation Sans"/>
              </a:rPr>
              <a:t>MODEL_VALID</a:t>
            </a:r>
            <a:endParaRPr lang="zh-CN" sz="1150"/>
          </a:p>
        </p:txBody>
      </p:sp>
      <p:sp>
        <p:nvSpPr>
          <p:cNvPr id="122" name="TextBox 122"/>
          <p:cNvSpPr txBox="1"/>
          <p:nvPr/>
        </p:nvSpPr>
        <p:spPr>
          <a:xfrm>
            <a:off x="7622859" y="4472609"/>
            <a:ext cx="2394427" cy="3072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F36B00"/>
                </a:solidFill>
                <a:latin typeface="Noto Sans CJK SC"/>
                <a:ea typeface="Noto Sans CJK SC"/>
                <a:cs typeface="Noto Sans CJK SC"/>
              </a:rPr>
              <a:t>阈值与计数策略</a:t>
            </a:r>
            <a:endParaRPr lang="zh-CN" sz="1500"/>
          </a:p>
        </p:txBody>
      </p:sp>
      <p:sp>
        <p:nvSpPr>
          <p:cNvPr id="123" name="TextBox 123"/>
          <p:cNvSpPr txBox="1"/>
          <p:nvPr/>
        </p:nvSpPr>
        <p:spPr>
          <a:xfrm>
            <a:off x="7839713" y="4824996"/>
            <a:ext cx="3813012" cy="2801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73F7C"/>
                </a:solidFill>
                <a:latin typeface="Noto Sans CJK SC"/>
                <a:ea typeface="Noto Sans CJK SC"/>
                <a:cs typeface="Noto Sans CJK SC"/>
              </a:rPr>
              <a:t>锁定阈值：</a:t>
            </a:r>
            <a:r>
              <a:rPr lang="zh-CN" sz="1250">
                <a:solidFill>
                  <a:srgbClr val="073F7C"/>
                </a:solidFill>
                <a:latin typeface="Noto Sans CJK SC"/>
                <a:ea typeface="Noto Sans CJK SC"/>
                <a:cs typeface="Noto Sans CJK SC"/>
              </a:rPr>
              <a:t>待实验确定</a:t>
            </a:r>
            <a:endParaRPr lang="zh-CN" sz="1250"/>
          </a:p>
        </p:txBody>
      </p:sp>
      <p:sp>
        <p:nvSpPr>
          <p:cNvPr id="124" name="TextBox 124"/>
          <p:cNvSpPr txBox="1"/>
          <p:nvPr/>
        </p:nvSpPr>
        <p:spPr>
          <a:xfrm>
            <a:off x="7839713" y="5222561"/>
            <a:ext cx="3813012" cy="2801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73F7C"/>
                </a:solidFill>
                <a:latin typeface="Noto Sans CJK SC"/>
                <a:ea typeface="Noto Sans CJK SC"/>
                <a:cs typeface="Noto Sans CJK SC"/>
              </a:rPr>
              <a:t>缺脉冲次数 / 连续有效次数：</a:t>
            </a:r>
            <a:r>
              <a:rPr lang="zh-CN" sz="1250">
                <a:solidFill>
                  <a:srgbClr val="073F7C"/>
                </a:solidFill>
                <a:latin typeface="Noto Sans CJK SC"/>
                <a:ea typeface="Noto Sans CJK SC"/>
                <a:cs typeface="Noto Sans CJK SC"/>
              </a:rPr>
              <a:t>待实验确定</a:t>
            </a:r>
            <a:endParaRPr lang="zh-CN" sz="1250"/>
          </a:p>
        </p:txBody>
      </p:sp>
      <p:sp>
        <p:nvSpPr>
          <p:cNvPr id="125" name="TextBox 125"/>
          <p:cNvSpPr txBox="1"/>
          <p:nvPr/>
        </p:nvSpPr>
        <p:spPr>
          <a:xfrm>
            <a:off x="7839713" y="5620126"/>
            <a:ext cx="3813012" cy="2801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73F7C"/>
                </a:solidFill>
                <a:latin typeface="Noto Sans CJK SC"/>
                <a:ea typeface="Noto Sans CJK SC"/>
                <a:cs typeface="Noto Sans CJK SC"/>
              </a:rPr>
              <a:t>恢复观察时间与拉回斜率：</a:t>
            </a:r>
            <a:r>
              <a:rPr lang="zh-CN" sz="1250">
                <a:solidFill>
                  <a:srgbClr val="073F7C"/>
                </a:solidFill>
                <a:latin typeface="Noto Sans CJK SC"/>
                <a:ea typeface="Noto Sans CJK SC"/>
                <a:cs typeface="Noto Sans CJK SC"/>
              </a:rPr>
              <a:t>待实验确定</a:t>
            </a:r>
            <a:endParaRPr lang="zh-CN" sz="1250"/>
          </a:p>
        </p:txBody>
      </p:sp>
      <p:sp>
        <p:nvSpPr>
          <p:cNvPr id="126" name="TextBox 126"/>
          <p:cNvSpPr txBox="1"/>
          <p:nvPr/>
        </p:nvSpPr>
        <p:spPr>
          <a:xfrm>
            <a:off x="1017856" y="6216474"/>
            <a:ext cx="957771" cy="3162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060BB"/>
                </a:solidFill>
                <a:latin typeface="Noto Sans CJK SC"/>
                <a:ea typeface="Noto Sans CJK SC"/>
                <a:cs typeface="Noto Sans CJK SC"/>
              </a:rPr>
              <a:t>工程原则：</a:t>
            </a:r>
            <a:endParaRPr lang="zh-CN" sz="1500"/>
          </a:p>
        </p:txBody>
      </p:sp>
      <p:sp>
        <p:nvSpPr>
          <p:cNvPr id="127" name="TextBox 127"/>
          <p:cNvSpPr txBox="1"/>
          <p:nvPr/>
        </p:nvSpPr>
        <p:spPr>
          <a:xfrm>
            <a:off x="1984662" y="6234545"/>
            <a:ext cx="7291708" cy="2981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07386D"/>
                </a:solidFill>
                <a:latin typeface="Noto Sans CJK SC"/>
                <a:ea typeface="Noto Sans CJK SC"/>
                <a:cs typeface="Noto Sans CJK SC"/>
              </a:rPr>
              <a:t>参考异常先保护观测链；恢复后先确认、再限速拉回；所有切换阈值需通过实验确定。</a:t>
            </a:r>
            <a:endParaRPr 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e-source cleaned blue circuitry-wave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6251" y="0"/>
            <a:ext cx="12179193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342427" y="1094975"/>
            <a:ext cx="6387353" cy="480252"/>
          </a:xfrm>
          <a:prstGeom prst="roundRect">
            <a:avLst>
              <a:gd name="adj" fmla="val 24000"/>
            </a:avLst>
          </a:prstGeom>
          <a:solidFill>
            <a:srgbClr val="B9DE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089469" y="2506916"/>
            <a:ext cx="3112034" cy="720378"/>
          </a:xfrm>
          <a:prstGeom prst="roundRect">
            <a:avLst>
              <a:gd name="adj" fmla="val 20000"/>
            </a:avLst>
          </a:prstGeom>
          <a:solidFill>
            <a:srgbClr val="E3DFD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646562" y="3621101"/>
            <a:ext cx="2670202" cy="701168"/>
          </a:xfrm>
          <a:prstGeom prst="roundRect">
            <a:avLst>
              <a:gd name="adj" fmla="val 20548"/>
            </a:avLst>
          </a:prstGeom>
          <a:solidFill>
            <a:srgbClr val="BCE1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7113982" y="1114185"/>
            <a:ext cx="4792916" cy="489857"/>
          </a:xfrm>
          <a:prstGeom prst="roundRect">
            <a:avLst>
              <a:gd name="adj" fmla="val 25490"/>
            </a:avLst>
          </a:prstGeom>
          <a:solidFill>
            <a:srgbClr val="B7DDE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7113982" y="1738513"/>
            <a:ext cx="4792916" cy="489857"/>
          </a:xfrm>
          <a:prstGeom prst="roundRect">
            <a:avLst>
              <a:gd name="adj" fmla="val 25490"/>
            </a:avLst>
          </a:prstGeom>
          <a:solidFill>
            <a:srgbClr val="B7DD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7113982" y="2362840"/>
            <a:ext cx="4792916" cy="489857"/>
          </a:xfrm>
          <a:prstGeom prst="roundRect">
            <a:avLst>
              <a:gd name="adj" fmla="val 25490"/>
            </a:avLst>
          </a:prstGeom>
          <a:solidFill>
            <a:srgbClr val="B7DD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7113982" y="2987168"/>
            <a:ext cx="4792916" cy="489857"/>
          </a:xfrm>
          <a:prstGeom prst="roundRect">
            <a:avLst>
              <a:gd name="adj" fmla="val 25490"/>
            </a:avLst>
          </a:prstGeom>
          <a:solidFill>
            <a:srgbClr val="B7DD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7094772" y="3611496"/>
            <a:ext cx="4888966" cy="2699017"/>
          </a:xfrm>
          <a:prstGeom prst="roundRect">
            <a:avLst>
              <a:gd name="adj" fmla="val 6762"/>
            </a:avLst>
          </a:prstGeom>
          <a:solidFill>
            <a:srgbClr val="BDDF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342427" y="6166437"/>
            <a:ext cx="6262487" cy="489857"/>
          </a:xfrm>
          <a:prstGeom prst="roundRect">
            <a:avLst>
              <a:gd name="adj" fmla="val 25490"/>
            </a:avLst>
          </a:prstGeom>
          <a:solidFill>
            <a:srgbClr val="B7DF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6251" y="192101"/>
            <a:ext cx="7895345" cy="6627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707" y="0"/>
                </a:lnTo>
                <a:lnTo>
                  <a:pt x="21600" y="2817"/>
                </a:lnTo>
                <a:lnTo>
                  <a:pt x="211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AD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13612" y="1056555"/>
            <a:ext cx="6396958" cy="470647"/>
          </a:xfrm>
          <a:prstGeom prst="roundRect">
            <a:avLst>
              <a:gd name="adj" fmla="val 24490"/>
            </a:avLst>
          </a:prstGeom>
          <a:solidFill>
            <a:srgbClr val="F4FBFF"/>
          </a:solidFill>
          <a:ln w="9525">
            <a:solidFill>
              <a:srgbClr val="57C9F7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3060654" y="2478101"/>
            <a:ext cx="3112034" cy="710773"/>
          </a:xfrm>
          <a:prstGeom prst="roundRect">
            <a:avLst>
              <a:gd name="adj" fmla="val 20270"/>
            </a:avLst>
          </a:prstGeom>
          <a:solidFill>
            <a:srgbClr val="FFF8F2"/>
          </a:solidFill>
          <a:ln w="10795">
            <a:solidFill>
              <a:srgbClr val="F28D42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3617747" y="3592286"/>
            <a:ext cx="2670202" cy="701168"/>
          </a:xfrm>
          <a:prstGeom prst="roundRect">
            <a:avLst>
              <a:gd name="adj" fmla="val 20548"/>
            </a:avLst>
          </a:prstGeom>
          <a:solidFill>
            <a:srgbClr val="F0FFFD"/>
          </a:solidFill>
          <a:ln w="10795">
            <a:solidFill>
              <a:srgbClr val="08B5AA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7085167" y="1075765"/>
            <a:ext cx="4792916" cy="499462"/>
          </a:xfrm>
          <a:prstGeom prst="roundRect">
            <a:avLst>
              <a:gd name="adj" fmla="val 25000"/>
            </a:avLst>
          </a:prstGeom>
          <a:solidFill>
            <a:srgbClr val="F8FCFF"/>
          </a:solidFill>
          <a:ln w="10795">
            <a:solidFill>
              <a:srgbClr val="2CA8FF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7085167" y="1700092"/>
            <a:ext cx="4792916" cy="499462"/>
          </a:xfrm>
          <a:prstGeom prst="roundRect">
            <a:avLst>
              <a:gd name="adj" fmla="val 25000"/>
            </a:avLst>
          </a:prstGeom>
          <a:solidFill>
            <a:srgbClr val="F8FCFF"/>
          </a:solidFill>
          <a:ln w="10795">
            <a:solidFill>
              <a:srgbClr val="2CA8FF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7085167" y="2324420"/>
            <a:ext cx="4792916" cy="499462"/>
          </a:xfrm>
          <a:prstGeom prst="roundRect">
            <a:avLst>
              <a:gd name="adj" fmla="val 25000"/>
            </a:avLst>
          </a:prstGeom>
          <a:solidFill>
            <a:srgbClr val="F8FCFF"/>
          </a:solidFill>
          <a:ln w="10795">
            <a:solidFill>
              <a:srgbClr val="2CA8FF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7085167" y="2948748"/>
            <a:ext cx="4792916" cy="499462"/>
          </a:xfrm>
          <a:prstGeom prst="roundRect">
            <a:avLst>
              <a:gd name="adj" fmla="val 25000"/>
            </a:avLst>
          </a:prstGeom>
          <a:solidFill>
            <a:srgbClr val="F8FCFF"/>
          </a:solidFill>
          <a:ln w="10795">
            <a:solidFill>
              <a:srgbClr val="2CA8FF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7065957" y="3573076"/>
            <a:ext cx="4888966" cy="2699017"/>
          </a:xfrm>
          <a:prstGeom prst="roundRect">
            <a:avLst>
              <a:gd name="adj" fmla="val 6762"/>
            </a:avLst>
          </a:prstGeom>
          <a:solidFill>
            <a:srgbClr val="FFFFFF"/>
          </a:solidFill>
          <a:ln w="10160">
            <a:solidFill>
              <a:srgbClr val="79CFFF"/>
            </a:solidFill>
          </a:ln>
        </p:spPr>
        <p:txBody>
          <a:bodyPr/>
          <a:lstStyle/>
          <a:p/>
        </p:txBody>
      </p:sp>
      <p:sp>
        <p:nvSpPr>
          <p:cNvPr id="21" name="Polygon 21"/>
          <p:cNvSpPr/>
          <p:nvPr/>
        </p:nvSpPr>
        <p:spPr>
          <a:xfrm>
            <a:off x="313612" y="6118412"/>
            <a:ext cx="6272092" cy="50906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96" y="0"/>
                </a:moveTo>
                <a:lnTo>
                  <a:pt x="21038" y="0"/>
                </a:lnTo>
                <a:lnTo>
                  <a:pt x="21600" y="5706"/>
                </a:lnTo>
                <a:lnTo>
                  <a:pt x="21600" y="15894"/>
                </a:lnTo>
                <a:lnTo>
                  <a:pt x="21137" y="21600"/>
                </a:lnTo>
                <a:lnTo>
                  <a:pt x="496" y="21600"/>
                </a:lnTo>
                <a:lnTo>
                  <a:pt x="0" y="16709"/>
                </a:lnTo>
                <a:lnTo>
                  <a:pt x="0" y="5298"/>
                </a:lnTo>
                <a:close/>
              </a:path>
            </a:pathLst>
          </a:custGeom>
          <a:solidFill>
            <a:srgbClr val="F3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olygon 22"/>
          <p:cNvSpPr/>
          <p:nvPr/>
        </p:nvSpPr>
        <p:spPr>
          <a:xfrm>
            <a:off x="793864" y="1757723"/>
            <a:ext cx="3006378" cy="2689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7743"/>
                </a:moveTo>
                <a:lnTo>
                  <a:pt x="1518" y="0"/>
                </a:lnTo>
                <a:lnTo>
                  <a:pt x="21600" y="771"/>
                </a:lnTo>
                <a:lnTo>
                  <a:pt x="2008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0E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7181217" y="4043723"/>
            <a:ext cx="4658445" cy="2132319"/>
          </a:xfrm>
          <a:prstGeom prst="roundRect">
            <a:avLst>
              <a:gd name="adj" fmla="val 6757"/>
            </a:avLst>
          </a:prstGeom>
          <a:solidFill>
            <a:srgbClr val="F8F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ath 24"/>
          <p:cNvSpPr/>
          <p:nvPr/>
        </p:nvSpPr>
        <p:spPr>
          <a:xfrm>
            <a:off x="313612" y="6118412"/>
            <a:ext cx="6272092" cy="50906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496" y="0"/>
                </a:moveTo>
                <a:lnTo>
                  <a:pt x="21038" y="0"/>
                </a:lnTo>
                <a:lnTo>
                  <a:pt x="21600" y="5706"/>
                </a:lnTo>
                <a:lnTo>
                  <a:pt x="21600" y="15894"/>
                </a:lnTo>
                <a:lnTo>
                  <a:pt x="21137" y="21600"/>
                </a:lnTo>
                <a:lnTo>
                  <a:pt x="496" y="21600"/>
                </a:lnTo>
                <a:lnTo>
                  <a:pt x="0" y="16709"/>
                </a:lnTo>
                <a:lnTo>
                  <a:pt x="0" y="5298"/>
                </a:lnTo>
                <a:lnTo>
                  <a:pt x="496" y="0"/>
                </a:lnTo>
              </a:path>
            </a:pathLst>
          </a:custGeom>
          <a:noFill/>
          <a:ln w="10160">
            <a:solidFill>
              <a:srgbClr val="69C8FB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6251" y="192101"/>
            <a:ext cx="187298" cy="662748"/>
          </a:xfrm>
          <a:prstGeom prst="rect">
            <a:avLst/>
          </a:prstGeom>
          <a:solidFill>
            <a:srgbClr val="EAFAFD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91628" y="192101"/>
            <a:ext cx="187298" cy="662748"/>
          </a:xfrm>
          <a:prstGeom prst="rect">
            <a:avLst/>
          </a:prstGeom>
          <a:solidFill>
            <a:srgbClr val="DFF3F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377006" y="192101"/>
            <a:ext cx="187298" cy="662748"/>
          </a:xfrm>
          <a:prstGeom prst="rect">
            <a:avLst/>
          </a:prstGeom>
          <a:solidFill>
            <a:srgbClr val="D6EDF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562383" y="192101"/>
            <a:ext cx="187298" cy="662748"/>
          </a:xfrm>
          <a:prstGeom prst="rect">
            <a:avLst/>
          </a:prstGeom>
          <a:solidFill>
            <a:srgbClr val="CBE8F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747760" y="192101"/>
            <a:ext cx="187298" cy="662748"/>
          </a:xfrm>
          <a:prstGeom prst="rect">
            <a:avLst/>
          </a:prstGeom>
          <a:solidFill>
            <a:srgbClr val="B9DD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933138" y="192101"/>
            <a:ext cx="187298" cy="662748"/>
          </a:xfrm>
          <a:prstGeom prst="rect">
            <a:avLst/>
          </a:prstGeom>
          <a:solidFill>
            <a:srgbClr val="B3DF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1118515" y="192101"/>
            <a:ext cx="187298" cy="662748"/>
          </a:xfrm>
          <a:prstGeom prst="rect">
            <a:avLst/>
          </a:prstGeom>
          <a:solidFill>
            <a:srgbClr val="ABD7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1303892" y="192101"/>
            <a:ext cx="187298" cy="662748"/>
          </a:xfrm>
          <a:prstGeom prst="rect">
            <a:avLst/>
          </a:prstGeom>
          <a:solidFill>
            <a:srgbClr val="9ED2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1489269" y="192101"/>
            <a:ext cx="187298" cy="662748"/>
          </a:xfrm>
          <a:prstGeom prst="rect">
            <a:avLst/>
          </a:prstGeom>
          <a:solidFill>
            <a:srgbClr val="8ECB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1674647" y="192101"/>
            <a:ext cx="187298" cy="662748"/>
          </a:xfrm>
          <a:prstGeom prst="rect">
            <a:avLst/>
          </a:prstGeom>
          <a:solidFill>
            <a:srgbClr val="84C6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1860024" y="192101"/>
            <a:ext cx="187298" cy="662748"/>
          </a:xfrm>
          <a:prstGeom prst="rect">
            <a:avLst/>
          </a:prstGeom>
          <a:solidFill>
            <a:srgbClr val="79C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2045401" y="192101"/>
            <a:ext cx="187298" cy="662748"/>
          </a:xfrm>
          <a:prstGeom prst="rect">
            <a:avLst/>
          </a:prstGeom>
          <a:solidFill>
            <a:srgbClr val="6CBB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2230779" y="192101"/>
            <a:ext cx="187298" cy="662748"/>
          </a:xfrm>
          <a:prstGeom prst="rect">
            <a:avLst/>
          </a:prstGeom>
          <a:solidFill>
            <a:srgbClr val="61B7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2416156" y="192101"/>
            <a:ext cx="187298" cy="662748"/>
          </a:xfrm>
          <a:prstGeom prst="rect">
            <a:avLst/>
          </a:prstGeom>
          <a:solidFill>
            <a:srgbClr val="52B0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2601533" y="192101"/>
            <a:ext cx="187298" cy="662748"/>
          </a:xfrm>
          <a:prstGeom prst="rect">
            <a:avLst/>
          </a:prstGeom>
          <a:solidFill>
            <a:srgbClr val="4BA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2786911" y="192101"/>
            <a:ext cx="187298" cy="662748"/>
          </a:xfrm>
          <a:prstGeom prst="rect">
            <a:avLst/>
          </a:prstGeom>
          <a:solidFill>
            <a:srgbClr val="41A5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2972288" y="192101"/>
            <a:ext cx="187298" cy="662748"/>
          </a:xfrm>
          <a:prstGeom prst="rect">
            <a:avLst/>
          </a:prstGeom>
          <a:solidFill>
            <a:srgbClr val="399F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3157665" y="192101"/>
            <a:ext cx="187298" cy="662748"/>
          </a:xfrm>
          <a:prstGeom prst="rect">
            <a:avLst/>
          </a:prstGeom>
          <a:solidFill>
            <a:srgbClr val="359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3343043" y="192101"/>
            <a:ext cx="187298" cy="662748"/>
          </a:xfrm>
          <a:prstGeom prst="rect">
            <a:avLst/>
          </a:prstGeom>
          <a:solidFill>
            <a:srgbClr val="2793F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3528420" y="192101"/>
            <a:ext cx="187298" cy="662748"/>
          </a:xfrm>
          <a:prstGeom prst="rect">
            <a:avLst/>
          </a:prstGeom>
          <a:solidFill>
            <a:srgbClr val="2790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3713797" y="192101"/>
            <a:ext cx="187298" cy="662748"/>
          </a:xfrm>
          <a:prstGeom prst="rect">
            <a:avLst/>
          </a:prstGeom>
          <a:solidFill>
            <a:srgbClr val="2389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3899174" y="192101"/>
            <a:ext cx="187298" cy="662748"/>
          </a:xfrm>
          <a:prstGeom prst="rect">
            <a:avLst/>
          </a:prstGeom>
          <a:solidFill>
            <a:srgbClr val="1E84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4084552" y="192101"/>
            <a:ext cx="187298" cy="662748"/>
          </a:xfrm>
          <a:prstGeom prst="rect">
            <a:avLst/>
          </a:prstGeom>
          <a:solidFill>
            <a:srgbClr val="127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4269929" y="192101"/>
            <a:ext cx="187298" cy="662748"/>
          </a:xfrm>
          <a:prstGeom prst="rect">
            <a:avLst/>
          </a:prstGeom>
          <a:solidFill>
            <a:srgbClr val="0A75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4455306" y="192101"/>
            <a:ext cx="187298" cy="662748"/>
          </a:xfrm>
          <a:prstGeom prst="rect">
            <a:avLst/>
          </a:prstGeom>
          <a:solidFill>
            <a:srgbClr val="046EF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4640684" y="192101"/>
            <a:ext cx="187298" cy="662748"/>
          </a:xfrm>
          <a:prstGeom prst="rect">
            <a:avLst/>
          </a:prstGeom>
          <a:solidFill>
            <a:srgbClr val="056FF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4826061" y="192101"/>
            <a:ext cx="187298" cy="662748"/>
          </a:xfrm>
          <a:prstGeom prst="rect">
            <a:avLst/>
          </a:prstGeom>
          <a:solidFill>
            <a:srgbClr val="0C6FF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5011438" y="192101"/>
            <a:ext cx="187298" cy="662748"/>
          </a:xfrm>
          <a:prstGeom prst="rect">
            <a:avLst/>
          </a:prstGeom>
          <a:solidFill>
            <a:srgbClr val="0A6AF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5196816" y="192101"/>
            <a:ext cx="187298" cy="662748"/>
          </a:xfrm>
          <a:prstGeom prst="rect">
            <a:avLst/>
          </a:prstGeom>
          <a:solidFill>
            <a:srgbClr val="0B69F9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5382193" y="192101"/>
            <a:ext cx="187298" cy="662748"/>
          </a:xfrm>
          <a:prstGeom prst="rect">
            <a:avLst/>
          </a:prstGeom>
          <a:solidFill>
            <a:srgbClr val="0F6BF9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5567570" y="192101"/>
            <a:ext cx="187298" cy="662748"/>
          </a:xfrm>
          <a:prstGeom prst="rect">
            <a:avLst/>
          </a:prstGeom>
          <a:solidFill>
            <a:srgbClr val="1872F9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5752948" y="192101"/>
            <a:ext cx="187298" cy="662748"/>
          </a:xfrm>
          <a:prstGeom prst="rect">
            <a:avLst/>
          </a:prstGeom>
          <a:solidFill>
            <a:srgbClr val="207CF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5938325" y="192101"/>
            <a:ext cx="187298" cy="662748"/>
          </a:xfrm>
          <a:prstGeom prst="rect">
            <a:avLst/>
          </a:prstGeom>
          <a:solidFill>
            <a:srgbClr val="1E7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6123702" y="192101"/>
            <a:ext cx="187298" cy="662748"/>
          </a:xfrm>
          <a:prstGeom prst="rect">
            <a:avLst/>
          </a:prstGeom>
          <a:solidFill>
            <a:srgbClr val="1F7CF9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6309080" y="192101"/>
            <a:ext cx="187298" cy="662748"/>
          </a:xfrm>
          <a:prstGeom prst="rect">
            <a:avLst/>
          </a:prstGeom>
          <a:solidFill>
            <a:srgbClr val="2483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6494457" y="192101"/>
            <a:ext cx="187298" cy="662748"/>
          </a:xfrm>
          <a:prstGeom prst="rect">
            <a:avLst/>
          </a:prstGeom>
          <a:solidFill>
            <a:srgbClr val="298B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6679834" y="192101"/>
            <a:ext cx="187298" cy="662748"/>
          </a:xfrm>
          <a:prstGeom prst="rect">
            <a:avLst/>
          </a:prstGeom>
          <a:solidFill>
            <a:srgbClr val="298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6865211" y="192101"/>
            <a:ext cx="187298" cy="662748"/>
          </a:xfrm>
          <a:prstGeom prst="rect">
            <a:avLst/>
          </a:prstGeom>
          <a:solidFill>
            <a:srgbClr val="248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7050589" y="192101"/>
            <a:ext cx="187298" cy="662748"/>
          </a:xfrm>
          <a:prstGeom prst="rect">
            <a:avLst/>
          </a:prstGeom>
          <a:solidFill>
            <a:srgbClr val="1E79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7235966" y="192101"/>
            <a:ext cx="187298" cy="662748"/>
          </a:xfrm>
          <a:prstGeom prst="rect">
            <a:avLst/>
          </a:prstGeom>
          <a:solidFill>
            <a:srgbClr val="1A74F9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Polygon 65"/>
          <p:cNvSpPr/>
          <p:nvPr/>
        </p:nvSpPr>
        <p:spPr>
          <a:xfrm>
            <a:off x="7421343" y="192101"/>
            <a:ext cx="163286" cy="6627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0641F1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Polygon 66"/>
          <p:cNvSpPr/>
          <p:nvPr/>
        </p:nvSpPr>
        <p:spPr>
          <a:xfrm>
            <a:off x="332822" y="1066160"/>
            <a:ext cx="134471" cy="10565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343" y="0"/>
                </a:lnTo>
                <a:lnTo>
                  <a:pt x="21600" y="0"/>
                </a:lnTo>
                <a:lnTo>
                  <a:pt x="9257" y="21600"/>
                </a:lnTo>
                <a:close/>
              </a:path>
            </a:pathLst>
          </a:custGeom>
          <a:solidFill>
            <a:srgbClr val="01AC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Polygon 67"/>
          <p:cNvSpPr/>
          <p:nvPr/>
        </p:nvSpPr>
        <p:spPr>
          <a:xfrm>
            <a:off x="428873" y="1066160"/>
            <a:ext cx="134471" cy="10565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343" y="0"/>
                </a:lnTo>
                <a:lnTo>
                  <a:pt x="21600" y="0"/>
                </a:lnTo>
                <a:lnTo>
                  <a:pt x="9257" y="21600"/>
                </a:lnTo>
                <a:close/>
              </a:path>
            </a:pathLst>
          </a:custGeom>
          <a:solidFill>
            <a:srgbClr val="01AC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Polygon 68"/>
          <p:cNvSpPr/>
          <p:nvPr/>
        </p:nvSpPr>
        <p:spPr>
          <a:xfrm>
            <a:off x="803469" y="1757723"/>
            <a:ext cx="316966" cy="23052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3091" y="0"/>
                </a:lnTo>
                <a:lnTo>
                  <a:pt x="21600" y="0"/>
                </a:lnTo>
                <a:lnTo>
                  <a:pt x="8509" y="21600"/>
                </a:lnTo>
                <a:close/>
              </a:path>
            </a:pathLst>
          </a:custGeom>
          <a:solidFill>
            <a:srgbClr val="02B9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Polygon 69"/>
          <p:cNvSpPr/>
          <p:nvPr/>
        </p:nvSpPr>
        <p:spPr>
          <a:xfrm>
            <a:off x="976360" y="1757723"/>
            <a:ext cx="316966" cy="23052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3091" y="0"/>
                </a:lnTo>
                <a:lnTo>
                  <a:pt x="21600" y="0"/>
                </a:lnTo>
                <a:lnTo>
                  <a:pt x="8509" y="21600"/>
                </a:lnTo>
                <a:close/>
              </a:path>
            </a:pathLst>
          </a:custGeom>
          <a:solidFill>
            <a:srgbClr val="0572E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Polygon 70"/>
          <p:cNvSpPr/>
          <p:nvPr/>
        </p:nvSpPr>
        <p:spPr>
          <a:xfrm>
            <a:off x="1149251" y="1757723"/>
            <a:ext cx="316966" cy="23052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3091" y="0"/>
                </a:lnTo>
                <a:lnTo>
                  <a:pt x="21600" y="0"/>
                </a:lnTo>
                <a:lnTo>
                  <a:pt x="8509" y="21600"/>
                </a:lnTo>
                <a:close/>
              </a:path>
            </a:pathLst>
          </a:custGeom>
          <a:solidFill>
            <a:srgbClr val="A0D9F9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oundrect 71"/>
          <p:cNvSpPr/>
          <p:nvPr/>
        </p:nvSpPr>
        <p:spPr>
          <a:xfrm>
            <a:off x="7181217" y="4043723"/>
            <a:ext cx="4658445" cy="2132319"/>
          </a:xfrm>
          <a:prstGeom prst="roundRect">
            <a:avLst>
              <a:gd name="adj" fmla="val 6757"/>
            </a:avLst>
          </a:prstGeom>
          <a:noFill/>
          <a:ln w="8890">
            <a:solidFill>
              <a:srgbClr val="BDDDF8"/>
            </a:solidFill>
            <a:prstDash val="dash"/>
          </a:ln>
        </p:spPr>
        <p:txBody>
          <a:bodyPr/>
          <a:lstStyle/>
          <a:p/>
        </p:txBody>
      </p:sp>
      <p:sp>
        <p:nvSpPr>
          <p:cNvPr id="72" name="Polygon 72"/>
          <p:cNvSpPr/>
          <p:nvPr/>
        </p:nvSpPr>
        <p:spPr>
          <a:xfrm>
            <a:off x="3185520" y="2487706"/>
            <a:ext cx="182496" cy="11526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505" y="0"/>
                </a:lnTo>
                <a:lnTo>
                  <a:pt x="21600" y="0"/>
                </a:lnTo>
                <a:lnTo>
                  <a:pt x="9095" y="21600"/>
                </a:lnTo>
                <a:close/>
              </a:path>
            </a:pathLst>
          </a:custGeom>
          <a:solidFill>
            <a:srgbClr val="FFE5B2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Polygon 73"/>
          <p:cNvSpPr/>
          <p:nvPr/>
        </p:nvSpPr>
        <p:spPr>
          <a:xfrm>
            <a:off x="3291175" y="2487706"/>
            <a:ext cx="182496" cy="11526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505" y="0"/>
                </a:lnTo>
                <a:lnTo>
                  <a:pt x="21600" y="0"/>
                </a:lnTo>
                <a:lnTo>
                  <a:pt x="9095" y="21600"/>
                </a:lnTo>
                <a:close/>
              </a:path>
            </a:pathLst>
          </a:custGeom>
          <a:solidFill>
            <a:srgbClr val="FFD58B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Polygon 74"/>
          <p:cNvSpPr/>
          <p:nvPr/>
        </p:nvSpPr>
        <p:spPr>
          <a:xfrm>
            <a:off x="3396831" y="2487706"/>
            <a:ext cx="182496" cy="11526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505" y="0"/>
                </a:lnTo>
                <a:lnTo>
                  <a:pt x="21600" y="0"/>
                </a:lnTo>
                <a:lnTo>
                  <a:pt x="9095" y="21600"/>
                </a:lnTo>
                <a:close/>
              </a:path>
            </a:pathLst>
          </a:custGeom>
          <a:solidFill>
            <a:srgbClr val="FFB55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Polygon 75"/>
          <p:cNvSpPr/>
          <p:nvPr/>
        </p:nvSpPr>
        <p:spPr>
          <a:xfrm>
            <a:off x="3819453" y="3601891"/>
            <a:ext cx="182496" cy="10565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505" y="0"/>
                </a:lnTo>
                <a:lnTo>
                  <a:pt x="21600" y="0"/>
                </a:lnTo>
                <a:lnTo>
                  <a:pt x="9095" y="21600"/>
                </a:lnTo>
                <a:close/>
              </a:path>
            </a:pathLst>
          </a:custGeom>
          <a:solidFill>
            <a:srgbClr val="A3EFE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Polygon 76"/>
          <p:cNvSpPr/>
          <p:nvPr/>
        </p:nvSpPr>
        <p:spPr>
          <a:xfrm>
            <a:off x="3925108" y="3601891"/>
            <a:ext cx="182496" cy="10565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505" y="0"/>
                </a:lnTo>
                <a:lnTo>
                  <a:pt x="21600" y="0"/>
                </a:lnTo>
                <a:lnTo>
                  <a:pt x="9095" y="21600"/>
                </a:lnTo>
                <a:close/>
              </a:path>
            </a:pathLst>
          </a:custGeom>
          <a:solidFill>
            <a:srgbClr val="6CE2D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Polygon 77"/>
          <p:cNvSpPr/>
          <p:nvPr/>
        </p:nvSpPr>
        <p:spPr>
          <a:xfrm>
            <a:off x="4030764" y="3601891"/>
            <a:ext cx="182496" cy="10565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505" y="0"/>
                </a:lnTo>
                <a:lnTo>
                  <a:pt x="21600" y="0"/>
                </a:lnTo>
                <a:lnTo>
                  <a:pt x="9095" y="21600"/>
                </a:lnTo>
                <a:close/>
              </a:path>
            </a:pathLst>
          </a:custGeom>
          <a:solidFill>
            <a:srgbClr val="26D3C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Polygon 78"/>
          <p:cNvSpPr/>
          <p:nvPr/>
        </p:nvSpPr>
        <p:spPr>
          <a:xfrm>
            <a:off x="9774579" y="3707546"/>
            <a:ext cx="297756" cy="21131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542" y="0"/>
                </a:lnTo>
                <a:lnTo>
                  <a:pt x="21600" y="0"/>
                </a:lnTo>
                <a:lnTo>
                  <a:pt x="9058" y="21600"/>
                </a:lnTo>
                <a:close/>
              </a:path>
            </a:pathLst>
          </a:custGeom>
          <a:solidFill>
            <a:srgbClr val="9CDCFB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Polygon 79"/>
          <p:cNvSpPr/>
          <p:nvPr/>
        </p:nvSpPr>
        <p:spPr>
          <a:xfrm>
            <a:off x="9947469" y="3707546"/>
            <a:ext cx="297756" cy="21131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542" y="0"/>
                </a:lnTo>
                <a:lnTo>
                  <a:pt x="21600" y="0"/>
                </a:lnTo>
                <a:lnTo>
                  <a:pt x="9058" y="21600"/>
                </a:lnTo>
                <a:close/>
              </a:path>
            </a:pathLst>
          </a:custGeom>
          <a:solidFill>
            <a:srgbClr val="B5E6FC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Polygon 80"/>
          <p:cNvSpPr/>
          <p:nvPr/>
        </p:nvSpPr>
        <p:spPr>
          <a:xfrm>
            <a:off x="10120360" y="3707546"/>
            <a:ext cx="297756" cy="21131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2542" y="0"/>
                </a:lnTo>
                <a:lnTo>
                  <a:pt x="21600" y="0"/>
                </a:lnTo>
                <a:lnTo>
                  <a:pt x="9058" y="21600"/>
                </a:lnTo>
                <a:close/>
              </a:path>
            </a:pathLst>
          </a:custGeom>
          <a:solidFill>
            <a:srgbClr val="CDE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7421343" y="854849"/>
            <a:ext cx="4764101" cy="0"/>
          </a:xfrm>
          <a:prstGeom prst="line">
            <a:avLst/>
          </a:prstGeom>
          <a:noFill/>
          <a:ln w="9525">
            <a:solidFill>
              <a:srgbClr val="2997FF"/>
            </a:solidFill>
            <a:prstDash val="solid"/>
          </a:ln>
        </p:spPr>
        <p:txBody>
          <a:bodyPr/>
          <a:lstStyle/>
          <a:p/>
        </p:txBody>
      </p:sp>
      <p:sp>
        <p:nvSpPr>
          <p:cNvPr id="82" name="Path 82"/>
          <p:cNvSpPr/>
          <p:nvPr/>
        </p:nvSpPr>
        <p:spPr>
          <a:xfrm>
            <a:off x="6251" y="355387"/>
            <a:ext cx="883664" cy="268941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6339" y="0"/>
                </a:lnTo>
                <a:lnTo>
                  <a:pt x="12913" y="21600"/>
                </a:lnTo>
                <a:lnTo>
                  <a:pt x="21600" y="21600"/>
                </a:lnTo>
              </a:path>
            </a:pathLst>
          </a:custGeom>
          <a:noFill/>
          <a:ln w="9525">
            <a:solidFill>
              <a:srgbClr val="087BFF"/>
            </a:solidFill>
          </a:ln>
        </p:spPr>
        <p:txBody>
          <a:bodyPr/>
          <a:lstStyle/>
          <a:p/>
        </p:txBody>
      </p:sp>
      <p:sp>
        <p:nvSpPr>
          <p:cNvPr id="83" name="Path 83"/>
          <p:cNvSpPr/>
          <p:nvPr/>
        </p:nvSpPr>
        <p:spPr>
          <a:xfrm>
            <a:off x="6251" y="499462"/>
            <a:ext cx="336176" cy="7684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6046" y="0"/>
                </a:lnTo>
                <a:lnTo>
                  <a:pt x="21600" y="21600"/>
                </a:lnTo>
              </a:path>
            </a:pathLst>
          </a:custGeom>
          <a:noFill/>
          <a:ln w="9525">
            <a:solidFill>
              <a:srgbClr val="087BFF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9544058" y="1210235"/>
            <a:ext cx="0" cy="230521"/>
          </a:xfrm>
          <a:prstGeom prst="line">
            <a:avLst/>
          </a:prstGeom>
          <a:noFill/>
          <a:ln w="10160">
            <a:solidFill>
              <a:srgbClr val="A1CDED"/>
            </a:solidFill>
            <a:prstDash val="solid"/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9544058" y="1834563"/>
            <a:ext cx="0" cy="230521"/>
          </a:xfrm>
          <a:prstGeom prst="line">
            <a:avLst/>
          </a:prstGeom>
          <a:noFill/>
          <a:ln w="10160">
            <a:solidFill>
              <a:srgbClr val="A1CDED"/>
            </a:solidFill>
            <a:prstDash val="solid"/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9544058" y="2458891"/>
            <a:ext cx="0" cy="230521"/>
          </a:xfrm>
          <a:prstGeom prst="line">
            <a:avLst/>
          </a:prstGeom>
          <a:noFill/>
          <a:ln w="10160">
            <a:solidFill>
              <a:srgbClr val="A1CDED"/>
            </a:solidFill>
            <a:prstDash val="solid"/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9544058" y="3083218"/>
            <a:ext cx="0" cy="230521"/>
          </a:xfrm>
          <a:prstGeom prst="line">
            <a:avLst/>
          </a:prstGeom>
          <a:noFill/>
          <a:ln w="10160">
            <a:solidFill>
              <a:srgbClr val="A1CDED"/>
            </a:solidFill>
            <a:prstDash val="solid"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870705" y="605118"/>
            <a:ext cx="38420" cy="38420"/>
          </a:xfrm>
          <a:prstGeom prst="ellipse">
            <a:avLst/>
          </a:prstGeom>
          <a:solidFill>
            <a:srgbClr val="DAF8FF"/>
          </a:solidFill>
          <a:ln w="8890">
            <a:solidFill>
              <a:srgbClr val="087BFF"/>
            </a:solidFill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323217" y="557092"/>
            <a:ext cx="38420" cy="38420"/>
          </a:xfrm>
          <a:prstGeom prst="ellipse">
            <a:avLst/>
          </a:prstGeom>
          <a:solidFill>
            <a:srgbClr val="DAF8FF"/>
          </a:solidFill>
          <a:ln w="8890">
            <a:solidFill>
              <a:srgbClr val="087BFF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3195125" y="2775857"/>
            <a:ext cx="441832" cy="0"/>
          </a:xfrm>
          <a:prstGeom prst="line">
            <a:avLst/>
          </a:prstGeom>
          <a:noFill/>
          <a:ln w="12700">
            <a:solidFill>
              <a:srgbClr val="F55412"/>
            </a:solidFill>
            <a:prstDash val="solid"/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3992343" y="3880437"/>
            <a:ext cx="259336" cy="0"/>
          </a:xfrm>
          <a:prstGeom prst="line">
            <a:avLst/>
          </a:prstGeom>
          <a:noFill/>
          <a:ln w="12700">
            <a:solidFill>
              <a:srgbClr val="009D8A"/>
            </a:solidFill>
            <a:prstDash val="solid"/>
          </a:ln>
        </p:spPr>
        <p:txBody>
          <a:bodyPr/>
          <a:lstStyle/>
          <a:p/>
        </p:txBody>
      </p:sp>
      <p:sp>
        <p:nvSpPr>
          <p:cNvPr id="92" name="Path 92"/>
          <p:cNvSpPr/>
          <p:nvPr/>
        </p:nvSpPr>
        <p:spPr>
          <a:xfrm>
            <a:off x="5836511" y="6368143"/>
            <a:ext cx="1085370" cy="24012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3441" y="6048"/>
                </a:lnTo>
                <a:lnTo>
                  <a:pt x="11278" y="6048"/>
                </a:lnTo>
                <a:lnTo>
                  <a:pt x="12807" y="0"/>
                </a:lnTo>
                <a:lnTo>
                  <a:pt x="21600" y="0"/>
                </a:lnTo>
              </a:path>
            </a:pathLst>
          </a:custGeom>
          <a:noFill/>
          <a:ln w="9525">
            <a:solidFill>
              <a:srgbClr val="087CFF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6576100" y="6435378"/>
            <a:ext cx="259336" cy="0"/>
          </a:xfrm>
          <a:prstGeom prst="line">
            <a:avLst/>
          </a:prstGeom>
          <a:noFill/>
          <a:ln w="9525">
            <a:solidFill>
              <a:srgbClr val="087CFF"/>
            </a:solidFill>
            <a:prstDash val="solid"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3598537" y="2727832"/>
            <a:ext cx="96050" cy="96050"/>
          </a:xfrm>
          <a:prstGeom prst="ellipse">
            <a:avLst/>
          </a:prstGeom>
          <a:solidFill>
            <a:srgbClr val="F55412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4203654" y="3832412"/>
            <a:ext cx="96050" cy="96050"/>
          </a:xfrm>
          <a:prstGeom prst="ellipse">
            <a:avLst/>
          </a:prstGeom>
          <a:solidFill>
            <a:srgbClr val="009D8A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5990192" y="6416168"/>
            <a:ext cx="38420" cy="38420"/>
          </a:xfrm>
          <a:prstGeom prst="ellipse">
            <a:avLst/>
          </a:prstGeom>
          <a:solidFill>
            <a:srgbClr val="DBF7FF"/>
          </a:solidFill>
          <a:ln w="8890">
            <a:solidFill>
              <a:srgbClr val="087CFF"/>
            </a:solidFill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6383999" y="6416168"/>
            <a:ext cx="38420" cy="38420"/>
          </a:xfrm>
          <a:prstGeom prst="ellipse">
            <a:avLst/>
          </a:prstGeom>
          <a:solidFill>
            <a:srgbClr val="DBF7FF"/>
          </a:solidFill>
          <a:ln w="8890">
            <a:solidFill>
              <a:srgbClr val="087CFF"/>
            </a:solidFill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6902671" y="6348933"/>
            <a:ext cx="38420" cy="38420"/>
          </a:xfrm>
          <a:prstGeom prst="ellipse">
            <a:avLst/>
          </a:prstGeom>
          <a:solidFill>
            <a:srgbClr val="DBF7FF"/>
          </a:solidFill>
          <a:ln w="8890">
            <a:solidFill>
              <a:srgbClr val="087CFF"/>
            </a:solidFill>
          </a:ln>
        </p:spPr>
        <p:txBody>
          <a:bodyPr/>
          <a:lstStyle/>
          <a:p/>
        </p:txBody>
      </p:sp>
      <p:pic>
        <p:nvPicPr>
          <p:cNvPr id="99" name="Source-edited blank original pedestal placed at original source footprint."/>
          <p:cNvPicPr/>
          <p:nvPr/>
        </p:nvPicPr>
        <p:blipFill>
          <a:blip r:embed="rId23"/>
          <a:stretch>
            <a:fillRect/>
          </a:stretch>
        </p:blipFill>
        <p:spPr>
          <a:xfrm>
            <a:off x="-51466" y="4543531"/>
            <a:ext cx="6247676" cy="1737831"/>
          </a:xfrm>
          <a:prstGeom prst="rect">
            <a:avLst/>
          </a:prstGeom>
        </p:spPr>
      </p:pic>
      <p:pic>
        <p:nvPicPr>
          <p:cNvPr id="100" name="principle-document"/>
          <p:cNvPicPr/>
          <p:nvPr/>
        </p:nvPicPr>
        <p:blipFill>
          <a:blip r:embed="rId3"/>
          <a:stretch>
            <a:fillRect/>
          </a:stretch>
        </p:blipFill>
        <p:spPr>
          <a:xfrm>
            <a:off x="478070" y="1030736"/>
            <a:ext cx="564354" cy="541484"/>
          </a:xfrm>
          <a:prstGeom prst="rect">
            <a:avLst/>
          </a:prstGeom>
        </p:spPr>
      </p:pic>
      <p:pic>
        <p:nvPicPr>
          <p:cNvPr id="101" name="Source-edited blank original blue-tier placed at original source footprint."/>
          <p:cNvPicPr/>
          <p:nvPr/>
        </p:nvPicPr>
        <p:blipFill>
          <a:blip r:embed="rId22"/>
          <a:stretch>
            <a:fillRect/>
          </a:stretch>
        </p:blipFill>
        <p:spPr>
          <a:xfrm>
            <a:off x="332083" y="4325198"/>
            <a:ext cx="4721157" cy="1559763"/>
          </a:xfrm>
          <a:prstGeom prst="rect">
            <a:avLst/>
          </a:prstGeom>
        </p:spPr>
      </p:pic>
      <p:pic>
        <p:nvPicPr>
          <p:cNvPr id="102" name="Original glossy red-orange two-headed curved arrow, both source directions retained."/>
          <p:cNvPicPr/>
          <p:nvPr/>
        </p:nvPicPr>
        <p:blipFill>
          <a:blip r:embed="rId4"/>
          <a:stretch>
            <a:fillRect/>
          </a:stretch>
        </p:blipFill>
        <p:spPr>
          <a:xfrm>
            <a:off x="864317" y="2560819"/>
            <a:ext cx="1251816" cy="1803596"/>
          </a:xfrm>
          <a:prstGeom prst="rect">
            <a:avLst/>
          </a:prstGeom>
        </p:spPr>
      </p:pic>
      <p:pic>
        <p:nvPicPr>
          <p:cNvPr id="103" name="Original glossy blue two-headed curved arrow, both source directions retained."/>
          <p:cNvPicPr/>
          <p:nvPr/>
        </p:nvPicPr>
        <p:blipFill>
          <a:blip r:embed="rId5"/>
          <a:stretch>
            <a:fillRect/>
          </a:stretch>
        </p:blipFill>
        <p:spPr>
          <a:xfrm>
            <a:off x="5702771" y="2852400"/>
            <a:ext cx="1131935" cy="2276990"/>
          </a:xfrm>
          <a:prstGeom prst="rect">
            <a:avLst/>
          </a:prstGeom>
        </p:spPr>
      </p:pic>
      <p:pic>
        <p:nvPicPr>
          <p:cNvPr id="104" name="Source-edited blank original green-tier placed at original source footprint."/>
          <p:cNvPicPr/>
          <p:nvPr/>
        </p:nvPicPr>
        <p:blipFill>
          <a:blip r:embed="rId21"/>
          <a:stretch>
            <a:fillRect/>
          </a:stretch>
        </p:blipFill>
        <p:spPr>
          <a:xfrm>
            <a:off x="1039936" y="3394086"/>
            <a:ext cx="3340269" cy="1289679"/>
          </a:xfrm>
          <a:prstGeom prst="rect">
            <a:avLst/>
          </a:prstGeom>
        </p:spPr>
      </p:pic>
      <p:pic>
        <p:nvPicPr>
          <p:cNvPr id="105" name="Source-edited blank original orange-tier placed at original source footprint."/>
          <p:cNvPicPr/>
          <p:nvPr/>
        </p:nvPicPr>
        <p:blipFill>
          <a:blip r:embed="rId20"/>
          <a:stretch>
            <a:fillRect/>
          </a:stretch>
        </p:blipFill>
        <p:spPr>
          <a:xfrm>
            <a:off x="1671122" y="1993584"/>
            <a:ext cx="2049072" cy="1602957"/>
          </a:xfrm>
          <a:prstGeom prst="rect">
            <a:avLst/>
          </a:prstGeom>
        </p:spPr>
      </p:pic>
      <p:pic>
        <p:nvPicPr>
          <p:cNvPr id="106" name="number-badge"/>
          <p:cNvPicPr/>
          <p:nvPr/>
        </p:nvPicPr>
        <p:blipFill>
          <a:blip r:embed="rId9"/>
          <a:stretch>
            <a:fillRect/>
          </a:stretch>
        </p:blipFill>
        <p:spPr>
          <a:xfrm>
            <a:off x="7140847" y="1043818"/>
            <a:ext cx="527912" cy="535395"/>
          </a:xfrm>
          <a:prstGeom prst="rect">
            <a:avLst/>
          </a:prstGeom>
        </p:spPr>
      </p:pic>
      <p:pic>
        <p:nvPicPr>
          <p:cNvPr id="107" name="number-badge"/>
          <p:cNvPicPr/>
          <p:nvPr/>
        </p:nvPicPr>
        <p:blipFill>
          <a:blip r:embed="rId11"/>
          <a:stretch>
            <a:fillRect/>
          </a:stretch>
        </p:blipFill>
        <p:spPr>
          <a:xfrm>
            <a:off x="7140847" y="1668146"/>
            <a:ext cx="527912" cy="535395"/>
          </a:xfrm>
          <a:prstGeom prst="rect">
            <a:avLst/>
          </a:prstGeom>
        </p:spPr>
      </p:pic>
      <p:pic>
        <p:nvPicPr>
          <p:cNvPr id="108" name="number-badge"/>
          <p:cNvPicPr/>
          <p:nvPr/>
        </p:nvPicPr>
        <p:blipFill>
          <a:blip r:embed="rId13"/>
          <a:stretch>
            <a:fillRect/>
          </a:stretch>
        </p:blipFill>
        <p:spPr>
          <a:xfrm>
            <a:off x="7140847" y="2292474"/>
            <a:ext cx="527912" cy="535395"/>
          </a:xfrm>
          <a:prstGeom prst="rect">
            <a:avLst/>
          </a:prstGeom>
        </p:spPr>
      </p:pic>
      <p:pic>
        <p:nvPicPr>
          <p:cNvPr id="109" name="number-badge"/>
          <p:cNvPicPr/>
          <p:nvPr/>
        </p:nvPicPr>
        <p:blipFill>
          <a:blip r:embed="rId15"/>
          <a:stretch>
            <a:fillRect/>
          </a:stretch>
        </p:blipFill>
        <p:spPr>
          <a:xfrm>
            <a:off x="7140847" y="2916802"/>
            <a:ext cx="527912" cy="535395"/>
          </a:xfrm>
          <a:prstGeom prst="rect">
            <a:avLst/>
          </a:prstGeom>
        </p:spPr>
      </p:pic>
      <p:pic>
        <p:nvPicPr>
          <p:cNvPr id="110" name="rollback-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2558339" y="2388659"/>
            <a:ext cx="436280" cy="515070"/>
          </a:xfrm>
          <a:prstGeom prst="rect">
            <a:avLst/>
          </a:prstGeom>
        </p:spPr>
      </p:pic>
      <p:pic>
        <p:nvPicPr>
          <p:cNvPr id="111" name="trend-icon"/>
          <p:cNvPicPr/>
          <p:nvPr/>
        </p:nvPicPr>
        <p:blipFill>
          <a:blip r:embed="rId7"/>
          <a:stretch>
            <a:fillRect/>
          </a:stretch>
        </p:blipFill>
        <p:spPr>
          <a:xfrm>
            <a:off x="2015952" y="3872618"/>
            <a:ext cx="523023" cy="553519"/>
          </a:xfrm>
          <a:prstGeom prst="rect">
            <a:avLst/>
          </a:prstGeom>
        </p:spPr>
      </p:pic>
      <p:pic>
        <p:nvPicPr>
          <p:cNvPr id="112" name="tier-database"/>
          <p:cNvPicPr/>
          <p:nvPr/>
        </p:nvPicPr>
        <p:blipFill>
          <a:blip r:embed="rId8"/>
          <a:stretch>
            <a:fillRect/>
          </a:stretch>
        </p:blipFill>
        <p:spPr>
          <a:xfrm>
            <a:off x="1583697" y="4921259"/>
            <a:ext cx="533445" cy="675004"/>
          </a:xfrm>
          <a:prstGeom prst="rect">
            <a:avLst/>
          </a:prstGeom>
        </p:spPr>
      </p:pic>
      <p:pic>
        <p:nvPicPr>
          <p:cNvPr id="113" name="server"/>
          <p:cNvPicPr/>
          <p:nvPr/>
        </p:nvPicPr>
        <p:blipFill>
          <a:blip r:embed="rId10"/>
          <a:stretch>
            <a:fillRect/>
          </a:stretch>
        </p:blipFill>
        <p:spPr>
          <a:xfrm>
            <a:off x="7698506" y="1094293"/>
            <a:ext cx="421152" cy="452810"/>
          </a:xfrm>
          <a:prstGeom prst="rect">
            <a:avLst/>
          </a:prstGeom>
        </p:spPr>
      </p:pic>
      <p:pic>
        <p:nvPicPr>
          <p:cNvPr id="114" name="training-database"/>
          <p:cNvPicPr/>
          <p:nvPr/>
        </p:nvPicPr>
        <p:blipFill>
          <a:blip r:embed="rId12"/>
          <a:stretch>
            <a:fillRect/>
          </a:stretch>
        </p:blipFill>
        <p:spPr>
          <a:xfrm>
            <a:off x="7688143" y="1725680"/>
            <a:ext cx="436520" cy="436146"/>
          </a:xfrm>
          <a:prstGeom prst="rect">
            <a:avLst/>
          </a:prstGeom>
        </p:spPr>
      </p:pic>
      <p:pic>
        <p:nvPicPr>
          <p:cNvPr id="115" name="loss-clock"/>
          <p:cNvPicPr/>
          <p:nvPr/>
        </p:nvPicPr>
        <p:blipFill>
          <a:blip r:embed="rId14"/>
          <a:stretch>
            <a:fillRect/>
          </a:stretch>
        </p:blipFill>
        <p:spPr>
          <a:xfrm>
            <a:off x="7737666" y="2350008"/>
            <a:ext cx="377161" cy="410788"/>
          </a:xfrm>
          <a:prstGeom prst="rect">
            <a:avLst/>
          </a:prstGeom>
        </p:spPr>
      </p:pic>
      <p:pic>
        <p:nvPicPr>
          <p:cNvPr id="116" name="repeat"/>
          <p:cNvPicPr/>
          <p:nvPr/>
        </p:nvPicPr>
        <p:blipFill>
          <a:blip r:embed="rId16"/>
          <a:stretch>
            <a:fillRect/>
          </a:stretch>
        </p:blipFill>
        <p:spPr>
          <a:xfrm>
            <a:off x="7749634" y="2985891"/>
            <a:ext cx="352966" cy="387400"/>
          </a:xfrm>
          <a:prstGeom prst="rect">
            <a:avLst/>
          </a:prstGeom>
        </p:spPr>
      </p:pic>
      <p:pic>
        <p:nvPicPr>
          <p:cNvPr id="117" name="picture-tab"/>
          <p:cNvPicPr/>
          <p:nvPr/>
        </p:nvPicPr>
        <p:blipFill>
          <a:blip r:embed="rId17"/>
          <a:stretch>
            <a:fillRect/>
          </a:stretch>
        </p:blipFill>
        <p:spPr>
          <a:xfrm>
            <a:off x="7150913" y="3553866"/>
            <a:ext cx="569204" cy="528277"/>
          </a:xfrm>
          <a:prstGeom prst="rect">
            <a:avLst/>
          </a:prstGeom>
        </p:spPr>
      </p:pic>
      <p:pic>
        <p:nvPicPr>
          <p:cNvPr id="118" name="Source original faded generic picture placeholder; no experimental graph or invented photo."/>
          <p:cNvPicPr/>
          <p:nvPr/>
        </p:nvPicPr>
        <p:blipFill>
          <a:blip r:embed="rId18"/>
          <a:stretch>
            <a:fillRect/>
          </a:stretch>
        </p:blipFill>
        <p:spPr>
          <a:xfrm>
            <a:off x="9086041" y="4628641"/>
            <a:ext cx="857404" cy="755821"/>
          </a:xfrm>
          <a:prstGeom prst="rect">
            <a:avLst/>
          </a:prstGeom>
        </p:spPr>
      </p:pic>
      <p:pic>
        <p:nvPicPr>
          <p:cNvPr id="119" name="record-clipboard"/>
          <p:cNvPicPr/>
          <p:nvPr/>
        </p:nvPicPr>
        <p:blipFill>
          <a:blip r:embed="rId19"/>
          <a:stretch>
            <a:fillRect/>
          </a:stretch>
        </p:blipFill>
        <p:spPr>
          <a:xfrm>
            <a:off x="398492" y="6110036"/>
            <a:ext cx="547266" cy="541878"/>
          </a:xfrm>
          <a:prstGeom prst="rect">
            <a:avLst/>
          </a:prstGeom>
        </p:spPr>
      </p:pic>
      <p:sp>
        <p:nvSpPr>
          <p:cNvPr id="120" name="TextBox 120"/>
          <p:cNvSpPr txBox="1"/>
          <p:nvPr/>
        </p:nvSpPr>
        <p:spPr>
          <a:xfrm>
            <a:off x="1014780" y="268941"/>
            <a:ext cx="6339328" cy="4706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保持机制分级：效果由对照实验说明</a:t>
            </a:r>
            <a:endParaRPr lang="zh-CN" sz="3100"/>
          </a:p>
        </p:txBody>
      </p:sp>
      <p:sp>
        <p:nvSpPr>
          <p:cNvPr id="121" name="TextBox 121"/>
          <p:cNvSpPr txBox="1"/>
          <p:nvPr/>
        </p:nvSpPr>
        <p:spPr>
          <a:xfrm>
            <a:off x="1072411" y="1143000"/>
            <a:ext cx="480252" cy="268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062EF"/>
                </a:solidFill>
                <a:latin typeface="Noto Sans CJK SC"/>
                <a:ea typeface="Noto Sans CJK SC"/>
                <a:cs typeface="Noto Sans CJK SC"/>
              </a:rPr>
              <a:t>原则：</a:t>
            </a:r>
            <a:endParaRPr lang="zh-CN" sz="1250"/>
          </a:p>
        </p:txBody>
      </p:sp>
      <p:sp>
        <p:nvSpPr>
          <p:cNvPr id="122" name="TextBox 122"/>
          <p:cNvSpPr txBox="1"/>
          <p:nvPr/>
        </p:nvSpPr>
        <p:spPr>
          <a:xfrm>
            <a:off x="1552663" y="1143000"/>
            <a:ext cx="4936992" cy="268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03476"/>
                </a:solidFill>
                <a:latin typeface="Noto Sans CJK SC"/>
                <a:ea typeface="Noto Sans CJK SC"/>
                <a:cs typeface="Noto Sans CJK SC"/>
              </a:rPr>
              <a:t>先建立基础保持；模型补偿仅在数据覆盖充分且验证通过时启用。</a:t>
            </a:r>
            <a:endParaRPr lang="zh-CN" sz="1250"/>
          </a:p>
        </p:txBody>
      </p:sp>
      <p:sp>
        <p:nvSpPr>
          <p:cNvPr id="123" name="TextBox 123"/>
          <p:cNvSpPr txBox="1"/>
          <p:nvPr/>
        </p:nvSpPr>
        <p:spPr>
          <a:xfrm>
            <a:off x="1418192" y="1690487"/>
            <a:ext cx="2209160" cy="34578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 b="1" i="1">
                <a:solidFill>
                  <a:srgbClr val="003884"/>
                </a:solidFill>
                <a:latin typeface="Noto Sans CJK SC"/>
                <a:ea typeface="Noto Sans CJK SC"/>
                <a:cs typeface="Noto Sans CJK SC"/>
              </a:rPr>
              <a:t>三级保持机制</a:t>
            </a:r>
            <a:endParaRPr lang="zh-CN" sz="2200"/>
          </a:p>
        </p:txBody>
      </p:sp>
      <p:sp>
        <p:nvSpPr>
          <p:cNvPr id="124" name="TextBox 124"/>
          <p:cNvSpPr txBox="1"/>
          <p:nvPr/>
        </p:nvSpPr>
        <p:spPr>
          <a:xfrm>
            <a:off x="3867478" y="2612571"/>
            <a:ext cx="2209160" cy="4514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003376"/>
                </a:solidFill>
                <a:latin typeface="Noto Sans CJK SC"/>
                <a:ea typeface="Noto Sans CJK SC"/>
                <a:cs typeface="Noto Sans CJK SC"/>
              </a:rPr>
              <a:t>训练不足、温度越界或软件告警</a:t>
            </a:r>
            <a:endParaRPr lang="zh-CN" sz="1250"/>
          </a:p>
          <a:p>
            <a:pPr algn="l"/>
            <a:r>
              <a:rPr lang="zh-CN" sz="1250">
                <a:solidFill>
                  <a:srgbClr val="003376"/>
                </a:solidFill>
                <a:latin typeface="Noto Sans CJK SC"/>
                <a:ea typeface="Noto Sans CJK SC"/>
                <a:cs typeface="Noto Sans CJK SC"/>
              </a:rPr>
              <a:t>开启回退到基础保持</a:t>
            </a:r>
            <a:endParaRPr lang="zh-CN" sz="1250"/>
          </a:p>
        </p:txBody>
      </p:sp>
      <p:sp>
        <p:nvSpPr>
          <p:cNvPr id="125" name="TextBox 125"/>
          <p:cNvSpPr txBox="1"/>
          <p:nvPr/>
        </p:nvSpPr>
        <p:spPr>
          <a:xfrm>
            <a:off x="4434175" y="3736361"/>
            <a:ext cx="1796143" cy="4514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003376"/>
                </a:solidFill>
                <a:latin typeface="Noto Sans CJK SC"/>
                <a:ea typeface="Noto Sans CJK SC"/>
                <a:cs typeface="Noto Sans CJK SC"/>
              </a:rPr>
              <a:t>基于历史数据补偿温度变化</a:t>
            </a:r>
            <a:endParaRPr lang="zh-CN" sz="1250"/>
          </a:p>
          <a:p>
            <a:pPr algn="l"/>
            <a:r>
              <a:rPr lang="zh-CN" sz="1250">
                <a:solidFill>
                  <a:srgbClr val="003376"/>
                </a:solidFill>
                <a:latin typeface="Noto Sans CJK SC"/>
                <a:ea typeface="Noto Sans CJK SC"/>
                <a:cs typeface="Noto Sans CJK SC"/>
              </a:rPr>
              <a:t>与慢衰老化趋势</a:t>
            </a:r>
            <a:endParaRPr lang="zh-CN" sz="1250"/>
          </a:p>
        </p:txBody>
      </p:sp>
      <p:sp>
        <p:nvSpPr>
          <p:cNvPr id="126" name="TextBox 126"/>
          <p:cNvSpPr txBox="1"/>
          <p:nvPr/>
        </p:nvSpPr>
        <p:spPr>
          <a:xfrm>
            <a:off x="2196201" y="2862303"/>
            <a:ext cx="1123790" cy="5090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 b="1">
                <a:solidFill>
                  <a:srgbClr val="A71203"/>
                </a:solidFill>
                <a:latin typeface="Noto Sans CJK SC"/>
                <a:ea typeface="Noto Sans CJK SC"/>
                <a:cs typeface="Noto Sans CJK SC"/>
              </a:rPr>
              <a:t>三级</a:t>
            </a:r>
            <a:endParaRPr lang="zh-CN" sz="1650"/>
          </a:p>
          <a:p>
            <a:pPr algn="ctr"/>
            <a:r>
              <a:rPr lang="zh-CN" sz="1650" b="1">
                <a:solidFill>
                  <a:srgbClr val="A71203"/>
                </a:solidFill>
                <a:latin typeface="Noto Sans CJK SC"/>
                <a:ea typeface="Noto Sans CJK SC"/>
                <a:cs typeface="Noto Sans CJK SC"/>
              </a:rPr>
              <a:t>降级与回退</a:t>
            </a:r>
            <a:endParaRPr lang="zh-CN" sz="1650"/>
          </a:p>
        </p:txBody>
      </p:sp>
      <p:sp>
        <p:nvSpPr>
          <p:cNvPr id="127" name="TextBox 127"/>
          <p:cNvSpPr txBox="1"/>
          <p:nvPr/>
        </p:nvSpPr>
        <p:spPr>
          <a:xfrm>
            <a:off x="2666848" y="3813202"/>
            <a:ext cx="1171815" cy="5763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004C3D"/>
                </a:solidFill>
                <a:latin typeface="Noto Sans CJK SC"/>
                <a:ea typeface="Noto Sans CJK SC"/>
                <a:cs typeface="Noto Sans CJK SC"/>
              </a:rPr>
              <a:t>二级</a:t>
            </a:r>
            <a:endParaRPr lang="zh-CN" sz="1750"/>
          </a:p>
          <a:p>
            <a:pPr algn="l"/>
            <a:r>
              <a:rPr lang="zh-CN" sz="1750" b="1">
                <a:solidFill>
                  <a:srgbClr val="004C3D"/>
                </a:solidFill>
                <a:latin typeface="Noto Sans CJK SC"/>
                <a:ea typeface="Noto Sans CJK SC"/>
                <a:cs typeface="Noto Sans CJK SC"/>
              </a:rPr>
              <a:t>模型保持</a:t>
            </a:r>
            <a:endParaRPr lang="zh-CN" sz="1750"/>
          </a:p>
        </p:txBody>
      </p:sp>
      <p:sp>
        <p:nvSpPr>
          <p:cNvPr id="128" name="TextBox 128"/>
          <p:cNvSpPr txBox="1"/>
          <p:nvPr/>
        </p:nvSpPr>
        <p:spPr>
          <a:xfrm>
            <a:off x="2301856" y="4783311"/>
            <a:ext cx="2324420" cy="34578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>
                <a:solidFill>
                  <a:srgbClr val="003DDD"/>
                </a:solidFill>
                <a:latin typeface="Noto Sans CJK SC"/>
                <a:ea typeface="Noto Sans CJK SC"/>
                <a:cs typeface="Noto Sans CJK SC"/>
              </a:rPr>
              <a:t>一级｜基础保持</a:t>
            </a:r>
            <a:endParaRPr lang="zh-CN" sz="1850"/>
          </a:p>
        </p:txBody>
      </p:sp>
      <p:sp>
        <p:nvSpPr>
          <p:cNvPr id="129" name="TextBox 129"/>
          <p:cNvSpPr txBox="1"/>
          <p:nvPr/>
        </p:nvSpPr>
        <p:spPr>
          <a:xfrm>
            <a:off x="2311461" y="5129092"/>
            <a:ext cx="2458891" cy="4514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003476"/>
                </a:solidFill>
                <a:latin typeface="Noto Sans CJK SC"/>
                <a:ea typeface="Noto Sans CJK SC"/>
                <a:cs typeface="Noto Sans CJK SC"/>
              </a:rPr>
              <a:t>保留稳定控制值与频偏估计</a:t>
            </a:r>
            <a:endParaRPr lang="zh-CN" sz="1250"/>
          </a:p>
          <a:p>
            <a:pPr algn="l"/>
            <a:r>
              <a:rPr lang="zh-CN" sz="1250">
                <a:solidFill>
                  <a:srgbClr val="003476"/>
                </a:solidFill>
                <a:latin typeface="Noto Sans CJK SC"/>
                <a:ea typeface="Noto Sans CJK SC"/>
                <a:cs typeface="Noto Sans CJK SC"/>
              </a:rPr>
              <a:t>作为可解释、可复现的基线</a:t>
            </a:r>
            <a:endParaRPr lang="zh-CN" sz="1250"/>
          </a:p>
        </p:txBody>
      </p:sp>
      <p:sp>
        <p:nvSpPr>
          <p:cNvPr id="130" name="TextBox 130"/>
          <p:cNvSpPr txBox="1"/>
          <p:nvPr/>
        </p:nvSpPr>
        <p:spPr>
          <a:xfrm>
            <a:off x="515318" y="3332950"/>
            <a:ext cx="489857" cy="5570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AE1809"/>
                </a:solidFill>
                <a:latin typeface="Noto Sans CJK SC"/>
                <a:ea typeface="Noto Sans CJK SC"/>
                <a:cs typeface="Noto Sans CJK SC"/>
              </a:rPr>
              <a:t>降级</a:t>
            </a:r>
            <a:endParaRPr lang="zh-CN" sz="1600"/>
          </a:p>
          <a:p>
            <a:pPr algn="l"/>
            <a:r>
              <a:rPr lang="zh-CN" sz="1600" b="1">
                <a:solidFill>
                  <a:srgbClr val="AE1809"/>
                </a:solidFill>
                <a:latin typeface="Noto Sans CJK SC"/>
                <a:ea typeface="Noto Sans CJK SC"/>
                <a:cs typeface="Noto Sans CJK SC"/>
              </a:rPr>
              <a:t>回退</a:t>
            </a:r>
            <a:endParaRPr lang="zh-CN" sz="1600"/>
          </a:p>
        </p:txBody>
      </p:sp>
      <p:sp>
        <p:nvSpPr>
          <p:cNvPr id="131" name="TextBox 131"/>
          <p:cNvSpPr txBox="1"/>
          <p:nvPr/>
        </p:nvSpPr>
        <p:spPr>
          <a:xfrm>
            <a:off x="6316764" y="4091748"/>
            <a:ext cx="701168" cy="4418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064FA9"/>
                </a:solidFill>
                <a:latin typeface="Noto Sans CJK SC"/>
                <a:ea typeface="Noto Sans CJK SC"/>
                <a:cs typeface="Noto Sans CJK SC"/>
              </a:rPr>
              <a:t>验证通过</a:t>
            </a:r>
            <a:endParaRPr lang="zh-CN" sz="1200"/>
          </a:p>
          <a:p>
            <a:pPr algn="l"/>
            <a:r>
              <a:rPr lang="zh-CN" sz="1200" b="1">
                <a:solidFill>
                  <a:srgbClr val="064FA9"/>
                </a:solidFill>
                <a:latin typeface="Noto Sans CJK SC"/>
                <a:ea typeface="Noto Sans CJK SC"/>
                <a:cs typeface="Noto Sans CJK SC"/>
              </a:rPr>
              <a:t>启用模型</a:t>
            </a:r>
            <a:endParaRPr lang="zh-CN" sz="1200"/>
          </a:p>
        </p:txBody>
      </p:sp>
      <p:sp>
        <p:nvSpPr>
          <p:cNvPr id="132" name="TextBox 132"/>
          <p:cNvSpPr txBox="1"/>
          <p:nvPr/>
        </p:nvSpPr>
        <p:spPr>
          <a:xfrm>
            <a:off x="7140847" y="1043818"/>
            <a:ext cx="527912" cy="5353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lang="zh-CN" sz="2200"/>
          </a:p>
        </p:txBody>
      </p:sp>
      <p:sp>
        <p:nvSpPr>
          <p:cNvPr id="133" name="TextBox 133"/>
          <p:cNvSpPr txBox="1"/>
          <p:nvPr/>
        </p:nvSpPr>
        <p:spPr>
          <a:xfrm>
            <a:off x="8151327" y="1152605"/>
            <a:ext cx="1392731" cy="3073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59ED"/>
                </a:solidFill>
                <a:latin typeface="Noto Sans CJK SC"/>
                <a:ea typeface="Noto Sans CJK SC"/>
                <a:cs typeface="Noto Sans CJK SC"/>
              </a:rPr>
              <a:t>固定条件</a:t>
            </a:r>
            <a:endParaRPr lang="zh-CN" sz="1550"/>
          </a:p>
        </p:txBody>
      </p:sp>
      <p:sp>
        <p:nvSpPr>
          <p:cNvPr id="134" name="TextBox 134"/>
          <p:cNvSpPr txBox="1"/>
          <p:nvPr/>
        </p:nvSpPr>
        <p:spPr>
          <a:xfrm>
            <a:off x="9774579" y="1181420"/>
            <a:ext cx="1921008" cy="2881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063775"/>
                </a:solidFill>
                <a:latin typeface="Noto Sans CJK SC"/>
                <a:ea typeface="Noto Sans CJK SC"/>
                <a:cs typeface="Noto Sans CJK SC"/>
              </a:rPr>
              <a:t>同一晶振 / 同一环境</a:t>
            </a:r>
            <a:endParaRPr lang="zh-CN" sz="1200"/>
          </a:p>
        </p:txBody>
      </p:sp>
      <p:sp>
        <p:nvSpPr>
          <p:cNvPr id="135" name="TextBox 135"/>
          <p:cNvSpPr txBox="1"/>
          <p:nvPr/>
        </p:nvSpPr>
        <p:spPr>
          <a:xfrm>
            <a:off x="7140847" y="1668146"/>
            <a:ext cx="527912" cy="5353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lang="zh-CN" sz="2200"/>
          </a:p>
        </p:txBody>
      </p:sp>
      <p:sp>
        <p:nvSpPr>
          <p:cNvPr id="136" name="TextBox 136"/>
          <p:cNvSpPr txBox="1"/>
          <p:nvPr/>
        </p:nvSpPr>
        <p:spPr>
          <a:xfrm>
            <a:off x="8151327" y="1776933"/>
            <a:ext cx="1392731" cy="3073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59ED"/>
                </a:solidFill>
                <a:latin typeface="Noto Sans CJK SC"/>
                <a:ea typeface="Noto Sans CJK SC"/>
                <a:cs typeface="Noto Sans CJK SC"/>
              </a:rPr>
              <a:t>训练与验证分离</a:t>
            </a:r>
            <a:endParaRPr lang="zh-CN" sz="1550"/>
          </a:p>
        </p:txBody>
      </p:sp>
      <p:sp>
        <p:nvSpPr>
          <p:cNvPr id="137" name="TextBox 137"/>
          <p:cNvSpPr txBox="1"/>
          <p:nvPr/>
        </p:nvSpPr>
        <p:spPr>
          <a:xfrm>
            <a:off x="9774579" y="1805748"/>
            <a:ext cx="1921008" cy="2881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063775"/>
                </a:solidFill>
                <a:latin typeface="Noto Sans CJK SC"/>
                <a:ea typeface="Noto Sans CJK SC"/>
                <a:cs typeface="Noto Sans CJK SC"/>
              </a:rPr>
              <a:t>训练集不参与最终评估</a:t>
            </a:r>
            <a:endParaRPr lang="zh-CN" sz="1200"/>
          </a:p>
        </p:txBody>
      </p:sp>
      <p:sp>
        <p:nvSpPr>
          <p:cNvPr id="138" name="TextBox 138"/>
          <p:cNvSpPr txBox="1"/>
          <p:nvPr/>
        </p:nvSpPr>
        <p:spPr>
          <a:xfrm>
            <a:off x="7140847" y="2292474"/>
            <a:ext cx="527912" cy="5353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lang="zh-CN" sz="2200"/>
          </a:p>
        </p:txBody>
      </p:sp>
      <p:sp>
        <p:nvSpPr>
          <p:cNvPr id="139" name="TextBox 139"/>
          <p:cNvSpPr txBox="1"/>
          <p:nvPr/>
        </p:nvSpPr>
        <p:spPr>
          <a:xfrm>
            <a:off x="8151327" y="2401261"/>
            <a:ext cx="1392731" cy="3073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59ED"/>
                </a:solidFill>
                <a:latin typeface="Noto Sans CJK SC"/>
                <a:ea typeface="Noto Sans CJK SC"/>
                <a:cs typeface="Noto Sans CJK SC"/>
              </a:rPr>
              <a:t>参考失锁</a:t>
            </a:r>
            <a:endParaRPr lang="zh-CN" sz="1550"/>
          </a:p>
        </p:txBody>
      </p:sp>
      <p:sp>
        <p:nvSpPr>
          <p:cNvPr id="140" name="TextBox 140"/>
          <p:cNvSpPr txBox="1"/>
          <p:nvPr/>
        </p:nvSpPr>
        <p:spPr>
          <a:xfrm>
            <a:off x="9774579" y="2430076"/>
            <a:ext cx="1921008" cy="2881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063775"/>
                </a:solidFill>
                <a:latin typeface="Noto Sans CJK SC"/>
                <a:ea typeface="Noto Sans CJK SC"/>
                <a:cs typeface="Noto Sans CJK SC"/>
              </a:rPr>
              <a:t>记录保持期间误差</a:t>
            </a:r>
            <a:endParaRPr lang="zh-CN" sz="1200"/>
          </a:p>
        </p:txBody>
      </p:sp>
      <p:sp>
        <p:nvSpPr>
          <p:cNvPr id="141" name="TextBox 141"/>
          <p:cNvSpPr txBox="1"/>
          <p:nvPr/>
        </p:nvSpPr>
        <p:spPr>
          <a:xfrm>
            <a:off x="7140847" y="2916802"/>
            <a:ext cx="527912" cy="5353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lang="zh-CN" sz="2200"/>
          </a:p>
        </p:txBody>
      </p:sp>
      <p:sp>
        <p:nvSpPr>
          <p:cNvPr id="142" name="TextBox 142"/>
          <p:cNvSpPr txBox="1"/>
          <p:nvPr/>
        </p:nvSpPr>
        <p:spPr>
          <a:xfrm>
            <a:off x="8151327" y="3025588"/>
            <a:ext cx="1392731" cy="3073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59ED"/>
                </a:solidFill>
                <a:latin typeface="Noto Sans CJK SC"/>
                <a:ea typeface="Noto Sans CJK SC"/>
                <a:cs typeface="Noto Sans CJK SC"/>
              </a:rPr>
              <a:t>结果复测</a:t>
            </a:r>
            <a:endParaRPr lang="zh-CN" sz="1550"/>
          </a:p>
        </p:txBody>
      </p:sp>
      <p:sp>
        <p:nvSpPr>
          <p:cNvPr id="143" name="TextBox 143"/>
          <p:cNvSpPr txBox="1"/>
          <p:nvPr/>
        </p:nvSpPr>
        <p:spPr>
          <a:xfrm>
            <a:off x="9774579" y="3054403"/>
            <a:ext cx="1921008" cy="2881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063775"/>
                </a:solidFill>
                <a:latin typeface="Noto Sans CJK SC"/>
                <a:ea typeface="Noto Sans CJK SC"/>
                <a:cs typeface="Noto Sans CJK SC"/>
              </a:rPr>
              <a:t>重复试验并保存日志</a:t>
            </a:r>
            <a:endParaRPr lang="zh-CN" sz="1200"/>
          </a:p>
        </p:txBody>
      </p:sp>
      <p:sp>
        <p:nvSpPr>
          <p:cNvPr id="144" name="TextBox 144"/>
          <p:cNvSpPr txBox="1"/>
          <p:nvPr/>
        </p:nvSpPr>
        <p:spPr>
          <a:xfrm>
            <a:off x="7805545" y="3630706"/>
            <a:ext cx="2228370" cy="3361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59ED"/>
                </a:solidFill>
                <a:latin typeface="Noto Sans CJK SC"/>
                <a:ea typeface="Noto Sans CJK SC"/>
                <a:cs typeface="Noto Sans CJK SC"/>
              </a:rPr>
              <a:t>效果对照图片区（预留）</a:t>
            </a:r>
            <a:endParaRPr lang="zh-CN" sz="1550"/>
          </a:p>
        </p:txBody>
      </p:sp>
      <p:sp>
        <p:nvSpPr>
          <p:cNvPr id="145" name="TextBox 145"/>
          <p:cNvSpPr txBox="1"/>
          <p:nvPr/>
        </p:nvSpPr>
        <p:spPr>
          <a:xfrm>
            <a:off x="8439478" y="5340403"/>
            <a:ext cx="2833487" cy="2785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A7BFDA"/>
                </a:solidFill>
                <a:latin typeface="Noto Sans CJK SC"/>
                <a:ea typeface="Noto Sans CJK SC"/>
                <a:cs typeface="Noto Sans CJK SC"/>
              </a:rPr>
              <a:t>此处预留，供后续放置实验对照图</a:t>
            </a:r>
            <a:endParaRPr lang="zh-CN" sz="1150"/>
          </a:p>
        </p:txBody>
      </p:sp>
      <p:sp>
        <p:nvSpPr>
          <p:cNvPr id="146" name="TextBox 146"/>
          <p:cNvSpPr txBox="1"/>
          <p:nvPr/>
        </p:nvSpPr>
        <p:spPr>
          <a:xfrm>
            <a:off x="985965" y="6243277"/>
            <a:ext cx="893269" cy="2881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065EF"/>
                </a:solidFill>
                <a:latin typeface="Noto Sans CJK SC"/>
                <a:ea typeface="Noto Sans CJK SC"/>
                <a:cs typeface="Noto Sans CJK SC"/>
              </a:rPr>
              <a:t>统一记录：</a:t>
            </a:r>
            <a:endParaRPr lang="zh-CN" sz="1500"/>
          </a:p>
        </p:txBody>
      </p:sp>
      <p:sp>
        <p:nvSpPr>
          <p:cNvPr id="147" name="TextBox 147"/>
          <p:cNvSpPr txBox="1"/>
          <p:nvPr/>
        </p:nvSpPr>
        <p:spPr>
          <a:xfrm>
            <a:off x="1936864" y="6262487"/>
            <a:ext cx="3909252" cy="268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003478"/>
                </a:solidFill>
                <a:latin typeface="Noto Sans CJK SC"/>
                <a:ea typeface="Noto Sans CJK SC"/>
                <a:cs typeface="Noto Sans CJK SC"/>
              </a:rPr>
              <a:t>温度、参考状态、频率偏差、累计时间误差、恢复时间。</a:t>
            </a:r>
            <a:endParaRPr lang="zh-CN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5233" y="0"/>
            <a:ext cx="12181230" cy="6858000"/>
          </a:xfrm>
          <a:prstGeom prst="rect">
            <a:avLst/>
          </a:prstGeom>
        </p:spPr>
      </p:pic>
      <p:sp>
        <p:nvSpPr>
          <p:cNvPr id="3" name="Rect 3"/>
          <p:cNvSpPr/>
          <p:nvPr/>
        </p:nvSpPr>
        <p:spPr>
          <a:xfrm>
            <a:off x="651452" y="290799"/>
            <a:ext cx="5807894" cy="49274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1" y="0"/>
                </a:moveTo>
                <a:lnTo>
                  <a:pt x="21600" y="0"/>
                </a:lnTo>
                <a:lnTo>
                  <a:pt x="2105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DD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247565" y="1074339"/>
            <a:ext cx="4491223" cy="4636622"/>
          </a:xfrm>
          <a:prstGeom prst="roundRect">
            <a:avLst>
              <a:gd name="adj" fmla="val 5036"/>
            </a:avLst>
          </a:prstGeom>
          <a:solidFill>
            <a:srgbClr val="F3F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586830" y="218099"/>
            <a:ext cx="920862" cy="557364"/>
          </a:xfrm>
          <a:prstGeom prst="roundRect">
            <a:avLst>
              <a:gd name="adj" fmla="val 46377"/>
            </a:avLst>
          </a:prstGeom>
          <a:solidFill>
            <a:srgbClr val="62B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239487" y="1066261"/>
            <a:ext cx="4507378" cy="5614028"/>
          </a:xfrm>
          <a:prstGeom prst="roundRect">
            <a:avLst>
              <a:gd name="adj" fmla="val 5197"/>
            </a:avLst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4835720" y="832007"/>
            <a:ext cx="7156876" cy="5832127"/>
          </a:xfrm>
          <a:prstGeom prst="roundRect">
            <a:avLst>
              <a:gd name="adj" fmla="val 3878"/>
            </a:avLst>
          </a:prstGeom>
          <a:solidFill>
            <a:srgbClr val="EFF8FF"/>
          </a:solidFill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772618" y="218099"/>
            <a:ext cx="5355541" cy="5573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652" y="0"/>
                </a:moveTo>
                <a:lnTo>
                  <a:pt x="21600" y="0"/>
                </a:lnTo>
                <a:lnTo>
                  <a:pt x="20981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5110364" y="920862"/>
            <a:ext cx="3998481" cy="444276"/>
          </a:xfrm>
          <a:prstGeom prst="roundRect">
            <a:avLst>
              <a:gd name="adj" fmla="val 40000"/>
            </a:avLst>
          </a:prstGeom>
          <a:solidFill>
            <a:srgbClr val="B2DE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19141" y="3990403"/>
            <a:ext cx="1421682" cy="355420"/>
          </a:xfrm>
          <a:prstGeom prst="roundRect">
            <a:avLst>
              <a:gd name="adj" fmla="val 50000"/>
            </a:avLst>
          </a:prstGeom>
          <a:solidFill>
            <a:srgbClr val="9FD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546441" y="4297357"/>
            <a:ext cx="3950014" cy="1405527"/>
          </a:xfrm>
          <a:prstGeom prst="roundRect">
            <a:avLst>
              <a:gd name="adj" fmla="val 13218"/>
            </a:avLst>
          </a:prstGeom>
          <a:solidFill>
            <a:srgbClr val="CDEB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6200858" y="1534770"/>
            <a:ext cx="4943576" cy="557364"/>
          </a:xfrm>
          <a:prstGeom prst="roundRect">
            <a:avLst>
              <a:gd name="adj" fmla="val 20290"/>
            </a:avLst>
          </a:prstGeom>
          <a:solidFill>
            <a:srgbClr val="C7E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6200858" y="2294078"/>
            <a:ext cx="4878954" cy="549286"/>
          </a:xfrm>
          <a:prstGeom prst="roundRect">
            <a:avLst>
              <a:gd name="adj" fmla="val 20588"/>
            </a:avLst>
          </a:prstGeom>
          <a:solidFill>
            <a:srgbClr val="C7E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6200858" y="3061463"/>
            <a:ext cx="3974247" cy="565442"/>
          </a:xfrm>
          <a:prstGeom prst="roundRect">
            <a:avLst>
              <a:gd name="adj" fmla="val 20000"/>
            </a:avLst>
          </a:prstGeom>
          <a:solidFill>
            <a:srgbClr val="C7E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6200858" y="3804615"/>
            <a:ext cx="4943576" cy="533131"/>
          </a:xfrm>
          <a:prstGeom prst="roundRect">
            <a:avLst>
              <a:gd name="adj" fmla="val 21212"/>
            </a:avLst>
          </a:prstGeom>
          <a:solidFill>
            <a:srgbClr val="C7E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6200858" y="4523534"/>
            <a:ext cx="4927420" cy="525053"/>
          </a:xfrm>
          <a:prstGeom prst="roundRect">
            <a:avLst>
              <a:gd name="adj" fmla="val 21538"/>
            </a:avLst>
          </a:prstGeom>
          <a:solidFill>
            <a:srgbClr val="C7E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6200858" y="5234375"/>
            <a:ext cx="4911265" cy="533131"/>
          </a:xfrm>
          <a:prstGeom prst="roundRect">
            <a:avLst>
              <a:gd name="adj" fmla="val 21212"/>
            </a:avLst>
          </a:prstGeom>
          <a:solidFill>
            <a:srgbClr val="C7E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4948809" y="5896749"/>
            <a:ext cx="6938777" cy="694686"/>
          </a:xfrm>
          <a:prstGeom prst="roundRect">
            <a:avLst>
              <a:gd name="adj" fmla="val 20930"/>
            </a:avLst>
          </a:prstGeom>
          <a:solidFill>
            <a:srgbClr val="CCE8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5013431" y="904707"/>
            <a:ext cx="3950014" cy="452353"/>
          </a:xfrm>
          <a:prstGeom prst="roundRect">
            <a:avLst>
              <a:gd name="adj" fmla="val 41071"/>
            </a:avLst>
          </a:prstGeom>
          <a:solidFill>
            <a:srgbClr val="008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506053" y="3990403"/>
            <a:ext cx="1413604" cy="428120"/>
          </a:xfrm>
          <a:prstGeom prst="roundRect">
            <a:avLst>
              <a:gd name="adj" fmla="val 43396"/>
            </a:avLst>
          </a:prstGeom>
          <a:solidFill>
            <a:srgbClr val="0082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8753424" y="904707"/>
            <a:ext cx="234254" cy="45235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9683" y="0"/>
                </a:moveTo>
                <a:lnTo>
                  <a:pt x="21600" y="0"/>
                </a:lnTo>
                <a:lnTo>
                  <a:pt x="1191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9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514130" y="4256968"/>
            <a:ext cx="3966170" cy="1429760"/>
          </a:xfrm>
          <a:prstGeom prst="roundRect">
            <a:avLst>
              <a:gd name="adj" fmla="val 12994"/>
            </a:avLst>
          </a:prstGeom>
          <a:solidFill>
            <a:srgbClr val="FBFDFF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6160470" y="1494382"/>
            <a:ext cx="4943576" cy="557364"/>
          </a:xfrm>
          <a:prstGeom prst="roundRect">
            <a:avLst>
              <a:gd name="adj" fmla="val 20290"/>
            </a:avLst>
          </a:prstGeom>
          <a:solidFill>
            <a:srgbClr val="FCFEFF"/>
          </a:solidFill>
          <a:ln w="6985">
            <a:solidFill>
              <a:srgbClr val="0087F5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6160470" y="2253689"/>
            <a:ext cx="4878954" cy="549286"/>
          </a:xfrm>
          <a:prstGeom prst="roundRect">
            <a:avLst>
              <a:gd name="adj" fmla="val 20588"/>
            </a:avLst>
          </a:prstGeom>
          <a:solidFill>
            <a:srgbClr val="FCFEFF"/>
          </a:solidFill>
          <a:ln w="6985">
            <a:solidFill>
              <a:srgbClr val="00A8B7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6160470" y="3021074"/>
            <a:ext cx="3974247" cy="565442"/>
          </a:xfrm>
          <a:prstGeom prst="roundRect">
            <a:avLst>
              <a:gd name="adj" fmla="val 20000"/>
            </a:avLst>
          </a:prstGeom>
          <a:solidFill>
            <a:srgbClr val="FCFEFF"/>
          </a:solidFill>
          <a:ln w="6985">
            <a:solidFill>
              <a:srgbClr val="FF8900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6160470" y="3764226"/>
            <a:ext cx="4943576" cy="533131"/>
          </a:xfrm>
          <a:prstGeom prst="roundRect">
            <a:avLst>
              <a:gd name="adj" fmla="val 21212"/>
            </a:avLst>
          </a:prstGeom>
          <a:solidFill>
            <a:srgbClr val="FCFEFF"/>
          </a:solidFill>
          <a:ln w="6985">
            <a:solidFill>
              <a:srgbClr val="9146FF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6160470" y="4483145"/>
            <a:ext cx="4927420" cy="525053"/>
          </a:xfrm>
          <a:prstGeom prst="roundRect">
            <a:avLst>
              <a:gd name="adj" fmla="val 21538"/>
            </a:avLst>
          </a:prstGeom>
          <a:solidFill>
            <a:srgbClr val="FCFEFF"/>
          </a:solidFill>
          <a:ln w="6985">
            <a:solidFill>
              <a:srgbClr val="008EFA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6160470" y="5193986"/>
            <a:ext cx="4911265" cy="533131"/>
          </a:xfrm>
          <a:prstGeom prst="roundRect">
            <a:avLst>
              <a:gd name="adj" fmla="val 21212"/>
            </a:avLst>
          </a:prstGeom>
          <a:solidFill>
            <a:srgbClr val="FCFEFF"/>
          </a:solidFill>
          <a:ln w="6985">
            <a:solidFill>
              <a:srgbClr val="00A88C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10393204" y="3029152"/>
            <a:ext cx="1462071" cy="557364"/>
          </a:xfrm>
          <a:prstGeom prst="roundRect">
            <a:avLst>
              <a:gd name="adj" fmla="val 20290"/>
            </a:avLst>
          </a:prstGeom>
          <a:solidFill>
            <a:srgbClr val="FFF7ED"/>
          </a:solidFill>
          <a:ln w="6985">
            <a:solidFill>
              <a:srgbClr val="FFB558"/>
            </a:solidFill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4924576" y="5856360"/>
            <a:ext cx="6979166" cy="694686"/>
          </a:xfrm>
          <a:prstGeom prst="roundRect">
            <a:avLst>
              <a:gd name="adj" fmla="val 20930"/>
            </a:avLst>
          </a:prstGeom>
          <a:solidFill>
            <a:srgbClr val="F9FCFF"/>
          </a:solidFill>
          <a:ln w="8255">
            <a:solidFill>
              <a:srgbClr val="9ACDFF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8494936" y="1510537"/>
            <a:ext cx="2496021" cy="525053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8494936" y="2269845"/>
            <a:ext cx="2431399" cy="516975"/>
          </a:xfrm>
          <a:prstGeom prst="rect">
            <a:avLst/>
          </a:prstGeom>
          <a:solidFill>
            <a:srgbClr val="E6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8486858" y="3037230"/>
            <a:ext cx="1534770" cy="533131"/>
          </a:xfrm>
          <a:prstGeom prst="rect">
            <a:avLst/>
          </a:prstGeom>
          <a:solidFill>
            <a:srgbClr val="FFF4E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8494936" y="3780382"/>
            <a:ext cx="2496021" cy="500820"/>
          </a:xfrm>
          <a:prstGeom prst="rect">
            <a:avLst/>
          </a:prstGeom>
          <a:solidFill>
            <a:srgbClr val="F4E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8494936" y="4499300"/>
            <a:ext cx="2479866" cy="492742"/>
          </a:xfrm>
          <a:prstGeom prst="rect">
            <a:avLst/>
          </a:prstGeom>
          <a:solidFill>
            <a:srgbClr val="E5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8494936" y="5210141"/>
            <a:ext cx="2463710" cy="500820"/>
          </a:xfrm>
          <a:prstGeom prst="rect">
            <a:avLst/>
          </a:prstGeom>
          <a:solidFill>
            <a:srgbClr val="E6FAF7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3058618" y="791618"/>
            <a:ext cx="8715880" cy="0"/>
          </a:xfrm>
          <a:prstGeom prst="line">
            <a:avLst/>
          </a:prstGeom>
          <a:noFill/>
          <a:ln w="8255">
            <a:solidFill>
              <a:srgbClr val="63B9FF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38" name="Path 38"/>
          <p:cNvSpPr/>
          <p:nvPr/>
        </p:nvSpPr>
        <p:spPr>
          <a:xfrm>
            <a:off x="9892385" y="1195505"/>
            <a:ext cx="1938657" cy="4038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720" y="0"/>
                </a:lnTo>
                <a:lnTo>
                  <a:pt x="1080" y="17280"/>
                </a:lnTo>
                <a:lnTo>
                  <a:pt x="21420" y="17280"/>
                </a:lnTo>
              </a:path>
            </a:pathLst>
          </a:custGeom>
          <a:noFill/>
          <a:ln w="8255">
            <a:solidFill>
              <a:srgbClr val="54B7FF"/>
            </a:solidFill>
            <a:tailEnd type="none"/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11790653" y="1203583"/>
            <a:ext cx="48466" cy="4846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82FF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522208" y="2084057"/>
            <a:ext cx="864318" cy="0"/>
          </a:xfrm>
          <a:prstGeom prst="line">
            <a:avLst/>
          </a:prstGeom>
          <a:noFill/>
          <a:ln w="25400">
            <a:solidFill>
              <a:srgbClr val="75CCFF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514130" y="3037230"/>
            <a:ext cx="3958092" cy="0"/>
          </a:xfrm>
          <a:prstGeom prst="line">
            <a:avLst/>
          </a:prstGeom>
          <a:noFill/>
          <a:ln w="7620">
            <a:solidFill>
              <a:srgbClr val="BFDAEE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538364" y="3691527"/>
            <a:ext cx="3909625" cy="0"/>
          </a:xfrm>
          <a:prstGeom prst="line">
            <a:avLst/>
          </a:prstGeom>
          <a:noFill/>
          <a:ln w="6985">
            <a:solidFill>
              <a:srgbClr val="3C9EFF"/>
            </a:solidFill>
            <a:prstDash val="dot"/>
            <a:tailEnd type="none"/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514130" y="3667293"/>
            <a:ext cx="48466" cy="4846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84FF"/>
            </a:solidFill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4431833" y="3667293"/>
            <a:ext cx="48466" cy="4846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84FF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7517530" y="2051746"/>
            <a:ext cx="0" cy="193866"/>
          </a:xfrm>
          <a:prstGeom prst="line">
            <a:avLst/>
          </a:prstGeom>
          <a:noFill/>
          <a:ln w="17780">
            <a:solidFill>
              <a:srgbClr val="0087F5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7517530" y="2802975"/>
            <a:ext cx="0" cy="210021"/>
          </a:xfrm>
          <a:prstGeom prst="line">
            <a:avLst/>
          </a:prstGeom>
          <a:noFill/>
          <a:ln w="17780">
            <a:solidFill>
              <a:srgbClr val="00A8B7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7517530" y="3586516"/>
            <a:ext cx="0" cy="169633"/>
          </a:xfrm>
          <a:prstGeom prst="line">
            <a:avLst/>
          </a:prstGeom>
          <a:noFill/>
          <a:ln w="17780">
            <a:solidFill>
              <a:srgbClr val="9146FF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7517530" y="4297357"/>
            <a:ext cx="0" cy="177710"/>
          </a:xfrm>
          <a:prstGeom prst="line">
            <a:avLst/>
          </a:prstGeom>
          <a:noFill/>
          <a:ln w="17780">
            <a:solidFill>
              <a:srgbClr val="9146FF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7517530" y="5008198"/>
            <a:ext cx="0" cy="177710"/>
          </a:xfrm>
          <a:prstGeom prst="line">
            <a:avLst/>
          </a:prstGeom>
          <a:noFill/>
          <a:ln w="17780">
            <a:solidFill>
              <a:srgbClr val="008EFA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0" name="Path 50"/>
          <p:cNvSpPr/>
          <p:nvPr/>
        </p:nvSpPr>
        <p:spPr>
          <a:xfrm>
            <a:off x="5296151" y="2512177"/>
            <a:ext cx="460431" cy="222137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21521"/>
                </a:moveTo>
                <a:lnTo>
                  <a:pt x="4926" y="21521"/>
                </a:lnTo>
                <a:quadBezTo>
                  <a:pt x="0" y="21521"/>
                  <a:pt x="0" y="20500"/>
                </a:quadBezTo>
                <a:lnTo>
                  <a:pt x="0" y="1100"/>
                </a:lnTo>
                <a:quadBezTo>
                  <a:pt x="0" y="79"/>
                  <a:pt x="4926" y="79"/>
                </a:quadBezTo>
                <a:lnTo>
                  <a:pt x="16674" y="79"/>
                </a:lnTo>
              </a:path>
            </a:pathLst>
          </a:custGeom>
          <a:noFill/>
          <a:ln w="19050">
            <a:solidFill>
              <a:srgbClr val="008DFE"/>
            </a:solidFill>
            <a:tailEnd type="triangle"/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0134717" y="3303795"/>
            <a:ext cx="250410" cy="0"/>
          </a:xfrm>
          <a:prstGeom prst="line">
            <a:avLst/>
          </a:prstGeom>
          <a:noFill/>
          <a:ln w="20320">
            <a:solidFill>
              <a:srgbClr val="FF8700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6709756" y="6058304"/>
            <a:ext cx="0" cy="315032"/>
          </a:xfrm>
          <a:prstGeom prst="line">
            <a:avLst/>
          </a:prstGeom>
          <a:noFill/>
          <a:ln w="8890">
            <a:solidFill>
              <a:srgbClr val="A9CAE1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8486858" y="6058304"/>
            <a:ext cx="0" cy="315032"/>
          </a:xfrm>
          <a:prstGeom prst="line">
            <a:avLst/>
          </a:prstGeom>
          <a:noFill/>
          <a:ln w="8890">
            <a:solidFill>
              <a:srgbClr val="A9CAE1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10401282" y="6058304"/>
            <a:ext cx="0" cy="315032"/>
          </a:xfrm>
          <a:prstGeom prst="line">
            <a:avLst/>
          </a:prstGeom>
          <a:noFill/>
          <a:ln w="8890">
            <a:solidFill>
              <a:srgbClr val="A9CAE1"/>
            </a:solidFill>
            <a:prstDash val="solid"/>
            <a:tailEnd type="none"/>
          </a:ln>
        </p:spPr>
        <p:txBody>
          <a:bodyPr/>
          <a:lstStyle/>
          <a:p/>
        </p:txBody>
      </p:sp>
      <p:pic>
        <p:nvPicPr>
          <p:cNvPr id="55" name="gear"/>
          <p:cNvPicPr/>
          <p:nvPr/>
        </p:nvPicPr>
        <p:blipFill>
          <a:blip r:embed="rId3"/>
          <a:stretch>
            <a:fillRect/>
          </a:stretch>
        </p:blipFill>
        <p:spPr>
          <a:xfrm>
            <a:off x="5109437" y="943863"/>
            <a:ext cx="397663" cy="374588"/>
          </a:xfrm>
          <a:prstGeom prst="rect">
            <a:avLst/>
          </a:prstGeom>
        </p:spPr>
      </p:pic>
      <p:pic>
        <p:nvPicPr>
          <p:cNvPr id="56" name="stage-document"/>
          <p:cNvPicPr/>
          <p:nvPr/>
        </p:nvPicPr>
        <p:blipFill>
          <a:blip r:embed="rId4"/>
          <a:stretch>
            <a:fillRect/>
          </a:stretch>
        </p:blipFill>
        <p:spPr>
          <a:xfrm>
            <a:off x="664801" y="4484261"/>
            <a:ext cx="748764" cy="544645"/>
          </a:xfrm>
          <a:prstGeom prst="rect">
            <a:avLst/>
          </a:prstGeom>
        </p:spPr>
      </p:pic>
      <p:pic>
        <p:nvPicPr>
          <p:cNvPr id="57" name="stage-cube"/>
          <p:cNvPicPr/>
          <p:nvPr/>
        </p:nvPicPr>
        <p:blipFill>
          <a:blip r:embed="rId5"/>
          <a:stretch>
            <a:fillRect/>
          </a:stretch>
        </p:blipFill>
        <p:spPr>
          <a:xfrm>
            <a:off x="662761" y="4998614"/>
            <a:ext cx="752845" cy="544221"/>
          </a:xfrm>
          <a:prstGeom prst="rect">
            <a:avLst/>
          </a:prstGeom>
        </p:spPr>
      </p:pic>
      <p:pic>
        <p:nvPicPr>
          <p:cNvPr id="58" name="badge01"/>
          <p:cNvPicPr/>
          <p:nvPr/>
        </p:nvPicPr>
        <p:blipFill>
          <a:blip r:embed="rId6"/>
          <a:stretch>
            <a:fillRect/>
          </a:stretch>
        </p:blipFill>
        <p:spPr>
          <a:xfrm>
            <a:off x="5660764" y="1495129"/>
            <a:ext cx="587447" cy="580196"/>
          </a:xfrm>
          <a:prstGeom prst="rect">
            <a:avLst/>
          </a:prstGeom>
        </p:spPr>
      </p:pic>
      <p:pic>
        <p:nvPicPr>
          <p:cNvPr id="59" name="reference"/>
          <p:cNvPicPr/>
          <p:nvPr/>
        </p:nvPicPr>
        <p:blipFill>
          <a:blip r:embed="rId7"/>
          <a:stretch>
            <a:fillRect/>
          </a:stretch>
        </p:blipFill>
        <p:spPr>
          <a:xfrm>
            <a:off x="6372162" y="1556365"/>
            <a:ext cx="432855" cy="433396"/>
          </a:xfrm>
          <a:prstGeom prst="rect">
            <a:avLst/>
          </a:prstGeom>
        </p:spPr>
      </p:pic>
      <p:pic>
        <p:nvPicPr>
          <p:cNvPr id="60" name="badge02"/>
          <p:cNvPicPr/>
          <p:nvPr/>
        </p:nvPicPr>
        <p:blipFill>
          <a:blip r:embed="rId8"/>
          <a:stretch>
            <a:fillRect/>
          </a:stretch>
        </p:blipFill>
        <p:spPr>
          <a:xfrm>
            <a:off x="5660764" y="2254803"/>
            <a:ext cx="587447" cy="582154"/>
          </a:xfrm>
          <a:prstGeom prst="rect">
            <a:avLst/>
          </a:prstGeom>
        </p:spPr>
      </p:pic>
      <p:pic>
        <p:nvPicPr>
          <p:cNvPr id="61" name="shield"/>
          <p:cNvPicPr/>
          <p:nvPr/>
        </p:nvPicPr>
        <p:blipFill>
          <a:blip r:embed="rId9"/>
          <a:stretch>
            <a:fillRect/>
          </a:stretch>
        </p:blipFill>
        <p:spPr>
          <a:xfrm>
            <a:off x="6365034" y="2312698"/>
            <a:ext cx="447111" cy="421685"/>
          </a:xfrm>
          <a:prstGeom prst="rect">
            <a:avLst/>
          </a:prstGeom>
        </p:spPr>
      </p:pic>
      <p:pic>
        <p:nvPicPr>
          <p:cNvPr id="62" name="badge03"/>
          <p:cNvPicPr/>
          <p:nvPr/>
        </p:nvPicPr>
        <p:blipFill>
          <a:blip r:embed="rId10"/>
          <a:stretch>
            <a:fillRect/>
          </a:stretch>
        </p:blipFill>
        <p:spPr>
          <a:xfrm>
            <a:off x="5661127" y="3022188"/>
            <a:ext cx="586721" cy="582154"/>
          </a:xfrm>
          <a:prstGeom prst="rect">
            <a:avLst/>
          </a:prstGeom>
        </p:spPr>
      </p:pic>
      <p:pic>
        <p:nvPicPr>
          <p:cNvPr id="63" name="chip"/>
          <p:cNvPicPr/>
          <p:nvPr/>
        </p:nvPicPr>
        <p:blipFill>
          <a:blip r:embed="rId11"/>
          <a:stretch>
            <a:fillRect/>
          </a:stretch>
        </p:blipFill>
        <p:spPr>
          <a:xfrm>
            <a:off x="6380320" y="3096355"/>
            <a:ext cx="416539" cy="414880"/>
          </a:xfrm>
          <a:prstGeom prst="rect">
            <a:avLst/>
          </a:prstGeom>
        </p:spPr>
      </p:pic>
      <p:pic>
        <p:nvPicPr>
          <p:cNvPr id="64" name="badge04"/>
          <p:cNvPicPr/>
          <p:nvPr/>
        </p:nvPicPr>
        <p:blipFill>
          <a:blip r:embed="rId12"/>
          <a:stretch>
            <a:fillRect/>
          </a:stretch>
        </p:blipFill>
        <p:spPr>
          <a:xfrm>
            <a:off x="5660397" y="3765340"/>
            <a:ext cx="588181" cy="582154"/>
          </a:xfrm>
          <a:prstGeom prst="rect">
            <a:avLst/>
          </a:prstGeom>
        </p:spPr>
      </p:pic>
      <p:pic>
        <p:nvPicPr>
          <p:cNvPr id="65" name="dac"/>
          <p:cNvPicPr/>
          <p:nvPr/>
        </p:nvPicPr>
        <p:blipFill>
          <a:blip r:embed="rId13"/>
          <a:stretch>
            <a:fillRect/>
          </a:stretch>
        </p:blipFill>
        <p:spPr>
          <a:xfrm>
            <a:off x="6372429" y="3814364"/>
            <a:ext cx="432321" cy="432855"/>
          </a:xfrm>
          <a:prstGeom prst="rect">
            <a:avLst/>
          </a:prstGeom>
        </p:spPr>
      </p:pic>
      <p:pic>
        <p:nvPicPr>
          <p:cNvPr id="66" name="badge05"/>
          <p:cNvPicPr/>
          <p:nvPr/>
        </p:nvPicPr>
        <p:blipFill>
          <a:blip r:embed="rId14"/>
          <a:stretch>
            <a:fillRect/>
          </a:stretch>
        </p:blipFill>
        <p:spPr>
          <a:xfrm>
            <a:off x="5661127" y="4484622"/>
            <a:ext cx="586721" cy="586721"/>
          </a:xfrm>
          <a:prstGeom prst="rect">
            <a:avLst/>
          </a:prstGeom>
        </p:spPr>
      </p:pic>
      <p:pic>
        <p:nvPicPr>
          <p:cNvPr id="67" name="clock"/>
          <p:cNvPicPr/>
          <p:nvPr/>
        </p:nvPicPr>
        <p:blipFill>
          <a:blip r:embed="rId15"/>
          <a:stretch>
            <a:fillRect/>
          </a:stretch>
        </p:blipFill>
        <p:spPr>
          <a:xfrm>
            <a:off x="6371618" y="4528423"/>
            <a:ext cx="433944" cy="434497"/>
          </a:xfrm>
          <a:prstGeom prst="rect">
            <a:avLst/>
          </a:prstGeom>
        </p:spPr>
      </p:pic>
      <p:pic>
        <p:nvPicPr>
          <p:cNvPr id="68" name="badge06"/>
          <p:cNvPicPr/>
          <p:nvPr/>
        </p:nvPicPr>
        <p:blipFill>
          <a:blip r:embed="rId16"/>
          <a:stretch>
            <a:fillRect/>
          </a:stretch>
        </p:blipFill>
        <p:spPr>
          <a:xfrm>
            <a:off x="5661127" y="5195463"/>
            <a:ext cx="586721" cy="586721"/>
          </a:xfrm>
          <a:prstGeom prst="rect">
            <a:avLst/>
          </a:prstGeom>
        </p:spPr>
      </p:pic>
      <p:pic>
        <p:nvPicPr>
          <p:cNvPr id="69" name="output-bars"/>
          <p:cNvPicPr/>
          <p:nvPr/>
        </p:nvPicPr>
        <p:blipFill>
          <a:blip r:embed="rId17"/>
          <a:stretch>
            <a:fillRect/>
          </a:stretch>
        </p:blipFill>
        <p:spPr>
          <a:xfrm>
            <a:off x="6378568" y="5247641"/>
            <a:ext cx="420042" cy="425820"/>
          </a:xfrm>
          <a:prstGeom prst="rect">
            <a:avLst/>
          </a:prstGeom>
        </p:spPr>
      </p:pic>
      <p:pic>
        <p:nvPicPr>
          <p:cNvPr id="70" name="host-document"/>
          <p:cNvPicPr/>
          <p:nvPr/>
        </p:nvPicPr>
        <p:blipFill>
          <a:blip r:embed="rId18"/>
          <a:stretch>
            <a:fillRect/>
          </a:stretch>
        </p:blipFill>
        <p:spPr>
          <a:xfrm>
            <a:off x="10519287" y="3123392"/>
            <a:ext cx="337509" cy="376961"/>
          </a:xfrm>
          <a:prstGeom prst="rect">
            <a:avLst/>
          </a:prstGeom>
        </p:spPr>
      </p:pic>
      <p:pic>
        <p:nvPicPr>
          <p:cNvPr id="71" name="database"/>
          <p:cNvPicPr/>
          <p:nvPr/>
        </p:nvPicPr>
        <p:blipFill>
          <a:blip r:embed="rId19"/>
          <a:stretch>
            <a:fillRect/>
          </a:stretch>
        </p:blipFill>
        <p:spPr>
          <a:xfrm>
            <a:off x="5048050" y="5998118"/>
            <a:ext cx="375038" cy="421163"/>
          </a:xfrm>
          <a:prstGeom prst="rect">
            <a:avLst/>
          </a:prstGeom>
        </p:spPr>
      </p:pic>
      <p:pic>
        <p:nvPicPr>
          <p:cNvPr id="72" name="warning"/>
          <p:cNvPicPr/>
          <p:nvPr/>
        </p:nvPicPr>
        <p:blipFill>
          <a:blip r:embed="rId20"/>
          <a:stretch>
            <a:fillRect/>
          </a:stretch>
        </p:blipFill>
        <p:spPr>
          <a:xfrm>
            <a:off x="6859309" y="6005199"/>
            <a:ext cx="411734" cy="380852"/>
          </a:xfrm>
          <a:prstGeom prst="rect">
            <a:avLst/>
          </a:prstGeom>
        </p:spPr>
      </p:pic>
      <p:pic>
        <p:nvPicPr>
          <p:cNvPr id="73" name="clipboard"/>
          <p:cNvPicPr/>
          <p:nvPr/>
        </p:nvPicPr>
        <p:blipFill>
          <a:blip r:embed="rId21"/>
          <a:stretch>
            <a:fillRect/>
          </a:stretch>
        </p:blipFill>
        <p:spPr>
          <a:xfrm>
            <a:off x="8706584" y="5991663"/>
            <a:ext cx="384479" cy="430140"/>
          </a:xfrm>
          <a:prstGeom prst="rect">
            <a:avLst/>
          </a:prstGeom>
        </p:spPr>
      </p:pic>
      <p:pic>
        <p:nvPicPr>
          <p:cNvPr id="74" name="legend-bars"/>
          <p:cNvPicPr/>
          <p:nvPr/>
        </p:nvPicPr>
        <p:blipFill>
          <a:blip r:embed="rId22"/>
          <a:stretch>
            <a:fillRect/>
          </a:stretch>
        </p:blipFill>
        <p:spPr>
          <a:xfrm>
            <a:off x="10585416" y="6010501"/>
            <a:ext cx="374885" cy="386404"/>
          </a:xfrm>
          <a:prstGeom prst="rect">
            <a:avLst/>
          </a:prstGeom>
        </p:spPr>
      </p:pic>
      <p:sp>
        <p:nvSpPr>
          <p:cNvPr id="75" name="TextBox 75"/>
          <p:cNvSpPr txBox="1"/>
          <p:nvPr/>
        </p:nvSpPr>
        <p:spPr>
          <a:xfrm>
            <a:off x="950328" y="250410"/>
            <a:ext cx="4983965" cy="4765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低成本晶振驯服与保持模块</a:t>
            </a:r>
            <a:endParaRPr lang="zh-CN" sz="3050"/>
          </a:p>
        </p:txBody>
      </p:sp>
      <p:sp>
        <p:nvSpPr>
          <p:cNvPr id="76" name="TextBox 76"/>
          <p:cNvSpPr txBox="1"/>
          <p:nvPr/>
        </p:nvSpPr>
        <p:spPr>
          <a:xfrm>
            <a:off x="5651572" y="928940"/>
            <a:ext cx="3190707" cy="3634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晶振驯服与保持模块总体方案</a:t>
            </a:r>
            <a:endParaRPr lang="zh-CN" sz="1850"/>
          </a:p>
        </p:txBody>
      </p:sp>
      <p:sp>
        <p:nvSpPr>
          <p:cNvPr id="77" name="TextBox 77"/>
          <p:cNvSpPr txBox="1"/>
          <p:nvPr/>
        </p:nvSpPr>
        <p:spPr>
          <a:xfrm>
            <a:off x="10062017" y="1001640"/>
            <a:ext cx="1559004" cy="1777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" b="1">
                <a:solidFill>
                  <a:srgbClr val="0084FF"/>
                </a:solidFill>
                <a:latin typeface="Noto Sans CJK SC"/>
                <a:ea typeface="Noto Sans CJK SC"/>
                <a:cs typeface="Noto Sans CJK SC"/>
              </a:rPr>
              <a:t>测 量 · 控 制 · 输 出</a:t>
            </a:r>
            <a:endParaRPr lang="zh-CN" sz="880"/>
          </a:p>
        </p:txBody>
      </p:sp>
      <p:sp>
        <p:nvSpPr>
          <p:cNvPr id="78" name="TextBox 78"/>
          <p:cNvSpPr txBox="1"/>
          <p:nvPr/>
        </p:nvSpPr>
        <p:spPr>
          <a:xfrm>
            <a:off x="514130" y="1219739"/>
            <a:ext cx="969329" cy="9693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650" b="1" i="1">
                <a:solidFill>
                  <a:srgbClr val="9BCCFC"/>
                </a:solidFill>
                <a:latin typeface="Nimbus Sans Narrow"/>
                <a:ea typeface="Nimbus Sans Narrow"/>
                <a:cs typeface="Nimbus Sans Narrow"/>
              </a:rPr>
              <a:t>01</a:t>
            </a:r>
            <a:endParaRPr lang="zh-CN" sz="7650"/>
          </a:p>
        </p:txBody>
      </p:sp>
      <p:sp>
        <p:nvSpPr>
          <p:cNvPr id="79" name="TextBox 79"/>
          <p:cNvSpPr txBox="1"/>
          <p:nvPr/>
        </p:nvSpPr>
        <p:spPr>
          <a:xfrm>
            <a:off x="1604625" y="1462071"/>
            <a:ext cx="2706042" cy="516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00" b="1" i="1">
                <a:solidFill>
                  <a:srgbClr val="052867"/>
                </a:solidFill>
                <a:latin typeface="Noto Sans CJK SC"/>
                <a:ea typeface="Noto Sans CJK SC"/>
                <a:cs typeface="Noto Sans CJK SC"/>
              </a:rPr>
              <a:t>低成本晶振</a:t>
            </a:r>
            <a:endParaRPr lang="zh-CN" sz="3200"/>
          </a:p>
        </p:txBody>
      </p:sp>
      <p:sp>
        <p:nvSpPr>
          <p:cNvPr id="80" name="TextBox 80"/>
          <p:cNvSpPr txBox="1"/>
          <p:nvPr/>
        </p:nvSpPr>
        <p:spPr>
          <a:xfrm>
            <a:off x="1572314" y="1987124"/>
            <a:ext cx="2916064" cy="516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50" b="1" i="1">
                <a:solidFill>
                  <a:srgbClr val="0079DC"/>
                </a:solidFill>
                <a:latin typeface="Noto Sans CJK SC"/>
                <a:ea typeface="Noto Sans CJK SC"/>
                <a:cs typeface="Noto Sans CJK SC"/>
              </a:rPr>
              <a:t>驯服与保持模块</a:t>
            </a:r>
            <a:endParaRPr lang="zh-CN" sz="3150"/>
          </a:p>
        </p:txBody>
      </p:sp>
      <p:sp>
        <p:nvSpPr>
          <p:cNvPr id="81" name="TextBox 81"/>
          <p:cNvSpPr txBox="1"/>
          <p:nvPr/>
        </p:nvSpPr>
        <p:spPr>
          <a:xfrm>
            <a:off x="506053" y="2617187"/>
            <a:ext cx="3982325" cy="3069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153957"/>
                </a:solidFill>
                <a:latin typeface="Noto Sans CJK SC"/>
                <a:ea typeface="Noto Sans CJK SC"/>
                <a:cs typeface="Noto Sans CJK SC"/>
              </a:rPr>
              <a:t>面向导航实验与研发集成的可配置时频模块</a:t>
            </a:r>
            <a:endParaRPr lang="zh-CN" sz="1600"/>
          </a:p>
        </p:txBody>
      </p:sp>
      <p:sp>
        <p:nvSpPr>
          <p:cNvPr id="82" name="TextBox 82"/>
          <p:cNvSpPr txBox="1"/>
          <p:nvPr/>
        </p:nvSpPr>
        <p:spPr>
          <a:xfrm>
            <a:off x="506053" y="3198784"/>
            <a:ext cx="1171272" cy="27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9244F"/>
                </a:solidFill>
                <a:latin typeface="Noto Sans CJK SC"/>
                <a:ea typeface="Noto Sans CJK SC"/>
                <a:cs typeface="Noto Sans CJK SC"/>
              </a:rPr>
              <a:t>外部参考驯服</a:t>
            </a:r>
            <a:endParaRPr lang="zh-CN" sz="1350"/>
          </a:p>
        </p:txBody>
      </p:sp>
      <p:sp>
        <p:nvSpPr>
          <p:cNvPr id="83" name="TextBox 83"/>
          <p:cNvSpPr txBox="1"/>
          <p:nvPr/>
        </p:nvSpPr>
        <p:spPr>
          <a:xfrm>
            <a:off x="1709636" y="3198784"/>
            <a:ext cx="121166" cy="27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09244F"/>
                </a:solidFill>
                <a:latin typeface="Liberation Sans"/>
                <a:ea typeface="Liberation Sans"/>
                <a:cs typeface="Liberation Sans"/>
              </a:rPr>
              <a:t>|</a:t>
            </a:r>
            <a:endParaRPr lang="zh-CN" sz="950"/>
          </a:p>
        </p:txBody>
      </p:sp>
      <p:sp>
        <p:nvSpPr>
          <p:cNvPr id="84" name="TextBox 84"/>
          <p:cNvSpPr txBox="1"/>
          <p:nvPr/>
        </p:nvSpPr>
        <p:spPr>
          <a:xfrm>
            <a:off x="1951968" y="3198784"/>
            <a:ext cx="985484" cy="27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9244F"/>
                </a:solidFill>
                <a:latin typeface="Noto Sans CJK SC"/>
                <a:ea typeface="Noto Sans CJK SC"/>
                <a:cs typeface="Noto Sans CJK SC"/>
              </a:rPr>
              <a:t>断参考保持</a:t>
            </a:r>
            <a:endParaRPr lang="zh-CN" sz="1350"/>
          </a:p>
        </p:txBody>
      </p:sp>
      <p:sp>
        <p:nvSpPr>
          <p:cNvPr id="85" name="TextBox 85"/>
          <p:cNvSpPr txBox="1"/>
          <p:nvPr/>
        </p:nvSpPr>
        <p:spPr>
          <a:xfrm>
            <a:off x="2993996" y="3198784"/>
            <a:ext cx="121166" cy="27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09244F"/>
                </a:solidFill>
                <a:latin typeface="Liberation Sans"/>
                <a:ea typeface="Liberation Sans"/>
                <a:cs typeface="Liberation Sans"/>
              </a:rPr>
              <a:t>|</a:t>
            </a:r>
            <a:endParaRPr lang="zh-CN" sz="950"/>
          </a:p>
        </p:txBody>
      </p:sp>
      <p:sp>
        <p:nvSpPr>
          <p:cNvPr id="86" name="TextBox 86"/>
          <p:cNvSpPr txBox="1"/>
          <p:nvPr/>
        </p:nvSpPr>
        <p:spPr>
          <a:xfrm>
            <a:off x="3252484" y="3198784"/>
            <a:ext cx="1227816" cy="27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9244F"/>
                </a:solidFill>
                <a:latin typeface="Noto Sans CJK SC"/>
                <a:ea typeface="Noto Sans CJK SC"/>
                <a:cs typeface="Noto Sans CJK SC"/>
              </a:rPr>
              <a:t>全过程数据记录</a:t>
            </a:r>
            <a:endParaRPr lang="zh-CN" sz="1350"/>
          </a:p>
        </p:txBody>
      </p:sp>
      <p:sp>
        <p:nvSpPr>
          <p:cNvPr id="87" name="TextBox 87"/>
          <p:cNvSpPr txBox="1"/>
          <p:nvPr/>
        </p:nvSpPr>
        <p:spPr>
          <a:xfrm>
            <a:off x="764540" y="3982325"/>
            <a:ext cx="1171272" cy="3473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当前阶段</a:t>
            </a:r>
            <a:endParaRPr lang="zh-CN" sz="1650"/>
          </a:p>
        </p:txBody>
      </p:sp>
      <p:sp>
        <p:nvSpPr>
          <p:cNvPr id="88" name="TextBox 88"/>
          <p:cNvSpPr txBox="1"/>
          <p:nvPr/>
        </p:nvSpPr>
        <p:spPr>
          <a:xfrm>
            <a:off x="1467303" y="4596233"/>
            <a:ext cx="2867597" cy="3150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0B274F"/>
                </a:solidFill>
                <a:latin typeface="Noto Sans CJK SC"/>
                <a:ea typeface="Noto Sans CJK SC"/>
                <a:cs typeface="Noto Sans CJK SC"/>
              </a:rPr>
              <a:t>方案与验证计划</a:t>
            </a:r>
            <a:endParaRPr lang="zh-CN" sz="1550"/>
          </a:p>
        </p:txBody>
      </p:sp>
      <p:sp>
        <p:nvSpPr>
          <p:cNvPr id="89" name="TextBox 89"/>
          <p:cNvSpPr txBox="1"/>
          <p:nvPr/>
        </p:nvSpPr>
        <p:spPr>
          <a:xfrm>
            <a:off x="1467303" y="5097053"/>
            <a:ext cx="2867597" cy="3150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0B274F"/>
                </a:solidFill>
                <a:latin typeface="Noto Sans CJK SC"/>
                <a:ea typeface="Noto Sans CJK SC"/>
                <a:cs typeface="Noto Sans CJK SC"/>
              </a:rPr>
              <a:t>样机及性能证据待补</a:t>
            </a:r>
            <a:endParaRPr lang="zh-CN" sz="1550"/>
          </a:p>
        </p:txBody>
      </p:sp>
      <p:sp>
        <p:nvSpPr>
          <p:cNvPr id="90" name="TextBox 90"/>
          <p:cNvSpPr txBox="1"/>
          <p:nvPr/>
        </p:nvSpPr>
        <p:spPr>
          <a:xfrm>
            <a:off x="5660764" y="1495129"/>
            <a:ext cx="587447" cy="5801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01</a:t>
            </a:r>
            <a:endParaRPr lang="zh-CN" sz="1800"/>
          </a:p>
        </p:txBody>
      </p:sp>
      <p:sp>
        <p:nvSpPr>
          <p:cNvPr id="91" name="TextBox 91"/>
          <p:cNvSpPr txBox="1"/>
          <p:nvPr/>
        </p:nvSpPr>
        <p:spPr>
          <a:xfrm>
            <a:off x="6992477" y="1591314"/>
            <a:ext cx="1777102" cy="3634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087F5"/>
                </a:solidFill>
                <a:latin typeface="Noto Sans CJK SC"/>
                <a:ea typeface="Noto Sans CJK SC"/>
                <a:cs typeface="Noto Sans CJK SC"/>
              </a:rPr>
              <a:t>外部参考输入</a:t>
            </a:r>
            <a:endParaRPr lang="zh-CN" sz="1350"/>
          </a:p>
        </p:txBody>
      </p:sp>
      <p:sp>
        <p:nvSpPr>
          <p:cNvPr id="92" name="TextBox 92"/>
          <p:cNvSpPr txBox="1"/>
          <p:nvPr/>
        </p:nvSpPr>
        <p:spPr>
          <a:xfrm>
            <a:off x="8688802" y="1559004"/>
            <a:ext cx="2261767" cy="185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04160"/>
                </a:solidFill>
                <a:latin typeface="Noto Sans CJK SC"/>
                <a:ea typeface="Noto Sans CJK SC"/>
                <a:cs typeface="Noto Sans CJK SC"/>
              </a:rPr>
              <a:t>外部1PPS参考</a:t>
            </a:r>
            <a:endParaRPr lang="zh-CN" sz="1050"/>
          </a:p>
        </p:txBody>
      </p:sp>
      <p:sp>
        <p:nvSpPr>
          <p:cNvPr id="93" name="TextBox 93"/>
          <p:cNvSpPr txBox="1"/>
          <p:nvPr/>
        </p:nvSpPr>
        <p:spPr>
          <a:xfrm>
            <a:off x="8688802" y="1744792"/>
            <a:ext cx="2261767" cy="185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04160"/>
                </a:solidFill>
                <a:latin typeface="Noto Sans CJK SC"/>
                <a:ea typeface="Noto Sans CJK SC"/>
                <a:cs typeface="Noto Sans CJK SC"/>
              </a:rPr>
              <a:t>10 MHz模式待验证</a:t>
            </a:r>
            <a:endParaRPr lang="zh-CN" sz="1050"/>
          </a:p>
        </p:txBody>
      </p:sp>
      <p:sp>
        <p:nvSpPr>
          <p:cNvPr id="94" name="TextBox 94"/>
          <p:cNvSpPr txBox="1"/>
          <p:nvPr/>
        </p:nvSpPr>
        <p:spPr>
          <a:xfrm>
            <a:off x="5660764" y="2254803"/>
            <a:ext cx="587447" cy="5821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02</a:t>
            </a:r>
            <a:endParaRPr lang="zh-CN" sz="1800"/>
          </a:p>
        </p:txBody>
      </p:sp>
      <p:sp>
        <p:nvSpPr>
          <p:cNvPr id="95" name="TextBox 95"/>
          <p:cNvSpPr txBox="1"/>
          <p:nvPr/>
        </p:nvSpPr>
        <p:spPr>
          <a:xfrm>
            <a:off x="6992477" y="2350622"/>
            <a:ext cx="1777102" cy="3554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0A8B7"/>
                </a:solidFill>
                <a:latin typeface="Noto Sans CJK SC"/>
                <a:ea typeface="Noto Sans CJK SC"/>
                <a:cs typeface="Noto Sans CJK SC"/>
              </a:rPr>
              <a:t>参考保护与整形</a:t>
            </a:r>
            <a:endParaRPr lang="zh-CN" sz="1350"/>
          </a:p>
        </p:txBody>
      </p:sp>
      <p:sp>
        <p:nvSpPr>
          <p:cNvPr id="96" name="TextBox 96"/>
          <p:cNvSpPr txBox="1"/>
          <p:nvPr/>
        </p:nvSpPr>
        <p:spPr>
          <a:xfrm>
            <a:off x="8688802" y="2318311"/>
            <a:ext cx="2261767" cy="185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04160"/>
                </a:solidFill>
                <a:latin typeface="Noto Sans CJK SC"/>
                <a:ea typeface="Noto Sans CJK SC"/>
                <a:cs typeface="Noto Sans CJK SC"/>
              </a:rPr>
              <a:t>保护、整形、误差测量</a:t>
            </a:r>
            <a:endParaRPr lang="zh-CN" sz="1050"/>
          </a:p>
        </p:txBody>
      </p:sp>
      <p:sp>
        <p:nvSpPr>
          <p:cNvPr id="97" name="TextBox 97"/>
          <p:cNvSpPr txBox="1"/>
          <p:nvPr/>
        </p:nvSpPr>
        <p:spPr>
          <a:xfrm>
            <a:off x="8688802" y="2504099"/>
            <a:ext cx="2261767" cy="185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04160"/>
                </a:solidFill>
                <a:latin typeface="Noto Sans CJK SC"/>
                <a:ea typeface="Noto Sans CJK SC"/>
                <a:cs typeface="Noto Sans CJK SC"/>
              </a:rPr>
              <a:t>硬件捕获与计数</a:t>
            </a:r>
            <a:endParaRPr lang="zh-CN" sz="1050"/>
          </a:p>
        </p:txBody>
      </p:sp>
      <p:sp>
        <p:nvSpPr>
          <p:cNvPr id="98" name="TextBox 98"/>
          <p:cNvSpPr txBox="1"/>
          <p:nvPr/>
        </p:nvSpPr>
        <p:spPr>
          <a:xfrm>
            <a:off x="5661127" y="3022188"/>
            <a:ext cx="586721" cy="5821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03</a:t>
            </a:r>
            <a:endParaRPr lang="zh-CN" sz="1800"/>
          </a:p>
        </p:txBody>
      </p:sp>
      <p:sp>
        <p:nvSpPr>
          <p:cNvPr id="99" name="TextBox 99"/>
          <p:cNvSpPr txBox="1"/>
          <p:nvPr/>
        </p:nvSpPr>
        <p:spPr>
          <a:xfrm>
            <a:off x="6992477" y="3118007"/>
            <a:ext cx="1494382" cy="3715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FF8900"/>
                </a:solidFill>
                <a:latin typeface="Noto Sans CJK SC"/>
                <a:ea typeface="Noto Sans CJK SC"/>
                <a:cs typeface="Noto Sans CJK SC"/>
              </a:rPr>
              <a:t>STM32H743控制</a:t>
            </a:r>
            <a:endParaRPr lang="zh-CN" sz="1350"/>
          </a:p>
        </p:txBody>
      </p:sp>
      <p:sp>
        <p:nvSpPr>
          <p:cNvPr id="100" name="TextBox 100"/>
          <p:cNvSpPr txBox="1"/>
          <p:nvPr/>
        </p:nvSpPr>
        <p:spPr>
          <a:xfrm>
            <a:off x="8640335" y="3085696"/>
            <a:ext cx="1373216" cy="185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04160"/>
                </a:solidFill>
                <a:latin typeface="Noto Sans CJK SC"/>
                <a:ea typeface="Noto Sans CJK SC"/>
                <a:cs typeface="Noto Sans CJK SC"/>
              </a:rPr>
              <a:t>PI控制、状态管理</a:t>
            </a:r>
            <a:endParaRPr lang="zh-CN" sz="1050"/>
          </a:p>
        </p:txBody>
      </p:sp>
      <p:sp>
        <p:nvSpPr>
          <p:cNvPr id="101" name="TextBox 101"/>
          <p:cNvSpPr txBox="1"/>
          <p:nvPr/>
        </p:nvSpPr>
        <p:spPr>
          <a:xfrm>
            <a:off x="8640335" y="3271484"/>
            <a:ext cx="1373216" cy="185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04160"/>
                </a:solidFill>
                <a:latin typeface="Noto Sans CJK SC"/>
                <a:ea typeface="Noto Sans CJK SC"/>
                <a:cs typeface="Noto Sans CJK SC"/>
              </a:rPr>
              <a:t>DAC输出调节</a:t>
            </a:r>
            <a:endParaRPr lang="zh-CN" sz="1050"/>
          </a:p>
        </p:txBody>
      </p:sp>
      <p:sp>
        <p:nvSpPr>
          <p:cNvPr id="102" name="TextBox 102"/>
          <p:cNvSpPr txBox="1"/>
          <p:nvPr/>
        </p:nvSpPr>
        <p:spPr>
          <a:xfrm>
            <a:off x="5660397" y="3765340"/>
            <a:ext cx="588181" cy="5821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04</a:t>
            </a:r>
            <a:endParaRPr lang="zh-CN" sz="1800"/>
          </a:p>
        </p:txBody>
      </p:sp>
      <p:sp>
        <p:nvSpPr>
          <p:cNvPr id="103" name="TextBox 103"/>
          <p:cNvSpPr txBox="1"/>
          <p:nvPr/>
        </p:nvSpPr>
        <p:spPr>
          <a:xfrm>
            <a:off x="6992477" y="3861159"/>
            <a:ext cx="1777102" cy="3392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9146FF"/>
                </a:solidFill>
                <a:latin typeface="Noto Sans CJK SC"/>
                <a:ea typeface="Noto Sans CJK SC"/>
                <a:cs typeface="Noto Sans CJK SC"/>
              </a:rPr>
              <a:t>DAC基准与滤波</a:t>
            </a:r>
            <a:endParaRPr lang="zh-CN" sz="1350"/>
          </a:p>
        </p:txBody>
      </p:sp>
      <p:sp>
        <p:nvSpPr>
          <p:cNvPr id="104" name="TextBox 104"/>
          <p:cNvSpPr txBox="1"/>
          <p:nvPr/>
        </p:nvSpPr>
        <p:spPr>
          <a:xfrm>
            <a:off x="8688802" y="3828848"/>
            <a:ext cx="2261767" cy="185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04160"/>
                </a:solidFill>
                <a:latin typeface="Noto Sans CJK SC"/>
                <a:ea typeface="Noto Sans CJK SC"/>
                <a:cs typeface="Noto Sans CJK SC"/>
              </a:rPr>
              <a:t>输出控制电压</a:t>
            </a:r>
            <a:endParaRPr lang="zh-CN" sz="1050"/>
          </a:p>
        </p:txBody>
      </p:sp>
      <p:sp>
        <p:nvSpPr>
          <p:cNvPr id="105" name="TextBox 105"/>
          <p:cNvSpPr txBox="1"/>
          <p:nvPr/>
        </p:nvSpPr>
        <p:spPr>
          <a:xfrm>
            <a:off x="8688802" y="4014636"/>
            <a:ext cx="2261767" cy="185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04160"/>
                </a:solidFill>
                <a:latin typeface="Noto Sans CJK SC"/>
                <a:ea typeface="Noto Sans CJK SC"/>
                <a:cs typeface="Noto Sans CJK SC"/>
              </a:rPr>
              <a:t>晶振调谐端</a:t>
            </a:r>
            <a:endParaRPr lang="zh-CN" sz="1050"/>
          </a:p>
        </p:txBody>
      </p:sp>
      <p:sp>
        <p:nvSpPr>
          <p:cNvPr id="106" name="TextBox 106"/>
          <p:cNvSpPr txBox="1"/>
          <p:nvPr/>
        </p:nvSpPr>
        <p:spPr>
          <a:xfrm>
            <a:off x="5661127" y="4484622"/>
            <a:ext cx="586721" cy="5867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05</a:t>
            </a:r>
            <a:endParaRPr lang="zh-CN" sz="1800"/>
          </a:p>
        </p:txBody>
      </p:sp>
      <p:sp>
        <p:nvSpPr>
          <p:cNvPr id="107" name="TextBox 107"/>
          <p:cNvSpPr txBox="1"/>
          <p:nvPr/>
        </p:nvSpPr>
        <p:spPr>
          <a:xfrm>
            <a:off x="6992477" y="4580078"/>
            <a:ext cx="1777102" cy="3311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08EFA"/>
                </a:solidFill>
                <a:latin typeface="Noto Sans CJK SC"/>
                <a:ea typeface="Noto Sans CJK SC"/>
                <a:cs typeface="Noto Sans CJK SC"/>
              </a:rPr>
              <a:t>可更换兼容晶振</a:t>
            </a:r>
            <a:endParaRPr lang="zh-CN" sz="1350"/>
          </a:p>
        </p:txBody>
      </p:sp>
      <p:sp>
        <p:nvSpPr>
          <p:cNvPr id="108" name="TextBox 108"/>
          <p:cNvSpPr txBox="1"/>
          <p:nvPr/>
        </p:nvSpPr>
        <p:spPr>
          <a:xfrm>
            <a:off x="8688802" y="4596233"/>
            <a:ext cx="2261767" cy="2180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04160"/>
                </a:solidFill>
                <a:latin typeface="Noto Sans CJK SC"/>
                <a:ea typeface="Noto Sans CJK SC"/>
                <a:cs typeface="Noto Sans CJK SC"/>
              </a:rPr>
              <a:t>首发限定验证料号</a:t>
            </a:r>
            <a:endParaRPr lang="zh-CN" sz="1050"/>
          </a:p>
        </p:txBody>
      </p:sp>
      <p:sp>
        <p:nvSpPr>
          <p:cNvPr id="109" name="TextBox 109"/>
          <p:cNvSpPr txBox="1"/>
          <p:nvPr/>
        </p:nvSpPr>
        <p:spPr>
          <a:xfrm>
            <a:off x="5661127" y="5195463"/>
            <a:ext cx="586721" cy="5867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06</a:t>
            </a:r>
            <a:endParaRPr lang="zh-CN" sz="1800"/>
          </a:p>
        </p:txBody>
      </p:sp>
      <p:sp>
        <p:nvSpPr>
          <p:cNvPr id="110" name="TextBox 110"/>
          <p:cNvSpPr txBox="1"/>
          <p:nvPr/>
        </p:nvSpPr>
        <p:spPr>
          <a:xfrm>
            <a:off x="6992477" y="5290919"/>
            <a:ext cx="1777102" cy="3392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0A88C"/>
                </a:solidFill>
                <a:latin typeface="Noto Sans CJK SC"/>
                <a:ea typeface="Noto Sans CJK SC"/>
                <a:cs typeface="Noto Sans CJK SC"/>
              </a:rPr>
              <a:t>输出缓冲与分频</a:t>
            </a:r>
            <a:endParaRPr lang="zh-CN" sz="1350"/>
          </a:p>
        </p:txBody>
      </p:sp>
      <p:sp>
        <p:nvSpPr>
          <p:cNvPr id="111" name="TextBox 111"/>
          <p:cNvSpPr txBox="1"/>
          <p:nvPr/>
        </p:nvSpPr>
        <p:spPr>
          <a:xfrm>
            <a:off x="8688802" y="5307074"/>
            <a:ext cx="2261767" cy="2180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04160"/>
                </a:solidFill>
                <a:latin typeface="Noto Sans CJK SC"/>
                <a:ea typeface="Noto Sans CJK SC"/>
                <a:cs typeface="Noto Sans CJK SC"/>
              </a:rPr>
              <a:t>输出 10 MHz / 1 PPS</a:t>
            </a:r>
            <a:endParaRPr lang="zh-CN" sz="1050"/>
          </a:p>
        </p:txBody>
      </p:sp>
      <p:sp>
        <p:nvSpPr>
          <p:cNvPr id="112" name="TextBox 112"/>
          <p:cNvSpPr txBox="1"/>
          <p:nvPr/>
        </p:nvSpPr>
        <p:spPr>
          <a:xfrm>
            <a:off x="10918257" y="3118007"/>
            <a:ext cx="864318" cy="2100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12191E"/>
                </a:solidFill>
                <a:latin typeface="Noto Sans CJK SC"/>
                <a:ea typeface="Noto Sans CJK SC"/>
                <a:cs typeface="Noto Sans CJK SC"/>
              </a:rPr>
              <a:t>本地上位机</a:t>
            </a:r>
            <a:endParaRPr lang="zh-CN" sz="1050"/>
          </a:p>
        </p:txBody>
      </p:sp>
      <p:sp>
        <p:nvSpPr>
          <p:cNvPr id="113" name="TextBox 113"/>
          <p:cNvSpPr txBox="1"/>
          <p:nvPr/>
        </p:nvSpPr>
        <p:spPr>
          <a:xfrm>
            <a:off x="10918257" y="3328028"/>
            <a:ext cx="864318" cy="1938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3C4857"/>
                </a:solidFill>
                <a:latin typeface="Noto Sans CJK SC"/>
                <a:ea typeface="Noto Sans CJK SC"/>
                <a:cs typeface="Noto Sans CJK SC"/>
              </a:rPr>
              <a:t>参数、日志 CSV</a:t>
            </a:r>
            <a:endParaRPr lang="zh-CN" sz="950"/>
          </a:p>
        </p:txBody>
      </p:sp>
      <p:sp>
        <p:nvSpPr>
          <p:cNvPr id="114" name="TextBox 114"/>
          <p:cNvSpPr txBox="1"/>
          <p:nvPr/>
        </p:nvSpPr>
        <p:spPr>
          <a:xfrm>
            <a:off x="5506173" y="5985604"/>
            <a:ext cx="1179350" cy="2423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0F2D5B"/>
                </a:solidFill>
                <a:latin typeface="Noto Sans CJK SC"/>
                <a:ea typeface="Noto Sans CJK SC"/>
                <a:cs typeface="Noto Sans CJK SC"/>
              </a:rPr>
              <a:t>训练与验证分离</a:t>
            </a:r>
            <a:endParaRPr lang="zh-CN" sz="1050"/>
          </a:p>
        </p:txBody>
      </p:sp>
      <p:sp>
        <p:nvSpPr>
          <p:cNvPr id="115" name="TextBox 115"/>
          <p:cNvSpPr txBox="1"/>
          <p:nvPr/>
        </p:nvSpPr>
        <p:spPr>
          <a:xfrm>
            <a:off x="5506173" y="6244092"/>
            <a:ext cx="1179350" cy="1777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35516C"/>
                </a:solidFill>
                <a:latin typeface="Noto Sans CJK SC"/>
                <a:ea typeface="Noto Sans CJK SC"/>
                <a:cs typeface="Noto Sans CJK SC"/>
              </a:rPr>
              <a:t>训练集不参与最终评估</a:t>
            </a:r>
            <a:endParaRPr lang="zh-CN" sz="900"/>
          </a:p>
        </p:txBody>
      </p:sp>
      <p:sp>
        <p:nvSpPr>
          <p:cNvPr id="116" name="TextBox 116"/>
          <p:cNvSpPr txBox="1"/>
          <p:nvPr/>
        </p:nvSpPr>
        <p:spPr>
          <a:xfrm>
            <a:off x="7339819" y="5985604"/>
            <a:ext cx="1090495" cy="2423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0F2D5B"/>
                </a:solidFill>
                <a:latin typeface="Noto Sans CJK SC"/>
                <a:ea typeface="Noto Sans CJK SC"/>
                <a:cs typeface="Noto Sans CJK SC"/>
              </a:rPr>
              <a:t>参考失锁</a:t>
            </a:r>
            <a:endParaRPr lang="zh-CN" sz="1050"/>
          </a:p>
        </p:txBody>
      </p:sp>
      <p:sp>
        <p:nvSpPr>
          <p:cNvPr id="117" name="TextBox 117"/>
          <p:cNvSpPr txBox="1"/>
          <p:nvPr/>
        </p:nvSpPr>
        <p:spPr>
          <a:xfrm>
            <a:off x="7339819" y="6244092"/>
            <a:ext cx="1090495" cy="1777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35516C"/>
                </a:solidFill>
                <a:latin typeface="Noto Sans CJK SC"/>
                <a:ea typeface="Noto Sans CJK SC"/>
                <a:cs typeface="Noto Sans CJK SC"/>
              </a:rPr>
              <a:t>记录保持期间误差</a:t>
            </a:r>
            <a:endParaRPr lang="zh-CN" sz="900"/>
          </a:p>
        </p:txBody>
      </p:sp>
      <p:sp>
        <p:nvSpPr>
          <p:cNvPr id="118" name="TextBox 118"/>
          <p:cNvSpPr txBox="1"/>
          <p:nvPr/>
        </p:nvSpPr>
        <p:spPr>
          <a:xfrm>
            <a:off x="9173466" y="5985604"/>
            <a:ext cx="1171272" cy="2423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0F2D5B"/>
                </a:solidFill>
                <a:latin typeface="Noto Sans CJK SC"/>
                <a:ea typeface="Noto Sans CJK SC"/>
                <a:cs typeface="Noto Sans CJK SC"/>
              </a:rPr>
              <a:t>结果复测</a:t>
            </a:r>
            <a:endParaRPr lang="zh-CN" sz="1050"/>
          </a:p>
        </p:txBody>
      </p:sp>
      <p:sp>
        <p:nvSpPr>
          <p:cNvPr id="119" name="TextBox 119"/>
          <p:cNvSpPr txBox="1"/>
          <p:nvPr/>
        </p:nvSpPr>
        <p:spPr>
          <a:xfrm>
            <a:off x="9173466" y="6244092"/>
            <a:ext cx="1171272" cy="1777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35516C"/>
                </a:solidFill>
                <a:latin typeface="Noto Sans CJK SC"/>
                <a:ea typeface="Noto Sans CJK SC"/>
                <a:cs typeface="Noto Sans CJK SC"/>
              </a:rPr>
              <a:t>重复试验并保存日志</a:t>
            </a:r>
            <a:endParaRPr lang="zh-CN" sz="900"/>
          </a:p>
        </p:txBody>
      </p:sp>
      <p:sp>
        <p:nvSpPr>
          <p:cNvPr id="120" name="TextBox 120"/>
          <p:cNvSpPr txBox="1"/>
          <p:nvPr/>
        </p:nvSpPr>
        <p:spPr>
          <a:xfrm>
            <a:off x="11031346" y="5985604"/>
            <a:ext cx="807774" cy="2423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009C7C"/>
                </a:solidFill>
                <a:latin typeface="Noto Sans CJK SC"/>
                <a:ea typeface="Noto Sans CJK SC"/>
                <a:cs typeface="Noto Sans CJK SC"/>
              </a:rPr>
              <a:t>效果展示区</a:t>
            </a:r>
            <a:endParaRPr lang="zh-CN" sz="1050"/>
          </a:p>
        </p:txBody>
      </p:sp>
      <p:sp>
        <p:nvSpPr>
          <p:cNvPr id="121" name="TextBox 121"/>
          <p:cNvSpPr txBox="1"/>
          <p:nvPr/>
        </p:nvSpPr>
        <p:spPr>
          <a:xfrm>
            <a:off x="11031346" y="6244092"/>
            <a:ext cx="807774" cy="1777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35516C"/>
                </a:solidFill>
                <a:latin typeface="Noto Sans CJK SC"/>
                <a:ea typeface="Noto Sans CJK SC"/>
                <a:cs typeface="Noto Sans CJK SC"/>
              </a:rPr>
              <a:t>待实测数据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preserving background with all rebuilt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22117" y="0"/>
            <a:ext cx="12147461" cy="6858000"/>
          </a:xfrm>
          <a:prstGeom prst="rect">
            <a:avLst/>
          </a:prstGeom>
        </p:spPr>
      </p:pic>
      <p:sp>
        <p:nvSpPr>
          <p:cNvPr id="3" name="Rect 3"/>
          <p:cNvSpPr/>
          <p:nvPr/>
        </p:nvSpPr>
        <p:spPr>
          <a:xfrm>
            <a:off x="893527" y="148140"/>
            <a:ext cx="3581497" cy="59255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75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67CF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5050155" y="1115405"/>
            <a:ext cx="6918999" cy="4278625"/>
          </a:xfrm>
          <a:prstGeom prst="roundRect">
            <a:avLst>
              <a:gd name="adj" fmla="val 4888"/>
            </a:avLst>
          </a:prstGeom>
          <a:solidFill>
            <a:srgbClr val="E8F5FF"/>
          </a:solidFill>
          <a:ln w="7620">
            <a:solidFill>
              <a:srgbClr val="D6EFFD"/>
            </a:solidFill>
          </a:ln>
        </p:spPr>
        <p:txBody>
          <a:bodyPr/>
          <a:lstStyle/>
          <a:p/>
        </p:txBody>
      </p:sp>
      <p:pic>
        <p:nvPicPr>
          <p:cNvPr id="5" name="navigation-header-decoration"/>
          <p:cNvPicPr/>
          <p:nvPr/>
        </p:nvPicPr>
        <p:blipFill>
          <a:blip r:embed="rId3"/>
          <a:stretch>
            <a:fillRect/>
          </a:stretch>
        </p:blipFill>
        <p:spPr>
          <a:xfrm>
            <a:off x="208350" y="963276"/>
            <a:ext cx="3165461" cy="687679"/>
          </a:xfrm>
          <a:prstGeom prst="rect">
            <a:avLst/>
          </a:prstGeom>
        </p:spPr>
      </p:pic>
      <p:pic>
        <p:nvPicPr>
          <p:cNvPr id="6" name="institution-header-decoration"/>
          <p:cNvPicPr/>
          <p:nvPr/>
        </p:nvPicPr>
        <p:blipFill>
          <a:blip r:embed="rId4"/>
          <a:stretch>
            <a:fillRect/>
          </a:stretch>
        </p:blipFill>
        <p:spPr>
          <a:xfrm>
            <a:off x="202338" y="3528187"/>
            <a:ext cx="3177485" cy="681751"/>
          </a:xfrm>
          <a:prstGeom prst="rect">
            <a:avLst/>
          </a:prstGeom>
        </p:spPr>
      </p:pic>
      <p:pic>
        <p:nvPicPr>
          <p:cNvPr id="7" name="demand-gear-header-decoration"/>
          <p:cNvPicPr/>
          <p:nvPr/>
        </p:nvPicPr>
        <p:blipFill>
          <a:blip r:embed="rId7"/>
          <a:stretch>
            <a:fillRect/>
          </a:stretch>
        </p:blipFill>
        <p:spPr>
          <a:xfrm>
            <a:off x="4859413" y="910173"/>
            <a:ext cx="3091571" cy="811313"/>
          </a:xfrm>
          <a:prstGeom prst="rect">
            <a:avLst/>
          </a:prstGeom>
        </p:spPr>
      </p:pic>
      <p:pic>
        <p:nvPicPr>
          <p:cNvPr id="8" name="demand-header-slashes"/>
          <p:cNvPicPr/>
          <p:nvPr/>
        </p:nvPicPr>
        <p:blipFill>
          <a:blip r:embed="rId8"/>
          <a:stretch>
            <a:fillRect/>
          </a:stretch>
        </p:blipFill>
        <p:spPr>
          <a:xfrm>
            <a:off x="11172258" y="1156544"/>
            <a:ext cx="765952" cy="405712"/>
          </a:xfrm>
          <a:prstGeom prst="rect">
            <a:avLst/>
          </a:prstGeom>
        </p:spPr>
      </p:pic>
      <p:sp>
        <p:nvSpPr>
          <p:cNvPr id="9" name="Roundrect 9"/>
          <p:cNvSpPr/>
          <p:nvPr/>
        </p:nvSpPr>
        <p:spPr>
          <a:xfrm>
            <a:off x="370681" y="1498826"/>
            <a:ext cx="4357052" cy="1969388"/>
          </a:xfrm>
          <a:prstGeom prst="roundRect">
            <a:avLst>
              <a:gd name="adj" fmla="val 10619"/>
            </a:avLst>
          </a:prstGeom>
          <a:solidFill>
            <a:srgbClr val="CDE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370681" y="4060773"/>
            <a:ext cx="4357052" cy="1986816"/>
          </a:xfrm>
          <a:prstGeom prst="roundRect">
            <a:avLst>
              <a:gd name="adj" fmla="val 10526"/>
            </a:avLst>
          </a:prstGeom>
          <a:solidFill>
            <a:srgbClr val="CDE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370681" y="1472684"/>
            <a:ext cx="4357052" cy="1969388"/>
          </a:xfrm>
          <a:prstGeom prst="roundRect">
            <a:avLst>
              <a:gd name="adj" fmla="val 10619"/>
            </a:avLst>
          </a:prstGeom>
          <a:solidFill>
            <a:srgbClr val="F7FCFF"/>
          </a:solidFill>
          <a:ln w="10160">
            <a:solidFill>
              <a:srgbClr val="A7D7FE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70681" y="4034630"/>
            <a:ext cx="4357052" cy="1986816"/>
          </a:xfrm>
          <a:prstGeom prst="roundRect">
            <a:avLst>
              <a:gd name="adj" fmla="val 10526"/>
            </a:avLst>
          </a:prstGeom>
          <a:solidFill>
            <a:srgbClr val="F7FCFF"/>
          </a:solidFill>
          <a:ln w="10160">
            <a:solidFill>
              <a:srgbClr val="A7D7FE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5067583" y="1585967"/>
            <a:ext cx="6744717" cy="1150262"/>
          </a:xfrm>
          <a:prstGeom prst="roundRect">
            <a:avLst>
              <a:gd name="adj" fmla="val 16667"/>
            </a:avLst>
          </a:prstGeom>
          <a:solidFill>
            <a:srgbClr val="F8FCFF"/>
          </a:solidFill>
          <a:ln w="10160">
            <a:solidFill>
              <a:srgbClr val="BFE3FB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5067583" y="2849512"/>
            <a:ext cx="6744717" cy="1150262"/>
          </a:xfrm>
          <a:prstGeom prst="roundRect">
            <a:avLst>
              <a:gd name="adj" fmla="val 16667"/>
            </a:avLst>
          </a:prstGeom>
          <a:solidFill>
            <a:srgbClr val="F8FCFF"/>
          </a:solidFill>
          <a:ln w="10160">
            <a:solidFill>
              <a:srgbClr val="BFE3FB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5067583" y="4113057"/>
            <a:ext cx="6744717" cy="1150262"/>
          </a:xfrm>
          <a:prstGeom prst="roundRect">
            <a:avLst>
              <a:gd name="adj" fmla="val 16667"/>
            </a:avLst>
          </a:prstGeom>
          <a:solidFill>
            <a:srgbClr val="F8FCFF"/>
          </a:solidFill>
          <a:ln w="10160">
            <a:solidFill>
              <a:srgbClr val="BFE3FB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5050155" y="5455029"/>
            <a:ext cx="6779573" cy="1028264"/>
          </a:xfrm>
          <a:prstGeom prst="roundRect">
            <a:avLst>
              <a:gd name="adj" fmla="val 16102"/>
            </a:avLst>
          </a:prstGeom>
          <a:solidFill>
            <a:srgbClr val="F8FCFF"/>
          </a:solidFill>
          <a:ln w="10160">
            <a:solidFill>
              <a:srgbClr val="B8E0FE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466536" y="1568539"/>
            <a:ext cx="4182770" cy="1786391"/>
          </a:xfrm>
          <a:prstGeom prst="roundRect">
            <a:avLst>
              <a:gd name="adj" fmla="val 9756"/>
            </a:avLst>
          </a:prstGeom>
          <a:solidFill>
            <a:srgbClr val="DEED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466536" y="4130485"/>
            <a:ext cx="4182770" cy="1812534"/>
          </a:xfrm>
          <a:prstGeom prst="roundRect">
            <a:avLst>
              <a:gd name="adj" fmla="val 9615"/>
            </a:avLst>
          </a:prstGeom>
          <a:solidFill>
            <a:srgbClr val="DEED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6261416" y="1890961"/>
            <a:ext cx="0" cy="540274"/>
          </a:xfrm>
          <a:prstGeom prst="line">
            <a:avLst/>
          </a:prstGeom>
          <a:noFill/>
          <a:ln w="8255">
            <a:solidFill>
              <a:srgbClr val="B9E4FA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6261416" y="3154506"/>
            <a:ext cx="0" cy="540274"/>
          </a:xfrm>
          <a:prstGeom prst="line">
            <a:avLst/>
          </a:prstGeom>
          <a:noFill/>
          <a:ln w="8255">
            <a:solidFill>
              <a:srgbClr val="B9E4FA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6261416" y="4418051"/>
            <a:ext cx="0" cy="540274"/>
          </a:xfrm>
          <a:prstGeom prst="line">
            <a:avLst/>
          </a:prstGeom>
          <a:noFill/>
          <a:ln w="8255">
            <a:solidFill>
              <a:srgbClr val="B9E4FA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7446534" y="6038874"/>
            <a:ext cx="0" cy="252709"/>
          </a:xfrm>
          <a:prstGeom prst="line">
            <a:avLst/>
          </a:prstGeom>
          <a:noFill/>
          <a:ln w="10160">
            <a:solidFill>
              <a:srgbClr val="70B1FD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9598917" y="6038874"/>
            <a:ext cx="0" cy="252709"/>
          </a:xfrm>
          <a:prstGeom prst="line">
            <a:avLst/>
          </a:prstGeom>
          <a:noFill/>
          <a:ln w="10160">
            <a:solidFill>
              <a:srgbClr val="70B1FD"/>
            </a:solidFill>
          </a:ln>
        </p:spPr>
        <p:txBody>
          <a:bodyPr/>
          <a:lstStyle/>
          <a:p/>
        </p:txBody>
      </p:sp>
      <p:pic>
        <p:nvPicPr>
          <p:cNvPr id="24" name="scenario1-placeholder-icon"/>
          <p:cNvPicPr/>
          <p:nvPr/>
        </p:nvPicPr>
        <p:blipFill>
          <a:blip r:embed="rId5"/>
          <a:stretch>
            <a:fillRect/>
          </a:stretch>
        </p:blipFill>
        <p:spPr>
          <a:xfrm>
            <a:off x="2346870" y="1936468"/>
            <a:ext cx="448245" cy="440546"/>
          </a:xfrm>
          <a:prstGeom prst="rect">
            <a:avLst/>
          </a:prstGeom>
        </p:spPr>
      </p:pic>
      <p:pic>
        <p:nvPicPr>
          <p:cNvPr id="25" name="scenario2-placeholder-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2346870" y="4507128"/>
            <a:ext cx="448245" cy="440546"/>
          </a:xfrm>
          <a:prstGeom prst="rect">
            <a:avLst/>
          </a:prstGeom>
        </p:spPr>
      </p:pic>
      <p:pic>
        <p:nvPicPr>
          <p:cNvPr id="26" name="demand-icon-01"/>
          <p:cNvPicPr/>
          <p:nvPr/>
        </p:nvPicPr>
        <p:blipFill>
          <a:blip r:embed="rId9"/>
          <a:stretch>
            <a:fillRect/>
          </a:stretch>
        </p:blipFill>
        <p:spPr>
          <a:xfrm>
            <a:off x="10505268" y="1707369"/>
            <a:ext cx="932242" cy="924885"/>
          </a:xfrm>
          <a:prstGeom prst="rect">
            <a:avLst/>
          </a:prstGeom>
        </p:spPr>
      </p:pic>
      <p:pic>
        <p:nvPicPr>
          <p:cNvPr id="27" name="demand-icon-02"/>
          <p:cNvPicPr/>
          <p:nvPr/>
        </p:nvPicPr>
        <p:blipFill>
          <a:blip r:embed="rId10"/>
          <a:stretch>
            <a:fillRect/>
          </a:stretch>
        </p:blipFill>
        <p:spPr>
          <a:xfrm>
            <a:off x="10506500" y="2972594"/>
            <a:ext cx="929778" cy="921527"/>
          </a:xfrm>
          <a:prstGeom prst="rect">
            <a:avLst/>
          </a:prstGeom>
        </p:spPr>
      </p:pic>
      <p:pic>
        <p:nvPicPr>
          <p:cNvPr id="28" name="demand-icon-03"/>
          <p:cNvPicPr/>
          <p:nvPr/>
        </p:nvPicPr>
        <p:blipFill>
          <a:blip r:embed="rId11"/>
          <a:stretch>
            <a:fillRect/>
          </a:stretch>
        </p:blipFill>
        <p:spPr>
          <a:xfrm>
            <a:off x="10507697" y="4235725"/>
            <a:ext cx="927383" cy="922354"/>
          </a:xfrm>
          <a:prstGeom prst="rect">
            <a:avLst/>
          </a:prstGeom>
        </p:spPr>
      </p:pic>
      <p:pic>
        <p:nvPicPr>
          <p:cNvPr id="29" name="research-plan-clipboard"/>
          <p:cNvPicPr/>
          <p:nvPr/>
        </p:nvPicPr>
        <p:blipFill>
          <a:blip r:embed="rId12"/>
          <a:stretch>
            <a:fillRect/>
          </a:stretch>
        </p:blipFill>
        <p:spPr>
          <a:xfrm>
            <a:off x="5203947" y="5478954"/>
            <a:ext cx="380830" cy="413997"/>
          </a:xfrm>
          <a:prstGeom prst="rect">
            <a:avLst/>
          </a:prstGeom>
        </p:spPr>
      </p:pic>
      <p:pic>
        <p:nvPicPr>
          <p:cNvPr id="30" name="research-interview"/>
          <p:cNvPicPr/>
          <p:nvPr/>
        </p:nvPicPr>
        <p:blipFill>
          <a:blip r:embed="rId13"/>
          <a:stretch>
            <a:fillRect/>
          </a:stretch>
        </p:blipFill>
        <p:spPr>
          <a:xfrm>
            <a:off x="5573437" y="5976227"/>
            <a:ext cx="373835" cy="369290"/>
          </a:xfrm>
          <a:prstGeom prst="rect">
            <a:avLst/>
          </a:prstGeom>
        </p:spPr>
      </p:pic>
      <p:pic>
        <p:nvPicPr>
          <p:cNvPr id="31" name="research-trial"/>
          <p:cNvPicPr/>
          <p:nvPr/>
        </p:nvPicPr>
        <p:blipFill>
          <a:blip r:embed="rId14"/>
          <a:stretch>
            <a:fillRect/>
          </a:stretch>
        </p:blipFill>
        <p:spPr>
          <a:xfrm>
            <a:off x="7834240" y="5964469"/>
            <a:ext cx="339993" cy="384091"/>
          </a:xfrm>
          <a:prstGeom prst="rect">
            <a:avLst/>
          </a:prstGeom>
        </p:spPr>
      </p:pic>
      <p:pic>
        <p:nvPicPr>
          <p:cNvPr id="32" name="research-customer"/>
          <p:cNvPicPr/>
          <p:nvPr/>
        </p:nvPicPr>
        <p:blipFill>
          <a:blip r:embed="rId15"/>
          <a:stretch>
            <a:fillRect/>
          </a:stretch>
        </p:blipFill>
        <p:spPr>
          <a:xfrm>
            <a:off x="9967070" y="5963007"/>
            <a:ext cx="352957" cy="39573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989383" y="182996"/>
            <a:ext cx="3180648" cy="53156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32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使用场景与需求</a:t>
            </a:r>
            <a:endParaRPr lang="zh-CN" sz="3320"/>
          </a:p>
        </p:txBody>
      </p:sp>
      <p:sp>
        <p:nvSpPr>
          <p:cNvPr id="34" name="TextBox 34"/>
          <p:cNvSpPr txBox="1"/>
          <p:nvPr/>
        </p:nvSpPr>
        <p:spPr>
          <a:xfrm>
            <a:off x="4553451" y="461848"/>
            <a:ext cx="2962795" cy="24399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260" i="1">
                <a:solidFill>
                  <a:srgbClr val="71A8F8"/>
                </a:solidFill>
                <a:latin typeface="Liberation Sans"/>
                <a:ea typeface="Liberation Sans"/>
                <a:cs typeface="Liberation Sans"/>
              </a:rPr>
              <a:t>LOW-COST DISCIPLINED OSCILLATOR</a:t>
            </a:r>
            <a:endParaRPr lang="zh-CN" sz="1260"/>
          </a:p>
        </p:txBody>
      </p:sp>
      <p:sp>
        <p:nvSpPr>
          <p:cNvPr id="35" name="TextBox 35"/>
          <p:cNvSpPr txBox="1"/>
          <p:nvPr/>
        </p:nvSpPr>
        <p:spPr>
          <a:xfrm>
            <a:off x="1006811" y="1185118"/>
            <a:ext cx="1568539" cy="33113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导航实验室</a:t>
            </a:r>
            <a:endParaRPr lang="zh-CN" sz="1720"/>
          </a:p>
        </p:txBody>
      </p:sp>
      <p:sp>
        <p:nvSpPr>
          <p:cNvPr id="36" name="TextBox 36"/>
          <p:cNvSpPr txBox="1"/>
          <p:nvPr/>
        </p:nvSpPr>
        <p:spPr>
          <a:xfrm>
            <a:off x="1006811" y="3747065"/>
            <a:ext cx="1655680" cy="33113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导航研发企业</a:t>
            </a:r>
            <a:endParaRPr lang="zh-CN" sz="1720"/>
          </a:p>
        </p:txBody>
      </p:sp>
      <p:sp>
        <p:nvSpPr>
          <p:cNvPr id="37" name="TextBox 37"/>
          <p:cNvSpPr txBox="1"/>
          <p:nvPr/>
        </p:nvSpPr>
        <p:spPr>
          <a:xfrm>
            <a:off x="1407660" y="2466091"/>
            <a:ext cx="2361522" cy="29628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4D87BB"/>
                </a:solidFill>
                <a:latin typeface="Noto Sans CJK SC"/>
                <a:ea typeface="Noto Sans CJK SC"/>
                <a:cs typeface="Noto Sans CJK SC"/>
              </a:rPr>
              <a:t>此处放导航实验室真实场景图</a:t>
            </a:r>
            <a:endParaRPr lang="zh-CN" sz="1350"/>
          </a:p>
        </p:txBody>
      </p:sp>
      <p:sp>
        <p:nvSpPr>
          <p:cNvPr id="38" name="TextBox 38"/>
          <p:cNvSpPr txBox="1"/>
          <p:nvPr/>
        </p:nvSpPr>
        <p:spPr>
          <a:xfrm>
            <a:off x="1285662" y="2736229"/>
            <a:ext cx="2614231" cy="29628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290">
                <a:solidFill>
                  <a:srgbClr val="4D87BB"/>
                </a:solidFill>
                <a:latin typeface="Noto Sans CJK SC"/>
                <a:ea typeface="Noto Sans CJK SC"/>
                <a:cs typeface="Noto Sans CJK SC"/>
              </a:rPr>
              <a:t>（待补：实验平台或失锁实验现场）</a:t>
            </a:r>
            <a:endParaRPr lang="zh-CN" sz="1290"/>
          </a:p>
        </p:txBody>
      </p:sp>
      <p:sp>
        <p:nvSpPr>
          <p:cNvPr id="39" name="TextBox 39"/>
          <p:cNvSpPr txBox="1"/>
          <p:nvPr/>
        </p:nvSpPr>
        <p:spPr>
          <a:xfrm>
            <a:off x="1608084" y="5036752"/>
            <a:ext cx="2030386" cy="29628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4D87BB"/>
                </a:solidFill>
                <a:latin typeface="Noto Sans CJK SC"/>
                <a:ea typeface="Noto Sans CJK SC"/>
                <a:cs typeface="Noto Sans CJK SC"/>
              </a:rPr>
              <a:t>此处放研发集成应用图</a:t>
            </a:r>
            <a:endParaRPr lang="zh-CN" sz="1350"/>
          </a:p>
        </p:txBody>
      </p:sp>
      <p:sp>
        <p:nvSpPr>
          <p:cNvPr id="40" name="TextBox 40"/>
          <p:cNvSpPr txBox="1"/>
          <p:nvPr/>
        </p:nvSpPr>
        <p:spPr>
          <a:xfrm>
            <a:off x="1285662" y="5306889"/>
            <a:ext cx="2614231" cy="29628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290">
                <a:solidFill>
                  <a:srgbClr val="4D87BB"/>
                </a:solidFill>
                <a:latin typeface="Noto Sans CJK SC"/>
                <a:ea typeface="Noto Sans CJK SC"/>
                <a:cs typeface="Noto Sans CJK SC"/>
              </a:rPr>
              <a:t>（待补：接口接入或模块集成现场）</a:t>
            </a:r>
            <a:endParaRPr lang="zh-CN" sz="1290"/>
          </a:p>
        </p:txBody>
      </p:sp>
      <p:sp>
        <p:nvSpPr>
          <p:cNvPr id="41" name="TextBox 41"/>
          <p:cNvSpPr txBox="1"/>
          <p:nvPr/>
        </p:nvSpPr>
        <p:spPr>
          <a:xfrm>
            <a:off x="5782140" y="1150262"/>
            <a:ext cx="2004244" cy="37470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0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三项需求假设</a:t>
            </a:r>
            <a:endParaRPr lang="zh-CN" sz="2010"/>
          </a:p>
        </p:txBody>
      </p:sp>
      <p:sp>
        <p:nvSpPr>
          <p:cNvPr id="42" name="TextBox 42"/>
          <p:cNvSpPr txBox="1"/>
          <p:nvPr/>
        </p:nvSpPr>
        <p:spPr>
          <a:xfrm>
            <a:off x="5268008" y="1655680"/>
            <a:ext cx="975980" cy="94112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6000" b="1" i="1">
                <a:solidFill>
                  <a:srgbClr val="178AF7"/>
                </a:solidFill>
                <a:latin typeface="Liberation Sans"/>
                <a:ea typeface="Liberation Sans"/>
                <a:cs typeface="Liberation Sans"/>
              </a:rPr>
              <a:t>01</a:t>
            </a:r>
            <a:endParaRPr lang="zh-CN" sz="6000"/>
          </a:p>
        </p:txBody>
      </p:sp>
      <p:sp>
        <p:nvSpPr>
          <p:cNvPr id="43" name="TextBox 43"/>
          <p:cNvSpPr txBox="1"/>
          <p:nvPr/>
        </p:nvSpPr>
        <p:spPr>
          <a:xfrm>
            <a:off x="6470554" y="1829962"/>
            <a:ext cx="3616353" cy="40084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210" b="1">
                <a:solidFill>
                  <a:srgbClr val="178AF7"/>
                </a:solidFill>
                <a:latin typeface="Noto Sans CJK SC"/>
                <a:ea typeface="Noto Sans CJK SC"/>
                <a:cs typeface="Noto Sans CJK SC"/>
              </a:rPr>
              <a:t>减少适配工作</a:t>
            </a:r>
            <a:endParaRPr lang="zh-CN" sz="2210"/>
          </a:p>
        </p:txBody>
      </p:sp>
      <p:sp>
        <p:nvSpPr>
          <p:cNvPr id="44" name="TextBox 44"/>
          <p:cNvSpPr txBox="1"/>
          <p:nvPr/>
        </p:nvSpPr>
        <p:spPr>
          <a:xfrm>
            <a:off x="6470554" y="2274381"/>
            <a:ext cx="3964917" cy="32242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430">
                <a:solidFill>
                  <a:srgbClr val="263F5B"/>
                </a:solidFill>
                <a:latin typeface="Noto Sans CJK SC"/>
                <a:ea typeface="Noto Sans CJK SC"/>
                <a:cs typeface="Noto Sans CJK SC"/>
              </a:rPr>
              <a:t>比较晶振、研究算法，降低换件与调参成本</a:t>
            </a:r>
            <a:endParaRPr lang="zh-CN" sz="1430"/>
          </a:p>
        </p:txBody>
      </p:sp>
      <p:sp>
        <p:nvSpPr>
          <p:cNvPr id="45" name="TextBox 45"/>
          <p:cNvSpPr txBox="1"/>
          <p:nvPr/>
        </p:nvSpPr>
        <p:spPr>
          <a:xfrm>
            <a:off x="5268008" y="2919225"/>
            <a:ext cx="975980" cy="94112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6000" b="1" i="1">
                <a:solidFill>
                  <a:srgbClr val="0098AC"/>
                </a:solidFill>
                <a:latin typeface="Liberation Sans"/>
                <a:ea typeface="Liberation Sans"/>
                <a:cs typeface="Liberation Sans"/>
              </a:rPr>
              <a:t>02</a:t>
            </a:r>
            <a:endParaRPr lang="zh-CN" sz="6000"/>
          </a:p>
        </p:txBody>
      </p:sp>
      <p:sp>
        <p:nvSpPr>
          <p:cNvPr id="46" name="TextBox 46"/>
          <p:cNvSpPr txBox="1"/>
          <p:nvPr/>
        </p:nvSpPr>
        <p:spPr>
          <a:xfrm>
            <a:off x="6470554" y="3093507"/>
            <a:ext cx="3616353" cy="40084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210" b="1">
                <a:solidFill>
                  <a:srgbClr val="0098AC"/>
                </a:solidFill>
                <a:latin typeface="Noto Sans CJK SC"/>
                <a:ea typeface="Noto Sans CJK SC"/>
                <a:cs typeface="Noto Sans CJK SC"/>
              </a:rPr>
              <a:t>量化保持误差</a:t>
            </a:r>
            <a:endParaRPr lang="zh-CN" sz="2210"/>
          </a:p>
        </p:txBody>
      </p:sp>
      <p:sp>
        <p:nvSpPr>
          <p:cNvPr id="47" name="TextBox 47"/>
          <p:cNvSpPr txBox="1"/>
          <p:nvPr/>
        </p:nvSpPr>
        <p:spPr>
          <a:xfrm>
            <a:off x="6470554" y="3537926"/>
            <a:ext cx="3964917" cy="32242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430">
                <a:solidFill>
                  <a:srgbClr val="263F5B"/>
                </a:solidFill>
                <a:latin typeface="Noto Sans CJK SC"/>
                <a:ea typeface="Noto Sans CJK SC"/>
                <a:cs typeface="Noto Sans CJK SC"/>
              </a:rPr>
              <a:t>复现失锁实验，判断断参考后的影响</a:t>
            </a:r>
            <a:endParaRPr lang="zh-CN" sz="1430"/>
          </a:p>
        </p:txBody>
      </p:sp>
      <p:sp>
        <p:nvSpPr>
          <p:cNvPr id="48" name="TextBox 48"/>
          <p:cNvSpPr txBox="1"/>
          <p:nvPr/>
        </p:nvSpPr>
        <p:spPr>
          <a:xfrm>
            <a:off x="5268008" y="4182770"/>
            <a:ext cx="975980" cy="94112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6000" b="1" i="1">
                <a:solidFill>
                  <a:srgbClr val="FF7C19"/>
                </a:solidFill>
                <a:latin typeface="Liberation Sans"/>
                <a:ea typeface="Liberation Sans"/>
                <a:cs typeface="Liberation Sans"/>
              </a:rPr>
              <a:t>03</a:t>
            </a:r>
            <a:endParaRPr lang="zh-CN" sz="6000"/>
          </a:p>
        </p:txBody>
      </p:sp>
      <p:sp>
        <p:nvSpPr>
          <p:cNvPr id="49" name="TextBox 49"/>
          <p:cNvSpPr txBox="1"/>
          <p:nvPr/>
        </p:nvSpPr>
        <p:spPr>
          <a:xfrm>
            <a:off x="6470554" y="4357052"/>
            <a:ext cx="3616353" cy="40084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210" b="1">
                <a:solidFill>
                  <a:srgbClr val="FF7C19"/>
                </a:solidFill>
                <a:latin typeface="Noto Sans CJK SC"/>
                <a:ea typeface="Noto Sans CJK SC"/>
                <a:cs typeface="Noto Sans CJK SC"/>
              </a:rPr>
              <a:t>统一导出数据</a:t>
            </a:r>
            <a:endParaRPr lang="zh-CN" sz="2210"/>
          </a:p>
        </p:txBody>
      </p:sp>
      <p:sp>
        <p:nvSpPr>
          <p:cNvPr id="50" name="TextBox 50"/>
          <p:cNvSpPr txBox="1"/>
          <p:nvPr/>
        </p:nvSpPr>
        <p:spPr>
          <a:xfrm>
            <a:off x="6470554" y="4801471"/>
            <a:ext cx="3964917" cy="32242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430">
                <a:solidFill>
                  <a:srgbClr val="263F5B"/>
                </a:solidFill>
                <a:latin typeface="Noto Sans CJK SC"/>
                <a:ea typeface="Noto Sans CJK SC"/>
                <a:cs typeface="Noto Sans CJK SC"/>
              </a:rPr>
              <a:t>接口清楚、容易集成，日志可用于复盘</a:t>
            </a:r>
            <a:endParaRPr lang="zh-CN" sz="1430"/>
          </a:p>
        </p:txBody>
      </p:sp>
      <p:sp>
        <p:nvSpPr>
          <p:cNvPr id="51" name="TextBox 51"/>
          <p:cNvSpPr txBox="1"/>
          <p:nvPr/>
        </p:nvSpPr>
        <p:spPr>
          <a:xfrm>
            <a:off x="5634000" y="5559598"/>
            <a:ext cx="2178526" cy="33113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70" b="1">
                <a:solidFill>
                  <a:srgbClr val="0074F7"/>
                </a:solidFill>
                <a:latin typeface="Noto Sans CJK SC"/>
                <a:ea typeface="Noto Sans CJK SC"/>
                <a:cs typeface="Noto Sans CJK SC"/>
              </a:rPr>
              <a:t>需求验证计划</a:t>
            </a:r>
            <a:endParaRPr lang="zh-CN" sz="1670"/>
          </a:p>
        </p:txBody>
      </p:sp>
      <p:sp>
        <p:nvSpPr>
          <p:cNvPr id="52" name="TextBox 52"/>
          <p:cNvSpPr txBox="1"/>
          <p:nvPr/>
        </p:nvSpPr>
        <p:spPr>
          <a:xfrm>
            <a:off x="6060991" y="6021446"/>
            <a:ext cx="1307116" cy="32242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172D47"/>
                </a:solidFill>
                <a:latin typeface="Noto Sans CJK SC"/>
                <a:ea typeface="Noto Sans CJK SC"/>
                <a:cs typeface="Noto Sans CJK SC"/>
              </a:rPr>
              <a:t>约 10 家访谈</a:t>
            </a:r>
            <a:endParaRPr lang="zh-CN" sz="1450"/>
          </a:p>
        </p:txBody>
      </p:sp>
      <p:sp>
        <p:nvSpPr>
          <p:cNvPr id="53" name="TextBox 53"/>
          <p:cNvSpPr txBox="1"/>
          <p:nvPr/>
        </p:nvSpPr>
        <p:spPr>
          <a:xfrm>
            <a:off x="8309230" y="6021446"/>
            <a:ext cx="1237403" cy="32242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172D47"/>
                </a:solidFill>
                <a:latin typeface="Noto Sans CJK SC"/>
                <a:ea typeface="Noto Sans CJK SC"/>
                <a:cs typeface="Noto Sans CJK SC"/>
              </a:rPr>
              <a:t>3–5 家试用</a:t>
            </a:r>
            <a:endParaRPr lang="zh-CN" sz="1450"/>
          </a:p>
        </p:txBody>
      </p:sp>
      <p:sp>
        <p:nvSpPr>
          <p:cNvPr id="54" name="TextBox 54"/>
          <p:cNvSpPr txBox="1"/>
          <p:nvPr/>
        </p:nvSpPr>
        <p:spPr>
          <a:xfrm>
            <a:off x="10444186" y="6021446"/>
            <a:ext cx="1246117" cy="322422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172D47"/>
                </a:solidFill>
                <a:latin typeface="Noto Sans CJK SC"/>
                <a:ea typeface="Noto Sans CJK SC"/>
                <a:cs typeface="Noto Sans CJK SC"/>
              </a:rPr>
              <a:t>尚非已有客户</a:t>
            </a:r>
            <a:endParaRPr lang="zh-CN" sz="14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faithful foreground-free abstract blue circuit and network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203"/>
            <a:ext cx="12191695" cy="6855594"/>
          </a:xfrm>
          <a:prstGeom prst="rect">
            <a:avLst/>
          </a:prstGeom>
        </p:spPr>
      </p:pic>
      <p:sp>
        <p:nvSpPr>
          <p:cNvPr id="3" name="Rect 3"/>
          <p:cNvSpPr/>
          <p:nvPr/>
        </p:nvSpPr>
        <p:spPr>
          <a:xfrm>
            <a:off x="911696" y="215720"/>
            <a:ext cx="5604247" cy="5362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4" y="0"/>
                </a:moveTo>
                <a:lnTo>
                  <a:pt x="21600" y="0"/>
                </a:lnTo>
                <a:lnTo>
                  <a:pt x="2111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2D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893819" y="144214"/>
            <a:ext cx="5345039" cy="59885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81" y="0"/>
                </a:moveTo>
                <a:lnTo>
                  <a:pt x="21600" y="0"/>
                </a:lnTo>
                <a:lnTo>
                  <a:pt x="2102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68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03899" y="1154230"/>
            <a:ext cx="8777305" cy="3441204"/>
          </a:xfrm>
          <a:prstGeom prst="roundRect">
            <a:avLst>
              <a:gd name="adj" fmla="val 7273"/>
            </a:avLst>
          </a:prstGeom>
          <a:solidFill>
            <a:srgbClr val="F1F9FF"/>
          </a:solidFill>
          <a:ln w="7620">
            <a:solidFill>
              <a:srgbClr val="C1E5FF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9242092" y="1163168"/>
            <a:ext cx="2752963" cy="4218827"/>
          </a:xfrm>
          <a:prstGeom prst="roundRect">
            <a:avLst>
              <a:gd name="adj" fmla="val 5844"/>
            </a:avLst>
          </a:prstGeom>
          <a:solidFill>
            <a:srgbClr val="EDF7FF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312837" y="1163168"/>
            <a:ext cx="4290333" cy="545230"/>
          </a:xfrm>
          <a:prstGeom prst="roundRect">
            <a:avLst>
              <a:gd name="adj" fmla="val 31148"/>
            </a:avLst>
          </a:prstGeom>
          <a:solidFill>
            <a:srgbClr val="E1F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9251030" y="1181044"/>
            <a:ext cx="2735087" cy="527353"/>
          </a:xfrm>
          <a:prstGeom prst="roundRect">
            <a:avLst>
              <a:gd name="adj" fmla="val 28814"/>
            </a:avLst>
          </a:prstGeom>
          <a:solidFill>
            <a:srgbClr val="E7F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545230" y="2119555"/>
            <a:ext cx="1465864" cy="2136228"/>
          </a:xfrm>
          <a:prstGeom prst="roundRect">
            <a:avLst>
              <a:gd name="adj" fmla="val 10366"/>
            </a:avLst>
          </a:prstGeom>
          <a:solidFill>
            <a:srgbClr val="50B1FF"/>
          </a:solidFill>
          <a:ln w="10160">
            <a:solidFill>
              <a:srgbClr val="8DCEFF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2216672" y="2119555"/>
            <a:ext cx="1465864" cy="2136228"/>
          </a:xfrm>
          <a:prstGeom prst="roundRect">
            <a:avLst>
              <a:gd name="adj" fmla="val 10366"/>
            </a:avLst>
          </a:prstGeom>
          <a:solidFill>
            <a:srgbClr val="32D9D4"/>
          </a:solidFill>
          <a:ln w="10160">
            <a:solidFill>
              <a:srgbClr val="91E5EA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3879176" y="2119555"/>
            <a:ext cx="1465864" cy="2136228"/>
          </a:xfrm>
          <a:prstGeom prst="roundRect">
            <a:avLst>
              <a:gd name="adj" fmla="val 10366"/>
            </a:avLst>
          </a:prstGeom>
          <a:solidFill>
            <a:srgbClr val="FFB42C"/>
          </a:solidFill>
          <a:ln w="10160">
            <a:solidFill>
              <a:srgbClr val="FFD185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5532741" y="2119555"/>
            <a:ext cx="1465864" cy="2136228"/>
          </a:xfrm>
          <a:prstGeom prst="roundRect">
            <a:avLst>
              <a:gd name="adj" fmla="val 10366"/>
            </a:avLst>
          </a:prstGeom>
          <a:solidFill>
            <a:srgbClr val="AA7EFF"/>
          </a:solidFill>
          <a:ln w="10160">
            <a:solidFill>
              <a:srgbClr val="C0A7FF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3262440" y="752011"/>
            <a:ext cx="8392963" cy="0"/>
          </a:xfrm>
          <a:prstGeom prst="line">
            <a:avLst/>
          </a:prstGeom>
          <a:noFill/>
          <a:ln w="10160">
            <a:solidFill>
              <a:srgbClr val="78BFFF"/>
            </a:solidFill>
            <a:tailEnd type="none"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312837" y="1189983"/>
            <a:ext cx="661426" cy="49160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84" y="393"/>
                </a:moveTo>
                <a:lnTo>
                  <a:pt x="16346" y="0"/>
                </a:lnTo>
                <a:lnTo>
                  <a:pt x="21600" y="10604"/>
                </a:lnTo>
                <a:lnTo>
                  <a:pt x="166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4A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4102631" y="1163168"/>
            <a:ext cx="321775" cy="5362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200" y="0"/>
                </a:lnTo>
                <a:lnTo>
                  <a:pt x="21600" y="10800"/>
                </a:lnTo>
                <a:lnTo>
                  <a:pt x="11400" y="21600"/>
                </a:lnTo>
                <a:lnTo>
                  <a:pt x="600" y="21600"/>
                </a:lnTo>
                <a:lnTo>
                  <a:pt x="11400" y="10800"/>
                </a:lnTo>
                <a:close/>
              </a:path>
            </a:pathLst>
          </a:custGeom>
          <a:solidFill>
            <a:srgbClr val="D4E9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9251030" y="1198921"/>
            <a:ext cx="572044" cy="48266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350" y="800"/>
                </a:moveTo>
                <a:lnTo>
                  <a:pt x="16538" y="0"/>
                </a:lnTo>
                <a:lnTo>
                  <a:pt x="21600" y="10400"/>
                </a:lnTo>
                <a:lnTo>
                  <a:pt x="165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5A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545230" y="2191060"/>
            <a:ext cx="1465864" cy="2064723"/>
          </a:xfrm>
          <a:prstGeom prst="roundRect">
            <a:avLst>
              <a:gd name="adj" fmla="val 9756"/>
            </a:avLst>
          </a:prstGeom>
          <a:solidFill>
            <a:srgbClr val="F9FCFF"/>
          </a:solidFill>
          <a:ln w="7620">
            <a:solidFill>
              <a:srgbClr val="8DCEFF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2216672" y="2191060"/>
            <a:ext cx="1465864" cy="2064723"/>
          </a:xfrm>
          <a:prstGeom prst="roundRect">
            <a:avLst>
              <a:gd name="adj" fmla="val 9756"/>
            </a:avLst>
          </a:prstGeom>
          <a:solidFill>
            <a:srgbClr val="F9FEFF"/>
          </a:solidFill>
          <a:ln w="7620">
            <a:solidFill>
              <a:srgbClr val="91E5EA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3879176" y="2191060"/>
            <a:ext cx="1465864" cy="2064723"/>
          </a:xfrm>
          <a:prstGeom prst="roundRect">
            <a:avLst>
              <a:gd name="adj" fmla="val 9756"/>
            </a:avLst>
          </a:prstGeom>
          <a:solidFill>
            <a:srgbClr val="FFFDF8"/>
          </a:solidFill>
          <a:ln w="7620">
            <a:solidFill>
              <a:srgbClr val="FFD185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5532741" y="2191060"/>
            <a:ext cx="1465864" cy="2064723"/>
          </a:xfrm>
          <a:prstGeom prst="roundRect">
            <a:avLst>
              <a:gd name="adj" fmla="val 9756"/>
            </a:avLst>
          </a:prstGeom>
          <a:solidFill>
            <a:srgbClr val="FCF9FF"/>
          </a:solidFill>
          <a:ln w="7620">
            <a:solidFill>
              <a:srgbClr val="C0A7FF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491601" y="4756322"/>
            <a:ext cx="8589603" cy="625674"/>
          </a:xfrm>
          <a:prstGeom prst="roundRect">
            <a:avLst>
              <a:gd name="adj" fmla="val 30000"/>
            </a:avLst>
          </a:prstGeom>
          <a:solidFill>
            <a:srgbClr val="F4FAFF"/>
          </a:solidFill>
          <a:ln w="10160">
            <a:solidFill>
              <a:srgbClr val="B2DAFF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491601" y="5542883"/>
            <a:ext cx="11217432" cy="840190"/>
          </a:xfrm>
          <a:prstGeom prst="roundRect">
            <a:avLst>
              <a:gd name="adj" fmla="val 22340"/>
            </a:avLst>
          </a:prstGeom>
          <a:solidFill>
            <a:srgbClr val="F0F8FF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9420855" y="1797780"/>
            <a:ext cx="2404374" cy="768685"/>
          </a:xfrm>
          <a:prstGeom prst="roundRect">
            <a:avLst>
              <a:gd name="adj" fmla="val 16279"/>
            </a:avLst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9429794" y="2602217"/>
            <a:ext cx="2314992" cy="0"/>
          </a:xfrm>
          <a:prstGeom prst="line">
            <a:avLst/>
          </a:prstGeom>
          <a:noFill/>
          <a:ln w="5080">
            <a:solidFill>
              <a:srgbClr val="CDEAFF"/>
            </a:solidFill>
            <a:tailEnd type="none"/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9420855" y="2620094"/>
            <a:ext cx="2404374" cy="768685"/>
          </a:xfrm>
          <a:prstGeom prst="roundRect">
            <a:avLst>
              <a:gd name="adj" fmla="val 16279"/>
            </a:avLst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9429794" y="3424531"/>
            <a:ext cx="2314992" cy="0"/>
          </a:xfrm>
          <a:prstGeom prst="line">
            <a:avLst/>
          </a:prstGeom>
          <a:noFill/>
          <a:ln w="5080">
            <a:solidFill>
              <a:srgbClr val="CDEAFF"/>
            </a:solidFill>
            <a:tailEnd type="none"/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9420855" y="3442407"/>
            <a:ext cx="2404374" cy="768685"/>
          </a:xfrm>
          <a:prstGeom prst="roundRect">
            <a:avLst>
              <a:gd name="adj" fmla="val 16279"/>
            </a:avLst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9429794" y="4246845"/>
            <a:ext cx="2314992" cy="0"/>
          </a:xfrm>
          <a:prstGeom prst="line">
            <a:avLst/>
          </a:prstGeom>
          <a:noFill/>
          <a:ln w="5080">
            <a:solidFill>
              <a:srgbClr val="CDEAFF"/>
            </a:solidFill>
            <a:tailEnd type="none"/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9420855" y="4264721"/>
            <a:ext cx="2404374" cy="768685"/>
          </a:xfrm>
          <a:prstGeom prst="roundRect">
            <a:avLst>
              <a:gd name="adj" fmla="val 16279"/>
            </a:avLst>
          </a:prstGeom>
          <a:solidFill>
            <a:srgbClr val="F7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3861299" y="5712708"/>
            <a:ext cx="2100475" cy="518415"/>
          </a:xfrm>
          <a:prstGeom prst="roundRect">
            <a:avLst>
              <a:gd name="adj" fmla="val 20690"/>
            </a:avLst>
          </a:prstGeom>
          <a:solidFill>
            <a:srgbClr val="F6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6632139" y="5712708"/>
            <a:ext cx="1492678" cy="518415"/>
          </a:xfrm>
          <a:prstGeom prst="roundRect">
            <a:avLst>
              <a:gd name="adj" fmla="val 20690"/>
            </a:avLst>
          </a:prstGeom>
          <a:solidFill>
            <a:srgbClr val="F6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9251030" y="5712708"/>
            <a:ext cx="2207734" cy="518415"/>
          </a:xfrm>
          <a:prstGeom prst="roundRect">
            <a:avLst>
              <a:gd name="adj" fmla="val 20690"/>
            </a:avLst>
          </a:prstGeom>
          <a:solidFill>
            <a:srgbClr val="F6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7445515" y="2128493"/>
            <a:ext cx="1421173" cy="1680380"/>
          </a:xfrm>
          <a:prstGeom prst="roundRect">
            <a:avLst>
              <a:gd name="adj" fmla="val 11950"/>
            </a:avLst>
          </a:prstGeom>
          <a:solidFill>
            <a:srgbClr val="268DFF"/>
          </a:solidFill>
          <a:ln w="7620">
            <a:solidFill>
              <a:srgbClr val="85BDFF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491601" y="4926147"/>
            <a:ext cx="0" cy="286022"/>
          </a:xfrm>
          <a:prstGeom prst="line">
            <a:avLst/>
          </a:prstGeom>
          <a:noFill/>
          <a:ln w="19050">
            <a:solidFill>
              <a:srgbClr val="1687FF"/>
            </a:solidFill>
            <a:tailEnd type="none"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777623" y="5730585"/>
            <a:ext cx="2788716" cy="50947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285" y="0"/>
                </a:lnTo>
                <a:lnTo>
                  <a:pt x="21600" y="10611"/>
                </a:lnTo>
                <a:lnTo>
                  <a:pt x="2035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8F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8741553" y="4765260"/>
            <a:ext cx="312837" cy="60779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4320" y="0"/>
                </a:lnTo>
                <a:lnTo>
                  <a:pt x="21600" y="21600"/>
                </a:lnTo>
                <a:lnTo>
                  <a:pt x="16663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1984279" y="3218952"/>
            <a:ext cx="268146" cy="0"/>
          </a:xfrm>
          <a:prstGeom prst="line">
            <a:avLst/>
          </a:prstGeom>
          <a:noFill/>
          <a:ln w="53340">
            <a:solidFill>
              <a:srgbClr val="048AFD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3655721" y="3218952"/>
            <a:ext cx="268146" cy="0"/>
          </a:xfrm>
          <a:prstGeom prst="line">
            <a:avLst/>
          </a:prstGeom>
          <a:noFill/>
          <a:ln w="53340">
            <a:solidFill>
              <a:srgbClr val="05CFC6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5327163" y="3218952"/>
            <a:ext cx="268146" cy="0"/>
          </a:xfrm>
          <a:prstGeom prst="line">
            <a:avLst/>
          </a:prstGeom>
          <a:noFill/>
          <a:ln w="53340">
            <a:solidFill>
              <a:srgbClr val="FF980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6998605" y="3218952"/>
            <a:ext cx="268146" cy="0"/>
          </a:xfrm>
          <a:prstGeom prst="line">
            <a:avLst/>
          </a:prstGeom>
          <a:noFill/>
          <a:ln w="53340">
            <a:solidFill>
              <a:srgbClr val="9152FF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6069033" y="5980854"/>
            <a:ext cx="250269" cy="0"/>
          </a:xfrm>
          <a:prstGeom prst="line">
            <a:avLst/>
          </a:prstGeom>
          <a:noFill/>
          <a:ln w="22860">
            <a:solidFill>
              <a:srgbClr val="0088FF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8509160" y="5980854"/>
            <a:ext cx="250269" cy="0"/>
          </a:xfrm>
          <a:prstGeom prst="line">
            <a:avLst/>
          </a:prstGeom>
          <a:noFill/>
          <a:ln w="22860">
            <a:solidFill>
              <a:srgbClr val="0088FF"/>
            </a:solidFill>
            <a:tailEnd type="triangle"/>
          </a:ln>
        </p:spPr>
        <p:txBody>
          <a:bodyPr/>
          <a:lstStyle/>
          <a:p/>
        </p:txBody>
      </p:sp>
      <p:pic>
        <p:nvPicPr>
          <p:cNvPr id="43" name="target source-faithful separated asset"/>
          <p:cNvPicPr/>
          <p:nvPr/>
        </p:nvPicPr>
        <p:blipFill>
          <a:blip r:embed="rId3"/>
          <a:stretch>
            <a:fillRect/>
          </a:stretch>
        </p:blipFill>
        <p:spPr>
          <a:xfrm>
            <a:off x="421436" y="1209897"/>
            <a:ext cx="453166" cy="442834"/>
          </a:xfrm>
          <a:prstGeom prst="rect">
            <a:avLst/>
          </a:prstGeom>
        </p:spPr>
      </p:pic>
      <p:pic>
        <p:nvPicPr>
          <p:cNvPr id="44" name="cube source-faithful separated asset"/>
          <p:cNvPicPr/>
          <p:nvPr/>
        </p:nvPicPr>
        <p:blipFill>
          <a:blip r:embed="rId4"/>
          <a:stretch>
            <a:fillRect/>
          </a:stretch>
        </p:blipFill>
        <p:spPr>
          <a:xfrm>
            <a:off x="9366368" y="1243433"/>
            <a:ext cx="368182" cy="375753"/>
          </a:xfrm>
          <a:prstGeom prst="rect">
            <a:avLst/>
          </a:prstGeom>
        </p:spPr>
      </p:pic>
      <p:pic>
        <p:nvPicPr>
          <p:cNvPr id="45" name="module-wave source-faithful separated asset"/>
          <p:cNvPicPr/>
          <p:nvPr/>
        </p:nvPicPr>
        <p:blipFill>
          <a:blip r:embed="rId9"/>
          <a:stretch>
            <a:fillRect/>
          </a:stretch>
        </p:blipFill>
        <p:spPr>
          <a:xfrm>
            <a:off x="840378" y="2904248"/>
            <a:ext cx="884506" cy="754553"/>
          </a:xfrm>
          <a:prstGeom prst="rect">
            <a:avLst/>
          </a:prstGeom>
        </p:spPr>
      </p:pic>
      <p:pic>
        <p:nvPicPr>
          <p:cNvPr id="46" name="module-chip source-faithful separated asset"/>
          <p:cNvPicPr/>
          <p:nvPr/>
        </p:nvPicPr>
        <p:blipFill>
          <a:blip r:embed="rId10"/>
          <a:stretch>
            <a:fillRect/>
          </a:stretch>
        </p:blipFill>
        <p:spPr>
          <a:xfrm>
            <a:off x="2503347" y="2905195"/>
            <a:ext cx="883567" cy="752658"/>
          </a:xfrm>
          <a:prstGeom prst="rect">
            <a:avLst/>
          </a:prstGeom>
        </p:spPr>
      </p:pic>
      <p:pic>
        <p:nvPicPr>
          <p:cNvPr id="47" name="module-dac source-faithful separated asset"/>
          <p:cNvPicPr/>
          <p:nvPr/>
        </p:nvPicPr>
        <p:blipFill>
          <a:blip r:embed="rId11"/>
          <a:stretch>
            <a:fillRect/>
          </a:stretch>
        </p:blipFill>
        <p:spPr>
          <a:xfrm>
            <a:off x="4166315" y="2905195"/>
            <a:ext cx="882647" cy="752658"/>
          </a:xfrm>
          <a:prstGeom prst="rect">
            <a:avLst/>
          </a:prstGeom>
        </p:spPr>
      </p:pic>
      <p:pic>
        <p:nvPicPr>
          <p:cNvPr id="48" name="module-osc source-faithful separated asset"/>
          <p:cNvPicPr/>
          <p:nvPr/>
        </p:nvPicPr>
        <p:blipFill>
          <a:blip r:embed="rId12"/>
          <a:stretch>
            <a:fillRect/>
          </a:stretch>
        </p:blipFill>
        <p:spPr>
          <a:xfrm>
            <a:off x="5828354" y="2905195"/>
            <a:ext cx="883567" cy="752658"/>
          </a:xfrm>
          <a:prstGeom prst="rect">
            <a:avLst/>
          </a:prstGeom>
        </p:spPr>
      </p:pic>
      <p:pic>
        <p:nvPicPr>
          <p:cNvPr id="49" name="output-wave source-faithful separated asset"/>
          <p:cNvPicPr/>
          <p:nvPr/>
        </p:nvPicPr>
        <p:blipFill>
          <a:blip r:embed="rId13"/>
          <a:stretch>
            <a:fillRect/>
          </a:stretch>
        </p:blipFill>
        <p:spPr>
          <a:xfrm>
            <a:off x="7753453" y="2319940"/>
            <a:ext cx="805295" cy="555607"/>
          </a:xfrm>
          <a:prstGeom prst="rect">
            <a:avLst/>
          </a:prstGeom>
        </p:spPr>
      </p:pic>
      <p:pic>
        <p:nvPicPr>
          <p:cNvPr id="50" name="pedestal source-faithful separated asset"/>
          <p:cNvPicPr/>
          <p:nvPr/>
        </p:nvPicPr>
        <p:blipFill>
          <a:blip r:embed="rId14"/>
          <a:stretch>
            <a:fillRect/>
          </a:stretch>
        </p:blipFill>
        <p:spPr>
          <a:xfrm>
            <a:off x="7136200" y="3730137"/>
            <a:ext cx="2039803" cy="783147"/>
          </a:xfrm>
          <a:prstGeom prst="rect">
            <a:avLst/>
          </a:prstGeom>
        </p:spPr>
      </p:pic>
      <p:pic>
        <p:nvPicPr>
          <p:cNvPr id="51" name="feature-extref source-faithful separated asset"/>
          <p:cNvPicPr/>
          <p:nvPr/>
        </p:nvPicPr>
        <p:blipFill>
          <a:blip r:embed="rId15"/>
          <a:stretch>
            <a:fillRect/>
          </a:stretch>
        </p:blipFill>
        <p:spPr>
          <a:xfrm>
            <a:off x="9342637" y="1835856"/>
            <a:ext cx="746366" cy="719346"/>
          </a:xfrm>
          <a:prstGeom prst="rect">
            <a:avLst/>
          </a:prstGeom>
        </p:spPr>
      </p:pic>
      <p:pic>
        <p:nvPicPr>
          <p:cNvPr id="52" name="feature-gnss source-faithful separated asset"/>
          <p:cNvPicPr/>
          <p:nvPr/>
        </p:nvPicPr>
        <p:blipFill>
          <a:blip r:embed="rId16"/>
          <a:stretch>
            <a:fillRect/>
          </a:stretch>
        </p:blipFill>
        <p:spPr>
          <a:xfrm>
            <a:off x="9343906" y="2658170"/>
            <a:ext cx="743810" cy="719346"/>
          </a:xfrm>
          <a:prstGeom prst="rect">
            <a:avLst/>
          </a:prstGeom>
        </p:spPr>
      </p:pic>
      <p:pic>
        <p:nvPicPr>
          <p:cNvPr id="53" name="feature-distribute source-faithful separated asset"/>
          <p:cNvPicPr/>
          <p:nvPr/>
        </p:nvPicPr>
        <p:blipFill>
          <a:blip r:embed="rId17"/>
          <a:stretch>
            <a:fillRect/>
          </a:stretch>
        </p:blipFill>
        <p:spPr>
          <a:xfrm>
            <a:off x="9345944" y="3482254"/>
            <a:ext cx="739743" cy="715815"/>
          </a:xfrm>
          <a:prstGeom prst="rect">
            <a:avLst/>
          </a:prstGeom>
        </p:spPr>
      </p:pic>
      <p:pic>
        <p:nvPicPr>
          <p:cNvPr id="54" name="feature-gear source-faithful separated asset"/>
          <p:cNvPicPr/>
          <p:nvPr/>
        </p:nvPicPr>
        <p:blipFill>
          <a:blip r:embed="rId18"/>
          <a:stretch>
            <a:fillRect/>
          </a:stretch>
        </p:blipFill>
        <p:spPr>
          <a:xfrm>
            <a:off x="9345140" y="4304130"/>
            <a:ext cx="741343" cy="716682"/>
          </a:xfrm>
          <a:prstGeom prst="rect">
            <a:avLst/>
          </a:prstGeom>
        </p:spPr>
      </p:pic>
      <p:pic>
        <p:nvPicPr>
          <p:cNvPr id="55" name="rule-check source-faithful separated asset"/>
          <p:cNvPicPr/>
          <p:nvPr/>
        </p:nvPicPr>
        <p:blipFill>
          <a:blip r:embed="rId19"/>
          <a:stretch>
            <a:fillRect/>
          </a:stretch>
        </p:blipFill>
        <p:spPr>
          <a:xfrm>
            <a:off x="700298" y="4813070"/>
            <a:ext cx="530044" cy="530044"/>
          </a:xfrm>
          <a:prstGeom prst="rect">
            <a:avLst/>
          </a:prstGeom>
        </p:spPr>
      </p:pic>
      <p:pic>
        <p:nvPicPr>
          <p:cNvPr id="56" name="path-flag source-faithful separated asset"/>
          <p:cNvPicPr/>
          <p:nvPr/>
        </p:nvPicPr>
        <p:blipFill>
          <a:blip r:embed="rId20"/>
          <a:stretch>
            <a:fillRect/>
          </a:stretch>
        </p:blipFill>
        <p:spPr>
          <a:xfrm>
            <a:off x="711257" y="5674551"/>
            <a:ext cx="633280" cy="603659"/>
          </a:xfrm>
          <a:prstGeom prst="rect">
            <a:avLst/>
          </a:prstGeom>
        </p:spPr>
      </p:pic>
      <p:pic>
        <p:nvPicPr>
          <p:cNvPr id="57" name="path-wave source-faithful separated asset"/>
          <p:cNvPicPr/>
          <p:nvPr/>
        </p:nvPicPr>
        <p:blipFill>
          <a:blip r:embed="rId21"/>
          <a:stretch>
            <a:fillRect/>
          </a:stretch>
        </p:blipFill>
        <p:spPr>
          <a:xfrm>
            <a:off x="3787130" y="5642418"/>
            <a:ext cx="729321" cy="659004"/>
          </a:xfrm>
          <a:prstGeom prst="rect">
            <a:avLst/>
          </a:prstGeom>
        </p:spPr>
      </p:pic>
      <p:pic>
        <p:nvPicPr>
          <p:cNvPr id="58" name="path-lock source-faithful separated asset"/>
          <p:cNvPicPr/>
          <p:nvPr/>
        </p:nvPicPr>
        <p:blipFill>
          <a:blip r:embed="rId22"/>
          <a:stretch>
            <a:fillRect/>
          </a:stretch>
        </p:blipFill>
        <p:spPr>
          <a:xfrm>
            <a:off x="6561000" y="5642812"/>
            <a:ext cx="714314" cy="658209"/>
          </a:xfrm>
          <a:prstGeom prst="rect">
            <a:avLst/>
          </a:prstGeom>
        </p:spPr>
      </p:pic>
      <p:pic>
        <p:nvPicPr>
          <p:cNvPr id="59" name="path-recovery source-faithful separated asset"/>
          <p:cNvPicPr/>
          <p:nvPr/>
        </p:nvPicPr>
        <p:blipFill>
          <a:blip r:embed="rId23"/>
          <a:stretch>
            <a:fillRect/>
          </a:stretch>
        </p:blipFill>
        <p:spPr>
          <a:xfrm>
            <a:off x="9176861" y="5642016"/>
            <a:ext cx="729321" cy="659800"/>
          </a:xfrm>
          <a:prstGeom prst="rect">
            <a:avLst/>
          </a:prstGeom>
        </p:spPr>
      </p:pic>
      <p:pic>
        <p:nvPicPr>
          <p:cNvPr id="60" name="badge-blue source-faithful separated asset"/>
          <p:cNvPicPr/>
          <p:nvPr/>
        </p:nvPicPr>
        <p:blipFill>
          <a:blip r:embed="rId5"/>
          <a:stretch>
            <a:fillRect/>
          </a:stretch>
        </p:blipFill>
        <p:spPr>
          <a:xfrm>
            <a:off x="1007665" y="1849058"/>
            <a:ext cx="540993" cy="540993"/>
          </a:xfrm>
          <a:prstGeom prst="rect">
            <a:avLst/>
          </a:prstGeom>
        </p:spPr>
      </p:pic>
      <p:pic>
        <p:nvPicPr>
          <p:cNvPr id="61" name="badge-teal source-faithful separated asset"/>
          <p:cNvPicPr/>
          <p:nvPr/>
        </p:nvPicPr>
        <p:blipFill>
          <a:blip r:embed="rId6"/>
          <a:stretch>
            <a:fillRect/>
          </a:stretch>
        </p:blipFill>
        <p:spPr>
          <a:xfrm>
            <a:off x="2671420" y="1849898"/>
            <a:ext cx="538481" cy="539313"/>
          </a:xfrm>
          <a:prstGeom prst="rect">
            <a:avLst/>
          </a:prstGeom>
        </p:spPr>
      </p:pic>
      <p:pic>
        <p:nvPicPr>
          <p:cNvPr id="62" name="badge-orange source-faithful separated asset"/>
          <p:cNvPicPr/>
          <p:nvPr/>
        </p:nvPicPr>
        <p:blipFill>
          <a:blip r:embed="rId7"/>
          <a:stretch>
            <a:fillRect/>
          </a:stretch>
        </p:blipFill>
        <p:spPr>
          <a:xfrm>
            <a:off x="4332673" y="1848191"/>
            <a:ext cx="540993" cy="542727"/>
          </a:xfrm>
          <a:prstGeom prst="rect">
            <a:avLst/>
          </a:prstGeom>
        </p:spPr>
      </p:pic>
      <p:pic>
        <p:nvPicPr>
          <p:cNvPr id="63" name="badge-violet source-faithful separated asset"/>
          <p:cNvPicPr/>
          <p:nvPr/>
        </p:nvPicPr>
        <p:blipFill>
          <a:blip r:embed="rId8"/>
          <a:stretch>
            <a:fillRect/>
          </a:stretch>
        </p:blipFill>
        <p:spPr>
          <a:xfrm>
            <a:off x="5994310" y="1847753"/>
            <a:ext cx="542727" cy="543612"/>
          </a:xfrm>
          <a:prstGeom prst="rect">
            <a:avLst/>
          </a:prstGeom>
        </p:spPr>
      </p:pic>
      <p:sp>
        <p:nvSpPr>
          <p:cNvPr id="64" name="TextBox 64"/>
          <p:cNvSpPr txBox="1"/>
          <p:nvPr/>
        </p:nvSpPr>
        <p:spPr>
          <a:xfrm>
            <a:off x="1001078" y="197843"/>
            <a:ext cx="5041141" cy="46478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6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首版功能范围：先跑通最小闭环</a:t>
            </a:r>
            <a:endParaRPr lang="zh-CN" sz="2760"/>
          </a:p>
        </p:txBody>
      </p:sp>
      <p:sp>
        <p:nvSpPr>
          <p:cNvPr id="65" name="TextBox 65"/>
          <p:cNvSpPr txBox="1"/>
          <p:nvPr/>
        </p:nvSpPr>
        <p:spPr>
          <a:xfrm>
            <a:off x="6605325" y="457051"/>
            <a:ext cx="3503772" cy="21451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 i="1">
                <a:solidFill>
                  <a:srgbClr val="609CFF"/>
                </a:solidFill>
                <a:latin typeface="Liberation Sans"/>
                <a:ea typeface="Liberation Sans"/>
                <a:cs typeface="Liberation Sans"/>
              </a:rPr>
              <a:t>LOW-COST DISCIPLINED OSCILLATOR</a:t>
            </a:r>
            <a:endParaRPr lang="zh-CN" sz="1019"/>
          </a:p>
        </p:txBody>
      </p:sp>
      <p:sp>
        <p:nvSpPr>
          <p:cNvPr id="66" name="TextBox 66"/>
          <p:cNvSpPr txBox="1"/>
          <p:nvPr/>
        </p:nvSpPr>
        <p:spPr>
          <a:xfrm>
            <a:off x="1063645" y="1225735"/>
            <a:ext cx="1599937" cy="3932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>
                <a:solidFill>
                  <a:srgbClr val="006BF5"/>
                </a:solidFill>
                <a:latin typeface="Noto Sans CJK SC"/>
                <a:ea typeface="Noto Sans CJK SC"/>
                <a:cs typeface="Noto Sans CJK SC"/>
              </a:rPr>
              <a:t>首版最低范围</a:t>
            </a:r>
            <a:endParaRPr lang="zh-CN" sz="2000"/>
          </a:p>
        </p:txBody>
      </p:sp>
      <p:sp>
        <p:nvSpPr>
          <p:cNvPr id="67" name="TextBox 67"/>
          <p:cNvSpPr txBox="1"/>
          <p:nvPr/>
        </p:nvSpPr>
        <p:spPr>
          <a:xfrm>
            <a:off x="9885641" y="1279365"/>
            <a:ext cx="1984279" cy="3128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006BF5"/>
                </a:solidFill>
                <a:latin typeface="Noto Sans CJK SC"/>
                <a:ea typeface="Noto Sans CJK SC"/>
                <a:cs typeface="Noto Sans CJK SC"/>
              </a:rPr>
              <a:t>后续扩展 / 暂不纳入</a:t>
            </a:r>
            <a:endParaRPr lang="zh-CN" sz="1600"/>
          </a:p>
        </p:txBody>
      </p:sp>
      <p:sp>
        <p:nvSpPr>
          <p:cNvPr id="68" name="TextBox 68"/>
          <p:cNvSpPr txBox="1"/>
          <p:nvPr/>
        </p:nvSpPr>
        <p:spPr>
          <a:xfrm>
            <a:off x="7624279" y="2915054"/>
            <a:ext cx="1072583" cy="3485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9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10 MHz</a:t>
            </a:r>
            <a:endParaRPr lang="zh-CN" sz="2190"/>
          </a:p>
        </p:txBody>
      </p:sp>
      <p:sp>
        <p:nvSpPr>
          <p:cNvPr id="69" name="TextBox 69"/>
          <p:cNvSpPr txBox="1"/>
          <p:nvPr/>
        </p:nvSpPr>
        <p:spPr>
          <a:xfrm>
            <a:off x="7606402" y="3254705"/>
            <a:ext cx="1090460" cy="3307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首发输出</a:t>
            </a:r>
            <a:endParaRPr lang="zh-CN" sz="1800"/>
          </a:p>
        </p:txBody>
      </p:sp>
      <p:sp>
        <p:nvSpPr>
          <p:cNvPr id="70" name="TextBox 70"/>
          <p:cNvSpPr txBox="1"/>
          <p:nvPr/>
        </p:nvSpPr>
        <p:spPr>
          <a:xfrm>
            <a:off x="625674" y="2405577"/>
            <a:ext cx="1304976" cy="2770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60" b="1">
                <a:solidFill>
                  <a:srgbClr val="0072F6"/>
                </a:solidFill>
                <a:latin typeface="Noto Sans CJK SC"/>
                <a:ea typeface="Noto Sans CJK SC"/>
                <a:cs typeface="Noto Sans CJK SC"/>
              </a:rPr>
              <a:t>外部1PPS</a:t>
            </a:r>
            <a:endParaRPr lang="zh-CN" sz="1560"/>
          </a:p>
        </p:txBody>
      </p:sp>
      <p:sp>
        <p:nvSpPr>
          <p:cNvPr id="71" name="TextBox 71"/>
          <p:cNvSpPr txBox="1"/>
          <p:nvPr/>
        </p:nvSpPr>
        <p:spPr>
          <a:xfrm>
            <a:off x="625674" y="2646908"/>
            <a:ext cx="1304976" cy="2770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60" b="1">
                <a:solidFill>
                  <a:srgbClr val="0072F6"/>
                </a:solidFill>
                <a:latin typeface="Noto Sans CJK SC"/>
                <a:ea typeface="Noto Sans CJK SC"/>
                <a:cs typeface="Noto Sans CJK SC"/>
              </a:rPr>
              <a:t>参考输入</a:t>
            </a:r>
            <a:endParaRPr lang="zh-CN" sz="1560"/>
          </a:p>
        </p:txBody>
      </p:sp>
      <p:sp>
        <p:nvSpPr>
          <p:cNvPr id="72" name="TextBox 72"/>
          <p:cNvSpPr txBox="1"/>
          <p:nvPr/>
        </p:nvSpPr>
        <p:spPr>
          <a:xfrm>
            <a:off x="2297116" y="2405577"/>
            <a:ext cx="1304976" cy="2770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60" b="1">
                <a:solidFill>
                  <a:srgbClr val="00819A"/>
                </a:solidFill>
                <a:latin typeface="Noto Sans CJK SC"/>
                <a:ea typeface="Noto Sans CJK SC"/>
                <a:cs typeface="Noto Sans CJK SC"/>
              </a:rPr>
              <a:t>STM32H743</a:t>
            </a:r>
            <a:endParaRPr lang="zh-CN" sz="1560"/>
          </a:p>
        </p:txBody>
      </p:sp>
      <p:sp>
        <p:nvSpPr>
          <p:cNvPr id="73" name="TextBox 73"/>
          <p:cNvSpPr txBox="1"/>
          <p:nvPr/>
        </p:nvSpPr>
        <p:spPr>
          <a:xfrm>
            <a:off x="2297116" y="2646908"/>
            <a:ext cx="1304976" cy="2770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60" b="1">
                <a:solidFill>
                  <a:srgbClr val="00819A"/>
                </a:solidFill>
                <a:latin typeface="Noto Sans CJK SC"/>
                <a:ea typeface="Noto Sans CJK SC"/>
                <a:cs typeface="Noto Sans CJK SC"/>
              </a:rPr>
              <a:t>主控</a:t>
            </a:r>
            <a:endParaRPr lang="zh-CN" sz="1560"/>
          </a:p>
        </p:txBody>
      </p:sp>
      <p:sp>
        <p:nvSpPr>
          <p:cNvPr id="74" name="TextBox 74"/>
          <p:cNvSpPr txBox="1"/>
          <p:nvPr/>
        </p:nvSpPr>
        <p:spPr>
          <a:xfrm>
            <a:off x="3959619" y="2432391"/>
            <a:ext cx="1304976" cy="321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60" b="1">
                <a:solidFill>
                  <a:srgbClr val="DE8100"/>
                </a:solidFill>
                <a:latin typeface="Noto Sans CJK SC"/>
                <a:ea typeface="Noto Sans CJK SC"/>
                <a:cs typeface="Noto Sans CJK SC"/>
              </a:rPr>
              <a:t>DAC + 滤波</a:t>
            </a:r>
            <a:endParaRPr lang="zh-CN" sz="1560"/>
          </a:p>
        </p:txBody>
      </p:sp>
      <p:sp>
        <p:nvSpPr>
          <p:cNvPr id="75" name="TextBox 75"/>
          <p:cNvSpPr txBox="1"/>
          <p:nvPr/>
        </p:nvSpPr>
        <p:spPr>
          <a:xfrm>
            <a:off x="5613185" y="2432391"/>
            <a:ext cx="1304976" cy="321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60" b="1">
                <a:solidFill>
                  <a:srgbClr val="7031F8"/>
                </a:solidFill>
                <a:latin typeface="Noto Sans CJK SC"/>
                <a:ea typeface="Noto Sans CJK SC"/>
                <a:cs typeface="Noto Sans CJK SC"/>
              </a:rPr>
              <a:t>可调晶振</a:t>
            </a:r>
            <a:endParaRPr lang="zh-CN" sz="1560"/>
          </a:p>
        </p:txBody>
      </p:sp>
      <p:sp>
        <p:nvSpPr>
          <p:cNvPr id="76" name="TextBox 76"/>
          <p:cNvSpPr txBox="1"/>
          <p:nvPr/>
        </p:nvSpPr>
        <p:spPr>
          <a:xfrm>
            <a:off x="616735" y="3683738"/>
            <a:ext cx="1322853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70">
                <a:solidFill>
                  <a:srgbClr val="0C315F"/>
                </a:solidFill>
                <a:latin typeface="Noto Sans CJK SC"/>
                <a:ea typeface="Noto Sans CJK SC"/>
                <a:cs typeface="Noto Sans CJK SC"/>
              </a:rPr>
              <a:t>1PPS 输入</a:t>
            </a:r>
            <a:endParaRPr lang="zh-CN" sz="1270"/>
          </a:p>
        </p:txBody>
      </p:sp>
      <p:sp>
        <p:nvSpPr>
          <p:cNvPr id="77" name="TextBox 77"/>
          <p:cNvSpPr txBox="1"/>
          <p:nvPr/>
        </p:nvSpPr>
        <p:spPr>
          <a:xfrm>
            <a:off x="616735" y="3889317"/>
            <a:ext cx="1322853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70">
                <a:solidFill>
                  <a:srgbClr val="0C315F"/>
                </a:solidFill>
                <a:latin typeface="Noto Sans CJK SC"/>
                <a:ea typeface="Noto Sans CJK SC"/>
                <a:cs typeface="Noto Sans CJK SC"/>
              </a:rPr>
              <a:t>（参考信号）</a:t>
            </a:r>
            <a:endParaRPr lang="zh-CN" sz="1270"/>
          </a:p>
        </p:txBody>
      </p:sp>
      <p:sp>
        <p:nvSpPr>
          <p:cNvPr id="78" name="TextBox 78"/>
          <p:cNvSpPr txBox="1"/>
          <p:nvPr/>
        </p:nvSpPr>
        <p:spPr>
          <a:xfrm>
            <a:off x="2288177" y="3683738"/>
            <a:ext cx="1322853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70">
                <a:solidFill>
                  <a:srgbClr val="0C315F"/>
                </a:solidFill>
                <a:latin typeface="Noto Sans CJK SC"/>
                <a:ea typeface="Noto Sans CJK SC"/>
                <a:cs typeface="Noto Sans CJK SC"/>
              </a:rPr>
              <a:t>暂不增加 FPGA</a:t>
            </a:r>
            <a:endParaRPr lang="zh-CN" sz="1270"/>
          </a:p>
        </p:txBody>
      </p:sp>
      <p:sp>
        <p:nvSpPr>
          <p:cNvPr id="79" name="TextBox 79"/>
          <p:cNvSpPr txBox="1"/>
          <p:nvPr/>
        </p:nvSpPr>
        <p:spPr>
          <a:xfrm>
            <a:off x="2288177" y="3889317"/>
            <a:ext cx="1322853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70">
                <a:solidFill>
                  <a:srgbClr val="0C315F"/>
                </a:solidFill>
                <a:latin typeface="Noto Sans CJK SC"/>
                <a:ea typeface="Noto Sans CJK SC"/>
                <a:cs typeface="Noto Sans CJK SC"/>
              </a:rPr>
              <a:t>软件控制</a:t>
            </a:r>
            <a:endParaRPr lang="zh-CN" sz="1270"/>
          </a:p>
        </p:txBody>
      </p:sp>
      <p:sp>
        <p:nvSpPr>
          <p:cNvPr id="80" name="TextBox 80"/>
          <p:cNvSpPr txBox="1"/>
          <p:nvPr/>
        </p:nvSpPr>
        <p:spPr>
          <a:xfrm>
            <a:off x="3950681" y="3683738"/>
            <a:ext cx="1322853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70">
                <a:solidFill>
                  <a:srgbClr val="0C315F"/>
                </a:solidFill>
                <a:latin typeface="Noto Sans CJK SC"/>
                <a:ea typeface="Noto Sans CJK SC"/>
                <a:cs typeface="Noto Sans CJK SC"/>
              </a:rPr>
              <a:t>低噪声调谐</a:t>
            </a:r>
            <a:endParaRPr lang="zh-CN" sz="1270"/>
          </a:p>
        </p:txBody>
      </p:sp>
      <p:sp>
        <p:nvSpPr>
          <p:cNvPr id="81" name="TextBox 81"/>
          <p:cNvSpPr txBox="1"/>
          <p:nvPr/>
        </p:nvSpPr>
        <p:spPr>
          <a:xfrm>
            <a:off x="3950681" y="3889317"/>
            <a:ext cx="1322853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70">
                <a:solidFill>
                  <a:srgbClr val="0C315F"/>
                </a:solidFill>
                <a:latin typeface="Noto Sans CJK SC"/>
                <a:ea typeface="Noto Sans CJK SC"/>
                <a:cs typeface="Noto Sans CJK SC"/>
              </a:rPr>
              <a:t>输出频率控制</a:t>
            </a:r>
            <a:endParaRPr lang="zh-CN" sz="1270"/>
          </a:p>
        </p:txBody>
      </p:sp>
      <p:sp>
        <p:nvSpPr>
          <p:cNvPr id="82" name="TextBox 82"/>
          <p:cNvSpPr txBox="1"/>
          <p:nvPr/>
        </p:nvSpPr>
        <p:spPr>
          <a:xfrm>
            <a:off x="5604247" y="3683738"/>
            <a:ext cx="1322853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70">
                <a:solidFill>
                  <a:srgbClr val="0C315F"/>
                </a:solidFill>
                <a:latin typeface="Noto Sans CJK SC"/>
                <a:ea typeface="Noto Sans CJK SC"/>
                <a:cs typeface="Noto Sans CJK SC"/>
              </a:rPr>
              <a:t>频率可调</a:t>
            </a:r>
            <a:endParaRPr lang="zh-CN" sz="1270"/>
          </a:p>
        </p:txBody>
      </p:sp>
      <p:sp>
        <p:nvSpPr>
          <p:cNvPr id="83" name="TextBox 83"/>
          <p:cNvSpPr txBox="1"/>
          <p:nvPr/>
        </p:nvSpPr>
        <p:spPr>
          <a:xfrm>
            <a:off x="5604247" y="3889317"/>
            <a:ext cx="1322853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70">
                <a:solidFill>
                  <a:srgbClr val="0C315F"/>
                </a:solidFill>
                <a:latin typeface="Noto Sans CJK SC"/>
                <a:ea typeface="Noto Sans CJK SC"/>
                <a:cs typeface="Noto Sans CJK SC"/>
              </a:rPr>
              <a:t>限定1–2 个料号</a:t>
            </a:r>
            <a:endParaRPr lang="zh-CN" sz="1270"/>
          </a:p>
        </p:txBody>
      </p:sp>
      <p:sp>
        <p:nvSpPr>
          <p:cNvPr id="84" name="TextBox 84"/>
          <p:cNvSpPr txBox="1"/>
          <p:nvPr/>
        </p:nvSpPr>
        <p:spPr>
          <a:xfrm>
            <a:off x="10153787" y="1949729"/>
            <a:ext cx="1635689" cy="2681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0" b="1">
                <a:solidFill>
                  <a:srgbClr val="08294F"/>
                </a:solidFill>
                <a:latin typeface="Noto Sans CJK SC"/>
                <a:ea typeface="Noto Sans CJK SC"/>
                <a:cs typeface="Noto Sans CJK SC"/>
              </a:rPr>
              <a:t>10 MHz 外参</a:t>
            </a:r>
            <a:endParaRPr lang="zh-CN" sz="1370"/>
          </a:p>
        </p:txBody>
      </p:sp>
      <p:sp>
        <p:nvSpPr>
          <p:cNvPr id="85" name="TextBox 85"/>
          <p:cNvSpPr txBox="1"/>
          <p:nvPr/>
        </p:nvSpPr>
        <p:spPr>
          <a:xfrm>
            <a:off x="10153787" y="2199998"/>
            <a:ext cx="1671442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80">
                <a:solidFill>
                  <a:srgbClr val="476584"/>
                </a:solidFill>
                <a:latin typeface="Noto Sans CJK SC"/>
                <a:ea typeface="Noto Sans CJK SC"/>
                <a:cs typeface="Noto Sans CJK SC"/>
              </a:rPr>
              <a:t>接口与测量验证后纳入</a:t>
            </a:r>
            <a:endParaRPr lang="zh-CN" sz="1180"/>
          </a:p>
        </p:txBody>
      </p:sp>
      <p:sp>
        <p:nvSpPr>
          <p:cNvPr id="86" name="TextBox 86"/>
          <p:cNvSpPr txBox="1"/>
          <p:nvPr/>
        </p:nvSpPr>
        <p:spPr>
          <a:xfrm>
            <a:off x="10153787" y="2772043"/>
            <a:ext cx="1635689" cy="2681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0" b="1">
                <a:solidFill>
                  <a:srgbClr val="08294F"/>
                </a:solidFill>
                <a:latin typeface="Noto Sans CJK SC"/>
                <a:ea typeface="Noto Sans CJK SC"/>
                <a:cs typeface="Noto Sans CJK SC"/>
              </a:rPr>
              <a:t>内置 GNSS</a:t>
            </a:r>
            <a:endParaRPr lang="zh-CN" sz="1370"/>
          </a:p>
        </p:txBody>
      </p:sp>
      <p:sp>
        <p:nvSpPr>
          <p:cNvPr id="87" name="TextBox 87"/>
          <p:cNvSpPr txBox="1"/>
          <p:nvPr/>
        </p:nvSpPr>
        <p:spPr>
          <a:xfrm>
            <a:off x="10153787" y="3022312"/>
            <a:ext cx="1671442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10">
                <a:solidFill>
                  <a:srgbClr val="476584"/>
                </a:solidFill>
                <a:latin typeface="Noto Sans CJK SC"/>
                <a:ea typeface="Noto Sans CJK SC"/>
                <a:cs typeface="Noto Sans CJK SC"/>
              </a:rPr>
              <a:t>不在首发最低范围</a:t>
            </a:r>
            <a:endParaRPr lang="zh-CN" sz="1210"/>
          </a:p>
        </p:txBody>
      </p:sp>
      <p:sp>
        <p:nvSpPr>
          <p:cNvPr id="88" name="TextBox 88"/>
          <p:cNvSpPr txBox="1"/>
          <p:nvPr/>
        </p:nvSpPr>
        <p:spPr>
          <a:xfrm>
            <a:off x="10153787" y="3594357"/>
            <a:ext cx="1635689" cy="2681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0" b="1">
                <a:solidFill>
                  <a:srgbClr val="08294F"/>
                </a:solidFill>
                <a:latin typeface="Noto Sans CJK SC"/>
                <a:ea typeface="Noto Sans CJK SC"/>
                <a:cs typeface="Noto Sans CJK SC"/>
              </a:rPr>
              <a:t>多路分配</a:t>
            </a:r>
            <a:endParaRPr lang="zh-CN" sz="1370"/>
          </a:p>
        </p:txBody>
      </p:sp>
      <p:sp>
        <p:nvSpPr>
          <p:cNvPr id="89" name="TextBox 89"/>
          <p:cNvSpPr txBox="1"/>
          <p:nvPr/>
        </p:nvSpPr>
        <p:spPr>
          <a:xfrm>
            <a:off x="10153787" y="3844626"/>
            <a:ext cx="1671442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10">
                <a:solidFill>
                  <a:srgbClr val="476584"/>
                </a:solidFill>
                <a:latin typeface="Noto Sans CJK SC"/>
                <a:ea typeface="Noto Sans CJK SC"/>
                <a:cs typeface="Noto Sans CJK SC"/>
              </a:rPr>
              <a:t>后续扩展</a:t>
            </a:r>
            <a:endParaRPr lang="zh-CN" sz="1210"/>
          </a:p>
        </p:txBody>
      </p:sp>
      <p:sp>
        <p:nvSpPr>
          <p:cNvPr id="90" name="TextBox 90"/>
          <p:cNvSpPr txBox="1"/>
          <p:nvPr/>
        </p:nvSpPr>
        <p:spPr>
          <a:xfrm>
            <a:off x="10153787" y="4416670"/>
            <a:ext cx="1635689" cy="2681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0" b="1">
                <a:solidFill>
                  <a:srgbClr val="08294F"/>
                </a:solidFill>
                <a:latin typeface="Noto Sans CJK SC"/>
                <a:ea typeface="Noto Sans CJK SC"/>
                <a:cs typeface="Noto Sans CJK SC"/>
              </a:rPr>
              <a:t>全天微秒级保证</a:t>
            </a:r>
            <a:endParaRPr lang="zh-CN" sz="1370"/>
          </a:p>
        </p:txBody>
      </p:sp>
      <p:sp>
        <p:nvSpPr>
          <p:cNvPr id="91" name="TextBox 91"/>
          <p:cNvSpPr txBox="1"/>
          <p:nvPr/>
        </p:nvSpPr>
        <p:spPr>
          <a:xfrm>
            <a:off x="10153787" y="4666940"/>
            <a:ext cx="1671442" cy="2413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10">
                <a:solidFill>
                  <a:srgbClr val="476584"/>
                </a:solidFill>
                <a:latin typeface="Noto Sans CJK SC"/>
                <a:ea typeface="Noto Sans CJK SC"/>
                <a:cs typeface="Noto Sans CJK SC"/>
              </a:rPr>
              <a:t>不作首版承诺</a:t>
            </a:r>
            <a:endParaRPr lang="zh-CN" sz="1210"/>
          </a:p>
        </p:txBody>
      </p:sp>
      <p:sp>
        <p:nvSpPr>
          <p:cNvPr id="92" name="TextBox 92"/>
          <p:cNvSpPr txBox="1"/>
          <p:nvPr/>
        </p:nvSpPr>
        <p:spPr>
          <a:xfrm>
            <a:off x="1421173" y="4881456"/>
            <a:ext cx="7409762" cy="3932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>
                <a:solidFill>
                  <a:srgbClr val="006BE8"/>
                </a:solidFill>
                <a:latin typeface="Noto Sans CJK SC"/>
                <a:ea typeface="Noto Sans CJK SC"/>
                <a:cs typeface="Noto Sans CJK SC"/>
              </a:rPr>
              <a:t>换件后重新标定；未验证型号不继承标准规格</a:t>
            </a:r>
            <a:endParaRPr lang="zh-CN" sz="2000"/>
          </a:p>
        </p:txBody>
      </p:sp>
      <p:sp>
        <p:nvSpPr>
          <p:cNvPr id="93" name="TextBox 93"/>
          <p:cNvSpPr txBox="1"/>
          <p:nvPr/>
        </p:nvSpPr>
        <p:spPr>
          <a:xfrm>
            <a:off x="1430111" y="5784214"/>
            <a:ext cx="1957464" cy="3754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30" b="1">
                <a:solidFill>
                  <a:srgbClr val="006AEF"/>
                </a:solidFill>
                <a:latin typeface="Noto Sans CJK SC"/>
                <a:ea typeface="Noto Sans CJK SC"/>
                <a:cs typeface="Noto Sans CJK SC"/>
              </a:rPr>
              <a:t>首版优先验证路径</a:t>
            </a:r>
            <a:endParaRPr lang="zh-CN" sz="1730"/>
          </a:p>
        </p:txBody>
      </p:sp>
      <p:sp>
        <p:nvSpPr>
          <p:cNvPr id="94" name="TextBox 94"/>
          <p:cNvSpPr txBox="1"/>
          <p:nvPr/>
        </p:nvSpPr>
        <p:spPr>
          <a:xfrm>
            <a:off x="4558478" y="5837843"/>
            <a:ext cx="1304976" cy="2770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0B315F"/>
                </a:solidFill>
                <a:latin typeface="Noto Sans CJK SC"/>
                <a:ea typeface="Noto Sans CJK SC"/>
                <a:cs typeface="Noto Sans CJK SC"/>
              </a:rPr>
              <a:t>1PPS 训练驯服</a:t>
            </a:r>
            <a:endParaRPr lang="zh-CN" sz="1400"/>
          </a:p>
        </p:txBody>
      </p:sp>
      <p:sp>
        <p:nvSpPr>
          <p:cNvPr id="95" name="TextBox 95"/>
          <p:cNvSpPr txBox="1"/>
          <p:nvPr/>
        </p:nvSpPr>
        <p:spPr>
          <a:xfrm>
            <a:off x="7320380" y="5837843"/>
            <a:ext cx="911696" cy="2770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0B315F"/>
                </a:solidFill>
                <a:latin typeface="Noto Sans CJK SC"/>
                <a:ea typeface="Noto Sans CJK SC"/>
                <a:cs typeface="Noto Sans CJK SC"/>
              </a:rPr>
              <a:t>失锁保持</a:t>
            </a:r>
            <a:endParaRPr lang="zh-CN" sz="1400"/>
          </a:p>
        </p:txBody>
      </p:sp>
      <p:sp>
        <p:nvSpPr>
          <p:cNvPr id="96" name="TextBox 96"/>
          <p:cNvSpPr txBox="1"/>
          <p:nvPr/>
        </p:nvSpPr>
        <p:spPr>
          <a:xfrm>
            <a:off x="9975023" y="5837843"/>
            <a:ext cx="911696" cy="2770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0B315F"/>
                </a:solidFill>
                <a:latin typeface="Noto Sans CJK SC"/>
                <a:ea typeface="Noto Sans CJK SC"/>
                <a:cs typeface="Noto Sans CJK SC"/>
              </a:rPr>
              <a:t>参考恢复</a:t>
            </a:r>
            <a:endParaRPr lang="zh-CN" sz="1400"/>
          </a:p>
        </p:txBody>
      </p:sp>
      <p:sp>
        <p:nvSpPr>
          <p:cNvPr id="97" name="TextBox 97"/>
          <p:cNvSpPr txBox="1"/>
          <p:nvPr/>
        </p:nvSpPr>
        <p:spPr>
          <a:xfrm>
            <a:off x="2770840" y="1252550"/>
            <a:ext cx="1340729" cy="3485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39" b="1">
                <a:solidFill>
                  <a:srgbClr val="006BF5"/>
                </a:solidFill>
                <a:latin typeface="Liberation Sans"/>
                <a:ea typeface="Liberation Sans"/>
                <a:cs typeface="Liberation Sans"/>
              </a:rPr>
              <a:t>(V1 SCOPE)</a:t>
            </a:r>
            <a:endParaRPr lang="zh-CN" sz="1739"/>
          </a:p>
        </p:txBody>
      </p:sp>
      <p:sp>
        <p:nvSpPr>
          <p:cNvPr id="98" name="TextBox 98"/>
          <p:cNvSpPr txBox="1"/>
          <p:nvPr/>
        </p:nvSpPr>
        <p:spPr>
          <a:xfrm>
            <a:off x="1007664" y="1849057"/>
            <a:ext cx="540996" cy="5409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01</a:t>
            </a:r>
            <a:endParaRPr lang="zh-CN" sz="1700"/>
          </a:p>
        </p:txBody>
      </p:sp>
      <p:sp>
        <p:nvSpPr>
          <p:cNvPr id="99" name="TextBox 99"/>
          <p:cNvSpPr txBox="1"/>
          <p:nvPr/>
        </p:nvSpPr>
        <p:spPr>
          <a:xfrm>
            <a:off x="2671424" y="1849900"/>
            <a:ext cx="538483" cy="5393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02</a:t>
            </a:r>
            <a:endParaRPr lang="zh-CN" sz="1700"/>
          </a:p>
        </p:txBody>
      </p:sp>
      <p:sp>
        <p:nvSpPr>
          <p:cNvPr id="100" name="TextBox 100"/>
          <p:cNvSpPr txBox="1"/>
          <p:nvPr/>
        </p:nvSpPr>
        <p:spPr>
          <a:xfrm>
            <a:off x="4332671" y="1848191"/>
            <a:ext cx="540996" cy="5427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03</a:t>
            </a:r>
            <a:endParaRPr lang="zh-CN" sz="1700"/>
          </a:p>
        </p:txBody>
      </p:sp>
      <p:sp>
        <p:nvSpPr>
          <p:cNvPr id="101" name="TextBox 101"/>
          <p:cNvSpPr txBox="1"/>
          <p:nvPr/>
        </p:nvSpPr>
        <p:spPr>
          <a:xfrm>
            <a:off x="5994310" y="1847750"/>
            <a:ext cx="542727" cy="5436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04</a:t>
            </a:r>
            <a:endParaRPr lang="zh-CN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se-source-preserve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Rect 3"/>
          <p:cNvSpPr/>
          <p:nvPr/>
        </p:nvSpPr>
        <p:spPr>
          <a:xfrm>
            <a:off x="265454" y="211352"/>
            <a:ext cx="4897530" cy="51015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095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7E1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3087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5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54330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2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105574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156818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D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208061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BF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259305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8F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310549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6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361793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3F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13036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0E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464280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EE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515524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BE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566767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9E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618011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6E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669255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3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720498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1E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771742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EE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822986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CE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874229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9E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925473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7D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976717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4D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027961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1D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079204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FD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130448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CD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181692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AD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1232935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7D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1284179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5D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1335423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2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1386666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FD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1437910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DC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1489154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AC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1540397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8C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1591641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5C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1642885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2C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1694128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0C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1745372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DC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1796616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BC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1847860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8C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1899103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6C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1950347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3B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2001591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0B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2052834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EB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2104078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BB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2155322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9B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2206565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6B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2257809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4B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2309053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1B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2360296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EB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2411540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CB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2462784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9B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2514028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7A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2565271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4A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2616515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1A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2667759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FA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2719002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CA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2770246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AA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2821490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7A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2872733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5A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2923977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2A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2975221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FA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3026464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D9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3077708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A9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3128952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89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3180196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59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3231439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39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3282683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09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3333927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D9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3385170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B9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3436414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89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3487658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69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3538901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8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3590145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08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3641389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E8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3692632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B8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3743876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98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3795120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68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3846363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48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3897607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18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3948851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E8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4000095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C8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4051338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97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4102582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77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4153826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47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4205069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27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4256313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F7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4307557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C7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4358800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4410044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77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4461288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57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4512531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27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4563775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F6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4615019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D6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4666263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6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4717506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0668"/>
                </a:lnTo>
                <a:lnTo>
                  <a:pt x="0" y="21600"/>
                </a:lnTo>
                <a:close/>
              </a:path>
            </a:pathLst>
          </a:custGeom>
          <a:solidFill>
            <a:srgbClr val="08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4768750" y="131184"/>
            <a:ext cx="58532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3436"/>
                </a:lnTo>
                <a:lnTo>
                  <a:pt x="0" y="21600"/>
                </a:lnTo>
                <a:close/>
              </a:path>
            </a:pathLst>
          </a:custGeom>
          <a:solidFill>
            <a:srgbClr val="056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4819994" y="131184"/>
            <a:ext cx="58532" cy="40018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9264"/>
                </a:lnTo>
                <a:lnTo>
                  <a:pt x="0" y="21600"/>
                </a:lnTo>
                <a:close/>
              </a:path>
            </a:pathLst>
          </a:custGeom>
          <a:solidFill>
            <a:srgbClr val="036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4871237" y="131184"/>
            <a:ext cx="51244" cy="20009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oundrect 100"/>
          <p:cNvSpPr/>
          <p:nvPr/>
        </p:nvSpPr>
        <p:spPr>
          <a:xfrm>
            <a:off x="338334" y="1100487"/>
            <a:ext cx="5604465" cy="3920939"/>
          </a:xfrm>
          <a:prstGeom prst="roundRect">
            <a:avLst>
              <a:gd name="adj" fmla="val 5576"/>
            </a:avLst>
          </a:prstGeom>
          <a:solidFill>
            <a:srgbClr val="E8F5FE"/>
          </a:solidFill>
          <a:ln w="8255">
            <a:solidFill>
              <a:srgbClr val="BFDEFC"/>
            </a:solidFill>
          </a:ln>
        </p:spPr>
        <p:txBody>
          <a:bodyPr/>
          <a:lstStyle/>
          <a:p/>
        </p:txBody>
      </p:sp>
      <p:sp>
        <p:nvSpPr>
          <p:cNvPr id="101" name="Roundrect 101"/>
          <p:cNvSpPr/>
          <p:nvPr/>
        </p:nvSpPr>
        <p:spPr>
          <a:xfrm>
            <a:off x="6168728" y="1100487"/>
            <a:ext cx="5699209" cy="3920939"/>
          </a:xfrm>
          <a:prstGeom prst="roundRect">
            <a:avLst>
              <a:gd name="adj" fmla="val 5576"/>
            </a:avLst>
          </a:prstGeom>
          <a:solidFill>
            <a:srgbClr val="EAF6FE"/>
          </a:solidFill>
          <a:ln w="825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2" name="Roundrect 102"/>
          <p:cNvSpPr/>
          <p:nvPr/>
        </p:nvSpPr>
        <p:spPr>
          <a:xfrm>
            <a:off x="338334" y="5189050"/>
            <a:ext cx="11529603" cy="1311838"/>
          </a:xfrm>
          <a:prstGeom prst="roundRect">
            <a:avLst>
              <a:gd name="adj" fmla="val 16667"/>
            </a:avLst>
          </a:prstGeom>
          <a:solidFill>
            <a:srgbClr val="F4FBFF"/>
          </a:solidFill>
          <a:ln w="8255">
            <a:solidFill>
              <a:srgbClr val="BADBFF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4740281" y="728799"/>
            <a:ext cx="7448327" cy="0"/>
          </a:xfrm>
          <a:prstGeom prst="line">
            <a:avLst/>
          </a:prstGeom>
          <a:noFill/>
          <a:ln w="8255">
            <a:solidFill>
              <a:srgbClr val="3A96FF"/>
            </a:solidFill>
          </a:ln>
        </p:spPr>
        <p:txBody>
          <a:bodyPr/>
          <a:lstStyle/>
          <a:p/>
        </p:txBody>
      </p:sp>
      <p:sp>
        <p:nvSpPr>
          <p:cNvPr id="104" name="Path 104"/>
          <p:cNvSpPr/>
          <p:nvPr/>
        </p:nvSpPr>
        <p:spPr>
          <a:xfrm>
            <a:off x="3087" y="291520"/>
            <a:ext cx="918287" cy="25508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5486" y="0"/>
                </a:lnTo>
                <a:lnTo>
                  <a:pt x="11829" y="21600"/>
                </a:lnTo>
                <a:lnTo>
                  <a:pt x="21600" y="21600"/>
                </a:lnTo>
              </a:path>
            </a:pathLst>
          </a:custGeom>
          <a:noFill/>
          <a:ln w="8255">
            <a:solidFill>
              <a:srgbClr val="3188FF"/>
            </a:solidFill>
          </a:ln>
        </p:spPr>
        <p:txBody>
          <a:bodyPr/>
          <a:lstStyle/>
          <a:p/>
        </p:txBody>
      </p:sp>
      <p:sp>
        <p:nvSpPr>
          <p:cNvPr id="105" name="Path 105"/>
          <p:cNvSpPr/>
          <p:nvPr/>
        </p:nvSpPr>
        <p:spPr>
          <a:xfrm>
            <a:off x="3087" y="415416"/>
            <a:ext cx="298808" cy="7288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1590" y="0"/>
                </a:lnTo>
                <a:lnTo>
                  <a:pt x="21600" y="21600"/>
                </a:lnTo>
              </a:path>
            </a:pathLst>
          </a:custGeom>
          <a:noFill/>
          <a:ln w="8255">
            <a:solidFill>
              <a:srgbClr val="3188FF"/>
            </a:solidFill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899510" y="524735"/>
            <a:ext cx="43728" cy="43728"/>
          </a:xfrm>
          <a:prstGeom prst="ellipse">
            <a:avLst/>
          </a:prstGeom>
          <a:solidFill>
            <a:srgbClr val="EAF8FF"/>
          </a:solidFill>
          <a:ln w="8255">
            <a:solidFill>
              <a:srgbClr val="3188FF"/>
            </a:solidFill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280030" y="466431"/>
            <a:ext cx="43728" cy="43728"/>
          </a:xfrm>
          <a:prstGeom prst="ellipse">
            <a:avLst/>
          </a:prstGeom>
          <a:solidFill>
            <a:srgbClr val="EAF8FF"/>
          </a:solidFill>
          <a:ln w="8255">
            <a:solidFill>
              <a:srgbClr val="3188FF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513246" y="502871"/>
            <a:ext cx="320672" cy="0"/>
          </a:xfrm>
          <a:prstGeom prst="line">
            <a:avLst/>
          </a:prstGeom>
          <a:noFill/>
          <a:ln w="6350">
            <a:solidFill>
              <a:srgbClr val="55C7FF"/>
            </a:solidFill>
          </a:ln>
        </p:spPr>
        <p:txBody>
          <a:bodyPr/>
          <a:lstStyle/>
          <a:p/>
        </p:txBody>
      </p:sp>
      <p:sp>
        <p:nvSpPr>
          <p:cNvPr id="109" name="Roundrect 109"/>
          <p:cNvSpPr/>
          <p:nvPr/>
        </p:nvSpPr>
        <p:spPr>
          <a:xfrm>
            <a:off x="505958" y="1727254"/>
            <a:ext cx="5291082" cy="706935"/>
          </a:xfrm>
          <a:prstGeom prst="roundRect">
            <a:avLst>
              <a:gd name="adj" fmla="val 17526"/>
            </a:avLst>
          </a:prstGeom>
          <a:solidFill>
            <a:srgbClr val="F6FBFE"/>
          </a:solidFill>
          <a:ln w="6350">
            <a:solidFill>
              <a:srgbClr val="DDEFFA"/>
            </a:solidFill>
          </a:ln>
        </p:spPr>
        <p:txBody>
          <a:bodyPr/>
          <a:lstStyle/>
          <a:p/>
        </p:txBody>
      </p:sp>
      <p:sp>
        <p:nvSpPr>
          <p:cNvPr id="110" name="Roundrect 110"/>
          <p:cNvSpPr/>
          <p:nvPr/>
        </p:nvSpPr>
        <p:spPr>
          <a:xfrm>
            <a:off x="505958" y="2543509"/>
            <a:ext cx="5291082" cy="706935"/>
          </a:xfrm>
          <a:prstGeom prst="roundRect">
            <a:avLst>
              <a:gd name="adj" fmla="val 17526"/>
            </a:avLst>
          </a:prstGeom>
          <a:solidFill>
            <a:srgbClr val="F6FBFE"/>
          </a:solidFill>
          <a:ln w="6350">
            <a:solidFill>
              <a:srgbClr val="DDEFFA"/>
            </a:solidFill>
          </a:ln>
        </p:spPr>
        <p:txBody>
          <a:bodyPr/>
          <a:lstStyle/>
          <a:p/>
        </p:txBody>
      </p:sp>
      <p:sp>
        <p:nvSpPr>
          <p:cNvPr id="111" name="Roundrect 111"/>
          <p:cNvSpPr/>
          <p:nvPr/>
        </p:nvSpPr>
        <p:spPr>
          <a:xfrm>
            <a:off x="505958" y="3367052"/>
            <a:ext cx="5291082" cy="706935"/>
          </a:xfrm>
          <a:prstGeom prst="roundRect">
            <a:avLst>
              <a:gd name="adj" fmla="val 17526"/>
            </a:avLst>
          </a:prstGeom>
          <a:solidFill>
            <a:srgbClr val="F6FBFE"/>
          </a:solidFill>
          <a:ln w="6350">
            <a:solidFill>
              <a:srgbClr val="DDEFFA"/>
            </a:solidFill>
          </a:ln>
        </p:spPr>
        <p:txBody>
          <a:bodyPr/>
          <a:lstStyle/>
          <a:p/>
        </p:txBody>
      </p:sp>
      <p:sp>
        <p:nvSpPr>
          <p:cNvPr id="112" name="Roundrect 112"/>
          <p:cNvSpPr/>
          <p:nvPr/>
        </p:nvSpPr>
        <p:spPr>
          <a:xfrm>
            <a:off x="505958" y="4190595"/>
            <a:ext cx="5291082" cy="706935"/>
          </a:xfrm>
          <a:prstGeom prst="roundRect">
            <a:avLst>
              <a:gd name="adj" fmla="val 17526"/>
            </a:avLst>
          </a:prstGeom>
          <a:solidFill>
            <a:srgbClr val="F6FBFE"/>
          </a:solidFill>
          <a:ln w="6350">
            <a:solidFill>
              <a:srgbClr val="DDEFFA"/>
            </a:solidFill>
          </a:ln>
        </p:spPr>
        <p:txBody>
          <a:bodyPr/>
          <a:lstStyle/>
          <a:p/>
        </p:txBody>
      </p:sp>
      <p:sp>
        <p:nvSpPr>
          <p:cNvPr id="113" name="Roundrect 113"/>
          <p:cNvSpPr/>
          <p:nvPr/>
        </p:nvSpPr>
        <p:spPr>
          <a:xfrm>
            <a:off x="6343639" y="1749118"/>
            <a:ext cx="5378538" cy="706935"/>
          </a:xfrm>
          <a:prstGeom prst="roundRect">
            <a:avLst>
              <a:gd name="adj" fmla="val 17526"/>
            </a:avLst>
          </a:prstGeom>
          <a:solidFill>
            <a:srgbClr val="F6FBFE"/>
          </a:solidFill>
          <a:ln w="6350">
            <a:solidFill>
              <a:srgbClr val="DDEFFA"/>
            </a:solidFill>
          </a:ln>
        </p:spPr>
        <p:txBody>
          <a:bodyPr/>
          <a:lstStyle/>
          <a:p/>
        </p:txBody>
      </p:sp>
      <p:sp>
        <p:nvSpPr>
          <p:cNvPr id="114" name="Roundrect 114"/>
          <p:cNvSpPr/>
          <p:nvPr/>
        </p:nvSpPr>
        <p:spPr>
          <a:xfrm>
            <a:off x="6343639" y="2565373"/>
            <a:ext cx="5378538" cy="706935"/>
          </a:xfrm>
          <a:prstGeom prst="roundRect">
            <a:avLst>
              <a:gd name="adj" fmla="val 17526"/>
            </a:avLst>
          </a:prstGeom>
          <a:solidFill>
            <a:srgbClr val="F6FBFE"/>
          </a:solidFill>
          <a:ln w="6350">
            <a:solidFill>
              <a:srgbClr val="DDEFFA"/>
            </a:solidFill>
          </a:ln>
        </p:spPr>
        <p:txBody>
          <a:bodyPr/>
          <a:lstStyle/>
          <a:p/>
        </p:txBody>
      </p:sp>
      <p:sp>
        <p:nvSpPr>
          <p:cNvPr id="115" name="Roundrect 115"/>
          <p:cNvSpPr/>
          <p:nvPr/>
        </p:nvSpPr>
        <p:spPr>
          <a:xfrm>
            <a:off x="6343639" y="3388916"/>
            <a:ext cx="5378538" cy="706935"/>
          </a:xfrm>
          <a:prstGeom prst="roundRect">
            <a:avLst>
              <a:gd name="adj" fmla="val 17526"/>
            </a:avLst>
          </a:prstGeom>
          <a:solidFill>
            <a:srgbClr val="F6FBFE"/>
          </a:solidFill>
          <a:ln w="6350">
            <a:solidFill>
              <a:srgbClr val="DDEFFA"/>
            </a:solidFill>
          </a:ln>
        </p:spPr>
        <p:txBody>
          <a:bodyPr/>
          <a:lstStyle/>
          <a:p/>
        </p:txBody>
      </p:sp>
      <p:sp>
        <p:nvSpPr>
          <p:cNvPr id="116" name="Roundrect 116"/>
          <p:cNvSpPr/>
          <p:nvPr/>
        </p:nvSpPr>
        <p:spPr>
          <a:xfrm>
            <a:off x="6343639" y="4212459"/>
            <a:ext cx="5378538" cy="706935"/>
          </a:xfrm>
          <a:prstGeom prst="roundRect">
            <a:avLst>
              <a:gd name="adj" fmla="val 17526"/>
            </a:avLst>
          </a:prstGeom>
          <a:solidFill>
            <a:srgbClr val="F6FBFE"/>
          </a:solidFill>
          <a:ln w="6350">
            <a:solidFill>
              <a:srgbClr val="DDEFFA"/>
            </a:solidFill>
          </a:ln>
        </p:spPr>
        <p:txBody>
          <a:bodyPr/>
          <a:lstStyle/>
          <a:p/>
        </p:txBody>
      </p:sp>
      <p:sp>
        <p:nvSpPr>
          <p:cNvPr id="117" name="Roundrect 117"/>
          <p:cNvSpPr/>
          <p:nvPr/>
        </p:nvSpPr>
        <p:spPr>
          <a:xfrm>
            <a:off x="659006" y="1785558"/>
            <a:ext cx="583039" cy="583039"/>
          </a:xfrm>
          <a:prstGeom prst="roundRect">
            <a:avLst>
              <a:gd name="adj" fmla="val 23750"/>
            </a:avLst>
          </a:prstGeom>
          <a:solidFill>
            <a:srgbClr val="EAF7FF"/>
          </a:solidFill>
          <a:ln w="6985">
            <a:solidFill>
              <a:srgbClr val="A8D5FF"/>
            </a:solidFill>
          </a:ln>
        </p:spPr>
        <p:txBody>
          <a:bodyPr/>
          <a:lstStyle/>
          <a:p/>
        </p:txBody>
      </p:sp>
      <p:sp>
        <p:nvSpPr>
          <p:cNvPr id="118" name="Roundrect 118"/>
          <p:cNvSpPr/>
          <p:nvPr/>
        </p:nvSpPr>
        <p:spPr>
          <a:xfrm>
            <a:off x="4281138" y="1887590"/>
            <a:ext cx="1370142" cy="393552"/>
          </a:xfrm>
          <a:prstGeom prst="roundRect">
            <a:avLst>
              <a:gd name="adj" fmla="val 25926"/>
            </a:avLst>
          </a:prstGeom>
          <a:solidFill>
            <a:srgbClr val="DCE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oundrect 119"/>
          <p:cNvSpPr/>
          <p:nvPr/>
        </p:nvSpPr>
        <p:spPr>
          <a:xfrm>
            <a:off x="659006" y="2601813"/>
            <a:ext cx="583039" cy="583039"/>
          </a:xfrm>
          <a:prstGeom prst="roundRect">
            <a:avLst>
              <a:gd name="adj" fmla="val 23750"/>
            </a:avLst>
          </a:prstGeom>
          <a:solidFill>
            <a:srgbClr val="F0FFFD"/>
          </a:solidFill>
          <a:ln w="6985">
            <a:solidFill>
              <a:srgbClr val="A4E4DE"/>
            </a:solidFill>
          </a:ln>
        </p:spPr>
        <p:txBody>
          <a:bodyPr/>
          <a:lstStyle/>
          <a:p/>
        </p:txBody>
      </p:sp>
      <p:sp>
        <p:nvSpPr>
          <p:cNvPr id="120" name="Roundrect 120"/>
          <p:cNvSpPr/>
          <p:nvPr/>
        </p:nvSpPr>
        <p:spPr>
          <a:xfrm>
            <a:off x="4281138" y="2703845"/>
            <a:ext cx="1370142" cy="393552"/>
          </a:xfrm>
          <a:prstGeom prst="roundRect">
            <a:avLst>
              <a:gd name="adj" fmla="val 25926"/>
            </a:avLst>
          </a:prstGeom>
          <a:solidFill>
            <a:srgbClr val="DCE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Roundrect 121"/>
          <p:cNvSpPr/>
          <p:nvPr/>
        </p:nvSpPr>
        <p:spPr>
          <a:xfrm>
            <a:off x="659006" y="3425356"/>
            <a:ext cx="583039" cy="583039"/>
          </a:xfrm>
          <a:prstGeom prst="roundRect">
            <a:avLst>
              <a:gd name="adj" fmla="val 23750"/>
            </a:avLst>
          </a:prstGeom>
          <a:solidFill>
            <a:srgbClr val="FFFDF9"/>
          </a:solidFill>
          <a:ln w="6985">
            <a:solidFill>
              <a:srgbClr val="FFD7AB"/>
            </a:solidFill>
          </a:ln>
        </p:spPr>
        <p:txBody>
          <a:bodyPr/>
          <a:lstStyle/>
          <a:p/>
        </p:txBody>
      </p:sp>
      <p:sp>
        <p:nvSpPr>
          <p:cNvPr id="122" name="Roundrect 122"/>
          <p:cNvSpPr/>
          <p:nvPr/>
        </p:nvSpPr>
        <p:spPr>
          <a:xfrm>
            <a:off x="4281138" y="3527388"/>
            <a:ext cx="1370142" cy="393552"/>
          </a:xfrm>
          <a:prstGeom prst="roundRect">
            <a:avLst>
              <a:gd name="adj" fmla="val 25926"/>
            </a:avLst>
          </a:prstGeom>
          <a:solidFill>
            <a:srgbClr val="FFEED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Roundrect 123"/>
          <p:cNvSpPr/>
          <p:nvPr/>
        </p:nvSpPr>
        <p:spPr>
          <a:xfrm>
            <a:off x="659006" y="4248899"/>
            <a:ext cx="583039" cy="583039"/>
          </a:xfrm>
          <a:prstGeom prst="roundRect">
            <a:avLst>
              <a:gd name="adj" fmla="val 23750"/>
            </a:avLst>
          </a:prstGeom>
          <a:solidFill>
            <a:srgbClr val="EBF7FF"/>
          </a:solidFill>
          <a:ln w="6985">
            <a:solidFill>
              <a:srgbClr val="A8D5FF"/>
            </a:solidFill>
          </a:ln>
        </p:spPr>
        <p:txBody>
          <a:bodyPr/>
          <a:lstStyle/>
          <a:p/>
        </p:txBody>
      </p:sp>
      <p:sp>
        <p:nvSpPr>
          <p:cNvPr id="124" name="Roundrect 124"/>
          <p:cNvSpPr/>
          <p:nvPr/>
        </p:nvSpPr>
        <p:spPr>
          <a:xfrm>
            <a:off x="4281138" y="4350931"/>
            <a:ext cx="1370142" cy="393552"/>
          </a:xfrm>
          <a:prstGeom prst="roundRect">
            <a:avLst>
              <a:gd name="adj" fmla="val 25926"/>
            </a:avLst>
          </a:prstGeom>
          <a:solidFill>
            <a:srgbClr val="DCE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Roundrect 125"/>
          <p:cNvSpPr/>
          <p:nvPr/>
        </p:nvSpPr>
        <p:spPr>
          <a:xfrm>
            <a:off x="6525839" y="1807422"/>
            <a:ext cx="583039" cy="583039"/>
          </a:xfrm>
          <a:prstGeom prst="roundRect">
            <a:avLst>
              <a:gd name="adj" fmla="val 23750"/>
            </a:avLst>
          </a:prstGeom>
          <a:solidFill>
            <a:srgbClr val="EAF8FF"/>
          </a:solidFill>
          <a:ln w="6985">
            <a:solidFill>
              <a:srgbClr val="A8D5FF"/>
            </a:solidFill>
          </a:ln>
        </p:spPr>
        <p:txBody>
          <a:bodyPr/>
          <a:lstStyle/>
          <a:p/>
        </p:txBody>
      </p:sp>
      <p:sp>
        <p:nvSpPr>
          <p:cNvPr id="126" name="Roundrect 126"/>
          <p:cNvSpPr/>
          <p:nvPr/>
        </p:nvSpPr>
        <p:spPr>
          <a:xfrm>
            <a:off x="10432203" y="1909454"/>
            <a:ext cx="1136927" cy="393552"/>
          </a:xfrm>
          <a:prstGeom prst="roundRect">
            <a:avLst>
              <a:gd name="adj" fmla="val 25926"/>
            </a:avLst>
          </a:prstGeom>
          <a:solidFill>
            <a:srgbClr val="FDE8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Roundrect 127"/>
          <p:cNvSpPr/>
          <p:nvPr/>
        </p:nvSpPr>
        <p:spPr>
          <a:xfrm>
            <a:off x="6525839" y="2623677"/>
            <a:ext cx="583039" cy="583039"/>
          </a:xfrm>
          <a:prstGeom prst="roundRect">
            <a:avLst>
              <a:gd name="adj" fmla="val 23750"/>
            </a:avLst>
          </a:prstGeom>
          <a:solidFill>
            <a:srgbClr val="F5FFFD"/>
          </a:solidFill>
          <a:ln w="6985">
            <a:solidFill>
              <a:srgbClr val="AAE9DF"/>
            </a:solidFill>
          </a:ln>
        </p:spPr>
        <p:txBody>
          <a:bodyPr/>
          <a:lstStyle/>
          <a:p/>
        </p:txBody>
      </p:sp>
      <p:sp>
        <p:nvSpPr>
          <p:cNvPr id="128" name="Roundrect 128"/>
          <p:cNvSpPr/>
          <p:nvPr/>
        </p:nvSpPr>
        <p:spPr>
          <a:xfrm>
            <a:off x="10432203" y="2725709"/>
            <a:ext cx="1136927" cy="393552"/>
          </a:xfrm>
          <a:prstGeom prst="roundRect">
            <a:avLst>
              <a:gd name="adj" fmla="val 25926"/>
            </a:avLst>
          </a:prstGeom>
          <a:solidFill>
            <a:srgbClr val="FDE8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Roundrect 129"/>
          <p:cNvSpPr/>
          <p:nvPr/>
        </p:nvSpPr>
        <p:spPr>
          <a:xfrm>
            <a:off x="6525839" y="3447220"/>
            <a:ext cx="583039" cy="583039"/>
          </a:xfrm>
          <a:prstGeom prst="roundRect">
            <a:avLst>
              <a:gd name="adj" fmla="val 23750"/>
            </a:avLst>
          </a:prstGeom>
          <a:solidFill>
            <a:srgbClr val="F6F2FF"/>
          </a:solidFill>
          <a:ln w="6985">
            <a:solidFill>
              <a:srgbClr val="D2C5FF"/>
            </a:solidFill>
          </a:ln>
        </p:spPr>
        <p:txBody>
          <a:bodyPr/>
          <a:lstStyle/>
          <a:p/>
        </p:txBody>
      </p:sp>
      <p:sp>
        <p:nvSpPr>
          <p:cNvPr id="130" name="Roundrect 130"/>
          <p:cNvSpPr/>
          <p:nvPr/>
        </p:nvSpPr>
        <p:spPr>
          <a:xfrm>
            <a:off x="10432203" y="3549252"/>
            <a:ext cx="1136927" cy="393552"/>
          </a:xfrm>
          <a:prstGeom prst="roundRect">
            <a:avLst>
              <a:gd name="adj" fmla="val 25926"/>
            </a:avLst>
          </a:prstGeom>
          <a:solidFill>
            <a:srgbClr val="FDE8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oundrect 131"/>
          <p:cNvSpPr/>
          <p:nvPr/>
        </p:nvSpPr>
        <p:spPr>
          <a:xfrm>
            <a:off x="6525839" y="4270763"/>
            <a:ext cx="583039" cy="583039"/>
          </a:xfrm>
          <a:prstGeom prst="roundRect">
            <a:avLst>
              <a:gd name="adj" fmla="val 23750"/>
            </a:avLst>
          </a:prstGeom>
          <a:solidFill>
            <a:srgbClr val="FFFEFB"/>
          </a:solidFill>
          <a:ln w="6985">
            <a:solidFill>
              <a:srgbClr val="FFD7AC"/>
            </a:solidFill>
          </a:ln>
        </p:spPr>
        <p:txBody>
          <a:bodyPr/>
          <a:lstStyle/>
          <a:p/>
        </p:txBody>
      </p:sp>
      <p:sp>
        <p:nvSpPr>
          <p:cNvPr id="132" name="Roundrect 132"/>
          <p:cNvSpPr/>
          <p:nvPr/>
        </p:nvSpPr>
        <p:spPr>
          <a:xfrm>
            <a:off x="10432203" y="4372795"/>
            <a:ext cx="1136927" cy="393552"/>
          </a:xfrm>
          <a:prstGeom prst="roundRect">
            <a:avLst>
              <a:gd name="adj" fmla="val 25926"/>
            </a:avLst>
          </a:prstGeom>
          <a:solidFill>
            <a:srgbClr val="FDE8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Roundrect 133"/>
          <p:cNvSpPr/>
          <p:nvPr/>
        </p:nvSpPr>
        <p:spPr>
          <a:xfrm>
            <a:off x="884934" y="5713785"/>
            <a:ext cx="619479" cy="619479"/>
          </a:xfrm>
          <a:prstGeom prst="roundRect">
            <a:avLst>
              <a:gd name="adj" fmla="val 24706"/>
            </a:avLst>
          </a:prstGeom>
          <a:solidFill>
            <a:srgbClr val="E0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Roundrect 134"/>
          <p:cNvSpPr/>
          <p:nvPr/>
        </p:nvSpPr>
        <p:spPr>
          <a:xfrm>
            <a:off x="4907905" y="5713785"/>
            <a:ext cx="619479" cy="619479"/>
          </a:xfrm>
          <a:prstGeom prst="roundRect">
            <a:avLst>
              <a:gd name="adj" fmla="val 24706"/>
            </a:avLst>
          </a:prstGeom>
          <a:solidFill>
            <a:srgbClr val="E0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Roundrect 135"/>
          <p:cNvSpPr/>
          <p:nvPr/>
        </p:nvSpPr>
        <p:spPr>
          <a:xfrm>
            <a:off x="8755964" y="5713785"/>
            <a:ext cx="619479" cy="619479"/>
          </a:xfrm>
          <a:prstGeom prst="roundRect">
            <a:avLst>
              <a:gd name="adj" fmla="val 24706"/>
            </a:avLst>
          </a:prstGeom>
          <a:solidFill>
            <a:srgbClr val="E0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Rect 136"/>
          <p:cNvSpPr/>
          <p:nvPr/>
        </p:nvSpPr>
        <p:spPr>
          <a:xfrm>
            <a:off x="2772523" y="1034895"/>
            <a:ext cx="32796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3920" y="0"/>
                </a:moveTo>
                <a:lnTo>
                  <a:pt x="21600" y="0"/>
                </a:lnTo>
                <a:lnTo>
                  <a:pt x="76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5D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2910995" y="1034895"/>
            <a:ext cx="32796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3920" y="0"/>
                </a:moveTo>
                <a:lnTo>
                  <a:pt x="21600" y="0"/>
                </a:lnTo>
                <a:lnTo>
                  <a:pt x="76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9E0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3049467" y="1034895"/>
            <a:ext cx="32796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3920" y="0"/>
                </a:moveTo>
                <a:lnTo>
                  <a:pt x="21600" y="0"/>
                </a:lnTo>
                <a:lnTo>
                  <a:pt x="76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DE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9390020" y="1034895"/>
            <a:ext cx="32796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3920" y="0"/>
                </a:moveTo>
                <a:lnTo>
                  <a:pt x="21600" y="0"/>
                </a:lnTo>
                <a:lnTo>
                  <a:pt x="76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DAB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Rect 140"/>
          <p:cNvSpPr/>
          <p:nvPr/>
        </p:nvSpPr>
        <p:spPr>
          <a:xfrm>
            <a:off x="9528492" y="1034895"/>
            <a:ext cx="32796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3920" y="0"/>
                </a:moveTo>
                <a:lnTo>
                  <a:pt x="21600" y="0"/>
                </a:lnTo>
                <a:lnTo>
                  <a:pt x="76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E2C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Rect 141"/>
          <p:cNvSpPr/>
          <p:nvPr/>
        </p:nvSpPr>
        <p:spPr>
          <a:xfrm>
            <a:off x="9666963" y="1034895"/>
            <a:ext cx="32796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3920" y="0"/>
                </a:moveTo>
                <a:lnTo>
                  <a:pt x="21600" y="0"/>
                </a:lnTo>
                <a:lnTo>
                  <a:pt x="76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5EBD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2619476" y="5159898"/>
            <a:ext cx="327960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3920" y="0"/>
                </a:moveTo>
                <a:lnTo>
                  <a:pt x="21600" y="0"/>
                </a:lnTo>
                <a:lnTo>
                  <a:pt x="76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0D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ect 143"/>
          <p:cNvSpPr/>
          <p:nvPr/>
        </p:nvSpPr>
        <p:spPr>
          <a:xfrm>
            <a:off x="2757947" y="5159898"/>
            <a:ext cx="327960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3920" y="0"/>
                </a:moveTo>
                <a:lnTo>
                  <a:pt x="21600" y="0"/>
                </a:lnTo>
                <a:lnTo>
                  <a:pt x="76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1E5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Rect 144"/>
          <p:cNvSpPr/>
          <p:nvPr/>
        </p:nvSpPr>
        <p:spPr>
          <a:xfrm>
            <a:off x="2896419" y="5159898"/>
            <a:ext cx="327960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3920" y="0"/>
                </a:moveTo>
                <a:lnTo>
                  <a:pt x="21600" y="0"/>
                </a:lnTo>
                <a:lnTo>
                  <a:pt x="76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2E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Rect 145"/>
          <p:cNvSpPr/>
          <p:nvPr/>
        </p:nvSpPr>
        <p:spPr>
          <a:xfrm>
            <a:off x="498670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57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Rect 146"/>
          <p:cNvSpPr/>
          <p:nvPr/>
        </p:nvSpPr>
        <p:spPr>
          <a:xfrm>
            <a:off x="537501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57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Rect 147"/>
          <p:cNvSpPr/>
          <p:nvPr/>
        </p:nvSpPr>
        <p:spPr>
          <a:xfrm>
            <a:off x="576333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57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Rect 148"/>
          <p:cNvSpPr/>
          <p:nvPr/>
        </p:nvSpPr>
        <p:spPr>
          <a:xfrm>
            <a:off x="615164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57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Rect 149"/>
          <p:cNvSpPr/>
          <p:nvPr/>
        </p:nvSpPr>
        <p:spPr>
          <a:xfrm>
            <a:off x="653995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57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Rect 150"/>
          <p:cNvSpPr/>
          <p:nvPr/>
        </p:nvSpPr>
        <p:spPr>
          <a:xfrm>
            <a:off x="692827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57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Rect 151"/>
          <p:cNvSpPr/>
          <p:nvPr/>
        </p:nvSpPr>
        <p:spPr>
          <a:xfrm>
            <a:off x="731658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57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Rect 152"/>
          <p:cNvSpPr/>
          <p:nvPr/>
        </p:nvSpPr>
        <p:spPr>
          <a:xfrm>
            <a:off x="770489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7B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Rect 153"/>
          <p:cNvSpPr/>
          <p:nvPr/>
        </p:nvSpPr>
        <p:spPr>
          <a:xfrm>
            <a:off x="809321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7C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Rect 154"/>
          <p:cNvSpPr/>
          <p:nvPr/>
        </p:nvSpPr>
        <p:spPr>
          <a:xfrm>
            <a:off x="848152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7C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Rect 155"/>
          <p:cNvSpPr/>
          <p:nvPr/>
        </p:nvSpPr>
        <p:spPr>
          <a:xfrm>
            <a:off x="886983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7D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Rect 156"/>
          <p:cNvSpPr/>
          <p:nvPr/>
        </p:nvSpPr>
        <p:spPr>
          <a:xfrm>
            <a:off x="925815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7D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Rect 157"/>
          <p:cNvSpPr/>
          <p:nvPr/>
        </p:nvSpPr>
        <p:spPr>
          <a:xfrm>
            <a:off x="964646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7E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Rect 158"/>
          <p:cNvSpPr/>
          <p:nvPr/>
        </p:nvSpPr>
        <p:spPr>
          <a:xfrm>
            <a:off x="1003477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7E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1042309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7F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1081140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7F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1119971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80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1158803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80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1197634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81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1236465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1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Rect 165"/>
          <p:cNvSpPr/>
          <p:nvPr/>
        </p:nvSpPr>
        <p:spPr>
          <a:xfrm>
            <a:off x="1275297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2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Rect 166"/>
          <p:cNvSpPr/>
          <p:nvPr/>
        </p:nvSpPr>
        <p:spPr>
          <a:xfrm>
            <a:off x="1314128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2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Rect 167"/>
          <p:cNvSpPr/>
          <p:nvPr/>
        </p:nvSpPr>
        <p:spPr>
          <a:xfrm>
            <a:off x="1352959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2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Rect 168"/>
          <p:cNvSpPr/>
          <p:nvPr/>
        </p:nvSpPr>
        <p:spPr>
          <a:xfrm>
            <a:off x="1391791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3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Rect 169"/>
          <p:cNvSpPr/>
          <p:nvPr/>
        </p:nvSpPr>
        <p:spPr>
          <a:xfrm>
            <a:off x="1430622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3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Rect 170"/>
          <p:cNvSpPr/>
          <p:nvPr/>
        </p:nvSpPr>
        <p:spPr>
          <a:xfrm>
            <a:off x="1469453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4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Rect 171"/>
          <p:cNvSpPr/>
          <p:nvPr/>
        </p:nvSpPr>
        <p:spPr>
          <a:xfrm>
            <a:off x="1508285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4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Rect 172"/>
          <p:cNvSpPr/>
          <p:nvPr/>
        </p:nvSpPr>
        <p:spPr>
          <a:xfrm>
            <a:off x="1547116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5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Rect 173"/>
          <p:cNvSpPr/>
          <p:nvPr/>
        </p:nvSpPr>
        <p:spPr>
          <a:xfrm>
            <a:off x="1585947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5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Rect 174"/>
          <p:cNvSpPr/>
          <p:nvPr/>
        </p:nvSpPr>
        <p:spPr>
          <a:xfrm>
            <a:off x="1624779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6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Rect 175"/>
          <p:cNvSpPr/>
          <p:nvPr/>
        </p:nvSpPr>
        <p:spPr>
          <a:xfrm>
            <a:off x="1663610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6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Rect 176"/>
          <p:cNvSpPr/>
          <p:nvPr/>
        </p:nvSpPr>
        <p:spPr>
          <a:xfrm>
            <a:off x="1702441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387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Rect 177"/>
          <p:cNvSpPr/>
          <p:nvPr/>
        </p:nvSpPr>
        <p:spPr>
          <a:xfrm>
            <a:off x="1741273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7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Rect 178"/>
          <p:cNvSpPr/>
          <p:nvPr/>
        </p:nvSpPr>
        <p:spPr>
          <a:xfrm>
            <a:off x="1780104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Rect 179"/>
          <p:cNvSpPr/>
          <p:nvPr/>
        </p:nvSpPr>
        <p:spPr>
          <a:xfrm>
            <a:off x="1818935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Rect 180"/>
          <p:cNvSpPr/>
          <p:nvPr/>
        </p:nvSpPr>
        <p:spPr>
          <a:xfrm>
            <a:off x="1857767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Rect 181"/>
          <p:cNvSpPr/>
          <p:nvPr/>
        </p:nvSpPr>
        <p:spPr>
          <a:xfrm>
            <a:off x="1896598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Rect 182"/>
          <p:cNvSpPr/>
          <p:nvPr/>
        </p:nvSpPr>
        <p:spPr>
          <a:xfrm>
            <a:off x="1935429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Rect 183"/>
          <p:cNvSpPr/>
          <p:nvPr/>
        </p:nvSpPr>
        <p:spPr>
          <a:xfrm>
            <a:off x="1974261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Rect 184"/>
          <p:cNvSpPr/>
          <p:nvPr/>
        </p:nvSpPr>
        <p:spPr>
          <a:xfrm>
            <a:off x="2013092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B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Rect 185"/>
          <p:cNvSpPr/>
          <p:nvPr/>
        </p:nvSpPr>
        <p:spPr>
          <a:xfrm>
            <a:off x="2051923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B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Rect 186"/>
          <p:cNvSpPr/>
          <p:nvPr/>
        </p:nvSpPr>
        <p:spPr>
          <a:xfrm>
            <a:off x="2090755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C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Rect 187"/>
          <p:cNvSpPr/>
          <p:nvPr/>
        </p:nvSpPr>
        <p:spPr>
          <a:xfrm>
            <a:off x="2129586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C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Rect 188"/>
          <p:cNvSpPr/>
          <p:nvPr/>
        </p:nvSpPr>
        <p:spPr>
          <a:xfrm>
            <a:off x="2168417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C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Rect 189"/>
          <p:cNvSpPr/>
          <p:nvPr/>
        </p:nvSpPr>
        <p:spPr>
          <a:xfrm>
            <a:off x="2207249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8D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Rect 190"/>
          <p:cNvSpPr/>
          <p:nvPr/>
        </p:nvSpPr>
        <p:spPr>
          <a:xfrm>
            <a:off x="2246080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8D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Rect 191"/>
          <p:cNvSpPr/>
          <p:nvPr/>
        </p:nvSpPr>
        <p:spPr>
          <a:xfrm>
            <a:off x="2284911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8E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Rect 192"/>
          <p:cNvSpPr/>
          <p:nvPr/>
        </p:nvSpPr>
        <p:spPr>
          <a:xfrm>
            <a:off x="2323743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8E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Rect 193"/>
          <p:cNvSpPr/>
          <p:nvPr/>
        </p:nvSpPr>
        <p:spPr>
          <a:xfrm>
            <a:off x="2362574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8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Rect 194"/>
          <p:cNvSpPr/>
          <p:nvPr/>
        </p:nvSpPr>
        <p:spPr>
          <a:xfrm>
            <a:off x="2401405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8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Rect 195"/>
          <p:cNvSpPr/>
          <p:nvPr/>
        </p:nvSpPr>
        <p:spPr>
          <a:xfrm>
            <a:off x="2440237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90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Rect 196"/>
          <p:cNvSpPr/>
          <p:nvPr/>
        </p:nvSpPr>
        <p:spPr>
          <a:xfrm>
            <a:off x="2479068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90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Rect 197"/>
          <p:cNvSpPr/>
          <p:nvPr/>
        </p:nvSpPr>
        <p:spPr>
          <a:xfrm>
            <a:off x="2517899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9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Rect 198"/>
          <p:cNvSpPr/>
          <p:nvPr/>
        </p:nvSpPr>
        <p:spPr>
          <a:xfrm>
            <a:off x="2556731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9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Rect 199"/>
          <p:cNvSpPr/>
          <p:nvPr/>
        </p:nvSpPr>
        <p:spPr>
          <a:xfrm>
            <a:off x="2595562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9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Rect 200"/>
          <p:cNvSpPr/>
          <p:nvPr/>
        </p:nvSpPr>
        <p:spPr>
          <a:xfrm>
            <a:off x="2634393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9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Rect 201"/>
          <p:cNvSpPr/>
          <p:nvPr/>
        </p:nvSpPr>
        <p:spPr>
          <a:xfrm>
            <a:off x="2673225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9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Rect 202"/>
          <p:cNvSpPr/>
          <p:nvPr/>
        </p:nvSpPr>
        <p:spPr>
          <a:xfrm>
            <a:off x="2712056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3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Rect 203"/>
          <p:cNvSpPr/>
          <p:nvPr/>
        </p:nvSpPr>
        <p:spPr>
          <a:xfrm>
            <a:off x="2750887" y="1034895"/>
            <a:ext cx="46119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8461"/>
                </a:lnTo>
                <a:lnTo>
                  <a:pt x="0" y="21600"/>
                </a:lnTo>
                <a:close/>
              </a:path>
            </a:pathLst>
          </a:custGeom>
          <a:solidFill>
            <a:srgbClr val="009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Rect 204"/>
          <p:cNvSpPr/>
          <p:nvPr/>
        </p:nvSpPr>
        <p:spPr>
          <a:xfrm>
            <a:off x="2789719" y="1034895"/>
            <a:ext cx="46119" cy="4853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6469"/>
                </a:lnTo>
                <a:lnTo>
                  <a:pt x="0" y="21600"/>
                </a:lnTo>
                <a:close/>
              </a:path>
            </a:pathLst>
          </a:custGeom>
          <a:solidFill>
            <a:srgbClr val="009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Rect 205"/>
          <p:cNvSpPr/>
          <p:nvPr/>
        </p:nvSpPr>
        <p:spPr>
          <a:xfrm>
            <a:off x="2828550" y="1034895"/>
            <a:ext cx="46119" cy="38831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5187"/>
                </a:lnTo>
                <a:lnTo>
                  <a:pt x="0" y="21600"/>
                </a:lnTo>
                <a:close/>
              </a:path>
            </a:pathLst>
          </a:custGeom>
          <a:solidFill>
            <a:srgbClr val="009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Rect 206"/>
          <p:cNvSpPr/>
          <p:nvPr/>
        </p:nvSpPr>
        <p:spPr>
          <a:xfrm>
            <a:off x="2867381" y="1034895"/>
            <a:ext cx="46119" cy="29123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3049"/>
                </a:lnTo>
                <a:lnTo>
                  <a:pt x="0" y="21600"/>
                </a:lnTo>
                <a:close/>
              </a:path>
            </a:pathLst>
          </a:custGeom>
          <a:solidFill>
            <a:srgbClr val="009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Rect 207"/>
          <p:cNvSpPr/>
          <p:nvPr/>
        </p:nvSpPr>
        <p:spPr>
          <a:xfrm>
            <a:off x="2906213" y="1034895"/>
            <a:ext cx="46119" cy="19415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8773"/>
                </a:lnTo>
                <a:lnTo>
                  <a:pt x="0" y="21600"/>
                </a:lnTo>
                <a:close/>
              </a:path>
            </a:pathLst>
          </a:custGeom>
          <a:solidFill>
            <a:srgbClr val="0096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Rect 208"/>
          <p:cNvSpPr/>
          <p:nvPr/>
        </p:nvSpPr>
        <p:spPr>
          <a:xfrm>
            <a:off x="2945044" y="1034895"/>
            <a:ext cx="38831" cy="9707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0096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Rect 209"/>
          <p:cNvSpPr/>
          <p:nvPr/>
        </p:nvSpPr>
        <p:spPr>
          <a:xfrm>
            <a:off x="6343639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6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Rect 210"/>
          <p:cNvSpPr/>
          <p:nvPr/>
        </p:nvSpPr>
        <p:spPr>
          <a:xfrm>
            <a:off x="6394541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70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Rect 211"/>
          <p:cNvSpPr/>
          <p:nvPr/>
        </p:nvSpPr>
        <p:spPr>
          <a:xfrm>
            <a:off x="6445443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80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Rect 212"/>
          <p:cNvSpPr/>
          <p:nvPr/>
        </p:nvSpPr>
        <p:spPr>
          <a:xfrm>
            <a:off x="6496346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90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Rect 213"/>
          <p:cNvSpPr/>
          <p:nvPr/>
        </p:nvSpPr>
        <p:spPr>
          <a:xfrm>
            <a:off x="6547248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90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Rect 214"/>
          <p:cNvSpPr/>
          <p:nvPr/>
        </p:nvSpPr>
        <p:spPr>
          <a:xfrm>
            <a:off x="6598150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A0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Rect 215"/>
          <p:cNvSpPr/>
          <p:nvPr/>
        </p:nvSpPr>
        <p:spPr>
          <a:xfrm>
            <a:off x="6649052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B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ect 216"/>
          <p:cNvSpPr/>
          <p:nvPr/>
        </p:nvSpPr>
        <p:spPr>
          <a:xfrm>
            <a:off x="6699954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C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Rect 217"/>
          <p:cNvSpPr/>
          <p:nvPr/>
        </p:nvSpPr>
        <p:spPr>
          <a:xfrm>
            <a:off x="6750856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D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Rect 218"/>
          <p:cNvSpPr/>
          <p:nvPr/>
        </p:nvSpPr>
        <p:spPr>
          <a:xfrm>
            <a:off x="6801758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E0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6852660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F0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6903562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7F0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6954464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00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ect 222"/>
          <p:cNvSpPr/>
          <p:nvPr/>
        </p:nvSpPr>
        <p:spPr>
          <a:xfrm>
            <a:off x="7005366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10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Rect 223"/>
          <p:cNvSpPr/>
          <p:nvPr/>
        </p:nvSpPr>
        <p:spPr>
          <a:xfrm>
            <a:off x="7056268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2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Rect 224"/>
          <p:cNvSpPr/>
          <p:nvPr/>
        </p:nvSpPr>
        <p:spPr>
          <a:xfrm>
            <a:off x="7107170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30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Rect 225"/>
          <p:cNvSpPr/>
          <p:nvPr/>
        </p:nvSpPr>
        <p:spPr>
          <a:xfrm>
            <a:off x="7158072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40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Rect 226"/>
          <p:cNvSpPr/>
          <p:nvPr/>
        </p:nvSpPr>
        <p:spPr>
          <a:xfrm>
            <a:off x="7208974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50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Rect 227"/>
          <p:cNvSpPr/>
          <p:nvPr/>
        </p:nvSpPr>
        <p:spPr>
          <a:xfrm>
            <a:off x="7259876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50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Rect 228"/>
          <p:cNvSpPr/>
          <p:nvPr/>
        </p:nvSpPr>
        <p:spPr>
          <a:xfrm>
            <a:off x="7310779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60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Rect 229"/>
          <p:cNvSpPr/>
          <p:nvPr/>
        </p:nvSpPr>
        <p:spPr>
          <a:xfrm>
            <a:off x="7361681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71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Rect 230"/>
          <p:cNvSpPr/>
          <p:nvPr/>
        </p:nvSpPr>
        <p:spPr>
          <a:xfrm>
            <a:off x="7412583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81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Rect 231"/>
          <p:cNvSpPr/>
          <p:nvPr/>
        </p:nvSpPr>
        <p:spPr>
          <a:xfrm>
            <a:off x="7463485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9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Rect 232"/>
          <p:cNvSpPr/>
          <p:nvPr/>
        </p:nvSpPr>
        <p:spPr>
          <a:xfrm>
            <a:off x="7514387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A1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Rect 233"/>
          <p:cNvSpPr/>
          <p:nvPr/>
        </p:nvSpPr>
        <p:spPr>
          <a:xfrm>
            <a:off x="7565289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B1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" name="Rect 234"/>
          <p:cNvSpPr/>
          <p:nvPr/>
        </p:nvSpPr>
        <p:spPr>
          <a:xfrm>
            <a:off x="7616191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B1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Rect 235"/>
          <p:cNvSpPr/>
          <p:nvPr/>
        </p:nvSpPr>
        <p:spPr>
          <a:xfrm>
            <a:off x="7667093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C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Rect 236"/>
          <p:cNvSpPr/>
          <p:nvPr/>
        </p:nvSpPr>
        <p:spPr>
          <a:xfrm>
            <a:off x="7717995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D15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Rect 237"/>
          <p:cNvSpPr/>
          <p:nvPr/>
        </p:nvSpPr>
        <p:spPr>
          <a:xfrm>
            <a:off x="7768897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E1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Rect 238"/>
          <p:cNvSpPr/>
          <p:nvPr/>
        </p:nvSpPr>
        <p:spPr>
          <a:xfrm>
            <a:off x="7819799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F17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Rect 239"/>
          <p:cNvSpPr/>
          <p:nvPr/>
        </p:nvSpPr>
        <p:spPr>
          <a:xfrm>
            <a:off x="7870701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Rect 240"/>
          <p:cNvSpPr/>
          <p:nvPr/>
        </p:nvSpPr>
        <p:spPr>
          <a:xfrm>
            <a:off x="7921603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11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Rect 241"/>
          <p:cNvSpPr/>
          <p:nvPr/>
        </p:nvSpPr>
        <p:spPr>
          <a:xfrm>
            <a:off x="7972505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1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Rect 242"/>
          <p:cNvSpPr/>
          <p:nvPr/>
        </p:nvSpPr>
        <p:spPr>
          <a:xfrm>
            <a:off x="8023407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2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Rect 243"/>
          <p:cNvSpPr/>
          <p:nvPr/>
        </p:nvSpPr>
        <p:spPr>
          <a:xfrm>
            <a:off x="8074310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31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" name="Rect 244"/>
          <p:cNvSpPr/>
          <p:nvPr/>
        </p:nvSpPr>
        <p:spPr>
          <a:xfrm>
            <a:off x="8125212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Rect 245"/>
          <p:cNvSpPr/>
          <p:nvPr/>
        </p:nvSpPr>
        <p:spPr>
          <a:xfrm>
            <a:off x="8176114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5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" name="Rect 246"/>
          <p:cNvSpPr/>
          <p:nvPr/>
        </p:nvSpPr>
        <p:spPr>
          <a:xfrm>
            <a:off x="8227016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61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" name="Rect 247"/>
          <p:cNvSpPr/>
          <p:nvPr/>
        </p:nvSpPr>
        <p:spPr>
          <a:xfrm>
            <a:off x="8277918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7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" name="Rect 248"/>
          <p:cNvSpPr/>
          <p:nvPr/>
        </p:nvSpPr>
        <p:spPr>
          <a:xfrm>
            <a:off x="8328820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7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" name="Rect 249"/>
          <p:cNvSpPr/>
          <p:nvPr/>
        </p:nvSpPr>
        <p:spPr>
          <a:xfrm>
            <a:off x="8379722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81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Rect 250"/>
          <p:cNvSpPr/>
          <p:nvPr/>
        </p:nvSpPr>
        <p:spPr>
          <a:xfrm>
            <a:off x="8430624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9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" name="Rect 251"/>
          <p:cNvSpPr/>
          <p:nvPr/>
        </p:nvSpPr>
        <p:spPr>
          <a:xfrm>
            <a:off x="8481526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A2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Rect 252"/>
          <p:cNvSpPr/>
          <p:nvPr/>
        </p:nvSpPr>
        <p:spPr>
          <a:xfrm>
            <a:off x="8532428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B2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Rect 253"/>
          <p:cNvSpPr/>
          <p:nvPr/>
        </p:nvSpPr>
        <p:spPr>
          <a:xfrm>
            <a:off x="8583330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C22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" name="Rect 254"/>
          <p:cNvSpPr/>
          <p:nvPr/>
        </p:nvSpPr>
        <p:spPr>
          <a:xfrm>
            <a:off x="8634232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D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" name="Rect 255"/>
          <p:cNvSpPr/>
          <p:nvPr/>
        </p:nvSpPr>
        <p:spPr>
          <a:xfrm>
            <a:off x="8685134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D2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" name="Rect 256"/>
          <p:cNvSpPr/>
          <p:nvPr/>
        </p:nvSpPr>
        <p:spPr>
          <a:xfrm>
            <a:off x="8736036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E25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" name="Rect 257"/>
          <p:cNvSpPr/>
          <p:nvPr/>
        </p:nvSpPr>
        <p:spPr>
          <a:xfrm>
            <a:off x="8786938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9F25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" name="Rect 258"/>
          <p:cNvSpPr/>
          <p:nvPr/>
        </p:nvSpPr>
        <p:spPr>
          <a:xfrm>
            <a:off x="8837841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A02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" name="Rect 259"/>
          <p:cNvSpPr/>
          <p:nvPr/>
        </p:nvSpPr>
        <p:spPr>
          <a:xfrm>
            <a:off x="8888743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A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" name="Rect 260"/>
          <p:cNvSpPr/>
          <p:nvPr/>
        </p:nvSpPr>
        <p:spPr>
          <a:xfrm>
            <a:off x="8939645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A2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" name="Rect 261"/>
          <p:cNvSpPr/>
          <p:nvPr/>
        </p:nvSpPr>
        <p:spPr>
          <a:xfrm>
            <a:off x="8990547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A3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2" name="Rect 262"/>
          <p:cNvSpPr/>
          <p:nvPr/>
        </p:nvSpPr>
        <p:spPr>
          <a:xfrm>
            <a:off x="9041449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A32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3" name="Rect 263"/>
          <p:cNvSpPr/>
          <p:nvPr/>
        </p:nvSpPr>
        <p:spPr>
          <a:xfrm>
            <a:off x="9092351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A4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4" name="Rect 264"/>
          <p:cNvSpPr/>
          <p:nvPr/>
        </p:nvSpPr>
        <p:spPr>
          <a:xfrm>
            <a:off x="9143253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A5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5" name="Rect 265"/>
          <p:cNvSpPr/>
          <p:nvPr/>
        </p:nvSpPr>
        <p:spPr>
          <a:xfrm>
            <a:off x="9194155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A62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6" name="Rect 266"/>
          <p:cNvSpPr/>
          <p:nvPr/>
        </p:nvSpPr>
        <p:spPr>
          <a:xfrm>
            <a:off x="9245057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A72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7" name="Rect 267"/>
          <p:cNvSpPr/>
          <p:nvPr/>
        </p:nvSpPr>
        <p:spPr>
          <a:xfrm>
            <a:off x="9295959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A82D"/>
          </a:solidFill>
          <a:ln>
            <a:noFill/>
          </a:ln>
        </p:spPr>
        <p:txBody>
          <a:bodyPr/>
          <a:lstStyle/>
          <a:p/>
        </p:txBody>
      </p:sp>
      <p:sp>
        <p:nvSpPr>
          <p:cNvPr id="268" name="Rect 268"/>
          <p:cNvSpPr/>
          <p:nvPr/>
        </p:nvSpPr>
        <p:spPr>
          <a:xfrm>
            <a:off x="9346861" y="1034895"/>
            <a:ext cx="58190" cy="5465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8769"/>
                </a:lnTo>
                <a:lnTo>
                  <a:pt x="0" y="21600"/>
                </a:lnTo>
                <a:close/>
              </a:path>
            </a:pathLst>
          </a:custGeom>
          <a:solidFill>
            <a:srgbClr val="FFA9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9" name="Rect 269"/>
          <p:cNvSpPr/>
          <p:nvPr/>
        </p:nvSpPr>
        <p:spPr>
          <a:xfrm>
            <a:off x="9397763" y="1034895"/>
            <a:ext cx="58190" cy="49260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5427"/>
                </a:lnTo>
                <a:lnTo>
                  <a:pt x="0" y="21600"/>
                </a:lnTo>
                <a:close/>
              </a:path>
            </a:pathLst>
          </a:custGeom>
          <a:solidFill>
            <a:srgbClr val="FFA92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0" name="Rect 270"/>
          <p:cNvSpPr/>
          <p:nvPr/>
        </p:nvSpPr>
        <p:spPr>
          <a:xfrm>
            <a:off x="9448665" y="1034895"/>
            <a:ext cx="58190" cy="369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3369"/>
                </a:lnTo>
                <a:lnTo>
                  <a:pt x="0" y="21600"/>
                </a:lnTo>
                <a:close/>
              </a:path>
            </a:pathLst>
          </a:custGeom>
          <a:solidFill>
            <a:srgbClr val="FFA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1" name="Rect 271"/>
          <p:cNvSpPr/>
          <p:nvPr/>
        </p:nvSpPr>
        <p:spPr>
          <a:xfrm>
            <a:off x="9499567" y="1034895"/>
            <a:ext cx="58190" cy="2463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9254"/>
                </a:lnTo>
                <a:lnTo>
                  <a:pt x="0" y="21600"/>
                </a:lnTo>
                <a:close/>
              </a:path>
            </a:pathLst>
          </a:custGeom>
          <a:solidFill>
            <a:srgbClr val="FFAB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2" name="Rect 272"/>
          <p:cNvSpPr/>
          <p:nvPr/>
        </p:nvSpPr>
        <p:spPr>
          <a:xfrm>
            <a:off x="9550469" y="1034895"/>
            <a:ext cx="50902" cy="1231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FFAC3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3" name="Rect 273"/>
          <p:cNvSpPr/>
          <p:nvPr/>
        </p:nvSpPr>
        <p:spPr>
          <a:xfrm>
            <a:off x="491382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4" name="Rect 274"/>
          <p:cNvSpPr/>
          <p:nvPr/>
        </p:nvSpPr>
        <p:spPr>
          <a:xfrm>
            <a:off x="527936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6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5" name="Rect 275"/>
          <p:cNvSpPr/>
          <p:nvPr/>
        </p:nvSpPr>
        <p:spPr>
          <a:xfrm>
            <a:off x="564490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6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6" name="Rect 276"/>
          <p:cNvSpPr/>
          <p:nvPr/>
        </p:nvSpPr>
        <p:spPr>
          <a:xfrm>
            <a:off x="601044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7" name="Rect 277"/>
          <p:cNvSpPr/>
          <p:nvPr/>
        </p:nvSpPr>
        <p:spPr>
          <a:xfrm>
            <a:off x="637597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" name="Rect 278"/>
          <p:cNvSpPr/>
          <p:nvPr/>
        </p:nvSpPr>
        <p:spPr>
          <a:xfrm>
            <a:off x="674151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" name="Rect 279"/>
          <p:cNvSpPr/>
          <p:nvPr/>
        </p:nvSpPr>
        <p:spPr>
          <a:xfrm>
            <a:off x="710705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9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" name="Rect 280"/>
          <p:cNvSpPr/>
          <p:nvPr/>
        </p:nvSpPr>
        <p:spPr>
          <a:xfrm>
            <a:off x="747259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9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" name="Rect 281"/>
          <p:cNvSpPr/>
          <p:nvPr/>
        </p:nvSpPr>
        <p:spPr>
          <a:xfrm>
            <a:off x="783813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A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Rect 282"/>
          <p:cNvSpPr/>
          <p:nvPr/>
        </p:nvSpPr>
        <p:spPr>
          <a:xfrm>
            <a:off x="820367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B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Rect 283"/>
          <p:cNvSpPr/>
          <p:nvPr/>
        </p:nvSpPr>
        <p:spPr>
          <a:xfrm>
            <a:off x="856920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B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" name="Rect 284"/>
          <p:cNvSpPr/>
          <p:nvPr/>
        </p:nvSpPr>
        <p:spPr>
          <a:xfrm>
            <a:off x="893474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C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" name="Rect 285"/>
          <p:cNvSpPr/>
          <p:nvPr/>
        </p:nvSpPr>
        <p:spPr>
          <a:xfrm>
            <a:off x="930028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C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" name="Rect 286"/>
          <p:cNvSpPr/>
          <p:nvPr/>
        </p:nvSpPr>
        <p:spPr>
          <a:xfrm>
            <a:off x="966582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D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" name="Rect 287"/>
          <p:cNvSpPr/>
          <p:nvPr/>
        </p:nvSpPr>
        <p:spPr>
          <a:xfrm>
            <a:off x="1003136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E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" name="Rect 288"/>
          <p:cNvSpPr/>
          <p:nvPr/>
        </p:nvSpPr>
        <p:spPr>
          <a:xfrm>
            <a:off x="1039690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E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" name="Rect 289"/>
          <p:cNvSpPr/>
          <p:nvPr/>
        </p:nvSpPr>
        <p:spPr>
          <a:xfrm>
            <a:off x="1076243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" name="Rect 290"/>
          <p:cNvSpPr/>
          <p:nvPr/>
        </p:nvSpPr>
        <p:spPr>
          <a:xfrm>
            <a:off x="1112797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0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" name="Rect 291"/>
          <p:cNvSpPr/>
          <p:nvPr/>
        </p:nvSpPr>
        <p:spPr>
          <a:xfrm>
            <a:off x="1149351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0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" name="Rect 292"/>
          <p:cNvSpPr/>
          <p:nvPr/>
        </p:nvSpPr>
        <p:spPr>
          <a:xfrm>
            <a:off x="1185905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1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" name="Rect 293"/>
          <p:cNvSpPr/>
          <p:nvPr/>
        </p:nvSpPr>
        <p:spPr>
          <a:xfrm>
            <a:off x="1222459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1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" name="Rect 294"/>
          <p:cNvSpPr/>
          <p:nvPr/>
        </p:nvSpPr>
        <p:spPr>
          <a:xfrm>
            <a:off x="1259013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2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" name="Rect 295"/>
          <p:cNvSpPr/>
          <p:nvPr/>
        </p:nvSpPr>
        <p:spPr>
          <a:xfrm>
            <a:off x="1295566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" name="Rect 296"/>
          <p:cNvSpPr/>
          <p:nvPr/>
        </p:nvSpPr>
        <p:spPr>
          <a:xfrm>
            <a:off x="1332120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" name="Rect 297"/>
          <p:cNvSpPr/>
          <p:nvPr/>
        </p:nvSpPr>
        <p:spPr>
          <a:xfrm>
            <a:off x="1368674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4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" name="Rect 298"/>
          <p:cNvSpPr/>
          <p:nvPr/>
        </p:nvSpPr>
        <p:spPr>
          <a:xfrm>
            <a:off x="1405228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4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" name="Rect 299"/>
          <p:cNvSpPr/>
          <p:nvPr/>
        </p:nvSpPr>
        <p:spPr>
          <a:xfrm>
            <a:off x="1441782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5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" name="Rect 300"/>
          <p:cNvSpPr/>
          <p:nvPr/>
        </p:nvSpPr>
        <p:spPr>
          <a:xfrm>
            <a:off x="1478336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6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" name="Rect 301"/>
          <p:cNvSpPr/>
          <p:nvPr/>
        </p:nvSpPr>
        <p:spPr>
          <a:xfrm>
            <a:off x="1514889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6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Rect 302"/>
          <p:cNvSpPr/>
          <p:nvPr/>
        </p:nvSpPr>
        <p:spPr>
          <a:xfrm>
            <a:off x="1551443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7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" name="Rect 303"/>
          <p:cNvSpPr/>
          <p:nvPr/>
        </p:nvSpPr>
        <p:spPr>
          <a:xfrm>
            <a:off x="1587997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" name="Rect 304"/>
          <p:cNvSpPr/>
          <p:nvPr/>
        </p:nvSpPr>
        <p:spPr>
          <a:xfrm>
            <a:off x="1624551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Rect 305"/>
          <p:cNvSpPr/>
          <p:nvPr/>
        </p:nvSpPr>
        <p:spPr>
          <a:xfrm>
            <a:off x="1661105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9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" name="Rect 306"/>
          <p:cNvSpPr/>
          <p:nvPr/>
        </p:nvSpPr>
        <p:spPr>
          <a:xfrm>
            <a:off x="1697659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9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Rect 307"/>
          <p:cNvSpPr/>
          <p:nvPr/>
        </p:nvSpPr>
        <p:spPr>
          <a:xfrm>
            <a:off x="1734212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A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" name="Rect 308"/>
          <p:cNvSpPr/>
          <p:nvPr/>
        </p:nvSpPr>
        <p:spPr>
          <a:xfrm>
            <a:off x="1770766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B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" name="Rect 309"/>
          <p:cNvSpPr/>
          <p:nvPr/>
        </p:nvSpPr>
        <p:spPr>
          <a:xfrm>
            <a:off x="1807320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B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" name="Rect 310"/>
          <p:cNvSpPr/>
          <p:nvPr/>
        </p:nvSpPr>
        <p:spPr>
          <a:xfrm>
            <a:off x="1843874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C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" name="Rect 311"/>
          <p:cNvSpPr/>
          <p:nvPr/>
        </p:nvSpPr>
        <p:spPr>
          <a:xfrm>
            <a:off x="1880428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D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" name="Rect 312"/>
          <p:cNvSpPr/>
          <p:nvPr/>
        </p:nvSpPr>
        <p:spPr>
          <a:xfrm>
            <a:off x="1916982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D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" name="Rect 313"/>
          <p:cNvSpPr/>
          <p:nvPr/>
        </p:nvSpPr>
        <p:spPr>
          <a:xfrm>
            <a:off x="1953535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E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" name="Rect 314"/>
          <p:cNvSpPr/>
          <p:nvPr/>
        </p:nvSpPr>
        <p:spPr>
          <a:xfrm>
            <a:off x="1990089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E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Rect 315"/>
          <p:cNvSpPr/>
          <p:nvPr/>
        </p:nvSpPr>
        <p:spPr>
          <a:xfrm>
            <a:off x="2026643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8F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" name="Rect 316"/>
          <p:cNvSpPr/>
          <p:nvPr/>
        </p:nvSpPr>
        <p:spPr>
          <a:xfrm>
            <a:off x="2063197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0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" name="Rect 317"/>
          <p:cNvSpPr/>
          <p:nvPr/>
        </p:nvSpPr>
        <p:spPr>
          <a:xfrm>
            <a:off x="2099751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0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" name="Rect 318"/>
          <p:cNvSpPr/>
          <p:nvPr/>
        </p:nvSpPr>
        <p:spPr>
          <a:xfrm>
            <a:off x="2136305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1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" name="Rect 319"/>
          <p:cNvSpPr/>
          <p:nvPr/>
        </p:nvSpPr>
        <p:spPr>
          <a:xfrm>
            <a:off x="2172858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1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" name="Rect 320"/>
          <p:cNvSpPr/>
          <p:nvPr/>
        </p:nvSpPr>
        <p:spPr>
          <a:xfrm>
            <a:off x="2209412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" name="Rect 321"/>
          <p:cNvSpPr/>
          <p:nvPr/>
        </p:nvSpPr>
        <p:spPr>
          <a:xfrm>
            <a:off x="2245966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3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" name="Rect 322"/>
          <p:cNvSpPr/>
          <p:nvPr/>
        </p:nvSpPr>
        <p:spPr>
          <a:xfrm>
            <a:off x="2282520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3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" name="Rect 323"/>
          <p:cNvSpPr/>
          <p:nvPr/>
        </p:nvSpPr>
        <p:spPr>
          <a:xfrm>
            <a:off x="2319074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4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" name="Rect 324"/>
          <p:cNvSpPr/>
          <p:nvPr/>
        </p:nvSpPr>
        <p:spPr>
          <a:xfrm>
            <a:off x="2355628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5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5" name="Rect 325"/>
          <p:cNvSpPr/>
          <p:nvPr/>
        </p:nvSpPr>
        <p:spPr>
          <a:xfrm>
            <a:off x="2392181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5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6" name="Rect 326"/>
          <p:cNvSpPr/>
          <p:nvPr/>
        </p:nvSpPr>
        <p:spPr>
          <a:xfrm>
            <a:off x="2428735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6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7" name="Rect 327"/>
          <p:cNvSpPr/>
          <p:nvPr/>
        </p:nvSpPr>
        <p:spPr>
          <a:xfrm>
            <a:off x="2465289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6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8" name="Rect 328"/>
          <p:cNvSpPr/>
          <p:nvPr/>
        </p:nvSpPr>
        <p:spPr>
          <a:xfrm>
            <a:off x="2501843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7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9" name="Rect 329"/>
          <p:cNvSpPr/>
          <p:nvPr/>
        </p:nvSpPr>
        <p:spPr>
          <a:xfrm>
            <a:off x="2538397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8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30" name="Rect 330"/>
          <p:cNvSpPr/>
          <p:nvPr/>
        </p:nvSpPr>
        <p:spPr>
          <a:xfrm>
            <a:off x="2574951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9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1" name="Rect 331"/>
          <p:cNvSpPr/>
          <p:nvPr/>
        </p:nvSpPr>
        <p:spPr>
          <a:xfrm>
            <a:off x="2611504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0804"/>
                </a:lnTo>
                <a:lnTo>
                  <a:pt x="0" y="21600"/>
                </a:lnTo>
                <a:close/>
              </a:path>
            </a:pathLst>
          </a:custGeom>
          <a:solidFill>
            <a:srgbClr val="009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2" name="Rect 332"/>
          <p:cNvSpPr/>
          <p:nvPr/>
        </p:nvSpPr>
        <p:spPr>
          <a:xfrm>
            <a:off x="2648058" y="5159898"/>
            <a:ext cx="43842" cy="43727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6470"/>
                </a:lnTo>
                <a:lnTo>
                  <a:pt x="0" y="21600"/>
                </a:lnTo>
                <a:close/>
              </a:path>
            </a:pathLst>
          </a:custGeom>
          <a:solidFill>
            <a:srgbClr val="009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3" name="Rect 333"/>
          <p:cNvSpPr/>
          <p:nvPr/>
        </p:nvSpPr>
        <p:spPr>
          <a:xfrm>
            <a:off x="2684612" y="5159898"/>
            <a:ext cx="43842" cy="3509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5123"/>
                </a:lnTo>
                <a:lnTo>
                  <a:pt x="0" y="21600"/>
                </a:lnTo>
                <a:close/>
              </a:path>
            </a:pathLst>
          </a:custGeom>
          <a:solidFill>
            <a:srgbClr val="009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4" name="Rect 334"/>
          <p:cNvSpPr/>
          <p:nvPr/>
        </p:nvSpPr>
        <p:spPr>
          <a:xfrm>
            <a:off x="2721166" y="5159898"/>
            <a:ext cx="43842" cy="2631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2964"/>
                </a:lnTo>
                <a:lnTo>
                  <a:pt x="0" y="21600"/>
                </a:lnTo>
                <a:close/>
              </a:path>
            </a:pathLst>
          </a:custGeom>
          <a:solidFill>
            <a:srgbClr val="009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5" name="Rect 335"/>
          <p:cNvSpPr/>
          <p:nvPr/>
        </p:nvSpPr>
        <p:spPr>
          <a:xfrm>
            <a:off x="2757720" y="5159898"/>
            <a:ext cx="43842" cy="17545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8647"/>
                </a:lnTo>
                <a:lnTo>
                  <a:pt x="0" y="21600"/>
                </a:lnTo>
                <a:close/>
              </a:path>
            </a:pathLst>
          </a:custGeom>
          <a:solidFill>
            <a:srgbClr val="009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" name="Rect 336"/>
          <p:cNvSpPr/>
          <p:nvPr/>
        </p:nvSpPr>
        <p:spPr>
          <a:xfrm>
            <a:off x="2794274" y="5159898"/>
            <a:ext cx="36554" cy="8772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009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" name="Rect 337"/>
          <p:cNvSpPr/>
          <p:nvPr/>
        </p:nvSpPr>
        <p:spPr>
          <a:xfrm>
            <a:off x="345622" y="983879"/>
            <a:ext cx="787103" cy="7652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7611"/>
                </a:moveTo>
                <a:lnTo>
                  <a:pt x="3600" y="0"/>
                </a:lnTo>
                <a:lnTo>
                  <a:pt x="18000" y="0"/>
                </a:lnTo>
                <a:lnTo>
                  <a:pt x="21600" y="8640"/>
                </a:lnTo>
                <a:lnTo>
                  <a:pt x="18000" y="16869"/>
                </a:lnTo>
                <a:lnTo>
                  <a:pt x="5000" y="16869"/>
                </a:lnTo>
                <a:lnTo>
                  <a:pt x="0" y="21600"/>
                </a:lnTo>
                <a:close/>
              </a:path>
            </a:pathLst>
          </a:custGeom>
          <a:solidFill>
            <a:srgbClr val="008DFF"/>
          </a:solidFill>
          <a:ln w="8255">
            <a:solidFill>
              <a:srgbClr val="DBF6FF"/>
            </a:solidFill>
          </a:ln>
        </p:spPr>
        <p:txBody>
          <a:bodyPr/>
          <a:lstStyle/>
          <a:p/>
        </p:txBody>
      </p:sp>
      <p:sp>
        <p:nvSpPr>
          <p:cNvPr id="338" name="Rect 338"/>
          <p:cNvSpPr/>
          <p:nvPr/>
        </p:nvSpPr>
        <p:spPr>
          <a:xfrm>
            <a:off x="6168728" y="983879"/>
            <a:ext cx="816255" cy="7652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" y="7406"/>
                </a:moveTo>
                <a:lnTo>
                  <a:pt x="3664" y="0"/>
                </a:lnTo>
                <a:lnTo>
                  <a:pt x="18129" y="0"/>
                </a:lnTo>
                <a:lnTo>
                  <a:pt x="21600" y="8640"/>
                </a:lnTo>
                <a:lnTo>
                  <a:pt x="17936" y="16869"/>
                </a:lnTo>
                <a:lnTo>
                  <a:pt x="5014" y="16869"/>
                </a:lnTo>
                <a:lnTo>
                  <a:pt x="0" y="21600"/>
                </a:lnTo>
                <a:close/>
              </a:path>
            </a:pathLst>
          </a:custGeom>
          <a:solidFill>
            <a:srgbClr val="FF9000"/>
          </a:solidFill>
          <a:ln w="8255">
            <a:solidFill>
              <a:srgbClr val="FFF7E8"/>
            </a:solidFill>
          </a:ln>
        </p:spPr>
        <p:txBody>
          <a:bodyPr/>
          <a:lstStyle/>
          <a:p/>
        </p:txBody>
      </p:sp>
      <p:sp>
        <p:nvSpPr>
          <p:cNvPr id="339" name="Rect 339"/>
          <p:cNvSpPr/>
          <p:nvPr/>
        </p:nvSpPr>
        <p:spPr>
          <a:xfrm>
            <a:off x="338334" y="5159898"/>
            <a:ext cx="604903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60" y="7112"/>
                </a:moveTo>
                <a:lnTo>
                  <a:pt x="4945" y="0"/>
                </a:lnTo>
                <a:lnTo>
                  <a:pt x="15614" y="0"/>
                </a:lnTo>
                <a:lnTo>
                  <a:pt x="21600" y="8166"/>
                </a:lnTo>
                <a:lnTo>
                  <a:pt x="16655" y="15805"/>
                </a:lnTo>
                <a:lnTo>
                  <a:pt x="7547" y="15805"/>
                </a:lnTo>
                <a:lnTo>
                  <a:pt x="0" y="21600"/>
                </a:lnTo>
                <a:close/>
              </a:path>
            </a:pathLst>
          </a:custGeom>
          <a:solidFill>
            <a:srgbClr val="0086FF"/>
          </a:solidFill>
          <a:ln w="8255">
            <a:solidFill>
              <a:srgbClr val="E8FBFF"/>
            </a:solidFill>
          </a:ln>
        </p:spPr>
        <p:txBody>
          <a:bodyPr/>
          <a:lstStyle/>
          <a:p/>
        </p:txBody>
      </p:sp>
      <p:sp>
        <p:nvSpPr>
          <p:cNvPr id="340" name="Line 340"/>
          <p:cNvSpPr/>
          <p:nvPr/>
        </p:nvSpPr>
        <p:spPr>
          <a:xfrm>
            <a:off x="4609097" y="5895985"/>
            <a:ext cx="0" cy="298808"/>
          </a:xfrm>
          <a:prstGeom prst="line">
            <a:avLst/>
          </a:prstGeom>
          <a:noFill/>
          <a:ln w="8255">
            <a:solidFill>
              <a:srgbClr val="0D7CFF"/>
            </a:solidFill>
          </a:ln>
        </p:spPr>
        <p:txBody>
          <a:bodyPr/>
          <a:lstStyle/>
          <a:p/>
        </p:txBody>
      </p:sp>
      <p:sp>
        <p:nvSpPr>
          <p:cNvPr id="341" name="Line 341"/>
          <p:cNvSpPr/>
          <p:nvPr/>
        </p:nvSpPr>
        <p:spPr>
          <a:xfrm>
            <a:off x="8457157" y="5895985"/>
            <a:ext cx="0" cy="298808"/>
          </a:xfrm>
          <a:prstGeom prst="line">
            <a:avLst/>
          </a:prstGeom>
          <a:noFill/>
          <a:ln w="8255">
            <a:solidFill>
              <a:srgbClr val="0D7CFF"/>
            </a:solidFill>
          </a:ln>
        </p:spPr>
        <p:txBody>
          <a:bodyPr/>
          <a:lstStyle/>
          <a:p/>
        </p:txBody>
      </p:sp>
      <p:pic>
        <p:nvPicPr>
          <p:cNvPr id="342" name="Source-separated section-clipboard"/>
          <p:cNvPicPr/>
          <p:nvPr/>
        </p:nvPicPr>
        <p:blipFill>
          <a:blip r:embed="rId3"/>
          <a:stretch>
            <a:fillRect/>
          </a:stretch>
        </p:blipFill>
        <p:spPr>
          <a:xfrm>
            <a:off x="524699" y="1027978"/>
            <a:ext cx="392510" cy="468288"/>
          </a:xfrm>
          <a:prstGeom prst="rect">
            <a:avLst/>
          </a:prstGeom>
        </p:spPr>
      </p:pic>
      <p:pic>
        <p:nvPicPr>
          <p:cNvPr id="343" name="Source-separated section-gear"/>
          <p:cNvPicPr/>
          <p:nvPr/>
        </p:nvPicPr>
        <p:blipFill>
          <a:blip r:embed="rId4"/>
          <a:stretch>
            <a:fillRect/>
          </a:stretch>
        </p:blipFill>
        <p:spPr>
          <a:xfrm>
            <a:off x="6310043" y="1039135"/>
            <a:ext cx="489895" cy="443772"/>
          </a:xfrm>
          <a:prstGeom prst="rect">
            <a:avLst/>
          </a:prstGeom>
        </p:spPr>
      </p:pic>
      <p:pic>
        <p:nvPicPr>
          <p:cNvPr id="344" name="Source-separated section-diamond"/>
          <p:cNvPicPr/>
          <p:nvPr/>
        </p:nvPicPr>
        <p:blipFill>
          <a:blip r:embed="rId5"/>
          <a:stretch>
            <a:fillRect/>
          </a:stretch>
        </p:blipFill>
        <p:spPr>
          <a:xfrm>
            <a:off x="502519" y="5194589"/>
            <a:ext cx="444158" cy="344868"/>
          </a:xfrm>
          <a:prstGeom prst="rect">
            <a:avLst/>
          </a:prstGeom>
        </p:spPr>
      </p:pic>
      <p:pic>
        <p:nvPicPr>
          <p:cNvPr id="345" name="Source-separated project-document"/>
          <p:cNvPicPr/>
          <p:nvPr/>
        </p:nvPicPr>
        <p:blipFill>
          <a:blip r:embed="rId6"/>
          <a:stretch>
            <a:fillRect/>
          </a:stretch>
        </p:blipFill>
        <p:spPr>
          <a:xfrm>
            <a:off x="753542" y="1840557"/>
            <a:ext cx="401256" cy="436827"/>
          </a:xfrm>
          <a:prstGeom prst="rect">
            <a:avLst/>
          </a:prstGeom>
        </p:spPr>
      </p:pic>
      <p:pic>
        <p:nvPicPr>
          <p:cNvPr id="346" name="Source-separated architecture-layers"/>
          <p:cNvPicPr/>
          <p:nvPr/>
        </p:nvPicPr>
        <p:blipFill>
          <a:blip r:embed="rId7"/>
          <a:stretch>
            <a:fillRect/>
          </a:stretch>
        </p:blipFill>
        <p:spPr>
          <a:xfrm>
            <a:off x="719266" y="2663014"/>
            <a:ext cx="462518" cy="482501"/>
          </a:xfrm>
          <a:prstGeom prst="rect">
            <a:avLst/>
          </a:prstGeom>
        </p:spPr>
      </p:pic>
      <p:pic>
        <p:nvPicPr>
          <p:cNvPr id="347" name="Source-separated goal-target"/>
          <p:cNvPicPr/>
          <p:nvPr/>
        </p:nvPicPr>
        <p:blipFill>
          <a:blip r:embed="rId8"/>
          <a:stretch>
            <a:fillRect/>
          </a:stretch>
        </p:blipFill>
        <p:spPr>
          <a:xfrm>
            <a:off x="727550" y="3487979"/>
            <a:ext cx="475103" cy="472370"/>
          </a:xfrm>
          <a:prstGeom prst="rect">
            <a:avLst/>
          </a:prstGeom>
        </p:spPr>
      </p:pic>
      <p:pic>
        <p:nvPicPr>
          <p:cNvPr id="348" name="Source-separated verification-clipboard"/>
          <p:cNvPicPr/>
          <p:nvPr/>
        </p:nvPicPr>
        <p:blipFill>
          <a:blip r:embed="rId9"/>
          <a:stretch>
            <a:fillRect/>
          </a:stretch>
        </p:blipFill>
        <p:spPr>
          <a:xfrm>
            <a:off x="731451" y="4288183"/>
            <a:ext cx="445438" cy="489895"/>
          </a:xfrm>
          <a:prstGeom prst="rect">
            <a:avLst/>
          </a:prstGeom>
        </p:spPr>
      </p:pic>
      <p:pic>
        <p:nvPicPr>
          <p:cNvPr id="349" name="Source-separated board-waveform"/>
          <p:cNvPicPr/>
          <p:nvPr/>
        </p:nvPicPr>
        <p:blipFill>
          <a:blip r:embed="rId10"/>
          <a:stretch>
            <a:fillRect/>
          </a:stretch>
        </p:blipFill>
        <p:spPr>
          <a:xfrm>
            <a:off x="6571501" y="1891311"/>
            <a:ext cx="499004" cy="429836"/>
          </a:xfrm>
          <a:prstGeom prst="rect">
            <a:avLst/>
          </a:prstGeom>
        </p:spPr>
      </p:pic>
      <p:pic>
        <p:nvPicPr>
          <p:cNvPr id="350" name="Source-separated bom-cubes"/>
          <p:cNvPicPr/>
          <p:nvPr/>
        </p:nvPicPr>
        <p:blipFill>
          <a:blip r:embed="rId11"/>
          <a:stretch>
            <a:fillRect/>
          </a:stretch>
        </p:blipFill>
        <p:spPr>
          <a:xfrm>
            <a:off x="6569528" y="2648237"/>
            <a:ext cx="495662" cy="512055"/>
          </a:xfrm>
          <a:prstGeom prst="rect">
            <a:avLst/>
          </a:prstGeom>
        </p:spPr>
      </p:pic>
      <p:pic>
        <p:nvPicPr>
          <p:cNvPr id="351" name="Source-separated calibration-sliders"/>
          <p:cNvPicPr/>
          <p:nvPr/>
        </p:nvPicPr>
        <p:blipFill>
          <a:blip r:embed="rId12"/>
          <a:stretch>
            <a:fillRect/>
          </a:stretch>
        </p:blipFill>
        <p:spPr>
          <a:xfrm>
            <a:off x="6599300" y="3503064"/>
            <a:ext cx="443405" cy="456776"/>
          </a:xfrm>
          <a:prstGeom prst="rect">
            <a:avLst/>
          </a:prstGeom>
        </p:spPr>
      </p:pic>
      <p:pic>
        <p:nvPicPr>
          <p:cNvPr id="352" name="Source-separated error-document"/>
          <p:cNvPicPr/>
          <p:nvPr/>
        </p:nvPicPr>
        <p:blipFill>
          <a:blip r:embed="rId13"/>
          <a:stretch>
            <a:fillRect/>
          </a:stretch>
        </p:blipFill>
        <p:spPr>
          <a:xfrm>
            <a:off x="6608943" y="4310047"/>
            <a:ext cx="431407" cy="489895"/>
          </a:xfrm>
          <a:prstGeom prst="rect">
            <a:avLst/>
          </a:prstGeom>
        </p:spPr>
      </p:pic>
      <p:pic>
        <p:nvPicPr>
          <p:cNvPr id="353" name="Source-separated value-target"/>
          <p:cNvPicPr/>
          <p:nvPr/>
        </p:nvPicPr>
        <p:blipFill>
          <a:blip r:embed="rId14"/>
          <a:stretch>
            <a:fillRect/>
          </a:stretch>
        </p:blipFill>
        <p:spPr>
          <a:xfrm>
            <a:off x="961724" y="5794255"/>
            <a:ext cx="480474" cy="458540"/>
          </a:xfrm>
          <a:prstGeom prst="rect">
            <a:avLst/>
          </a:prstGeom>
        </p:spPr>
      </p:pic>
      <p:pic>
        <p:nvPicPr>
          <p:cNvPr id="354" name="Source-separated value-bars"/>
          <p:cNvPicPr/>
          <p:nvPr/>
        </p:nvPicPr>
        <p:blipFill>
          <a:blip r:embed="rId15"/>
          <a:stretch>
            <a:fillRect/>
          </a:stretch>
        </p:blipFill>
        <p:spPr>
          <a:xfrm>
            <a:off x="5011619" y="5807183"/>
            <a:ext cx="419340" cy="447260"/>
          </a:xfrm>
          <a:prstGeom prst="rect">
            <a:avLst/>
          </a:prstGeom>
        </p:spPr>
      </p:pic>
      <p:pic>
        <p:nvPicPr>
          <p:cNvPr id="355" name="Source-separated value-database"/>
          <p:cNvPicPr/>
          <p:nvPr/>
        </p:nvPicPr>
        <p:blipFill>
          <a:blip r:embed="rId16"/>
          <a:stretch>
            <a:fillRect/>
          </a:stretch>
        </p:blipFill>
        <p:spPr>
          <a:xfrm>
            <a:off x="8858695" y="5802394"/>
            <a:ext cx="406730" cy="444429"/>
          </a:xfrm>
          <a:prstGeom prst="rect">
            <a:avLst/>
          </a:prstGeom>
        </p:spPr>
      </p:pic>
      <p:pic>
        <p:nvPicPr>
          <p:cNvPr id="356" name="Source-separated value-chevron-1"/>
          <p:cNvPicPr/>
          <p:nvPr/>
        </p:nvPicPr>
        <p:blipFill>
          <a:blip r:embed="rId17"/>
          <a:stretch>
            <a:fillRect/>
          </a:stretch>
        </p:blipFill>
        <p:spPr>
          <a:xfrm>
            <a:off x="4037511" y="5803198"/>
            <a:ext cx="392510" cy="462518"/>
          </a:xfrm>
          <a:prstGeom prst="rect">
            <a:avLst/>
          </a:prstGeom>
        </p:spPr>
      </p:pic>
      <p:pic>
        <p:nvPicPr>
          <p:cNvPr id="357" name="Source-separated value-chevron-2"/>
          <p:cNvPicPr/>
          <p:nvPr/>
        </p:nvPicPr>
        <p:blipFill>
          <a:blip r:embed="rId18"/>
          <a:stretch>
            <a:fillRect/>
          </a:stretch>
        </p:blipFill>
        <p:spPr>
          <a:xfrm>
            <a:off x="7894662" y="5803198"/>
            <a:ext cx="381615" cy="462518"/>
          </a:xfrm>
          <a:prstGeom prst="rect">
            <a:avLst/>
          </a:prstGeom>
        </p:spPr>
      </p:pic>
      <p:sp>
        <p:nvSpPr>
          <p:cNvPr id="358" name="TextBox 358"/>
          <p:cNvSpPr txBox="1"/>
          <p:nvPr/>
        </p:nvSpPr>
        <p:spPr>
          <a:xfrm>
            <a:off x="1023406" y="211352"/>
            <a:ext cx="39355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</a:t>
            </a:r>
            <a:endParaRPr lang="zh-CN" sz="2400"/>
          </a:p>
        </p:txBody>
      </p:sp>
      <p:sp>
        <p:nvSpPr>
          <p:cNvPr id="359" name="TextBox 359"/>
          <p:cNvSpPr txBox="1"/>
          <p:nvPr/>
        </p:nvSpPr>
        <p:spPr>
          <a:xfrm>
            <a:off x="1402381" y="211352"/>
            <a:ext cx="39355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前</a:t>
            </a:r>
            <a:endParaRPr lang="zh-CN" sz="2400"/>
          </a:p>
        </p:txBody>
      </p:sp>
      <p:sp>
        <p:nvSpPr>
          <p:cNvPr id="360" name="TextBox 360"/>
          <p:cNvSpPr txBox="1"/>
          <p:nvPr/>
        </p:nvSpPr>
        <p:spPr>
          <a:xfrm>
            <a:off x="1781357" y="211352"/>
            <a:ext cx="39355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进</a:t>
            </a:r>
            <a:endParaRPr lang="zh-CN" sz="2400"/>
          </a:p>
        </p:txBody>
      </p:sp>
      <p:sp>
        <p:nvSpPr>
          <p:cNvPr id="361" name="TextBox 361"/>
          <p:cNvSpPr txBox="1"/>
          <p:nvPr/>
        </p:nvSpPr>
        <p:spPr>
          <a:xfrm>
            <a:off x="2160332" y="211352"/>
            <a:ext cx="39355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度</a:t>
            </a:r>
            <a:endParaRPr lang="zh-CN" sz="2400"/>
          </a:p>
        </p:txBody>
      </p:sp>
      <p:sp>
        <p:nvSpPr>
          <p:cNvPr id="362" name="TextBox 362"/>
          <p:cNvSpPr txBox="1"/>
          <p:nvPr/>
        </p:nvSpPr>
        <p:spPr>
          <a:xfrm>
            <a:off x="2539308" y="211352"/>
            <a:ext cx="39355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与</a:t>
            </a:r>
            <a:endParaRPr lang="zh-CN" sz="2400"/>
          </a:p>
        </p:txBody>
      </p:sp>
      <p:sp>
        <p:nvSpPr>
          <p:cNvPr id="363" name="TextBox 363"/>
          <p:cNvSpPr txBox="1"/>
          <p:nvPr/>
        </p:nvSpPr>
        <p:spPr>
          <a:xfrm>
            <a:off x="2918283" y="211352"/>
            <a:ext cx="39355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待</a:t>
            </a:r>
            <a:endParaRPr lang="zh-CN" sz="2400"/>
          </a:p>
        </p:txBody>
      </p:sp>
      <p:sp>
        <p:nvSpPr>
          <p:cNvPr id="364" name="TextBox 364"/>
          <p:cNvSpPr txBox="1"/>
          <p:nvPr/>
        </p:nvSpPr>
        <p:spPr>
          <a:xfrm>
            <a:off x="3297259" y="211352"/>
            <a:ext cx="39355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补</a:t>
            </a:r>
            <a:endParaRPr lang="zh-CN" sz="2400"/>
          </a:p>
        </p:txBody>
      </p:sp>
      <p:sp>
        <p:nvSpPr>
          <p:cNvPr id="365" name="TextBox 365"/>
          <p:cNvSpPr txBox="1"/>
          <p:nvPr/>
        </p:nvSpPr>
        <p:spPr>
          <a:xfrm>
            <a:off x="3676234" y="211352"/>
            <a:ext cx="39355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</a:t>
            </a:r>
            <a:endParaRPr lang="zh-CN" sz="2400"/>
          </a:p>
        </p:txBody>
      </p:sp>
      <p:sp>
        <p:nvSpPr>
          <p:cNvPr id="366" name="TextBox 366"/>
          <p:cNvSpPr txBox="1"/>
          <p:nvPr/>
        </p:nvSpPr>
        <p:spPr>
          <a:xfrm>
            <a:off x="4055210" y="211352"/>
            <a:ext cx="39355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料</a:t>
            </a:r>
            <a:endParaRPr lang="zh-CN" sz="2400"/>
          </a:p>
        </p:txBody>
      </p:sp>
      <p:sp>
        <p:nvSpPr>
          <p:cNvPr id="367" name="TextBox 367"/>
          <p:cNvSpPr txBox="1"/>
          <p:nvPr/>
        </p:nvSpPr>
        <p:spPr>
          <a:xfrm>
            <a:off x="1256621" y="1078623"/>
            <a:ext cx="1654374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方案已有</a:t>
            </a:r>
            <a:endParaRPr lang="zh-CN" sz="2200"/>
          </a:p>
        </p:txBody>
      </p:sp>
      <p:sp>
        <p:nvSpPr>
          <p:cNvPr id="368" name="TextBox 368"/>
          <p:cNvSpPr txBox="1"/>
          <p:nvPr/>
        </p:nvSpPr>
        <p:spPr>
          <a:xfrm>
            <a:off x="7159894" y="1078623"/>
            <a:ext cx="2332157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实物与测试待补</a:t>
            </a:r>
            <a:endParaRPr lang="zh-CN" sz="2200"/>
          </a:p>
        </p:txBody>
      </p:sp>
      <p:sp>
        <p:nvSpPr>
          <p:cNvPr id="369" name="TextBox 369"/>
          <p:cNvSpPr txBox="1"/>
          <p:nvPr/>
        </p:nvSpPr>
        <p:spPr>
          <a:xfrm>
            <a:off x="1088997" y="5189050"/>
            <a:ext cx="1603358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拟验证价值</a:t>
            </a:r>
            <a:endParaRPr lang="zh-CN" sz="2030"/>
          </a:p>
        </p:txBody>
      </p:sp>
      <p:sp>
        <p:nvSpPr>
          <p:cNvPr id="370" name="TextBox 370"/>
          <p:cNvSpPr txBox="1"/>
          <p:nvPr/>
        </p:nvSpPr>
        <p:spPr>
          <a:xfrm>
            <a:off x="1497125" y="1807422"/>
            <a:ext cx="262367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6245D"/>
                </a:solidFill>
                <a:latin typeface="Noto Sans CJK SC"/>
                <a:ea typeface="Noto Sans CJK SC"/>
                <a:cs typeface="Noto Sans CJK SC"/>
              </a:rPr>
              <a:t>项目定位</a:t>
            </a:r>
            <a:endParaRPr lang="zh-CN" sz="1550"/>
          </a:p>
        </p:txBody>
      </p:sp>
      <p:sp>
        <p:nvSpPr>
          <p:cNvPr id="371" name="TextBox 371"/>
          <p:cNvSpPr txBox="1"/>
          <p:nvPr/>
        </p:nvSpPr>
        <p:spPr>
          <a:xfrm>
            <a:off x="1497125" y="2091654"/>
            <a:ext cx="2696557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526C98"/>
                </a:solidFill>
                <a:latin typeface="Noto Sans CJK SC"/>
                <a:ea typeface="Noto Sans CJK SC"/>
                <a:cs typeface="Noto Sans CJK SC"/>
              </a:rPr>
              <a:t>明确应用场景与目标需求</a:t>
            </a:r>
            <a:endParaRPr lang="zh-CN" sz="1250"/>
          </a:p>
        </p:txBody>
      </p:sp>
      <p:sp>
        <p:nvSpPr>
          <p:cNvPr id="372" name="TextBox 372"/>
          <p:cNvSpPr txBox="1"/>
          <p:nvPr/>
        </p:nvSpPr>
        <p:spPr>
          <a:xfrm>
            <a:off x="4281138" y="1887590"/>
            <a:ext cx="1370142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7CFF"/>
                </a:solidFill>
                <a:latin typeface="Noto Sans CJK SC"/>
                <a:ea typeface="Noto Sans CJK SC"/>
                <a:cs typeface="Noto Sans CJK SC"/>
              </a:rPr>
              <a:t>方案已完成</a:t>
            </a:r>
            <a:endParaRPr lang="zh-CN" sz="1150"/>
          </a:p>
        </p:txBody>
      </p:sp>
      <p:sp>
        <p:nvSpPr>
          <p:cNvPr id="373" name="TextBox 373"/>
          <p:cNvSpPr txBox="1"/>
          <p:nvPr/>
        </p:nvSpPr>
        <p:spPr>
          <a:xfrm>
            <a:off x="1497125" y="2623677"/>
            <a:ext cx="262367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6245D"/>
                </a:solidFill>
                <a:latin typeface="Noto Sans CJK SC"/>
                <a:ea typeface="Noto Sans CJK SC"/>
                <a:cs typeface="Noto Sans CJK SC"/>
              </a:rPr>
              <a:t>架构方案</a:t>
            </a:r>
            <a:endParaRPr lang="zh-CN" sz="1550"/>
          </a:p>
        </p:txBody>
      </p:sp>
      <p:sp>
        <p:nvSpPr>
          <p:cNvPr id="374" name="TextBox 374"/>
          <p:cNvSpPr txBox="1"/>
          <p:nvPr/>
        </p:nvSpPr>
        <p:spPr>
          <a:xfrm>
            <a:off x="1497125" y="2907909"/>
            <a:ext cx="2696557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526C98"/>
                </a:solidFill>
                <a:latin typeface="Noto Sans CJK SC"/>
                <a:ea typeface="Noto Sans CJK SC"/>
                <a:cs typeface="Noto Sans CJK SC"/>
              </a:rPr>
              <a:t>系统架构与功能模块设计</a:t>
            </a:r>
            <a:endParaRPr lang="zh-CN" sz="1250"/>
          </a:p>
        </p:txBody>
      </p:sp>
      <p:sp>
        <p:nvSpPr>
          <p:cNvPr id="375" name="TextBox 375"/>
          <p:cNvSpPr txBox="1"/>
          <p:nvPr/>
        </p:nvSpPr>
        <p:spPr>
          <a:xfrm>
            <a:off x="4281138" y="2703845"/>
            <a:ext cx="1370142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7CFF"/>
                </a:solidFill>
                <a:latin typeface="Noto Sans CJK SC"/>
                <a:ea typeface="Noto Sans CJK SC"/>
                <a:cs typeface="Noto Sans CJK SC"/>
              </a:rPr>
              <a:t>方案已完成</a:t>
            </a:r>
            <a:endParaRPr lang="zh-CN" sz="1150"/>
          </a:p>
        </p:txBody>
      </p:sp>
      <p:sp>
        <p:nvSpPr>
          <p:cNvPr id="376" name="TextBox 376"/>
          <p:cNvSpPr txBox="1"/>
          <p:nvPr/>
        </p:nvSpPr>
        <p:spPr>
          <a:xfrm>
            <a:off x="1497125" y="3447220"/>
            <a:ext cx="262367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6245D"/>
                </a:solidFill>
                <a:latin typeface="Noto Sans CJK SC"/>
                <a:ea typeface="Noto Sans CJK SC"/>
                <a:cs typeface="Noto Sans CJK SC"/>
              </a:rPr>
              <a:t>条件化目标</a:t>
            </a:r>
            <a:endParaRPr lang="zh-CN" sz="1550"/>
          </a:p>
        </p:txBody>
      </p:sp>
      <p:sp>
        <p:nvSpPr>
          <p:cNvPr id="377" name="TextBox 377"/>
          <p:cNvSpPr txBox="1"/>
          <p:nvPr/>
        </p:nvSpPr>
        <p:spPr>
          <a:xfrm>
            <a:off x="1497125" y="3731452"/>
            <a:ext cx="2696557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526C98"/>
                </a:solidFill>
                <a:latin typeface="Noto Sans CJK SC"/>
                <a:ea typeface="Noto Sans CJK SC"/>
                <a:cs typeface="Noto Sans CJK SC"/>
              </a:rPr>
              <a:t>形成研发阶段目标与验收标准</a:t>
            </a:r>
            <a:endParaRPr lang="zh-CN" sz="1250"/>
          </a:p>
        </p:txBody>
      </p:sp>
      <p:sp>
        <p:nvSpPr>
          <p:cNvPr id="378" name="TextBox 378"/>
          <p:cNvSpPr txBox="1"/>
          <p:nvPr/>
        </p:nvSpPr>
        <p:spPr>
          <a:xfrm>
            <a:off x="4281138" y="3527388"/>
            <a:ext cx="1370142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FF7100"/>
                </a:solidFill>
                <a:latin typeface="Noto Sans CJK SC"/>
                <a:ea typeface="Noto Sans CJK SC"/>
                <a:cs typeface="Noto Sans CJK SC"/>
              </a:rPr>
              <a:t>研发目标</a:t>
            </a:r>
            <a:endParaRPr lang="zh-CN" sz="1150"/>
          </a:p>
        </p:txBody>
      </p:sp>
      <p:sp>
        <p:nvSpPr>
          <p:cNvPr id="379" name="TextBox 379"/>
          <p:cNvSpPr txBox="1"/>
          <p:nvPr/>
        </p:nvSpPr>
        <p:spPr>
          <a:xfrm>
            <a:off x="1497125" y="4270763"/>
            <a:ext cx="262367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6245D"/>
                </a:solidFill>
                <a:latin typeface="Noto Sans CJK SC"/>
                <a:ea typeface="Noto Sans CJK SC"/>
                <a:cs typeface="Noto Sans CJK SC"/>
              </a:rPr>
              <a:t>验证计划</a:t>
            </a:r>
            <a:endParaRPr lang="zh-CN" sz="1550"/>
          </a:p>
        </p:txBody>
      </p:sp>
      <p:sp>
        <p:nvSpPr>
          <p:cNvPr id="380" name="TextBox 380"/>
          <p:cNvSpPr txBox="1"/>
          <p:nvPr/>
        </p:nvSpPr>
        <p:spPr>
          <a:xfrm>
            <a:off x="1497125" y="4554995"/>
            <a:ext cx="2696557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526C98"/>
                </a:solidFill>
                <a:latin typeface="Noto Sans CJK SC"/>
                <a:ea typeface="Noto Sans CJK SC"/>
                <a:cs typeface="Noto Sans CJK SC"/>
              </a:rPr>
              <a:t>验证方法与实施计划</a:t>
            </a:r>
            <a:endParaRPr lang="zh-CN" sz="1250"/>
          </a:p>
        </p:txBody>
      </p:sp>
      <p:sp>
        <p:nvSpPr>
          <p:cNvPr id="381" name="TextBox 381"/>
          <p:cNvSpPr txBox="1"/>
          <p:nvPr/>
        </p:nvSpPr>
        <p:spPr>
          <a:xfrm>
            <a:off x="4281138" y="4350931"/>
            <a:ext cx="1370142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7CFF"/>
                </a:solidFill>
                <a:latin typeface="Noto Sans CJK SC"/>
                <a:ea typeface="Noto Sans CJK SC"/>
                <a:cs typeface="Noto Sans CJK SC"/>
              </a:rPr>
              <a:t>方案已完成</a:t>
            </a:r>
            <a:endParaRPr lang="zh-CN" sz="1150"/>
          </a:p>
        </p:txBody>
      </p:sp>
      <p:sp>
        <p:nvSpPr>
          <p:cNvPr id="382" name="TextBox 382"/>
          <p:cNvSpPr txBox="1"/>
          <p:nvPr/>
        </p:nvSpPr>
        <p:spPr>
          <a:xfrm>
            <a:off x="7393110" y="1829286"/>
            <a:ext cx="292977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6245D"/>
                </a:solidFill>
                <a:latin typeface="Noto Sans CJK SC"/>
                <a:ea typeface="Noto Sans CJK SC"/>
                <a:cs typeface="Noto Sans CJK SC"/>
              </a:rPr>
              <a:t>板卡状态 / 晶振料号</a:t>
            </a:r>
            <a:endParaRPr lang="zh-CN" sz="1550"/>
          </a:p>
        </p:txBody>
      </p:sp>
      <p:sp>
        <p:nvSpPr>
          <p:cNvPr id="383" name="TextBox 383"/>
          <p:cNvSpPr txBox="1"/>
          <p:nvPr/>
        </p:nvSpPr>
        <p:spPr>
          <a:xfrm>
            <a:off x="7393110" y="2113518"/>
            <a:ext cx="2966213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526C98"/>
                </a:solidFill>
                <a:latin typeface="Noto Sans CJK SC"/>
                <a:ea typeface="Noto Sans CJK SC"/>
                <a:cs typeface="Noto Sans CJK SC"/>
              </a:rPr>
              <a:t>明确当前板卡状态与晶振物料信息</a:t>
            </a:r>
            <a:endParaRPr lang="zh-CN" sz="1250"/>
          </a:p>
        </p:txBody>
      </p:sp>
      <p:sp>
        <p:nvSpPr>
          <p:cNvPr id="384" name="TextBox 384"/>
          <p:cNvSpPr txBox="1"/>
          <p:nvPr/>
        </p:nvSpPr>
        <p:spPr>
          <a:xfrm>
            <a:off x="10432203" y="1909454"/>
            <a:ext cx="113692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FF3F43"/>
                </a:solidFill>
                <a:latin typeface="Noto Sans CJK SC"/>
                <a:ea typeface="Noto Sans CJK SC"/>
                <a:cs typeface="Noto Sans CJK SC"/>
              </a:rPr>
              <a:t>待验证</a:t>
            </a:r>
            <a:endParaRPr lang="zh-CN" sz="1150"/>
          </a:p>
        </p:txBody>
      </p:sp>
      <p:sp>
        <p:nvSpPr>
          <p:cNvPr id="385" name="TextBox 385"/>
          <p:cNvSpPr txBox="1"/>
          <p:nvPr/>
        </p:nvSpPr>
        <p:spPr>
          <a:xfrm>
            <a:off x="7393110" y="2645541"/>
            <a:ext cx="292977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6245D"/>
                </a:solidFill>
                <a:latin typeface="Noto Sans CJK SC"/>
                <a:ea typeface="Noto Sans CJK SC"/>
                <a:cs typeface="Noto Sans CJK SC"/>
              </a:rPr>
              <a:t>原理图 / 固件 / BOM</a:t>
            </a:r>
            <a:endParaRPr lang="zh-CN" sz="1550"/>
          </a:p>
        </p:txBody>
      </p:sp>
      <p:sp>
        <p:nvSpPr>
          <p:cNvPr id="386" name="TextBox 386"/>
          <p:cNvSpPr txBox="1"/>
          <p:nvPr/>
        </p:nvSpPr>
        <p:spPr>
          <a:xfrm>
            <a:off x="7393110" y="2929773"/>
            <a:ext cx="2966213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526C98"/>
                </a:solidFill>
                <a:latin typeface="Noto Sans CJK SC"/>
                <a:ea typeface="Noto Sans CJK SC"/>
                <a:cs typeface="Noto Sans CJK SC"/>
              </a:rPr>
              <a:t>提供原理图、固件版本与BOM清单</a:t>
            </a:r>
            <a:endParaRPr lang="zh-CN" sz="1250"/>
          </a:p>
        </p:txBody>
      </p:sp>
      <p:sp>
        <p:nvSpPr>
          <p:cNvPr id="387" name="TextBox 387"/>
          <p:cNvSpPr txBox="1"/>
          <p:nvPr/>
        </p:nvSpPr>
        <p:spPr>
          <a:xfrm>
            <a:off x="10432203" y="2725709"/>
            <a:ext cx="113692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FF3F43"/>
                </a:solidFill>
                <a:latin typeface="Noto Sans CJK SC"/>
                <a:ea typeface="Noto Sans CJK SC"/>
                <a:cs typeface="Noto Sans CJK SC"/>
              </a:rPr>
              <a:t>待验证</a:t>
            </a:r>
            <a:endParaRPr lang="zh-CN" sz="1150"/>
          </a:p>
        </p:txBody>
      </p:sp>
      <p:sp>
        <p:nvSpPr>
          <p:cNvPr id="388" name="TextBox 388"/>
          <p:cNvSpPr txBox="1"/>
          <p:nvPr/>
        </p:nvSpPr>
        <p:spPr>
          <a:xfrm>
            <a:off x="7393110" y="3469084"/>
            <a:ext cx="292977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6245D"/>
                </a:solidFill>
                <a:latin typeface="Noto Sans CJK SC"/>
                <a:ea typeface="Noto Sans CJK SC"/>
                <a:cs typeface="Noto Sans CJK SC"/>
              </a:rPr>
              <a:t>调谐标定 / 测量底噪</a:t>
            </a:r>
            <a:endParaRPr lang="zh-CN" sz="1550"/>
          </a:p>
        </p:txBody>
      </p:sp>
      <p:sp>
        <p:nvSpPr>
          <p:cNvPr id="389" name="TextBox 389"/>
          <p:cNvSpPr txBox="1"/>
          <p:nvPr/>
        </p:nvSpPr>
        <p:spPr>
          <a:xfrm>
            <a:off x="7393110" y="3753316"/>
            <a:ext cx="2966213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526C98"/>
                </a:solidFill>
                <a:latin typeface="Noto Sans CJK SC"/>
                <a:ea typeface="Noto Sans CJK SC"/>
                <a:cs typeface="Noto Sans CJK SC"/>
              </a:rPr>
              <a:t>完成调谐标定、测量底噪指标</a:t>
            </a:r>
            <a:endParaRPr lang="zh-CN" sz="1250"/>
          </a:p>
        </p:txBody>
      </p:sp>
      <p:sp>
        <p:nvSpPr>
          <p:cNvPr id="390" name="TextBox 390"/>
          <p:cNvSpPr txBox="1"/>
          <p:nvPr/>
        </p:nvSpPr>
        <p:spPr>
          <a:xfrm>
            <a:off x="10432203" y="3549252"/>
            <a:ext cx="113692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FF3F43"/>
                </a:solidFill>
                <a:latin typeface="Noto Sans CJK SC"/>
                <a:ea typeface="Noto Sans CJK SC"/>
                <a:cs typeface="Noto Sans CJK SC"/>
              </a:rPr>
              <a:t>待验证</a:t>
            </a:r>
            <a:endParaRPr lang="zh-CN" sz="1150"/>
          </a:p>
        </p:txBody>
      </p:sp>
      <p:sp>
        <p:nvSpPr>
          <p:cNvPr id="391" name="TextBox 391"/>
          <p:cNvSpPr txBox="1"/>
          <p:nvPr/>
        </p:nvSpPr>
        <p:spPr>
          <a:xfrm>
            <a:off x="7393110" y="4292627"/>
            <a:ext cx="292977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6245D"/>
                </a:solidFill>
                <a:latin typeface="Noto Sans CJK SC"/>
                <a:ea typeface="Noto Sans CJK SC"/>
                <a:cs typeface="Noto Sans CJK SC"/>
              </a:rPr>
              <a:t>误差日志 / 实物演示</a:t>
            </a:r>
            <a:endParaRPr lang="zh-CN" sz="1550"/>
          </a:p>
        </p:txBody>
      </p:sp>
      <p:sp>
        <p:nvSpPr>
          <p:cNvPr id="392" name="TextBox 392"/>
          <p:cNvSpPr txBox="1"/>
          <p:nvPr/>
        </p:nvSpPr>
        <p:spPr>
          <a:xfrm>
            <a:off x="7393110" y="4576859"/>
            <a:ext cx="2966213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526C98"/>
                </a:solidFill>
                <a:latin typeface="Noto Sans CJK SC"/>
                <a:ea typeface="Noto Sans CJK SC"/>
                <a:cs typeface="Noto Sans CJK SC"/>
              </a:rPr>
              <a:t>记录测试误差、提供实物演示材料</a:t>
            </a:r>
            <a:endParaRPr lang="zh-CN" sz="1250"/>
          </a:p>
        </p:txBody>
      </p:sp>
      <p:sp>
        <p:nvSpPr>
          <p:cNvPr id="393" name="TextBox 393"/>
          <p:cNvSpPr txBox="1"/>
          <p:nvPr/>
        </p:nvSpPr>
        <p:spPr>
          <a:xfrm>
            <a:off x="10432203" y="4372795"/>
            <a:ext cx="113692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FF3F43"/>
                </a:solidFill>
                <a:latin typeface="Noto Sans CJK SC"/>
                <a:ea typeface="Noto Sans CJK SC"/>
                <a:cs typeface="Noto Sans CJK SC"/>
              </a:rPr>
              <a:t>待验证</a:t>
            </a:r>
            <a:endParaRPr lang="zh-CN" sz="1150"/>
          </a:p>
        </p:txBody>
      </p:sp>
      <p:sp>
        <p:nvSpPr>
          <p:cNvPr id="394" name="TextBox 394"/>
          <p:cNvSpPr txBox="1"/>
          <p:nvPr/>
        </p:nvSpPr>
        <p:spPr>
          <a:xfrm>
            <a:off x="1788645" y="5735649"/>
            <a:ext cx="1967758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3DA8"/>
                </a:solidFill>
                <a:latin typeface="Noto Sans CJK SC"/>
                <a:ea typeface="Noto Sans CJK SC"/>
                <a:cs typeface="Noto Sans CJK SC"/>
              </a:rPr>
              <a:t>适配可追溯</a:t>
            </a:r>
            <a:endParaRPr lang="zh-CN" sz="1550"/>
          </a:p>
        </p:txBody>
      </p:sp>
      <p:sp>
        <p:nvSpPr>
          <p:cNvPr id="395" name="TextBox 395"/>
          <p:cNvSpPr txBox="1"/>
          <p:nvPr/>
        </p:nvSpPr>
        <p:spPr>
          <a:xfrm>
            <a:off x="1788645" y="6063609"/>
            <a:ext cx="2149957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526C98"/>
                </a:solidFill>
                <a:latin typeface="Noto Sans CJK SC"/>
                <a:ea typeface="Noto Sans CJK SC"/>
                <a:cs typeface="Noto Sans CJK SC"/>
              </a:rPr>
              <a:t>关键参数与过程可追溯</a:t>
            </a:r>
            <a:endParaRPr lang="zh-CN" sz="1250"/>
          </a:p>
        </p:txBody>
      </p:sp>
      <p:sp>
        <p:nvSpPr>
          <p:cNvPr id="396" name="TextBox 396"/>
          <p:cNvSpPr txBox="1"/>
          <p:nvPr/>
        </p:nvSpPr>
        <p:spPr>
          <a:xfrm>
            <a:off x="5782464" y="5735649"/>
            <a:ext cx="1967758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3DA8"/>
                </a:solidFill>
                <a:latin typeface="Noto Sans CJK SC"/>
                <a:ea typeface="Noto Sans CJK SC"/>
                <a:cs typeface="Noto Sans CJK SC"/>
              </a:rPr>
              <a:t>保持可比较</a:t>
            </a:r>
            <a:endParaRPr lang="zh-CN" sz="1550"/>
          </a:p>
        </p:txBody>
      </p:sp>
      <p:sp>
        <p:nvSpPr>
          <p:cNvPr id="397" name="TextBox 397"/>
          <p:cNvSpPr txBox="1"/>
          <p:nvPr/>
        </p:nvSpPr>
        <p:spPr>
          <a:xfrm>
            <a:off x="5782464" y="6063609"/>
            <a:ext cx="2149957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526C98"/>
                </a:solidFill>
                <a:latin typeface="Noto Sans CJK SC"/>
                <a:ea typeface="Noto Sans CJK SC"/>
                <a:cs typeface="Noto Sans CJK SC"/>
              </a:rPr>
              <a:t>不同版本/批次结果可比</a:t>
            </a:r>
            <a:endParaRPr lang="zh-CN" sz="1250"/>
          </a:p>
        </p:txBody>
      </p:sp>
      <p:sp>
        <p:nvSpPr>
          <p:cNvPr id="398" name="TextBox 398"/>
          <p:cNvSpPr txBox="1"/>
          <p:nvPr/>
        </p:nvSpPr>
        <p:spPr>
          <a:xfrm>
            <a:off x="9645099" y="5735649"/>
            <a:ext cx="1967758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3DA8"/>
                </a:solidFill>
                <a:latin typeface="Noto Sans CJK SC"/>
                <a:ea typeface="Noto Sans CJK SC"/>
                <a:cs typeface="Noto Sans CJK SC"/>
              </a:rPr>
              <a:t>数据可复现</a:t>
            </a:r>
            <a:endParaRPr lang="zh-CN" sz="1550"/>
          </a:p>
        </p:txBody>
      </p:sp>
      <p:sp>
        <p:nvSpPr>
          <p:cNvPr id="399" name="TextBox 399"/>
          <p:cNvSpPr txBox="1"/>
          <p:nvPr/>
        </p:nvSpPr>
        <p:spPr>
          <a:xfrm>
            <a:off x="9645099" y="6063609"/>
            <a:ext cx="2149957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526C98"/>
                </a:solidFill>
                <a:latin typeface="Noto Sans CJK SC"/>
                <a:ea typeface="Noto Sans CJK SC"/>
                <a:cs typeface="Noto Sans CJK SC"/>
              </a:rPr>
              <a:t>完整记录，支持重复验证</a:t>
            </a:r>
            <a:endParaRPr lang="zh-CN" sz="1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Polygon 3"/>
          <p:cNvSpPr/>
          <p:nvPr/>
        </p:nvSpPr>
        <p:spPr>
          <a:xfrm>
            <a:off x="7852254" y="233216"/>
            <a:ext cx="473719" cy="59761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643" y="0"/>
                </a:moveTo>
                <a:lnTo>
                  <a:pt x="21600" y="0"/>
                </a:lnTo>
                <a:lnTo>
                  <a:pt x="1329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DDD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olygon 4"/>
          <p:cNvSpPr/>
          <p:nvPr/>
        </p:nvSpPr>
        <p:spPr>
          <a:xfrm>
            <a:off x="331046" y="123896"/>
            <a:ext cx="7717983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049" y="21600"/>
                </a:lnTo>
                <a:lnTo>
                  <a:pt x="449" y="21600"/>
                </a:lnTo>
                <a:lnTo>
                  <a:pt x="0" y="12375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74774" y="1319126"/>
            <a:ext cx="5823105" cy="3826196"/>
          </a:xfrm>
          <a:prstGeom prst="roundRect">
            <a:avLst>
              <a:gd name="adj" fmla="val 4000"/>
            </a:avLst>
          </a:prstGeom>
          <a:solidFill>
            <a:srgbClr val="EAF7FF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" name="Polygon 6"/>
          <p:cNvSpPr/>
          <p:nvPr/>
        </p:nvSpPr>
        <p:spPr>
          <a:xfrm>
            <a:off x="338334" y="131184"/>
            <a:ext cx="7710695" cy="72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539" y="17280"/>
                </a:lnTo>
                <a:lnTo>
                  <a:pt x="572" y="216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527822" y="1661662"/>
            <a:ext cx="5560738" cy="3374340"/>
          </a:xfrm>
          <a:prstGeom prst="roundRect">
            <a:avLst>
              <a:gd name="adj" fmla="val 3888"/>
            </a:avLst>
          </a:prstGeom>
          <a:solidFill>
            <a:srgbClr val="F5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lygon 8"/>
          <p:cNvSpPr/>
          <p:nvPr/>
        </p:nvSpPr>
        <p:spPr>
          <a:xfrm>
            <a:off x="360198" y="1078623"/>
            <a:ext cx="4955834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6525"/>
                </a:moveTo>
                <a:lnTo>
                  <a:pt x="953" y="0"/>
                </a:lnTo>
                <a:lnTo>
                  <a:pt x="21600" y="0"/>
                </a:lnTo>
                <a:lnTo>
                  <a:pt x="20044" y="15525"/>
                </a:lnTo>
                <a:lnTo>
                  <a:pt x="921" y="15525"/>
                </a:lnTo>
                <a:lnTo>
                  <a:pt x="0" y="21600"/>
                </a:lnTo>
                <a:close/>
              </a:path>
            </a:pathLst>
          </a:custGeom>
          <a:solidFill>
            <a:srgbClr val="BBD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olygon 9"/>
          <p:cNvSpPr/>
          <p:nvPr/>
        </p:nvSpPr>
        <p:spPr>
          <a:xfrm>
            <a:off x="360198" y="1085911"/>
            <a:ext cx="4722618" cy="6704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6574"/>
                </a:moveTo>
                <a:lnTo>
                  <a:pt x="1000" y="0"/>
                </a:lnTo>
                <a:lnTo>
                  <a:pt x="21600" y="0"/>
                </a:lnTo>
                <a:lnTo>
                  <a:pt x="20000" y="15026"/>
                </a:lnTo>
                <a:lnTo>
                  <a:pt x="933" y="15026"/>
                </a:lnTo>
                <a:lnTo>
                  <a:pt x="0" y="21600"/>
                </a:lnTo>
                <a:close/>
              </a:path>
            </a:pathLst>
          </a:custGeom>
          <a:solidFill>
            <a:srgbClr val="148EFA"/>
          </a:solidFill>
          <a:ln w="15240">
            <a:solidFill>
              <a:srgbClr val="38C9FF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527822" y="1741830"/>
            <a:ext cx="5444130" cy="1392006"/>
          </a:xfrm>
          <a:prstGeom prst="roundRect">
            <a:avLst>
              <a:gd name="adj" fmla="val 6806"/>
            </a:avLst>
          </a:prstGeom>
          <a:solidFill>
            <a:srgbClr val="F9F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360198" y="1100487"/>
            <a:ext cx="4693467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40" y="0"/>
                </a:moveTo>
                <a:lnTo>
                  <a:pt x="21600" y="0"/>
                </a:lnTo>
                <a:lnTo>
                  <a:pt x="21399" y="1920"/>
                </a:lnTo>
                <a:lnTo>
                  <a:pt x="1107" y="1920"/>
                </a:lnTo>
                <a:lnTo>
                  <a:pt x="168" y="7680"/>
                </a:lnTo>
                <a:lnTo>
                  <a:pt x="168" y="18720"/>
                </a:lnTo>
                <a:lnTo>
                  <a:pt x="0" y="21600"/>
                </a:lnTo>
                <a:lnTo>
                  <a:pt x="0" y="6240"/>
                </a:lnTo>
                <a:close/>
              </a:path>
            </a:pathLst>
          </a:custGeom>
          <a:solidFill>
            <a:srgbClr val="5CC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527822" y="1756406"/>
            <a:ext cx="4547707" cy="4737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7975"/>
                </a:moveTo>
                <a:lnTo>
                  <a:pt x="831" y="0"/>
                </a:lnTo>
                <a:lnTo>
                  <a:pt x="21600" y="0"/>
                </a:lnTo>
                <a:lnTo>
                  <a:pt x="20631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E1C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527822" y="3265020"/>
            <a:ext cx="5436842" cy="1763694"/>
          </a:xfrm>
          <a:prstGeom prst="roundRect">
            <a:avLst>
              <a:gd name="adj" fmla="val 5372"/>
            </a:avLst>
          </a:prstGeom>
          <a:solidFill>
            <a:srgbClr val="F8F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3304547" y="823543"/>
            <a:ext cx="8169838" cy="0"/>
          </a:xfrm>
          <a:prstGeom prst="line">
            <a:avLst/>
          </a:prstGeom>
          <a:noFill/>
          <a:ln w="9525">
            <a:solidFill>
              <a:srgbClr val="83CFFF"/>
            </a:solidFill>
          </a:ln>
        </p:spPr>
        <p:txBody>
          <a:bodyPr/>
          <a:lstStyle/>
          <a:p/>
        </p:txBody>
      </p:sp>
      <p:sp>
        <p:nvSpPr>
          <p:cNvPr id="15" name="Polygon 15"/>
          <p:cNvSpPr/>
          <p:nvPr/>
        </p:nvSpPr>
        <p:spPr>
          <a:xfrm>
            <a:off x="535110" y="1756406"/>
            <a:ext cx="4387371" cy="4737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7643"/>
                </a:moveTo>
                <a:lnTo>
                  <a:pt x="825" y="0"/>
                </a:lnTo>
                <a:lnTo>
                  <a:pt x="21600" y="0"/>
                </a:lnTo>
                <a:lnTo>
                  <a:pt x="2048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C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lygon 16"/>
          <p:cNvSpPr/>
          <p:nvPr/>
        </p:nvSpPr>
        <p:spPr>
          <a:xfrm>
            <a:off x="542398" y="3272308"/>
            <a:ext cx="3279596" cy="4882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7737"/>
                </a:moveTo>
                <a:lnTo>
                  <a:pt x="1152" y="0"/>
                </a:lnTo>
                <a:lnTo>
                  <a:pt x="21600" y="0"/>
                </a:lnTo>
                <a:lnTo>
                  <a:pt x="2001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DDE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olygon 17"/>
          <p:cNvSpPr/>
          <p:nvPr/>
        </p:nvSpPr>
        <p:spPr>
          <a:xfrm>
            <a:off x="535110" y="1756406"/>
            <a:ext cx="808967" cy="4737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7643"/>
                </a:moveTo>
                <a:lnTo>
                  <a:pt x="4476" y="0"/>
                </a:lnTo>
                <a:lnTo>
                  <a:pt x="17903" y="0"/>
                </a:lnTo>
                <a:lnTo>
                  <a:pt x="21600" y="11298"/>
                </a:lnTo>
                <a:lnTo>
                  <a:pt x="18681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A000"/>
          </a:solidFill>
          <a:ln w="7620">
            <a:solidFill>
              <a:srgbClr val="FFE9B8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527822" y="2237413"/>
            <a:ext cx="5436842" cy="896423"/>
          </a:xfrm>
          <a:prstGeom prst="roundRect">
            <a:avLst>
              <a:gd name="adj" fmla="val 10569"/>
            </a:avLst>
          </a:prstGeom>
          <a:solidFill>
            <a:srgbClr val="FAF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olygon 19"/>
          <p:cNvSpPr/>
          <p:nvPr/>
        </p:nvSpPr>
        <p:spPr>
          <a:xfrm>
            <a:off x="542398" y="3272308"/>
            <a:ext cx="3002652" cy="4882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7737"/>
                </a:moveTo>
                <a:lnTo>
                  <a:pt x="1258" y="0"/>
                </a:lnTo>
                <a:lnTo>
                  <a:pt x="21600" y="0"/>
                </a:lnTo>
                <a:lnTo>
                  <a:pt x="200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75F8"/>
          </a:solidFill>
          <a:ln w="8890">
            <a:solidFill>
              <a:srgbClr val="58BCFF"/>
            </a:solidFill>
          </a:ln>
        </p:spPr>
        <p:txBody>
          <a:bodyPr/>
          <a:lstStyle/>
          <a:p/>
        </p:txBody>
      </p:sp>
      <p:sp>
        <p:nvSpPr>
          <p:cNvPr id="20" name="Polygon 20"/>
          <p:cNvSpPr/>
          <p:nvPr/>
        </p:nvSpPr>
        <p:spPr>
          <a:xfrm>
            <a:off x="542398" y="3279596"/>
            <a:ext cx="808967" cy="48100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5" y="7527"/>
                </a:moveTo>
                <a:lnTo>
                  <a:pt x="4670" y="0"/>
                </a:lnTo>
                <a:lnTo>
                  <a:pt x="17903" y="0"/>
                </a:lnTo>
                <a:lnTo>
                  <a:pt x="21600" y="11782"/>
                </a:lnTo>
                <a:lnTo>
                  <a:pt x="1848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593FF"/>
          </a:solidFill>
          <a:ln w="7620">
            <a:solidFill>
              <a:srgbClr val="8ED7FF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535110" y="3767892"/>
            <a:ext cx="5429554" cy="1253535"/>
          </a:xfrm>
          <a:prstGeom prst="roundRect">
            <a:avLst>
              <a:gd name="adj" fmla="val 7558"/>
            </a:avLst>
          </a:prstGeom>
          <a:solidFill>
            <a:srgbClr val="FAF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olygon 22"/>
          <p:cNvSpPr/>
          <p:nvPr/>
        </p:nvSpPr>
        <p:spPr>
          <a:xfrm>
            <a:off x="6329063" y="1158791"/>
            <a:ext cx="5582601" cy="38844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621"/>
                </a:moveTo>
                <a:lnTo>
                  <a:pt x="1072" y="0"/>
                </a:lnTo>
                <a:lnTo>
                  <a:pt x="21121" y="203"/>
                </a:lnTo>
                <a:lnTo>
                  <a:pt x="21600" y="811"/>
                </a:lnTo>
                <a:lnTo>
                  <a:pt x="21600" y="20668"/>
                </a:lnTo>
                <a:lnTo>
                  <a:pt x="21177" y="21559"/>
                </a:lnTo>
                <a:lnTo>
                  <a:pt x="649" y="21600"/>
                </a:lnTo>
                <a:lnTo>
                  <a:pt x="0" y="20668"/>
                </a:lnTo>
                <a:close/>
              </a:path>
            </a:pathLst>
          </a:custGeom>
          <a:noFill/>
          <a:ln w="10160">
            <a:solidFill>
              <a:srgbClr val="63B8FE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2845403" y="2441477"/>
            <a:ext cx="0" cy="517447"/>
          </a:xfrm>
          <a:prstGeom prst="line">
            <a:avLst/>
          </a:prstGeom>
          <a:noFill/>
          <a:ln w="10160">
            <a:solidFill>
              <a:srgbClr val="B0DDFB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2415412" y="3979243"/>
            <a:ext cx="1377430" cy="349824"/>
          </a:xfrm>
          <a:prstGeom prst="roundRect">
            <a:avLst>
              <a:gd name="adj" fmla="val 16667"/>
            </a:avLst>
          </a:prstGeom>
          <a:solidFill>
            <a:srgbClr val="DFE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4055210" y="4525843"/>
            <a:ext cx="1596070" cy="349824"/>
          </a:xfrm>
          <a:prstGeom prst="roundRect">
            <a:avLst>
              <a:gd name="adj" fmla="val 16667"/>
            </a:avLst>
          </a:prstGeom>
          <a:solidFill>
            <a:srgbClr val="DFEF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Polygon 26"/>
          <p:cNvSpPr/>
          <p:nvPr/>
        </p:nvSpPr>
        <p:spPr>
          <a:xfrm>
            <a:off x="6401943" y="1238959"/>
            <a:ext cx="5451418" cy="36950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406"/>
                </a:moveTo>
                <a:lnTo>
                  <a:pt x="953" y="0"/>
                </a:lnTo>
                <a:lnTo>
                  <a:pt x="21253" y="43"/>
                </a:lnTo>
                <a:lnTo>
                  <a:pt x="21600" y="596"/>
                </a:lnTo>
                <a:lnTo>
                  <a:pt x="21600" y="21600"/>
                </a:lnTo>
                <a:lnTo>
                  <a:pt x="404" y="21600"/>
                </a:lnTo>
                <a:lnTo>
                  <a:pt x="29" y="21089"/>
                </a:lnTo>
                <a:close/>
              </a:path>
            </a:pathLst>
          </a:custGeom>
          <a:noFill/>
          <a:ln w="15240">
            <a:solidFill>
              <a:srgbClr val="F0FCFF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6336351" y="2033350"/>
            <a:ext cx="0" cy="1632510"/>
          </a:xfrm>
          <a:prstGeom prst="line">
            <a:avLst/>
          </a:prstGeom>
          <a:noFill/>
          <a:ln w="10160">
            <a:solidFill>
              <a:srgbClr val="A3DCFF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6810071" y="5057866"/>
            <a:ext cx="225928" cy="0"/>
          </a:xfrm>
          <a:prstGeom prst="line">
            <a:avLst/>
          </a:prstGeom>
          <a:noFill/>
          <a:ln w="15240">
            <a:solidFill>
              <a:srgbClr val="1392FF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9156804" y="5057866"/>
            <a:ext cx="240504" cy="0"/>
          </a:xfrm>
          <a:prstGeom prst="line">
            <a:avLst/>
          </a:prstGeom>
          <a:noFill/>
          <a:ln w="15240">
            <a:solidFill>
              <a:srgbClr val="1392FF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0891346" y="1173367"/>
            <a:ext cx="196776" cy="0"/>
          </a:xfrm>
          <a:prstGeom prst="line">
            <a:avLst/>
          </a:prstGeom>
          <a:noFill/>
          <a:ln w="12700">
            <a:solidFill>
              <a:srgbClr val="1392FF"/>
            </a:solidFill>
          </a:ln>
        </p:spPr>
        <p:txBody>
          <a:bodyPr/>
          <a:lstStyle/>
          <a:p/>
        </p:txBody>
      </p:sp>
      <p:sp>
        <p:nvSpPr>
          <p:cNvPr id="31" name="Ellipse 31"/>
          <p:cNvSpPr/>
          <p:nvPr/>
        </p:nvSpPr>
        <p:spPr>
          <a:xfrm>
            <a:off x="6314487" y="1945894"/>
            <a:ext cx="29152" cy="29152"/>
          </a:xfrm>
          <a:prstGeom prst="ellipse">
            <a:avLst/>
          </a:prstGeom>
          <a:solidFill>
            <a:srgbClr val="EFFCFF"/>
          </a:solidFill>
          <a:ln w="7620">
            <a:solidFill>
              <a:srgbClr val="0D94FF"/>
            </a:solidFill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6751767" y="5021426"/>
            <a:ext cx="29152" cy="29152"/>
          </a:xfrm>
          <a:prstGeom prst="ellipse">
            <a:avLst/>
          </a:prstGeom>
          <a:solidFill>
            <a:srgbClr val="EFFCFF"/>
          </a:solidFill>
          <a:ln w="7620">
            <a:solidFill>
              <a:srgbClr val="0D94FF"/>
            </a:solidFill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7035999" y="5036002"/>
            <a:ext cx="29152" cy="29152"/>
          </a:xfrm>
          <a:prstGeom prst="ellipse">
            <a:avLst/>
          </a:prstGeom>
          <a:solidFill>
            <a:srgbClr val="EFFCFF"/>
          </a:solidFill>
          <a:ln w="7620">
            <a:solidFill>
              <a:srgbClr val="0D94FF"/>
            </a:solidFill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10818466" y="1158791"/>
            <a:ext cx="29152" cy="29152"/>
          </a:xfrm>
          <a:prstGeom prst="ellipse">
            <a:avLst/>
          </a:prstGeom>
          <a:solidFill>
            <a:srgbClr val="EFFCFF"/>
          </a:solidFill>
          <a:ln w="7620">
            <a:solidFill>
              <a:srgbClr val="0D94FF"/>
            </a:solidFill>
          </a:ln>
        </p:spPr>
        <p:txBody>
          <a:bodyPr/>
          <a:lstStyle/>
          <a:p/>
        </p:txBody>
      </p:sp>
      <p:pic>
        <p:nvPicPr>
          <p:cNvPr id="35" name="coin-outline"/>
          <p:cNvPicPr/>
          <p:nvPr/>
        </p:nvPicPr>
        <p:blipFill>
          <a:blip r:embed="rId3"/>
          <a:stretch>
            <a:fillRect/>
          </a:stretch>
        </p:blipFill>
        <p:spPr>
          <a:xfrm>
            <a:off x="716881" y="1748237"/>
            <a:ext cx="394409" cy="497345"/>
          </a:xfrm>
          <a:prstGeom prst="rect">
            <a:avLst/>
          </a:prstGeom>
        </p:spPr>
      </p:pic>
      <p:pic>
        <p:nvPicPr>
          <p:cNvPr id="36" name="cube-outline"/>
          <p:cNvPicPr/>
          <p:nvPr/>
        </p:nvPicPr>
        <p:blipFill>
          <a:blip r:embed="rId4"/>
          <a:stretch>
            <a:fillRect/>
          </a:stretch>
        </p:blipFill>
        <p:spPr>
          <a:xfrm>
            <a:off x="719059" y="3357435"/>
            <a:ext cx="390053" cy="390922"/>
          </a:xfrm>
          <a:prstGeom prst="rect">
            <a:avLst/>
          </a:prstGeom>
        </p:spPr>
      </p:pic>
      <p:pic>
        <p:nvPicPr>
          <p:cNvPr id="37" name="image-placeholder"/>
          <p:cNvPicPr/>
          <p:nvPr/>
        </p:nvPicPr>
        <p:blipFill>
          <a:blip r:embed="rId5"/>
          <a:stretch>
            <a:fillRect/>
          </a:stretch>
        </p:blipFill>
        <p:spPr>
          <a:xfrm>
            <a:off x="8604028" y="2217456"/>
            <a:ext cx="763016" cy="644819"/>
          </a:xfrm>
          <a:prstGeom prst="rect">
            <a:avLst/>
          </a:prstGeom>
        </p:spPr>
      </p:pic>
      <p:pic>
        <p:nvPicPr>
          <p:cNvPr id="38" name="calculator-pie"/>
          <p:cNvPicPr/>
          <p:nvPr/>
        </p:nvPicPr>
        <p:blipFill>
          <a:blip r:embed="rId6"/>
          <a:stretch>
            <a:fillRect/>
          </a:stretch>
        </p:blipFill>
        <p:spPr>
          <a:xfrm>
            <a:off x="9425753" y="3511976"/>
            <a:ext cx="3120673" cy="2181647"/>
          </a:xfrm>
          <a:prstGeom prst="rect">
            <a:avLst/>
          </a:prstGeom>
        </p:spPr>
      </p:pic>
      <p:sp>
        <p:nvSpPr>
          <p:cNvPr id="39" name="Roundrect 39"/>
          <p:cNvSpPr/>
          <p:nvPr/>
        </p:nvSpPr>
        <p:spPr>
          <a:xfrm>
            <a:off x="360198" y="5247354"/>
            <a:ext cx="11515027" cy="1297262"/>
          </a:xfrm>
          <a:prstGeom prst="roundRect">
            <a:avLst>
              <a:gd name="adj" fmla="val 15730"/>
            </a:avLst>
          </a:prstGeom>
          <a:solidFill>
            <a:srgbClr val="F5FB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1329501" y="5517010"/>
            <a:ext cx="4081275" cy="794391"/>
          </a:xfrm>
          <a:prstGeom prst="roundRect">
            <a:avLst>
              <a:gd name="adj" fmla="val 11927"/>
            </a:avLst>
          </a:prstGeom>
          <a:solidFill>
            <a:srgbClr val="FBFD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1" name="clipboard-badge"/>
          <p:cNvPicPr/>
          <p:nvPr/>
        </p:nvPicPr>
        <p:blipFill>
          <a:blip r:embed="rId7"/>
          <a:stretch>
            <a:fillRect/>
          </a:stretch>
        </p:blipFill>
        <p:spPr>
          <a:xfrm>
            <a:off x="403826" y="5400886"/>
            <a:ext cx="1027808" cy="1016114"/>
          </a:xfrm>
          <a:prstGeom prst="rect">
            <a:avLst/>
          </a:prstGeom>
        </p:spPr>
      </p:pic>
      <p:pic>
        <p:nvPicPr>
          <p:cNvPr id="42" name="shield-badge"/>
          <p:cNvPicPr/>
          <p:nvPr/>
        </p:nvPicPr>
        <p:blipFill>
          <a:blip r:embed="rId8"/>
          <a:stretch>
            <a:fillRect/>
          </a:stretch>
        </p:blipFill>
        <p:spPr>
          <a:xfrm>
            <a:off x="5930013" y="5257329"/>
            <a:ext cx="783525" cy="614106"/>
          </a:xfrm>
          <a:prstGeom prst="rect">
            <a:avLst/>
          </a:prstGeom>
        </p:spPr>
      </p:pic>
      <p:pic>
        <p:nvPicPr>
          <p:cNvPr id="43" name="coin-badge"/>
          <p:cNvPicPr/>
          <p:nvPr/>
        </p:nvPicPr>
        <p:blipFill>
          <a:blip r:embed="rId9"/>
          <a:stretch>
            <a:fillRect/>
          </a:stretch>
        </p:blipFill>
        <p:spPr>
          <a:xfrm>
            <a:off x="5931305" y="5884604"/>
            <a:ext cx="780941" cy="613090"/>
          </a:xfrm>
          <a:prstGeom prst="rect">
            <a:avLst/>
          </a:prstGeom>
        </p:spPr>
      </p:pic>
      <p:sp>
        <p:nvSpPr>
          <p:cNvPr id="44" name="Line 44"/>
          <p:cNvSpPr/>
          <p:nvPr/>
        </p:nvSpPr>
        <p:spPr>
          <a:xfrm>
            <a:off x="5643992" y="5495146"/>
            <a:ext cx="0" cy="816255"/>
          </a:xfrm>
          <a:prstGeom prst="line">
            <a:avLst/>
          </a:prstGeom>
          <a:noFill/>
          <a:ln w="11430">
            <a:solidFill>
              <a:srgbClr val="67B5FC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5979240" y="5903273"/>
            <a:ext cx="5604465" cy="0"/>
          </a:xfrm>
          <a:prstGeom prst="line">
            <a:avLst/>
          </a:prstGeom>
          <a:noFill/>
          <a:ln w="10160">
            <a:solidFill>
              <a:srgbClr val="A9DAF9"/>
            </a:solidFill>
          </a:ln>
        </p:spPr>
        <p:txBody>
          <a:bodyPr/>
          <a:lstStyle/>
          <a:p/>
        </p:txBody>
      </p:sp>
      <p:sp>
        <p:nvSpPr>
          <p:cNvPr id="46" name="TextBox 46"/>
          <p:cNvSpPr txBox="1"/>
          <p:nvPr/>
        </p:nvSpPr>
        <p:spPr>
          <a:xfrm>
            <a:off x="1198317" y="189488"/>
            <a:ext cx="6741392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低成本按配置核算，应用价值需要试用</a:t>
            </a:r>
            <a:endParaRPr lang="zh-CN" sz="3000"/>
          </a:p>
        </p:txBody>
      </p:sp>
      <p:sp>
        <p:nvSpPr>
          <p:cNvPr id="47" name="TextBox 47"/>
          <p:cNvSpPr txBox="1"/>
          <p:nvPr/>
        </p:nvSpPr>
        <p:spPr>
          <a:xfrm>
            <a:off x="680870" y="1129639"/>
            <a:ext cx="4372795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内部预算示例 / 非采购报价</a:t>
            </a:r>
            <a:endParaRPr lang="zh-CN" sz="2200"/>
          </a:p>
        </p:txBody>
      </p:sp>
      <p:sp>
        <p:nvSpPr>
          <p:cNvPr id="48" name="TextBox 48"/>
          <p:cNvSpPr txBox="1"/>
          <p:nvPr/>
        </p:nvSpPr>
        <p:spPr>
          <a:xfrm>
            <a:off x="1438821" y="1792846"/>
            <a:ext cx="3367052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【估算】基础控制板制造成本</a:t>
            </a:r>
            <a:endParaRPr lang="zh-CN" sz="1950"/>
          </a:p>
        </p:txBody>
      </p:sp>
      <p:sp>
        <p:nvSpPr>
          <p:cNvPr id="49" name="TextBox 49"/>
          <p:cNvSpPr txBox="1"/>
          <p:nvPr/>
        </p:nvSpPr>
        <p:spPr>
          <a:xfrm>
            <a:off x="841206" y="2426901"/>
            <a:ext cx="364400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400" b="1">
                <a:solidFill>
                  <a:srgbClr val="FF0505"/>
                </a:solidFill>
                <a:latin typeface="Liberation Sans"/>
                <a:ea typeface="Liberation Sans"/>
                <a:cs typeface="Liberation Sans"/>
              </a:rPr>
              <a:t>¥</a:t>
            </a:r>
            <a:endParaRPr lang="zh-CN" sz="4400"/>
          </a:p>
        </p:txBody>
      </p:sp>
      <p:sp>
        <p:nvSpPr>
          <p:cNvPr id="50" name="TextBox 50"/>
          <p:cNvSpPr txBox="1"/>
          <p:nvPr/>
        </p:nvSpPr>
        <p:spPr>
          <a:xfrm>
            <a:off x="1205605" y="2230125"/>
            <a:ext cx="1384718" cy="8089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200" b="1">
                <a:solidFill>
                  <a:srgbClr val="FF0505"/>
                </a:solidFill>
                <a:latin typeface="Liberation Sans"/>
                <a:ea typeface="Liberation Sans"/>
                <a:cs typeface="Liberation Sans"/>
              </a:rPr>
              <a:t>450</a:t>
            </a:r>
            <a:endParaRPr lang="zh-CN" sz="6200"/>
          </a:p>
        </p:txBody>
      </p:sp>
      <p:sp>
        <p:nvSpPr>
          <p:cNvPr id="51" name="TextBox 51"/>
          <p:cNvSpPr txBox="1"/>
          <p:nvPr/>
        </p:nvSpPr>
        <p:spPr>
          <a:xfrm>
            <a:off x="3100483" y="2397749"/>
            <a:ext cx="2703845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14234A"/>
                </a:solidFill>
                <a:latin typeface="Noto Sans CJK SC"/>
                <a:ea typeface="Noto Sans CJK SC"/>
                <a:cs typeface="Noto Sans CJK SC"/>
              </a:rPr>
              <a:t>假设 </a:t>
            </a:r>
            <a:r>
              <a:rPr lang="zh-CN" sz="1700" b="1">
                <a:solidFill>
                  <a:srgbClr val="006CFF"/>
                </a:solidFill>
                <a:latin typeface="Noto Sans CJK SC"/>
                <a:ea typeface="Noto Sans CJK SC"/>
                <a:cs typeface="Noto Sans CJK SC"/>
              </a:rPr>
              <a:t>50—100 台批次</a:t>
            </a:r>
            <a:endParaRPr lang="zh-CN" sz="1700"/>
          </a:p>
        </p:txBody>
      </p:sp>
      <p:sp>
        <p:nvSpPr>
          <p:cNvPr id="52" name="TextBox 52"/>
          <p:cNvSpPr txBox="1"/>
          <p:nvPr/>
        </p:nvSpPr>
        <p:spPr>
          <a:xfrm>
            <a:off x="3085907" y="2696557"/>
            <a:ext cx="2747573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2D4C85"/>
                </a:solidFill>
                <a:latin typeface="Noto Sans CJK SC"/>
                <a:ea typeface="Noto Sans CJK SC"/>
                <a:cs typeface="Noto Sans CJK SC"/>
              </a:rPr>
              <a:t>（仅为内部预估，不代表采购报价）</a:t>
            </a:r>
            <a:endParaRPr lang="zh-CN" sz="1350"/>
          </a:p>
        </p:txBody>
      </p:sp>
      <p:sp>
        <p:nvSpPr>
          <p:cNvPr id="53" name="TextBox 53"/>
          <p:cNvSpPr txBox="1"/>
          <p:nvPr/>
        </p:nvSpPr>
        <p:spPr>
          <a:xfrm>
            <a:off x="1497125" y="3345188"/>
            <a:ext cx="2018774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测试价假设</a:t>
            </a:r>
            <a:endParaRPr lang="zh-CN" sz="1950"/>
          </a:p>
        </p:txBody>
      </p:sp>
      <p:sp>
        <p:nvSpPr>
          <p:cNvPr id="54" name="TextBox 54"/>
          <p:cNvSpPr txBox="1"/>
          <p:nvPr/>
        </p:nvSpPr>
        <p:spPr>
          <a:xfrm>
            <a:off x="914086" y="3899075"/>
            <a:ext cx="1355566" cy="488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50" b="1">
                <a:solidFill>
                  <a:srgbClr val="FF0808"/>
                </a:solidFill>
                <a:latin typeface="Liberation Sans"/>
                <a:ea typeface="Liberation Sans"/>
                <a:cs typeface="Liberation Sans"/>
              </a:rPr>
              <a:t>¥ 980</a:t>
            </a:r>
            <a:endParaRPr lang="zh-CN" sz="3750"/>
          </a:p>
        </p:txBody>
      </p:sp>
      <p:sp>
        <p:nvSpPr>
          <p:cNvPr id="55" name="TextBox 55"/>
          <p:cNvSpPr txBox="1"/>
          <p:nvPr/>
        </p:nvSpPr>
        <p:spPr>
          <a:xfrm>
            <a:off x="914086" y="4445675"/>
            <a:ext cx="2929773" cy="488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10" b="1">
                <a:solidFill>
                  <a:srgbClr val="FF0808"/>
                </a:solidFill>
                <a:latin typeface="Liberation Sans"/>
                <a:ea typeface="Liberation Sans"/>
                <a:cs typeface="Liberation Sans"/>
              </a:rPr>
              <a:t>¥ 1980－2980</a:t>
            </a:r>
            <a:endParaRPr lang="zh-CN" sz="3510"/>
          </a:p>
        </p:txBody>
      </p:sp>
      <p:sp>
        <p:nvSpPr>
          <p:cNvPr id="56" name="TextBox 56"/>
          <p:cNvSpPr txBox="1"/>
          <p:nvPr/>
        </p:nvSpPr>
        <p:spPr>
          <a:xfrm>
            <a:off x="2408124" y="3986531"/>
            <a:ext cx="1384718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006BFF"/>
                </a:solidFill>
                <a:latin typeface="Noto Sans CJK SC"/>
                <a:ea typeface="Noto Sans CJK SC"/>
                <a:cs typeface="Noto Sans CJK SC"/>
              </a:rPr>
              <a:t>控制板</a:t>
            </a:r>
            <a:endParaRPr lang="zh-CN" sz="1550"/>
          </a:p>
        </p:txBody>
      </p:sp>
      <p:sp>
        <p:nvSpPr>
          <p:cNvPr id="57" name="TextBox 57"/>
          <p:cNvSpPr txBox="1"/>
          <p:nvPr/>
        </p:nvSpPr>
        <p:spPr>
          <a:xfrm>
            <a:off x="4062498" y="4525843"/>
            <a:ext cx="1581494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006BFF"/>
                </a:solidFill>
                <a:latin typeface="Noto Sans CJK SC"/>
                <a:ea typeface="Noto Sans CJK SC"/>
                <a:cs typeface="Noto Sans CJK SC"/>
              </a:rPr>
              <a:t>OCXO 套件</a:t>
            </a:r>
            <a:endParaRPr lang="zh-CN" sz="1550"/>
          </a:p>
        </p:txBody>
      </p:sp>
      <p:sp>
        <p:nvSpPr>
          <p:cNvPr id="58" name="TextBox 58"/>
          <p:cNvSpPr txBox="1"/>
          <p:nvPr/>
        </p:nvSpPr>
        <p:spPr>
          <a:xfrm>
            <a:off x="7611750" y="3126548"/>
            <a:ext cx="2740285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>
                <a:solidFill>
                  <a:srgbClr val="E4F4FF"/>
                </a:solidFill>
                <a:latin typeface="Noto Sans CJK SC"/>
                <a:ea typeface="Noto Sans CJK SC"/>
                <a:cs typeface="Noto Sans CJK SC"/>
              </a:rPr>
              <a:t>此处放六项成本条形图</a:t>
            </a:r>
            <a:endParaRPr lang="zh-CN" sz="1550"/>
          </a:p>
        </p:txBody>
      </p:sp>
      <p:sp>
        <p:nvSpPr>
          <p:cNvPr id="59" name="TextBox 59"/>
          <p:cNvSpPr txBox="1"/>
          <p:nvPr/>
        </p:nvSpPr>
        <p:spPr>
          <a:xfrm>
            <a:off x="7087014" y="3410780"/>
            <a:ext cx="4139579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>
                <a:solidFill>
                  <a:srgbClr val="E4F4FF"/>
                </a:solidFill>
                <a:latin typeface="Noto Sans CJK SC"/>
                <a:ea typeface="Noto Sans CJK SC"/>
                <a:cs typeface="Noto Sans CJK SC"/>
              </a:rPr>
              <a:t>（待项目书提供六项成本名称与对应金额；</a:t>
            </a:r>
            <a:endParaRPr lang="zh-CN" sz="1550"/>
          </a:p>
        </p:txBody>
      </p:sp>
      <p:sp>
        <p:nvSpPr>
          <p:cNvPr id="60" name="TextBox 60"/>
          <p:cNvSpPr txBox="1"/>
          <p:nvPr/>
        </p:nvSpPr>
        <p:spPr>
          <a:xfrm>
            <a:off x="8187501" y="3695012"/>
            <a:ext cx="1953182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>
                <a:solidFill>
                  <a:srgbClr val="E4F4FF"/>
                </a:solidFill>
                <a:latin typeface="Noto Sans CJK SC"/>
                <a:ea typeface="Noto Sans CJK SC"/>
                <a:cs typeface="Noto Sans CJK SC"/>
              </a:rPr>
              <a:t>当前不拆分虚构）</a:t>
            </a:r>
            <a:endParaRPr lang="zh-CN" sz="1550"/>
          </a:p>
        </p:txBody>
      </p:sp>
      <p:sp>
        <p:nvSpPr>
          <p:cNvPr id="61" name="TextBox 61"/>
          <p:cNvSpPr txBox="1"/>
          <p:nvPr/>
        </p:nvSpPr>
        <p:spPr>
          <a:xfrm>
            <a:off x="1482549" y="5524298"/>
            <a:ext cx="3862635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>
                <a:solidFill>
                  <a:srgbClr val="006BFF"/>
                </a:solidFill>
                <a:latin typeface="Noto Sans CJK SC"/>
                <a:ea typeface="Noto Sans CJK SC"/>
                <a:cs typeface="Noto Sans CJK SC"/>
              </a:rPr>
              <a:t>不含以下费用与选件</a:t>
            </a:r>
            <a:endParaRPr lang="zh-CN" sz="1950"/>
          </a:p>
        </p:txBody>
      </p:sp>
      <p:sp>
        <p:nvSpPr>
          <p:cNvPr id="62" name="TextBox 62"/>
          <p:cNvSpPr txBox="1"/>
          <p:nvPr/>
        </p:nvSpPr>
        <p:spPr>
          <a:xfrm>
            <a:off x="1511701" y="5917849"/>
            <a:ext cx="3891787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345287"/>
                </a:solidFill>
                <a:latin typeface="Noto Sans CJK SC"/>
                <a:ea typeface="Noto Sans CJK SC"/>
                <a:cs typeface="Noto Sans CJK SC"/>
              </a:rPr>
              <a:t>晶振 / GNSS / 外壳 / 高精度 TDC 选件</a:t>
            </a:r>
            <a:endParaRPr lang="zh-CN" sz="1600"/>
          </a:p>
        </p:txBody>
      </p:sp>
      <p:sp>
        <p:nvSpPr>
          <p:cNvPr id="63" name="TextBox 63"/>
          <p:cNvSpPr txBox="1"/>
          <p:nvPr/>
        </p:nvSpPr>
        <p:spPr>
          <a:xfrm>
            <a:off x="6882951" y="5312946"/>
            <a:ext cx="2303005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00367C"/>
                </a:solidFill>
                <a:latin typeface="Noto Sans CJK SC"/>
                <a:ea typeface="Noto Sans CJK SC"/>
                <a:cs typeface="Noto Sans CJK SC"/>
              </a:rPr>
              <a:t>低成本验证</a:t>
            </a:r>
            <a:endParaRPr lang="zh-CN" sz="1800"/>
          </a:p>
        </p:txBody>
      </p:sp>
      <p:sp>
        <p:nvSpPr>
          <p:cNvPr id="64" name="TextBox 64"/>
          <p:cNvSpPr txBox="1"/>
          <p:nvPr/>
        </p:nvSpPr>
        <p:spPr>
          <a:xfrm>
            <a:off x="6882951" y="5619041"/>
            <a:ext cx="4154155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>
                <a:solidFill>
                  <a:srgbClr val="345287"/>
                </a:solidFill>
                <a:latin typeface="Noto Sans CJK SC"/>
                <a:ea typeface="Noto Sans CJK SC"/>
                <a:cs typeface="Noto Sans CJK SC"/>
              </a:rPr>
              <a:t>真实 BOM + 产测工时 + 同配置对比</a:t>
            </a:r>
            <a:endParaRPr lang="zh-CN" sz="1450"/>
          </a:p>
        </p:txBody>
      </p:sp>
      <p:sp>
        <p:nvSpPr>
          <p:cNvPr id="65" name="TextBox 65"/>
          <p:cNvSpPr txBox="1"/>
          <p:nvPr/>
        </p:nvSpPr>
        <p:spPr>
          <a:xfrm>
            <a:off x="6882951" y="5939713"/>
            <a:ext cx="2303005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00367C"/>
                </a:solidFill>
                <a:latin typeface="Noto Sans CJK SC"/>
                <a:ea typeface="Noto Sans CJK SC"/>
                <a:cs typeface="Noto Sans CJK SC"/>
              </a:rPr>
              <a:t>价值验证</a:t>
            </a:r>
            <a:endParaRPr lang="zh-CN" sz="1800"/>
          </a:p>
        </p:txBody>
      </p:sp>
      <p:sp>
        <p:nvSpPr>
          <p:cNvPr id="66" name="TextBox 66"/>
          <p:cNvSpPr txBox="1"/>
          <p:nvPr/>
        </p:nvSpPr>
        <p:spPr>
          <a:xfrm>
            <a:off x="6882951" y="6245809"/>
            <a:ext cx="4372795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>
                <a:solidFill>
                  <a:srgbClr val="345287"/>
                </a:solidFill>
                <a:latin typeface="Noto Sans CJK SC"/>
                <a:ea typeface="Noto Sans CJK SC"/>
                <a:cs typeface="Noto Sans CJK SC"/>
              </a:rPr>
              <a:t>客户是否为适配与保持评估付费</a:t>
            </a:r>
            <a:endParaRPr lang="zh-CN" sz="14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Rect 3"/>
          <p:cNvSpPr/>
          <p:nvPr/>
        </p:nvSpPr>
        <p:spPr>
          <a:xfrm>
            <a:off x="345622" y="1195231"/>
            <a:ext cx="306096" cy="255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1829" y="0"/>
                </a:lnTo>
                <a:lnTo>
                  <a:pt x="21600" y="0"/>
                </a:lnTo>
                <a:lnTo>
                  <a:pt x="9771" y="21600"/>
                </a:lnTo>
                <a:close/>
              </a:path>
            </a:pathLst>
          </a:custGeom>
          <a:solidFill>
            <a:srgbClr val="098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549686" y="1195231"/>
            <a:ext cx="313384" cy="255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1553" y="0"/>
                </a:lnTo>
                <a:lnTo>
                  <a:pt x="21600" y="0"/>
                </a:lnTo>
                <a:lnTo>
                  <a:pt x="9544" y="21600"/>
                </a:lnTo>
                <a:close/>
              </a:path>
            </a:pathLst>
          </a:custGeom>
          <a:solidFill>
            <a:srgbClr val="098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338334" y="1457598"/>
            <a:ext cx="7419175" cy="102032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20857" y="21600"/>
                </a:lnTo>
                <a:lnTo>
                  <a:pt x="21112" y="1543"/>
                </a:lnTo>
                <a:lnTo>
                  <a:pt x="21600" y="1543"/>
                </a:lnTo>
              </a:path>
            </a:pathLst>
          </a:custGeom>
          <a:noFill/>
          <a:ln w="6985">
            <a:solidFill>
              <a:srgbClr val="82B9FF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396638" y="3221292"/>
            <a:ext cx="2485205" cy="1625222"/>
          </a:xfrm>
          <a:prstGeom prst="roundRect">
            <a:avLst>
              <a:gd name="adj" fmla="val 9865"/>
            </a:avLst>
          </a:prstGeom>
          <a:solidFill>
            <a:srgbClr val="F0FBFF"/>
          </a:solidFill>
          <a:ln w="8255">
            <a:solidFill>
              <a:srgbClr val="BCE6FF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520534" y="3323324"/>
            <a:ext cx="2281141" cy="142115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5080">
            <a:solidFill>
              <a:srgbClr val="F1FAFF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3384715" y="3221292"/>
            <a:ext cx="2558085" cy="1625222"/>
          </a:xfrm>
          <a:prstGeom prst="roundRect">
            <a:avLst>
              <a:gd name="adj" fmla="val 9865"/>
            </a:avLst>
          </a:prstGeom>
          <a:solidFill>
            <a:srgbClr val="F0FCFC"/>
          </a:solidFill>
          <a:ln w="8255">
            <a:solidFill>
              <a:srgbClr val="C3F0F2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508611" y="3323324"/>
            <a:ext cx="2354021" cy="142115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5080">
            <a:solidFill>
              <a:srgbClr val="F1FAFF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358215" y="3221292"/>
            <a:ext cx="2572661" cy="1625222"/>
          </a:xfrm>
          <a:prstGeom prst="roundRect">
            <a:avLst>
              <a:gd name="adj" fmla="val 9865"/>
            </a:avLst>
          </a:prstGeom>
          <a:solidFill>
            <a:srgbClr val="FFFBF5"/>
          </a:solidFill>
          <a:ln w="8255">
            <a:solidFill>
              <a:srgbClr val="FFE2C5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6482111" y="3323324"/>
            <a:ext cx="2368597" cy="142115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5080">
            <a:solidFill>
              <a:srgbClr val="F1FAFF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9390020" y="3221292"/>
            <a:ext cx="2463341" cy="1625222"/>
          </a:xfrm>
          <a:prstGeom prst="roundRect">
            <a:avLst>
              <a:gd name="adj" fmla="val 9865"/>
            </a:avLst>
          </a:prstGeom>
          <a:solidFill>
            <a:srgbClr val="F2F9FF"/>
          </a:solidFill>
          <a:ln w="8255">
            <a:solidFill>
              <a:srgbClr val="BDDFFF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9513916" y="3323324"/>
            <a:ext cx="2259277" cy="142115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5080">
            <a:solidFill>
              <a:srgbClr val="F1FAFF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338334" y="5152610"/>
            <a:ext cx="11500451" cy="1370142"/>
          </a:xfrm>
          <a:prstGeom prst="roundRect">
            <a:avLst>
              <a:gd name="adj" fmla="val 16489"/>
            </a:avLst>
          </a:prstGeom>
          <a:solidFill>
            <a:srgbClr val="F7FCFF"/>
          </a:solidFill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680870" y="5502434"/>
            <a:ext cx="2514357" cy="757951"/>
          </a:xfrm>
          <a:prstGeom prst="roundRect">
            <a:avLst>
              <a:gd name="adj" fmla="val 15385"/>
            </a:avLst>
          </a:prstGeom>
          <a:solidFill>
            <a:srgbClr val="FAFDFF"/>
          </a:solidFill>
          <a:ln w="8255">
            <a:solidFill>
              <a:srgbClr val="C6DFFF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3515899" y="5597177"/>
            <a:ext cx="0" cy="619479"/>
          </a:xfrm>
          <a:prstGeom prst="line">
            <a:avLst/>
          </a:prstGeom>
          <a:noFill/>
          <a:ln w="25400">
            <a:solidFill>
              <a:srgbClr val="078BFF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2925571" y="3257732"/>
            <a:ext cx="371688" cy="0"/>
          </a:xfrm>
          <a:prstGeom prst="line">
            <a:avLst/>
          </a:prstGeom>
          <a:noFill/>
          <a:ln w="107950">
            <a:solidFill>
              <a:srgbClr val="37A7FF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5986528" y="3257732"/>
            <a:ext cx="284232" cy="0"/>
          </a:xfrm>
          <a:prstGeom prst="line">
            <a:avLst/>
          </a:prstGeom>
          <a:noFill/>
          <a:ln w="107950">
            <a:solidFill>
              <a:srgbClr val="37A7FF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8974604" y="3257732"/>
            <a:ext cx="327960" cy="0"/>
          </a:xfrm>
          <a:prstGeom prst="line">
            <a:avLst/>
          </a:prstGeom>
          <a:noFill/>
          <a:ln w="107950">
            <a:solidFill>
              <a:srgbClr val="37A7FF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782902" y="2762149"/>
            <a:ext cx="2040638" cy="5174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520" y="0"/>
                </a:lnTo>
                <a:lnTo>
                  <a:pt x="21600" y="2434"/>
                </a:lnTo>
                <a:lnTo>
                  <a:pt x="20211" y="19166"/>
                </a:lnTo>
                <a:lnTo>
                  <a:pt x="1944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8BFF"/>
          </a:solidFill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717310" y="3556540"/>
            <a:ext cx="189488" cy="189488"/>
          </a:xfrm>
          <a:prstGeom prst="ellipse">
            <a:avLst/>
          </a:prstGeom>
          <a:solidFill>
            <a:srgbClr val="EAF6FB"/>
          </a:solidFill>
          <a:ln w="8890">
            <a:solidFill>
              <a:srgbClr val="BCE6FF"/>
            </a:solidFill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717310" y="3942803"/>
            <a:ext cx="189488" cy="189488"/>
          </a:xfrm>
          <a:prstGeom prst="ellipse">
            <a:avLst/>
          </a:prstGeom>
          <a:solidFill>
            <a:srgbClr val="EAF6FB"/>
          </a:solidFill>
          <a:ln w="8890">
            <a:solidFill>
              <a:srgbClr val="BCE6FF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717310" y="4336355"/>
            <a:ext cx="189488" cy="189488"/>
          </a:xfrm>
          <a:prstGeom prst="ellipse">
            <a:avLst/>
          </a:prstGeom>
          <a:solidFill>
            <a:srgbClr val="EAF6FB"/>
          </a:solidFill>
          <a:ln w="8890">
            <a:solidFill>
              <a:srgbClr val="BCE6FF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3792842" y="2762149"/>
            <a:ext cx="2047926" cy="5174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524" y="0"/>
                </a:lnTo>
                <a:lnTo>
                  <a:pt x="21600" y="2434"/>
                </a:lnTo>
                <a:lnTo>
                  <a:pt x="20216" y="19166"/>
                </a:lnTo>
                <a:lnTo>
                  <a:pt x="1944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CAF"/>
          </a:solidFill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3625218" y="3556540"/>
            <a:ext cx="189488" cy="189488"/>
          </a:xfrm>
          <a:prstGeom prst="ellipse">
            <a:avLst/>
          </a:prstGeom>
          <a:solidFill>
            <a:srgbClr val="EAF6FB"/>
          </a:solidFill>
          <a:ln w="8890">
            <a:solidFill>
              <a:srgbClr val="C3F0F2"/>
            </a:solidFill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3625218" y="3942803"/>
            <a:ext cx="189488" cy="189488"/>
          </a:xfrm>
          <a:prstGeom prst="ellipse">
            <a:avLst/>
          </a:prstGeom>
          <a:solidFill>
            <a:srgbClr val="EAF6FB"/>
          </a:solidFill>
          <a:ln w="8890">
            <a:solidFill>
              <a:srgbClr val="C3F0F2"/>
            </a:solidFill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3625218" y="4321779"/>
            <a:ext cx="189488" cy="189488"/>
          </a:xfrm>
          <a:prstGeom prst="ellipse">
            <a:avLst/>
          </a:prstGeom>
          <a:solidFill>
            <a:srgbClr val="EAF6FB"/>
          </a:solidFill>
          <a:ln w="8890">
            <a:solidFill>
              <a:srgbClr val="C3F0F2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6759055" y="2762149"/>
            <a:ext cx="2077078" cy="5174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539" y="0"/>
                </a:lnTo>
                <a:lnTo>
                  <a:pt x="21600" y="2434"/>
                </a:lnTo>
                <a:lnTo>
                  <a:pt x="20236" y="19166"/>
                </a:lnTo>
                <a:lnTo>
                  <a:pt x="1947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8D0B"/>
          </a:solidFill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6598719" y="3592980"/>
            <a:ext cx="189488" cy="189488"/>
          </a:xfrm>
          <a:prstGeom prst="ellipse">
            <a:avLst/>
          </a:prstGeom>
          <a:solidFill>
            <a:srgbClr val="EAF6FB"/>
          </a:solidFill>
          <a:ln w="8890">
            <a:solidFill>
              <a:srgbClr val="FFE2C5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6598719" y="3979243"/>
            <a:ext cx="189488" cy="189488"/>
          </a:xfrm>
          <a:prstGeom prst="ellipse">
            <a:avLst/>
          </a:prstGeom>
          <a:solidFill>
            <a:srgbClr val="EAF6FB"/>
          </a:solidFill>
          <a:ln w="8890">
            <a:solidFill>
              <a:srgbClr val="FFE2C5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9739843" y="2762149"/>
            <a:ext cx="2055214" cy="5174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528" y="0"/>
                </a:lnTo>
                <a:lnTo>
                  <a:pt x="21600" y="2434"/>
                </a:lnTo>
                <a:lnTo>
                  <a:pt x="20221" y="19166"/>
                </a:lnTo>
                <a:lnTo>
                  <a:pt x="1945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C99AE"/>
          </a:solidFill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9637811" y="3636708"/>
            <a:ext cx="189488" cy="189488"/>
          </a:xfrm>
          <a:prstGeom prst="ellipse">
            <a:avLst/>
          </a:prstGeom>
          <a:solidFill>
            <a:srgbClr val="EAF6FB"/>
          </a:solidFill>
          <a:ln w="8890">
            <a:solidFill>
              <a:srgbClr val="BDDFFF"/>
            </a:solidFill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9637811" y="4044835"/>
            <a:ext cx="189488" cy="189488"/>
          </a:xfrm>
          <a:prstGeom prst="ellipse">
            <a:avLst/>
          </a:prstGeom>
          <a:solidFill>
            <a:srgbClr val="EAF6FB"/>
          </a:solidFill>
          <a:ln w="8890">
            <a:solidFill>
              <a:srgbClr val="BDDFFF"/>
            </a:solidFill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757394" y="3596624"/>
            <a:ext cx="109320" cy="109320"/>
          </a:xfrm>
          <a:prstGeom prst="ellipse">
            <a:avLst/>
          </a:prstGeom>
          <a:solidFill>
            <a:srgbClr val="078BFF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757394" y="3982887"/>
            <a:ext cx="109320" cy="109320"/>
          </a:xfrm>
          <a:prstGeom prst="ellipse">
            <a:avLst/>
          </a:prstGeom>
          <a:solidFill>
            <a:srgbClr val="078BFF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6" name="Ellipse 36"/>
          <p:cNvSpPr/>
          <p:nvPr/>
        </p:nvSpPr>
        <p:spPr>
          <a:xfrm>
            <a:off x="757394" y="4376439"/>
            <a:ext cx="109320" cy="109320"/>
          </a:xfrm>
          <a:prstGeom prst="ellipse">
            <a:avLst/>
          </a:prstGeom>
          <a:solidFill>
            <a:srgbClr val="078BFF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3665302" y="3596624"/>
            <a:ext cx="109320" cy="109320"/>
          </a:xfrm>
          <a:prstGeom prst="ellipse">
            <a:avLst/>
          </a:prstGeom>
          <a:solidFill>
            <a:srgbClr val="00BCAF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8" name="Ellipse 38"/>
          <p:cNvSpPr/>
          <p:nvPr/>
        </p:nvSpPr>
        <p:spPr>
          <a:xfrm>
            <a:off x="3665302" y="3982887"/>
            <a:ext cx="109320" cy="109320"/>
          </a:xfrm>
          <a:prstGeom prst="ellipse">
            <a:avLst/>
          </a:prstGeom>
          <a:solidFill>
            <a:srgbClr val="00BCAF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3665302" y="4361863"/>
            <a:ext cx="109320" cy="109320"/>
          </a:xfrm>
          <a:prstGeom prst="ellipse">
            <a:avLst/>
          </a:prstGeom>
          <a:solidFill>
            <a:srgbClr val="00BCAF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0" name="Ellipse 40"/>
          <p:cNvSpPr/>
          <p:nvPr/>
        </p:nvSpPr>
        <p:spPr>
          <a:xfrm>
            <a:off x="6638803" y="3633064"/>
            <a:ext cx="109320" cy="109320"/>
          </a:xfrm>
          <a:prstGeom prst="ellipse">
            <a:avLst/>
          </a:prstGeom>
          <a:solidFill>
            <a:srgbClr val="FF8D0B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6638803" y="4019327"/>
            <a:ext cx="109320" cy="109320"/>
          </a:xfrm>
          <a:prstGeom prst="ellipse">
            <a:avLst/>
          </a:prstGeom>
          <a:solidFill>
            <a:srgbClr val="FF8D0B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2" name="Ellipse 42"/>
          <p:cNvSpPr/>
          <p:nvPr/>
        </p:nvSpPr>
        <p:spPr>
          <a:xfrm>
            <a:off x="9677895" y="3676792"/>
            <a:ext cx="109320" cy="109320"/>
          </a:xfrm>
          <a:prstGeom prst="ellipse">
            <a:avLst/>
          </a:prstGeom>
          <a:solidFill>
            <a:srgbClr val="7C99AE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9677895" y="4084919"/>
            <a:ext cx="109320" cy="109320"/>
          </a:xfrm>
          <a:prstGeom prst="ellipse">
            <a:avLst/>
          </a:prstGeom>
          <a:solidFill>
            <a:srgbClr val="7C99AE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pic>
        <p:nvPicPr>
          <p:cNvPr id="44" name="phase-checklist"/>
          <p:cNvPicPr/>
          <p:nvPr/>
        </p:nvPicPr>
        <p:blipFill>
          <a:blip r:embed="rId3"/>
          <a:stretch>
            <a:fillRect/>
          </a:stretch>
        </p:blipFill>
        <p:spPr>
          <a:xfrm>
            <a:off x="1099784" y="1743506"/>
            <a:ext cx="1742194" cy="1104422"/>
          </a:xfrm>
          <a:prstGeom prst="rect">
            <a:avLst/>
          </a:prstGeom>
        </p:spPr>
      </p:pic>
      <p:pic>
        <p:nvPicPr>
          <p:cNvPr id="45" name="badge-blue"/>
          <p:cNvPicPr/>
          <p:nvPr/>
        </p:nvPicPr>
        <p:blipFill>
          <a:blip r:embed="rId4"/>
          <a:stretch>
            <a:fillRect/>
          </a:stretch>
        </p:blipFill>
        <p:spPr>
          <a:xfrm>
            <a:off x="274273" y="2434991"/>
            <a:ext cx="988106" cy="989636"/>
          </a:xfrm>
          <a:prstGeom prst="rect">
            <a:avLst/>
          </a:prstGeom>
        </p:spPr>
      </p:pic>
      <p:pic>
        <p:nvPicPr>
          <p:cNvPr id="46" name="phase-chip"/>
          <p:cNvPicPr/>
          <p:nvPr/>
        </p:nvPicPr>
        <p:blipFill>
          <a:blip r:embed="rId5"/>
          <a:stretch>
            <a:fillRect/>
          </a:stretch>
        </p:blipFill>
        <p:spPr>
          <a:xfrm>
            <a:off x="4095731" y="1744818"/>
            <a:ext cx="1697227" cy="1101799"/>
          </a:xfrm>
          <a:prstGeom prst="rect">
            <a:avLst/>
          </a:prstGeom>
        </p:spPr>
      </p:pic>
      <p:pic>
        <p:nvPicPr>
          <p:cNvPr id="47" name="badge-teal"/>
          <p:cNvPicPr/>
          <p:nvPr/>
        </p:nvPicPr>
        <p:blipFill>
          <a:blip r:embed="rId6"/>
          <a:stretch>
            <a:fillRect/>
          </a:stretch>
        </p:blipFill>
        <p:spPr>
          <a:xfrm>
            <a:off x="3279112" y="2436813"/>
            <a:ext cx="983660" cy="985847"/>
          </a:xfrm>
          <a:prstGeom prst="rect">
            <a:avLst/>
          </a:prstGeom>
        </p:spPr>
      </p:pic>
      <p:pic>
        <p:nvPicPr>
          <p:cNvPr id="48" name="phase-bars"/>
          <p:cNvPicPr/>
          <p:nvPr/>
        </p:nvPicPr>
        <p:blipFill>
          <a:blip r:embed="rId7"/>
          <a:stretch>
            <a:fillRect/>
          </a:stretch>
        </p:blipFill>
        <p:spPr>
          <a:xfrm>
            <a:off x="7136864" y="1760706"/>
            <a:ext cx="1663994" cy="1084599"/>
          </a:xfrm>
          <a:prstGeom prst="rect">
            <a:avLst/>
          </a:prstGeom>
        </p:spPr>
      </p:pic>
      <p:pic>
        <p:nvPicPr>
          <p:cNvPr id="49" name="badge-orange"/>
          <p:cNvPicPr/>
          <p:nvPr/>
        </p:nvPicPr>
        <p:blipFill>
          <a:blip r:embed="rId8"/>
          <a:stretch>
            <a:fillRect/>
          </a:stretch>
        </p:blipFill>
        <p:spPr>
          <a:xfrm>
            <a:off x="6252977" y="2436813"/>
            <a:ext cx="983004" cy="985847"/>
          </a:xfrm>
          <a:prstGeom prst="rect">
            <a:avLst/>
          </a:prstGeom>
        </p:spPr>
      </p:pic>
      <p:pic>
        <p:nvPicPr>
          <p:cNvPr id="50" name="phase-clock"/>
          <p:cNvPicPr/>
          <p:nvPr/>
        </p:nvPicPr>
        <p:blipFill>
          <a:blip r:embed="rId9"/>
          <a:stretch>
            <a:fillRect/>
          </a:stretch>
        </p:blipFill>
        <p:spPr>
          <a:xfrm>
            <a:off x="10059203" y="1797583"/>
            <a:ext cx="1700726" cy="1054572"/>
          </a:xfrm>
          <a:prstGeom prst="rect">
            <a:avLst/>
          </a:prstGeom>
        </p:spPr>
      </p:pic>
      <p:pic>
        <p:nvPicPr>
          <p:cNvPr id="51" name="badge-slate"/>
          <p:cNvPicPr/>
          <p:nvPr/>
        </p:nvPicPr>
        <p:blipFill>
          <a:blip r:embed="rId10"/>
          <a:stretch>
            <a:fillRect/>
          </a:stretch>
        </p:blipFill>
        <p:spPr>
          <a:xfrm>
            <a:off x="9226842" y="2437542"/>
            <a:ext cx="982275" cy="984389"/>
          </a:xfrm>
          <a:prstGeom prst="rect">
            <a:avLst/>
          </a:prstGeom>
        </p:spPr>
      </p:pic>
      <p:pic>
        <p:nvPicPr>
          <p:cNvPr id="52" name="research-clipboard"/>
          <p:cNvPicPr/>
          <p:nvPr/>
        </p:nvPicPr>
        <p:blipFill>
          <a:blip r:embed="rId11"/>
          <a:stretch>
            <a:fillRect/>
          </a:stretch>
        </p:blipFill>
        <p:spPr>
          <a:xfrm>
            <a:off x="596548" y="5419642"/>
            <a:ext cx="948459" cy="938037"/>
          </a:xfrm>
          <a:prstGeom prst="rect">
            <a:avLst/>
          </a:prstGeom>
        </p:spPr>
      </p:pic>
      <p:sp>
        <p:nvSpPr>
          <p:cNvPr id="53" name="TextBox 53"/>
          <p:cNvSpPr txBox="1"/>
          <p:nvPr/>
        </p:nvSpPr>
        <p:spPr>
          <a:xfrm>
            <a:off x="1220181" y="189488"/>
            <a:ext cx="5786665" cy="5903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接下来先验证闭环，再验证收益</a:t>
            </a:r>
            <a:endParaRPr lang="zh-CN" sz="3150"/>
          </a:p>
        </p:txBody>
      </p:sp>
      <p:sp>
        <p:nvSpPr>
          <p:cNvPr id="54" name="TextBox 54"/>
          <p:cNvSpPr txBox="1"/>
          <p:nvPr/>
        </p:nvSpPr>
        <p:spPr>
          <a:xfrm>
            <a:off x="943238" y="1064047"/>
            <a:ext cx="6245809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 i="1">
                <a:solidFill>
                  <a:srgbClr val="052C7D"/>
                </a:solidFill>
                <a:latin typeface="Noto Sans CJK SC"/>
                <a:ea typeface="Noto Sans CJK SC"/>
                <a:cs typeface="Noto Sans CJK SC"/>
              </a:rPr>
              <a:t>从接口核对到小批量交付：每一步都有验证门槛</a:t>
            </a:r>
            <a:endParaRPr lang="zh-CN" sz="2250"/>
          </a:p>
        </p:txBody>
      </p:sp>
      <p:sp>
        <p:nvSpPr>
          <p:cNvPr id="55" name="TextBox 55"/>
          <p:cNvSpPr txBox="1"/>
          <p:nvPr/>
        </p:nvSpPr>
        <p:spPr>
          <a:xfrm>
            <a:off x="274273" y="2434991"/>
            <a:ext cx="988106" cy="9896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01</a:t>
            </a:r>
            <a:endParaRPr lang="zh-CN" sz="3200"/>
          </a:p>
        </p:txBody>
      </p:sp>
      <p:sp>
        <p:nvSpPr>
          <p:cNvPr id="56" name="TextBox 56"/>
          <p:cNvSpPr txBox="1"/>
          <p:nvPr/>
        </p:nvSpPr>
        <p:spPr>
          <a:xfrm>
            <a:off x="1489837" y="2798589"/>
            <a:ext cx="816255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近期</a:t>
            </a:r>
            <a:endParaRPr lang="zh-CN" sz="2350"/>
          </a:p>
        </p:txBody>
      </p:sp>
      <p:sp>
        <p:nvSpPr>
          <p:cNvPr id="57" name="TextBox 57"/>
          <p:cNvSpPr txBox="1"/>
          <p:nvPr/>
        </p:nvSpPr>
        <p:spPr>
          <a:xfrm>
            <a:off x="1052557" y="3490948"/>
            <a:ext cx="1705390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核对接口</a:t>
            </a:r>
            <a:endParaRPr lang="zh-CN" sz="1550"/>
          </a:p>
        </p:txBody>
      </p:sp>
      <p:sp>
        <p:nvSpPr>
          <p:cNvPr id="58" name="TextBox 58"/>
          <p:cNvSpPr txBox="1"/>
          <p:nvPr/>
        </p:nvSpPr>
        <p:spPr>
          <a:xfrm>
            <a:off x="1052557" y="3877211"/>
            <a:ext cx="1705390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确定晶振</a:t>
            </a:r>
            <a:endParaRPr lang="zh-CN" sz="1550"/>
          </a:p>
        </p:txBody>
      </p:sp>
      <p:sp>
        <p:nvSpPr>
          <p:cNvPr id="59" name="TextBox 59"/>
          <p:cNvSpPr txBox="1"/>
          <p:nvPr/>
        </p:nvSpPr>
        <p:spPr>
          <a:xfrm>
            <a:off x="1052557" y="4270763"/>
            <a:ext cx="1705390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落实测量设备</a:t>
            </a:r>
            <a:endParaRPr lang="zh-CN" sz="1550"/>
          </a:p>
        </p:txBody>
      </p:sp>
      <p:sp>
        <p:nvSpPr>
          <p:cNvPr id="60" name="TextBox 60"/>
          <p:cNvSpPr txBox="1"/>
          <p:nvPr/>
        </p:nvSpPr>
        <p:spPr>
          <a:xfrm>
            <a:off x="3279112" y="2436813"/>
            <a:ext cx="983660" cy="9858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02</a:t>
            </a:r>
            <a:endParaRPr lang="zh-CN" sz="3200"/>
          </a:p>
        </p:txBody>
      </p:sp>
      <p:sp>
        <p:nvSpPr>
          <p:cNvPr id="61" name="TextBox 61"/>
          <p:cNvSpPr txBox="1"/>
          <p:nvPr/>
        </p:nvSpPr>
        <p:spPr>
          <a:xfrm>
            <a:off x="4157242" y="2813165"/>
            <a:ext cx="1625222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第一验证</a:t>
            </a:r>
            <a:endParaRPr lang="zh-CN" sz="2150"/>
          </a:p>
        </p:txBody>
      </p:sp>
      <p:sp>
        <p:nvSpPr>
          <p:cNvPr id="62" name="TextBox 62"/>
          <p:cNvSpPr txBox="1"/>
          <p:nvPr/>
        </p:nvSpPr>
        <p:spPr>
          <a:xfrm>
            <a:off x="3960466" y="3490948"/>
            <a:ext cx="1858438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一只晶振完成</a:t>
            </a:r>
            <a:endParaRPr lang="zh-CN" sz="1550"/>
          </a:p>
        </p:txBody>
      </p:sp>
      <p:sp>
        <p:nvSpPr>
          <p:cNvPr id="63" name="TextBox 63"/>
          <p:cNvSpPr txBox="1"/>
          <p:nvPr/>
        </p:nvSpPr>
        <p:spPr>
          <a:xfrm>
            <a:off x="3960466" y="3877211"/>
            <a:ext cx="1858438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驯服—失锁 1 h 恢复</a:t>
            </a:r>
            <a:endParaRPr lang="zh-CN" sz="1550"/>
          </a:p>
        </p:txBody>
      </p:sp>
      <p:sp>
        <p:nvSpPr>
          <p:cNvPr id="64" name="TextBox 64"/>
          <p:cNvSpPr txBox="1"/>
          <p:nvPr/>
        </p:nvSpPr>
        <p:spPr>
          <a:xfrm>
            <a:off x="3960466" y="4256187"/>
            <a:ext cx="1858438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完整记录</a:t>
            </a:r>
            <a:endParaRPr lang="zh-CN" sz="1550"/>
          </a:p>
        </p:txBody>
      </p:sp>
      <p:sp>
        <p:nvSpPr>
          <p:cNvPr id="65" name="TextBox 65"/>
          <p:cNvSpPr txBox="1"/>
          <p:nvPr/>
        </p:nvSpPr>
        <p:spPr>
          <a:xfrm>
            <a:off x="6252977" y="2436813"/>
            <a:ext cx="983004" cy="9858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03</a:t>
            </a:r>
            <a:endParaRPr lang="zh-CN" sz="3200"/>
          </a:p>
        </p:txBody>
      </p:sp>
      <p:sp>
        <p:nvSpPr>
          <p:cNvPr id="66" name="TextBox 66"/>
          <p:cNvSpPr txBox="1"/>
          <p:nvPr/>
        </p:nvSpPr>
        <p:spPr>
          <a:xfrm>
            <a:off x="7123454" y="2813165"/>
            <a:ext cx="1654374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第二验证</a:t>
            </a:r>
            <a:endParaRPr lang="zh-CN" sz="2150"/>
          </a:p>
        </p:txBody>
      </p:sp>
      <p:sp>
        <p:nvSpPr>
          <p:cNvPr id="67" name="TextBox 67"/>
          <p:cNvSpPr txBox="1"/>
          <p:nvPr/>
        </p:nvSpPr>
        <p:spPr>
          <a:xfrm>
            <a:off x="6933967" y="3527388"/>
            <a:ext cx="1873014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补偿收益在独立数据</a:t>
            </a:r>
            <a:endParaRPr lang="zh-CN" sz="1550"/>
          </a:p>
        </p:txBody>
      </p:sp>
      <p:sp>
        <p:nvSpPr>
          <p:cNvPr id="68" name="TextBox 68"/>
          <p:cNvSpPr txBox="1"/>
          <p:nvPr/>
        </p:nvSpPr>
        <p:spPr>
          <a:xfrm>
            <a:off x="6933967" y="3913651"/>
            <a:ext cx="1873014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与重复实验中出现</a:t>
            </a:r>
            <a:endParaRPr lang="zh-CN" sz="1550"/>
          </a:p>
        </p:txBody>
      </p:sp>
      <p:sp>
        <p:nvSpPr>
          <p:cNvPr id="69" name="TextBox 69"/>
          <p:cNvSpPr txBox="1"/>
          <p:nvPr/>
        </p:nvSpPr>
        <p:spPr>
          <a:xfrm>
            <a:off x="9226842" y="2437542"/>
            <a:ext cx="982275" cy="9843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04</a:t>
            </a:r>
            <a:endParaRPr lang="zh-CN" sz="3200"/>
          </a:p>
        </p:txBody>
      </p:sp>
      <p:sp>
        <p:nvSpPr>
          <p:cNvPr id="70" name="TextBox 70"/>
          <p:cNvSpPr txBox="1"/>
          <p:nvPr/>
        </p:nvSpPr>
        <p:spPr>
          <a:xfrm>
            <a:off x="10104243" y="2813165"/>
            <a:ext cx="1632510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 i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后续规划</a:t>
            </a:r>
            <a:endParaRPr lang="zh-CN" sz="2150"/>
          </a:p>
        </p:txBody>
      </p:sp>
      <p:sp>
        <p:nvSpPr>
          <p:cNvPr id="71" name="TextBox 71"/>
          <p:cNvSpPr txBox="1"/>
          <p:nvPr/>
        </p:nvSpPr>
        <p:spPr>
          <a:xfrm>
            <a:off x="9973059" y="3571116"/>
            <a:ext cx="1756406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扩展第二型号</a:t>
            </a:r>
            <a:endParaRPr lang="zh-CN" sz="1550"/>
          </a:p>
        </p:txBody>
      </p:sp>
      <p:sp>
        <p:nvSpPr>
          <p:cNvPr id="72" name="TextBox 72"/>
          <p:cNvSpPr txBox="1"/>
          <p:nvPr/>
        </p:nvSpPr>
        <p:spPr>
          <a:xfrm>
            <a:off x="9973059" y="3979243"/>
            <a:ext cx="1756406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试用与小批量交付</a:t>
            </a:r>
            <a:endParaRPr lang="zh-CN" sz="1550"/>
          </a:p>
        </p:txBody>
      </p:sp>
      <p:sp>
        <p:nvSpPr>
          <p:cNvPr id="73" name="TextBox 73"/>
          <p:cNvSpPr txBox="1"/>
          <p:nvPr/>
        </p:nvSpPr>
        <p:spPr>
          <a:xfrm>
            <a:off x="1664749" y="5633617"/>
            <a:ext cx="142115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>
                <a:solidFill>
                  <a:srgbClr val="003CF0"/>
                </a:solidFill>
                <a:latin typeface="Noto Sans CJK SC"/>
                <a:ea typeface="Noto Sans CJK SC"/>
                <a:cs typeface="Noto Sans CJK SC"/>
              </a:rPr>
              <a:t>研发计划</a:t>
            </a:r>
            <a:endParaRPr lang="zh-CN" sz="2400"/>
          </a:p>
        </p:txBody>
      </p:sp>
      <p:sp>
        <p:nvSpPr>
          <p:cNvPr id="74" name="TextBox 74"/>
          <p:cNvSpPr txBox="1"/>
          <p:nvPr/>
        </p:nvSpPr>
        <p:spPr>
          <a:xfrm>
            <a:off x="3865722" y="5546162"/>
            <a:ext cx="7528495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20263E"/>
                </a:solidFill>
                <a:latin typeface="Noto Sans CJK SC"/>
                <a:ea typeface="Noto Sans CJK SC"/>
                <a:cs typeface="Noto Sans CJK SC"/>
              </a:rPr>
              <a:t>原方案 24 周为研发规划注释 · 本次交稿时间另列任务单 · 未来节点不视为已完成</a:t>
            </a:r>
            <a:endParaRPr lang="zh-CN" sz="1550"/>
          </a:p>
        </p:txBody>
      </p:sp>
      <p:sp>
        <p:nvSpPr>
          <p:cNvPr id="75" name="TextBox 75"/>
          <p:cNvSpPr txBox="1"/>
          <p:nvPr/>
        </p:nvSpPr>
        <p:spPr>
          <a:xfrm>
            <a:off x="3865722" y="5895985"/>
            <a:ext cx="5232778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 b="1">
                <a:solidFill>
                  <a:srgbClr val="0065ED"/>
                </a:solidFill>
                <a:latin typeface="Noto Sans CJK SC"/>
                <a:ea typeface="Noto Sans CJK SC"/>
                <a:cs typeface="Noto Sans CJK SC"/>
              </a:rPr>
              <a:t>围绕适配与保持评估，形成可验证模块</a:t>
            </a:r>
            <a:endParaRPr lang="zh-CN" sz="2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8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