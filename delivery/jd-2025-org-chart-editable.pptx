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67425" y="2914650"/>
            <a:ext cx="0" cy="1333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581400" y="3048000"/>
            <a:ext cx="9191625" cy="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581400" y="3048000"/>
            <a:ext cx="0" cy="1333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5553075" y="3048000"/>
            <a:ext cx="0" cy="63817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8591550" y="3048000"/>
            <a:ext cx="0" cy="7810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10086975" y="3048000"/>
            <a:ext cx="0" cy="7810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1477625" y="3048000"/>
            <a:ext cx="0" cy="7810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2773025" y="3048000"/>
            <a:ext cx="0" cy="7810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3581400" y="3667125"/>
            <a:ext cx="0" cy="10477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2981325" y="3771900"/>
            <a:ext cx="1276350" cy="1333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171923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2981325" y="4752975"/>
            <a:ext cx="0" cy="14287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743075" y="4895850"/>
            <a:ext cx="1238250" cy="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1743075" y="4895850"/>
            <a:ext cx="0" cy="19050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981325" y="4895850"/>
            <a:ext cx="0" cy="19050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2981325" y="5895975"/>
            <a:ext cx="0" cy="2476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4257675" y="4752975"/>
            <a:ext cx="0" cy="33337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981325" y="7019925"/>
            <a:ext cx="0" cy="571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4257675" y="5857875"/>
            <a:ext cx="0" cy="145732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2124075" y="7143750"/>
            <a:ext cx="2133600" cy="1524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5553075" y="4762500"/>
            <a:ext cx="0" cy="25336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8591550" y="4800600"/>
            <a:ext cx="0" cy="23431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7496175" y="7143750"/>
            <a:ext cx="1581150" cy="1619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171923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0086975" y="4800600"/>
            <a:ext cx="0" cy="2857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1477625" y="4800600"/>
            <a:ext cx="0" cy="2857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2773025" y="4800600"/>
            <a:ext cx="0" cy="28575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4076700" y="8172450"/>
            <a:ext cx="0" cy="342900"/>
          </a:xfrm>
          <a:prstGeom prst="line">
            <a:avLst/>
          </a:prstGeom>
          <a:noFill/>
          <a:ln w="10160">
            <a:solidFill>
              <a:srgbClr val="171923"/>
            </a:solidFill>
            <a:prstDash val="dash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5553075" y="8362950"/>
            <a:ext cx="0" cy="152400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7496175" y="8248650"/>
            <a:ext cx="0" cy="295275"/>
          </a:xfrm>
          <a:prstGeom prst="line">
            <a:avLst/>
          </a:prstGeom>
          <a:noFill/>
          <a:ln w="10160">
            <a:solidFill>
              <a:srgbClr val="171923"/>
            </a:solidFill>
            <a:prstDash val="dash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9077325" y="8248650"/>
            <a:ext cx="0" cy="295275"/>
          </a:xfrm>
          <a:prstGeom prst="line">
            <a:avLst/>
          </a:prstGeom>
          <a:noFill/>
          <a:ln w="10160">
            <a:solidFill>
              <a:srgbClr val="171923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715500" y="7800975"/>
            <a:ext cx="523875" cy="0"/>
          </a:xfrm>
          <a:prstGeom prst="line">
            <a:avLst/>
          </a:prstGeom>
          <a:noFill/>
          <a:ln w="10160">
            <a:solidFill>
              <a:srgbClr val="171923"/>
            </a:solidFill>
            <a:prstDash val="dash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6105525" y="7858125"/>
            <a:ext cx="257175" cy="14287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171923"/>
            </a:solidFill>
            <a:prstDash val="dash"/>
            <a:headEnd type="triangle"/>
            <a:tailEnd type="none"/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6229350" y="7858125"/>
            <a:ext cx="0" cy="1428750"/>
          </a:xfrm>
          <a:prstGeom prst="line">
            <a:avLst/>
          </a:prstGeom>
          <a:noFill/>
          <a:ln w="10160">
            <a:solidFill>
              <a:srgbClr val="171923"/>
            </a:solidFill>
            <a:prstDash val="dash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095375" y="7077075"/>
            <a:ext cx="12334875" cy="0"/>
          </a:xfrm>
          <a:prstGeom prst="line">
            <a:avLst/>
          </a:prstGeom>
          <a:noFill/>
          <a:ln w="10160">
            <a:solidFill>
              <a:srgbClr val="171923"/>
            </a:solidFill>
            <a:prstDash val="lgDash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600075" y="2562225"/>
            <a:ext cx="485775" cy="419100"/>
          </a:xfrm>
          <a:prstGeom prst="roundRect">
            <a:avLst>
              <a:gd name="adj" fmla="val 27273"/>
            </a:avLst>
          </a:prstGeom>
          <a:solidFill>
            <a:srgbClr val="E5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600075" y="3057525"/>
            <a:ext cx="485775" cy="419100"/>
          </a:xfrm>
          <a:prstGeom prst="roundRect">
            <a:avLst>
              <a:gd name="adj" fmla="val 27273"/>
            </a:avLst>
          </a:prstGeom>
          <a:solidFill>
            <a:srgbClr val="E5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13496925" y="676275"/>
            <a:ext cx="819150" cy="314325"/>
          </a:xfrm>
          <a:prstGeom prst="roundRect">
            <a:avLst>
              <a:gd name="adj" fmla="val 18182"/>
            </a:avLst>
          </a:prstGeom>
          <a:solidFill>
            <a:srgbClr val="DFE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619125" y="2524125"/>
            <a:ext cx="447675" cy="419100"/>
          </a:xfrm>
          <a:prstGeom prst="roundRect">
            <a:avLst>
              <a:gd name="adj" fmla="val 25000"/>
            </a:avLst>
          </a:prstGeom>
          <a:solidFill>
            <a:srgbClr val="075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619125" y="3019425"/>
            <a:ext cx="447675" cy="419100"/>
          </a:xfrm>
          <a:prstGeom prst="roundRect">
            <a:avLst>
              <a:gd name="adj" fmla="val 25000"/>
            </a:avLst>
          </a:prstGeom>
          <a:solidFill>
            <a:srgbClr val="075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4962525" y="2276475"/>
            <a:ext cx="2209800" cy="638175"/>
          </a:xfrm>
          <a:prstGeom prst="roundRect">
            <a:avLst>
              <a:gd name="adj" fmla="val 19403"/>
            </a:avLst>
          </a:prstGeom>
          <a:solidFill>
            <a:srgbClr val="FF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2276475" y="3181350"/>
            <a:ext cx="2695575" cy="485775"/>
          </a:xfrm>
          <a:prstGeom prst="roundRect">
            <a:avLst>
              <a:gd name="adj" fmla="val 23529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2362200" y="3905250"/>
            <a:ext cx="1209675" cy="847725"/>
          </a:xfrm>
          <a:prstGeom prst="roundRect">
            <a:avLst>
              <a:gd name="adj" fmla="val 14607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3676650" y="3905250"/>
            <a:ext cx="1181100" cy="847725"/>
          </a:xfrm>
          <a:prstGeom prst="roundRect">
            <a:avLst>
              <a:gd name="adj" fmla="val 14607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4953000" y="3686175"/>
            <a:ext cx="1276350" cy="1076325"/>
          </a:xfrm>
          <a:prstGeom prst="roundRect">
            <a:avLst>
              <a:gd name="adj" fmla="val 11504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8001000" y="3829050"/>
            <a:ext cx="1200150" cy="971550"/>
          </a:xfrm>
          <a:prstGeom prst="roundRect">
            <a:avLst>
              <a:gd name="adj" fmla="val 12745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9544050" y="3829050"/>
            <a:ext cx="1123950" cy="971550"/>
          </a:xfrm>
          <a:prstGeom prst="roundRect">
            <a:avLst>
              <a:gd name="adj" fmla="val 12745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10953750" y="3829050"/>
            <a:ext cx="1066800" cy="971550"/>
          </a:xfrm>
          <a:prstGeom prst="roundRect">
            <a:avLst>
              <a:gd name="adj" fmla="val 12745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12258675" y="3829050"/>
            <a:ext cx="1076325" cy="971550"/>
          </a:xfrm>
          <a:prstGeom prst="roundRect">
            <a:avLst>
              <a:gd name="adj" fmla="val 12745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1076325" y="5086350"/>
            <a:ext cx="1276350" cy="809625"/>
          </a:xfrm>
          <a:prstGeom prst="roundRect">
            <a:avLst>
              <a:gd name="adj" fmla="val 15294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2438400" y="5086350"/>
            <a:ext cx="1095375" cy="809625"/>
          </a:xfrm>
          <a:prstGeom prst="roundRect">
            <a:avLst>
              <a:gd name="adj" fmla="val 15294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3619500" y="5086350"/>
            <a:ext cx="1333500" cy="771525"/>
          </a:xfrm>
          <a:prstGeom prst="roundRect">
            <a:avLst>
              <a:gd name="adj" fmla="val 16049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2381250" y="6143625"/>
            <a:ext cx="1190625" cy="876300"/>
          </a:xfrm>
          <a:prstGeom prst="roundRect">
            <a:avLst>
              <a:gd name="adj" fmla="val 14130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9334500" y="5086350"/>
            <a:ext cx="1466850" cy="742950"/>
          </a:xfrm>
          <a:prstGeom prst="roundRect">
            <a:avLst>
              <a:gd name="adj" fmla="val 16667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10953750" y="5086350"/>
            <a:ext cx="1066800" cy="742950"/>
          </a:xfrm>
          <a:prstGeom prst="roundRect">
            <a:avLst>
              <a:gd name="adj" fmla="val 16667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12258675" y="5086350"/>
            <a:ext cx="1066800" cy="742950"/>
          </a:xfrm>
          <a:prstGeom prst="roundRect">
            <a:avLst>
              <a:gd name="adj" fmla="val 16667"/>
            </a:avLst>
          </a:prstGeom>
          <a:solidFill>
            <a:srgbClr val="FF3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1352550" y="7296150"/>
            <a:ext cx="1514475" cy="857250"/>
          </a:xfrm>
          <a:prstGeom prst="roundRect">
            <a:avLst>
              <a:gd name="adj" fmla="val 13333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3295650" y="7315200"/>
            <a:ext cx="1571625" cy="857250"/>
          </a:xfrm>
          <a:prstGeom prst="roundRect">
            <a:avLst>
              <a:gd name="adj" fmla="val 13333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4972050" y="7296150"/>
            <a:ext cx="1143000" cy="1066800"/>
          </a:xfrm>
          <a:prstGeom prst="roundRect">
            <a:avLst>
              <a:gd name="adj" fmla="val 10714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6943725" y="7305675"/>
            <a:ext cx="1162050" cy="942975"/>
          </a:xfrm>
          <a:prstGeom prst="roundRect">
            <a:avLst>
              <a:gd name="adj" fmla="val 12121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8391525" y="7305675"/>
            <a:ext cx="1323975" cy="942975"/>
          </a:xfrm>
          <a:prstGeom prst="roundRect">
            <a:avLst>
              <a:gd name="adj" fmla="val 12121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10239375" y="7372350"/>
            <a:ext cx="2047875" cy="914400"/>
          </a:xfrm>
          <a:prstGeom prst="roundRect">
            <a:avLst>
              <a:gd name="adj" fmla="val 12500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3305175" y="8515350"/>
            <a:ext cx="1552575" cy="762000"/>
          </a:xfrm>
          <a:prstGeom prst="roundRect">
            <a:avLst>
              <a:gd name="adj" fmla="val 15000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4972050" y="8515350"/>
            <a:ext cx="1152525" cy="762000"/>
          </a:xfrm>
          <a:prstGeom prst="roundRect">
            <a:avLst>
              <a:gd name="adj" fmla="val 15000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6867525" y="8543925"/>
            <a:ext cx="1257300" cy="733425"/>
          </a:xfrm>
          <a:prstGeom prst="roundRect">
            <a:avLst>
              <a:gd name="adj" fmla="val 15584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8353425" y="8543925"/>
            <a:ext cx="1447800" cy="733425"/>
          </a:xfrm>
          <a:prstGeom prst="roundRect">
            <a:avLst>
              <a:gd name="adj" fmla="val 15584"/>
            </a:avLst>
          </a:prstGeom>
          <a:solidFill>
            <a:srgbClr val="898B8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6" name="Original small blue chain-link pictogram beside native 原文."/>
          <p:cNvPicPr/>
          <p:nvPr/>
        </p:nvPicPr>
        <p:blipFill>
          <a:blip r:embed="rId2"/>
          <a:stretch>
            <a:fillRect/>
          </a:stretch>
        </p:blipFill>
        <p:spPr>
          <a:xfrm>
            <a:off x="13579091" y="740044"/>
            <a:ext cx="216668" cy="205837"/>
          </a:xfrm>
          <a:prstGeom prst="rect">
            <a:avLst/>
          </a:prstGeom>
        </p:spPr>
      </p:pic>
      <p:pic>
        <p:nvPicPr>
          <p:cNvPr id="67" name="Original white copy-symbol UI pictogram; blue button is native editable structure.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94" y="2625465"/>
            <a:ext cx="231188" cy="216420"/>
          </a:xfrm>
          <a:prstGeom prst="rect">
            <a:avLst/>
          </a:prstGeom>
        </p:spPr>
      </p:pic>
      <p:pic>
        <p:nvPicPr>
          <p:cNvPr id="68" name="Original white edit-symbol UI pictogram; blue button is native editable structure."/>
          <p:cNvPicPr/>
          <p:nvPr/>
        </p:nvPicPr>
        <p:blipFill>
          <a:blip r:embed="rId4"/>
          <a:stretch>
            <a:fillRect/>
          </a:stretch>
        </p:blipFill>
        <p:spPr>
          <a:xfrm>
            <a:off x="738673" y="3119870"/>
            <a:ext cx="237153" cy="218209"/>
          </a:xfrm>
          <a:prstGeom prst="rect">
            <a:avLst/>
          </a:prstGeom>
        </p:spPr>
      </p:pic>
      <p:pic>
        <p:nvPicPr>
          <p:cNvPr id="69" name="Source red diagonal rounded-tail annotation, original orientation and tip."/>
          <p:cNvPicPr/>
          <p:nvPr/>
        </p:nvPicPr>
        <p:blipFill>
          <a:blip r:embed="rId5"/>
          <a:stretch>
            <a:fillRect/>
          </a:stretch>
        </p:blipFill>
        <p:spPr>
          <a:xfrm>
            <a:off x="7108063" y="2728280"/>
            <a:ext cx="947674" cy="1268091"/>
          </a:xfrm>
          <a:prstGeom prst="rect">
            <a:avLst/>
          </a:prstGeom>
        </p:spPr>
      </p:pic>
      <p:pic>
        <p:nvPicPr>
          <p:cNvPr id="70" name="Source long slightly right-leaning red arrow toward Beijing domestic node, full original tail and head."/>
          <p:cNvPicPr/>
          <p:nvPr/>
        </p:nvPicPr>
        <p:blipFill>
          <a:blip r:embed="rId6"/>
          <a:stretch>
            <a:fillRect/>
          </a:stretch>
        </p:blipFill>
        <p:spPr>
          <a:xfrm>
            <a:off x="8678620" y="4832567"/>
            <a:ext cx="625961" cy="2298266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447675" y="190500"/>
            <a:ext cx="381000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>
                <a:solidFill>
                  <a:srgbClr val="090D1E"/>
                </a:solidFill>
                <a:latin typeface="Microsoft YaHei"/>
                <a:ea typeface="Microsoft YaHei"/>
                <a:cs typeface="Microsoft YaHei"/>
              </a:rPr>
              <a:t>2025年度报告</a:t>
            </a:r>
            <a:endParaRPr lang="zh-CN" sz="2500"/>
          </a:p>
        </p:txBody>
      </p:sp>
      <p:sp>
        <p:nvSpPr>
          <p:cNvPr id="72" name="TextBox 72"/>
          <p:cNvSpPr txBox="1"/>
          <p:nvPr/>
        </p:nvSpPr>
        <p:spPr>
          <a:xfrm>
            <a:off x="447675" y="733425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>
                <a:solidFill>
                  <a:srgbClr val="5E6176"/>
                </a:solidFill>
                <a:latin typeface="Microsoft YaHei"/>
                <a:ea typeface="Microsoft YaHei"/>
                <a:cs typeface="Microsoft YaHei"/>
              </a:rPr>
              <a:t>日期：2026-04-16</a:t>
            </a:r>
            <a:endParaRPr lang="zh-CN" sz="1500"/>
          </a:p>
        </p:txBody>
      </p:sp>
      <p:sp>
        <p:nvSpPr>
          <p:cNvPr id="73" name="TextBox 73"/>
          <p:cNvSpPr txBox="1"/>
          <p:nvPr/>
        </p:nvSpPr>
        <p:spPr>
          <a:xfrm>
            <a:off x="1314450" y="1209675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我们的组织架构</a:t>
            </a:r>
            <a:endParaRPr lang="zh-CN" sz="1800"/>
          </a:p>
        </p:txBody>
      </p:sp>
      <p:sp>
        <p:nvSpPr>
          <p:cNvPr id="74" name="TextBox 74"/>
          <p:cNvSpPr txBox="1"/>
          <p:nvPr/>
        </p:nvSpPr>
        <p:spPr>
          <a:xfrm>
            <a:off x="1314450" y="1638300"/>
            <a:ext cx="1195387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>
                <a:solidFill>
                  <a:srgbClr val="080808"/>
                </a:solidFill>
                <a:latin typeface="Microsoft YaHei"/>
                <a:ea typeface="Microsoft YaHei"/>
                <a:cs typeface="Microsoft YaHei"/>
              </a:rPr>
              <a:t>下图概述了截至2026年2月28日我们的公司架构，包括我们的主要子公司和合并可变利益实体：</a:t>
            </a:r>
            <a:endParaRPr lang="zh-CN" sz="1700"/>
          </a:p>
        </p:txBody>
      </p:sp>
      <p:sp>
        <p:nvSpPr>
          <p:cNvPr id="75" name="TextBox 75"/>
          <p:cNvSpPr txBox="1"/>
          <p:nvPr/>
        </p:nvSpPr>
        <p:spPr>
          <a:xfrm>
            <a:off x="13839825" y="685800"/>
            <a:ext cx="4476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004BFF"/>
                </a:solidFill>
                <a:latin typeface="Microsoft YaHei"/>
                <a:ea typeface="Microsoft YaHei"/>
                <a:cs typeface="Microsoft YaHei"/>
              </a:rPr>
              <a:t>原文</a:t>
            </a:r>
            <a:endParaRPr lang="zh-CN" sz="1400"/>
          </a:p>
        </p:txBody>
      </p:sp>
      <p:sp>
        <p:nvSpPr>
          <p:cNvPr id="76" name="TextBox 76"/>
          <p:cNvSpPr txBox="1"/>
          <p:nvPr/>
        </p:nvSpPr>
        <p:spPr>
          <a:xfrm>
            <a:off x="4991100" y="2324100"/>
            <a:ext cx="2152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JD.com, Inc.</a:t>
            </a:r>
            <a:endParaRPr lang="zh-CN" sz="1050"/>
          </a:p>
        </p:txBody>
      </p:sp>
      <p:sp>
        <p:nvSpPr>
          <p:cNvPr id="77" name="TextBox 77"/>
          <p:cNvSpPr txBox="1"/>
          <p:nvPr/>
        </p:nvSpPr>
        <p:spPr>
          <a:xfrm>
            <a:off x="4991100" y="2505075"/>
            <a:ext cx="2152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(京东)</a:t>
            </a:r>
            <a:endParaRPr lang="zh-CN" sz="1030"/>
          </a:p>
        </p:txBody>
      </p:sp>
      <p:sp>
        <p:nvSpPr>
          <p:cNvPr id="78" name="TextBox 78"/>
          <p:cNvSpPr txBox="1"/>
          <p:nvPr/>
        </p:nvSpPr>
        <p:spPr>
          <a:xfrm>
            <a:off x="4991100" y="2686050"/>
            <a:ext cx="2152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79" name="TextBox 79"/>
          <p:cNvSpPr txBox="1"/>
          <p:nvPr/>
        </p:nvSpPr>
        <p:spPr>
          <a:xfrm>
            <a:off x="2305050" y="3243262"/>
            <a:ext cx="26384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Jingdong Technology Group Corporation</a:t>
            </a:r>
            <a:endParaRPr lang="zh-CN" sz="1050"/>
          </a:p>
        </p:txBody>
      </p:sp>
      <p:sp>
        <p:nvSpPr>
          <p:cNvPr id="80" name="TextBox 80"/>
          <p:cNvSpPr txBox="1"/>
          <p:nvPr/>
        </p:nvSpPr>
        <p:spPr>
          <a:xfrm>
            <a:off x="2305050" y="3424238"/>
            <a:ext cx="26384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81" name="TextBox 81"/>
          <p:cNvSpPr txBox="1"/>
          <p:nvPr/>
        </p:nvSpPr>
        <p:spPr>
          <a:xfrm>
            <a:off x="2390775" y="4057650"/>
            <a:ext cx="11525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Property</a:t>
            </a:r>
            <a:endParaRPr lang="zh-CN" sz="1050"/>
          </a:p>
        </p:txBody>
      </p:sp>
      <p:sp>
        <p:nvSpPr>
          <p:cNvPr id="82" name="TextBox 82"/>
          <p:cNvSpPr txBox="1"/>
          <p:nvPr/>
        </p:nvSpPr>
        <p:spPr>
          <a:xfrm>
            <a:off x="2390775" y="4238625"/>
            <a:ext cx="11525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Holding Limited</a:t>
            </a:r>
            <a:endParaRPr lang="zh-CN" sz="1050"/>
          </a:p>
        </p:txBody>
      </p:sp>
      <p:sp>
        <p:nvSpPr>
          <p:cNvPr id="83" name="TextBox 83"/>
          <p:cNvSpPr txBox="1"/>
          <p:nvPr/>
        </p:nvSpPr>
        <p:spPr>
          <a:xfrm>
            <a:off x="2390775" y="4419600"/>
            <a:ext cx="11525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84" name="TextBox 84"/>
          <p:cNvSpPr txBox="1"/>
          <p:nvPr/>
        </p:nvSpPr>
        <p:spPr>
          <a:xfrm>
            <a:off x="3705225" y="4057650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京东物流股份</a:t>
            </a:r>
            <a:endParaRPr lang="zh-CN" sz="1030"/>
          </a:p>
        </p:txBody>
      </p:sp>
      <p:sp>
        <p:nvSpPr>
          <p:cNvPr id="85" name="TextBox 85"/>
          <p:cNvSpPr txBox="1"/>
          <p:nvPr/>
        </p:nvSpPr>
        <p:spPr>
          <a:xfrm>
            <a:off x="3705225" y="4238625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86" name="TextBox 86"/>
          <p:cNvSpPr txBox="1"/>
          <p:nvPr/>
        </p:nvSpPr>
        <p:spPr>
          <a:xfrm>
            <a:off x="3705225" y="4419600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87" name="TextBox 87"/>
          <p:cNvSpPr txBox="1"/>
          <p:nvPr/>
        </p:nvSpPr>
        <p:spPr>
          <a:xfrm>
            <a:off x="4981575" y="3771900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Jingdong</a:t>
            </a:r>
            <a:endParaRPr lang="zh-CN" sz="1050"/>
          </a:p>
        </p:txBody>
      </p:sp>
      <p:sp>
        <p:nvSpPr>
          <p:cNvPr id="88" name="TextBox 88"/>
          <p:cNvSpPr txBox="1"/>
          <p:nvPr/>
        </p:nvSpPr>
        <p:spPr>
          <a:xfrm>
            <a:off x="4981575" y="3952875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E-Commerce</a:t>
            </a:r>
            <a:endParaRPr lang="zh-CN" sz="1050"/>
          </a:p>
        </p:txBody>
      </p:sp>
      <p:sp>
        <p:nvSpPr>
          <p:cNvPr id="89" name="TextBox 89"/>
          <p:cNvSpPr txBox="1"/>
          <p:nvPr/>
        </p:nvSpPr>
        <p:spPr>
          <a:xfrm>
            <a:off x="4981575" y="4133850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(Trade) Hong Kong</a:t>
            </a:r>
            <a:endParaRPr lang="zh-CN" sz="1050"/>
          </a:p>
        </p:txBody>
      </p:sp>
      <p:sp>
        <p:nvSpPr>
          <p:cNvPr id="90" name="TextBox 90"/>
          <p:cNvSpPr txBox="1"/>
          <p:nvPr/>
        </p:nvSpPr>
        <p:spPr>
          <a:xfrm>
            <a:off x="4981575" y="4314825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Co., Ltd.</a:t>
            </a:r>
            <a:endParaRPr lang="zh-CN" sz="1050"/>
          </a:p>
        </p:txBody>
      </p:sp>
      <p:sp>
        <p:nvSpPr>
          <p:cNvPr id="91" name="TextBox 91"/>
          <p:cNvSpPr txBox="1"/>
          <p:nvPr/>
        </p:nvSpPr>
        <p:spPr>
          <a:xfrm>
            <a:off x="4981575" y="4495800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(香港)</a:t>
            </a:r>
            <a:endParaRPr lang="zh-CN" sz="1030"/>
          </a:p>
        </p:txBody>
      </p:sp>
      <p:sp>
        <p:nvSpPr>
          <p:cNvPr id="92" name="TextBox 92"/>
          <p:cNvSpPr txBox="1"/>
          <p:nvPr/>
        </p:nvSpPr>
        <p:spPr>
          <a:xfrm>
            <a:off x="8029575" y="3952875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JD.com</a:t>
            </a:r>
            <a:endParaRPr lang="zh-CN" sz="1050"/>
          </a:p>
        </p:txBody>
      </p:sp>
      <p:sp>
        <p:nvSpPr>
          <p:cNvPr id="93" name="TextBox 93"/>
          <p:cNvSpPr txBox="1"/>
          <p:nvPr/>
        </p:nvSpPr>
        <p:spPr>
          <a:xfrm>
            <a:off x="8029575" y="4133850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International</a:t>
            </a:r>
            <a:endParaRPr lang="zh-CN" sz="1050"/>
          </a:p>
        </p:txBody>
      </p:sp>
      <p:sp>
        <p:nvSpPr>
          <p:cNvPr id="94" name="TextBox 94"/>
          <p:cNvSpPr txBox="1"/>
          <p:nvPr/>
        </p:nvSpPr>
        <p:spPr>
          <a:xfrm>
            <a:off x="8029575" y="4314825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</a:t>
            </a:r>
            <a:endParaRPr lang="zh-CN" sz="1050"/>
          </a:p>
        </p:txBody>
      </p:sp>
      <p:sp>
        <p:nvSpPr>
          <p:cNvPr id="95" name="TextBox 95"/>
          <p:cNvSpPr txBox="1"/>
          <p:nvPr/>
        </p:nvSpPr>
        <p:spPr>
          <a:xfrm>
            <a:off x="8029575" y="4495800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(香港)</a:t>
            </a:r>
            <a:endParaRPr lang="zh-CN" sz="1030"/>
          </a:p>
        </p:txBody>
      </p:sp>
      <p:sp>
        <p:nvSpPr>
          <p:cNvPr id="96" name="TextBox 96"/>
          <p:cNvSpPr txBox="1"/>
          <p:nvPr/>
        </p:nvSpPr>
        <p:spPr>
          <a:xfrm>
            <a:off x="9572625" y="3876675"/>
            <a:ext cx="1066800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JD.com</a:t>
            </a:r>
            <a:endParaRPr lang="zh-CN" sz="1050"/>
          </a:p>
        </p:txBody>
      </p:sp>
      <p:sp>
        <p:nvSpPr>
          <p:cNvPr id="97" name="TextBox 97"/>
          <p:cNvSpPr txBox="1"/>
          <p:nvPr/>
        </p:nvSpPr>
        <p:spPr>
          <a:xfrm>
            <a:off x="9572625" y="4051935"/>
            <a:ext cx="1066800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Investment</a:t>
            </a:r>
            <a:endParaRPr lang="zh-CN" sz="1050"/>
          </a:p>
        </p:txBody>
      </p:sp>
      <p:sp>
        <p:nvSpPr>
          <p:cNvPr id="98" name="TextBox 98"/>
          <p:cNvSpPr txBox="1"/>
          <p:nvPr/>
        </p:nvSpPr>
        <p:spPr>
          <a:xfrm>
            <a:off x="9572625" y="4227195"/>
            <a:ext cx="1066800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</a:t>
            </a:r>
            <a:r>
              <a:rPr lang="zh-CN" sz="750" b="1" baseline="28000">
                <a:solidFill>
                  <a:srgbClr val="FFFFFF"/>
                </a:solidFill>
                <a:latin typeface="Arial"/>
                <a:ea typeface="Arial"/>
                <a:cs typeface="Arial"/>
              </a:rPr>
              <a:t>°</a:t>
            </a:r>
            <a:endParaRPr lang="zh-CN" sz="1050"/>
          </a:p>
        </p:txBody>
      </p:sp>
      <p:sp>
        <p:nvSpPr>
          <p:cNvPr id="99" name="TextBox 99"/>
          <p:cNvSpPr txBox="1"/>
          <p:nvPr/>
        </p:nvSpPr>
        <p:spPr>
          <a:xfrm>
            <a:off x="9572625" y="4402455"/>
            <a:ext cx="1066800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(英国)</a:t>
            </a:r>
            <a:endParaRPr lang="zh-CN" sz="1030"/>
          </a:p>
        </p:txBody>
      </p:sp>
      <p:sp>
        <p:nvSpPr>
          <p:cNvPr id="100" name="TextBox 100"/>
          <p:cNvSpPr txBox="1"/>
          <p:nvPr/>
        </p:nvSpPr>
        <p:spPr>
          <a:xfrm>
            <a:off x="9572625" y="4577715"/>
            <a:ext cx="1066800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维尔京群岛)</a:t>
            </a:r>
            <a:endParaRPr lang="zh-CN" sz="1030"/>
          </a:p>
        </p:txBody>
      </p:sp>
      <p:sp>
        <p:nvSpPr>
          <p:cNvPr id="101" name="TextBox 101"/>
          <p:cNvSpPr txBox="1"/>
          <p:nvPr/>
        </p:nvSpPr>
        <p:spPr>
          <a:xfrm>
            <a:off x="10982325" y="3952875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Jiankang</a:t>
            </a:r>
            <a:endParaRPr lang="zh-CN" sz="1050"/>
          </a:p>
        </p:txBody>
      </p:sp>
      <p:sp>
        <p:nvSpPr>
          <p:cNvPr id="102" name="TextBox 102"/>
          <p:cNvSpPr txBox="1"/>
          <p:nvPr/>
        </p:nvSpPr>
        <p:spPr>
          <a:xfrm>
            <a:off x="10982325" y="4133850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</a:t>
            </a:r>
            <a:endParaRPr lang="zh-CN" sz="1050"/>
          </a:p>
        </p:txBody>
      </p:sp>
      <p:sp>
        <p:nvSpPr>
          <p:cNvPr id="103" name="TextBox 103"/>
          <p:cNvSpPr txBox="1"/>
          <p:nvPr/>
        </p:nvSpPr>
        <p:spPr>
          <a:xfrm>
            <a:off x="10982325" y="4314825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(英国)</a:t>
            </a:r>
            <a:endParaRPr lang="zh-CN" sz="1030"/>
          </a:p>
        </p:txBody>
      </p:sp>
      <p:sp>
        <p:nvSpPr>
          <p:cNvPr id="104" name="TextBox 104"/>
          <p:cNvSpPr txBox="1"/>
          <p:nvPr/>
        </p:nvSpPr>
        <p:spPr>
          <a:xfrm>
            <a:off x="10982325" y="4495800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维尔京群岛)</a:t>
            </a:r>
            <a:endParaRPr lang="zh-CN" sz="1030"/>
          </a:p>
        </p:txBody>
      </p:sp>
      <p:sp>
        <p:nvSpPr>
          <p:cNvPr id="105" name="TextBox 105"/>
          <p:cNvSpPr txBox="1"/>
          <p:nvPr/>
        </p:nvSpPr>
        <p:spPr>
          <a:xfrm>
            <a:off x="12287250" y="3876675"/>
            <a:ext cx="1019175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Industrial</a:t>
            </a:r>
            <a:endParaRPr lang="zh-CN" sz="1050"/>
          </a:p>
        </p:txBody>
      </p:sp>
      <p:sp>
        <p:nvSpPr>
          <p:cNvPr id="106" name="TextBox 106"/>
          <p:cNvSpPr txBox="1"/>
          <p:nvPr/>
        </p:nvSpPr>
        <p:spPr>
          <a:xfrm>
            <a:off x="12287250" y="4051935"/>
            <a:ext cx="1019175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Technology</a:t>
            </a:r>
            <a:endParaRPr lang="zh-CN" sz="1050"/>
          </a:p>
        </p:txBody>
      </p:sp>
      <p:sp>
        <p:nvSpPr>
          <p:cNvPr id="107" name="TextBox 107"/>
          <p:cNvSpPr txBox="1"/>
          <p:nvPr/>
        </p:nvSpPr>
        <p:spPr>
          <a:xfrm>
            <a:off x="12287250" y="4227195"/>
            <a:ext cx="1019175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</a:t>
            </a:r>
            <a:endParaRPr lang="zh-CN" sz="1050"/>
          </a:p>
        </p:txBody>
      </p:sp>
      <p:sp>
        <p:nvSpPr>
          <p:cNvPr id="108" name="TextBox 108"/>
          <p:cNvSpPr txBox="1"/>
          <p:nvPr/>
        </p:nvSpPr>
        <p:spPr>
          <a:xfrm>
            <a:off x="12287250" y="4402455"/>
            <a:ext cx="1019175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(英国)</a:t>
            </a:r>
            <a:endParaRPr lang="zh-CN" sz="1030"/>
          </a:p>
        </p:txBody>
      </p:sp>
      <p:sp>
        <p:nvSpPr>
          <p:cNvPr id="109" name="TextBox 109"/>
          <p:cNvSpPr txBox="1"/>
          <p:nvPr/>
        </p:nvSpPr>
        <p:spPr>
          <a:xfrm>
            <a:off x="12287250" y="4577715"/>
            <a:ext cx="1019175" cy="1752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维尔京群岛)</a:t>
            </a:r>
            <a:endParaRPr lang="zh-CN" sz="1030"/>
          </a:p>
        </p:txBody>
      </p:sp>
      <p:sp>
        <p:nvSpPr>
          <p:cNvPr id="110" name="TextBox 110"/>
          <p:cNvSpPr txBox="1"/>
          <p:nvPr/>
        </p:nvSpPr>
        <p:spPr>
          <a:xfrm>
            <a:off x="1104900" y="5219700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Assets</a:t>
            </a:r>
            <a:endParaRPr lang="zh-CN" sz="1050"/>
          </a:p>
        </p:txBody>
      </p:sp>
      <p:sp>
        <p:nvSpPr>
          <p:cNvPr id="111" name="TextBox 111"/>
          <p:cNvSpPr txBox="1"/>
          <p:nvPr/>
        </p:nvSpPr>
        <p:spPr>
          <a:xfrm>
            <a:off x="1104900" y="5400675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Holding Limited</a:t>
            </a:r>
            <a:r>
              <a:rPr lang="zh-CN" sz="750" b="1" baseline="28000">
                <a:solidFill>
                  <a:srgbClr val="FFFFFF"/>
                </a:solidFill>
                <a:latin typeface="Arial"/>
                <a:ea typeface="Arial"/>
                <a:cs typeface="Arial"/>
              </a:rPr>
              <a:t>°</a:t>
            </a:r>
            <a:endParaRPr lang="zh-CN" sz="1050"/>
          </a:p>
        </p:txBody>
      </p:sp>
      <p:sp>
        <p:nvSpPr>
          <p:cNvPr id="112" name="TextBox 112"/>
          <p:cNvSpPr txBox="1"/>
          <p:nvPr/>
        </p:nvSpPr>
        <p:spPr>
          <a:xfrm>
            <a:off x="1104900" y="5581650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113" name="TextBox 113"/>
          <p:cNvSpPr txBox="1"/>
          <p:nvPr/>
        </p:nvSpPr>
        <p:spPr>
          <a:xfrm>
            <a:off x="2466975" y="5219700"/>
            <a:ext cx="10382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京东智能产业</a:t>
            </a:r>
            <a:endParaRPr lang="zh-CN" sz="1030"/>
          </a:p>
        </p:txBody>
      </p:sp>
      <p:sp>
        <p:nvSpPr>
          <p:cNvPr id="114" name="TextBox 114"/>
          <p:cNvSpPr txBox="1"/>
          <p:nvPr/>
        </p:nvSpPr>
        <p:spPr>
          <a:xfrm>
            <a:off x="2466975" y="5400675"/>
            <a:ext cx="10382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股份有限公司</a:t>
            </a:r>
            <a:endParaRPr lang="zh-CN" sz="1030"/>
          </a:p>
        </p:txBody>
      </p:sp>
      <p:sp>
        <p:nvSpPr>
          <p:cNvPr id="115" name="TextBox 115"/>
          <p:cNvSpPr txBox="1"/>
          <p:nvPr/>
        </p:nvSpPr>
        <p:spPr>
          <a:xfrm>
            <a:off x="2466975" y="5581650"/>
            <a:ext cx="10382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116" name="TextBox 116"/>
          <p:cNvSpPr txBox="1"/>
          <p:nvPr/>
        </p:nvSpPr>
        <p:spPr>
          <a:xfrm>
            <a:off x="3648075" y="5200650"/>
            <a:ext cx="12763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Logistics</a:t>
            </a:r>
            <a:endParaRPr lang="zh-CN" sz="1050"/>
          </a:p>
        </p:txBody>
      </p:sp>
      <p:sp>
        <p:nvSpPr>
          <p:cNvPr id="117" name="TextBox 117"/>
          <p:cNvSpPr txBox="1"/>
          <p:nvPr/>
        </p:nvSpPr>
        <p:spPr>
          <a:xfrm>
            <a:off x="3648075" y="5381625"/>
            <a:ext cx="12763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Holding Limited</a:t>
            </a:r>
            <a:endParaRPr lang="zh-CN" sz="1050"/>
          </a:p>
        </p:txBody>
      </p:sp>
      <p:sp>
        <p:nvSpPr>
          <p:cNvPr id="118" name="TextBox 118"/>
          <p:cNvSpPr txBox="1"/>
          <p:nvPr/>
        </p:nvSpPr>
        <p:spPr>
          <a:xfrm>
            <a:off x="3648075" y="5562600"/>
            <a:ext cx="12763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(香港)</a:t>
            </a:r>
            <a:endParaRPr lang="zh-CN" sz="1030"/>
          </a:p>
        </p:txBody>
      </p:sp>
      <p:sp>
        <p:nvSpPr>
          <p:cNvPr id="119" name="TextBox 119"/>
          <p:cNvSpPr txBox="1"/>
          <p:nvPr/>
        </p:nvSpPr>
        <p:spPr>
          <a:xfrm>
            <a:off x="2409825" y="6219825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Asia</a:t>
            </a:r>
            <a:endParaRPr lang="zh-CN" sz="1050"/>
          </a:p>
        </p:txBody>
      </p:sp>
      <p:sp>
        <p:nvSpPr>
          <p:cNvPr id="120" name="TextBox 120"/>
          <p:cNvSpPr txBox="1"/>
          <p:nvPr/>
        </p:nvSpPr>
        <p:spPr>
          <a:xfrm>
            <a:off x="2409825" y="6400800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</a:t>
            </a:r>
            <a:endParaRPr lang="zh-CN" sz="1050"/>
          </a:p>
        </p:txBody>
      </p:sp>
      <p:sp>
        <p:nvSpPr>
          <p:cNvPr id="121" name="TextBox 121"/>
          <p:cNvSpPr txBox="1"/>
          <p:nvPr/>
        </p:nvSpPr>
        <p:spPr>
          <a:xfrm>
            <a:off x="2409825" y="6581775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Limited</a:t>
            </a:r>
            <a:r>
              <a:rPr lang="zh-CN" sz="750" b="1" baseline="28000">
                <a:solidFill>
                  <a:srgbClr val="FFFFFF"/>
                </a:solidFill>
                <a:latin typeface="Arial"/>
                <a:ea typeface="Arial"/>
                <a:cs typeface="Arial"/>
              </a:rPr>
              <a:t>°</a:t>
            </a:r>
            <a:endParaRPr lang="zh-CN" sz="1050"/>
          </a:p>
        </p:txBody>
      </p:sp>
      <p:sp>
        <p:nvSpPr>
          <p:cNvPr id="122" name="TextBox 122"/>
          <p:cNvSpPr txBox="1"/>
          <p:nvPr/>
        </p:nvSpPr>
        <p:spPr>
          <a:xfrm>
            <a:off x="2409825" y="6762750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(英国维尔京群岛)</a:t>
            </a:r>
            <a:endParaRPr lang="zh-CN" sz="1030"/>
          </a:p>
        </p:txBody>
      </p:sp>
      <p:sp>
        <p:nvSpPr>
          <p:cNvPr id="123" name="TextBox 123"/>
          <p:cNvSpPr txBox="1"/>
          <p:nvPr/>
        </p:nvSpPr>
        <p:spPr>
          <a:xfrm>
            <a:off x="9363075" y="5186362"/>
            <a:ext cx="14097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 Sunflower</a:t>
            </a:r>
            <a:endParaRPr lang="zh-CN" sz="1050"/>
          </a:p>
        </p:txBody>
      </p:sp>
      <p:sp>
        <p:nvSpPr>
          <p:cNvPr id="124" name="TextBox 124"/>
          <p:cNvSpPr txBox="1"/>
          <p:nvPr/>
        </p:nvSpPr>
        <p:spPr>
          <a:xfrm>
            <a:off x="9363075" y="5367337"/>
            <a:ext cx="14097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Investment Limited</a:t>
            </a:r>
            <a:endParaRPr lang="zh-CN" sz="1050"/>
          </a:p>
        </p:txBody>
      </p:sp>
      <p:sp>
        <p:nvSpPr>
          <p:cNvPr id="125" name="TextBox 125"/>
          <p:cNvSpPr txBox="1"/>
          <p:nvPr/>
        </p:nvSpPr>
        <p:spPr>
          <a:xfrm>
            <a:off x="9363075" y="5548312"/>
            <a:ext cx="14097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(英国维尔京群岛)</a:t>
            </a:r>
            <a:endParaRPr lang="zh-CN" sz="1030"/>
          </a:p>
        </p:txBody>
      </p:sp>
      <p:sp>
        <p:nvSpPr>
          <p:cNvPr id="126" name="TextBox 126"/>
          <p:cNvSpPr txBox="1"/>
          <p:nvPr/>
        </p:nvSpPr>
        <p:spPr>
          <a:xfrm>
            <a:off x="10982325" y="5186362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京东健康股份</a:t>
            </a:r>
            <a:endParaRPr lang="zh-CN" sz="1030"/>
          </a:p>
        </p:txBody>
      </p:sp>
      <p:sp>
        <p:nvSpPr>
          <p:cNvPr id="127" name="TextBox 127"/>
          <p:cNvSpPr txBox="1"/>
          <p:nvPr/>
        </p:nvSpPr>
        <p:spPr>
          <a:xfrm>
            <a:off x="10982325" y="5367337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128" name="TextBox 128"/>
          <p:cNvSpPr txBox="1"/>
          <p:nvPr/>
        </p:nvSpPr>
        <p:spPr>
          <a:xfrm>
            <a:off x="10982325" y="5548312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129" name="TextBox 129"/>
          <p:cNvSpPr txBox="1"/>
          <p:nvPr/>
        </p:nvSpPr>
        <p:spPr>
          <a:xfrm>
            <a:off x="12287250" y="5186362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京东工业股份</a:t>
            </a:r>
            <a:endParaRPr lang="zh-CN" sz="1030"/>
          </a:p>
        </p:txBody>
      </p:sp>
      <p:sp>
        <p:nvSpPr>
          <p:cNvPr id="130" name="TextBox 130"/>
          <p:cNvSpPr txBox="1"/>
          <p:nvPr/>
        </p:nvSpPr>
        <p:spPr>
          <a:xfrm>
            <a:off x="12287250" y="5367337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131" name="TextBox 131"/>
          <p:cNvSpPr txBox="1"/>
          <p:nvPr/>
        </p:nvSpPr>
        <p:spPr>
          <a:xfrm>
            <a:off x="12287250" y="5548312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(开曼群岛)</a:t>
            </a:r>
            <a:endParaRPr lang="zh-CN" sz="1030"/>
          </a:p>
        </p:txBody>
      </p:sp>
      <p:sp>
        <p:nvSpPr>
          <p:cNvPr id="132" name="TextBox 132"/>
          <p:cNvSpPr txBox="1"/>
          <p:nvPr/>
        </p:nvSpPr>
        <p:spPr>
          <a:xfrm>
            <a:off x="1381125" y="7534275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京东物流供应链</a:t>
            </a:r>
            <a:endParaRPr lang="zh-CN" sz="1030"/>
          </a:p>
        </p:txBody>
      </p:sp>
      <p:sp>
        <p:nvSpPr>
          <p:cNvPr id="133" name="TextBox 133"/>
          <p:cNvSpPr txBox="1"/>
          <p:nvPr/>
        </p:nvSpPr>
        <p:spPr>
          <a:xfrm>
            <a:off x="1381125" y="7724775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134" name="TextBox 134"/>
          <p:cNvSpPr txBox="1"/>
          <p:nvPr/>
        </p:nvSpPr>
        <p:spPr>
          <a:xfrm>
            <a:off x="3324225" y="7458075"/>
            <a:ext cx="15144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江苏新川物流供应链</a:t>
            </a:r>
            <a:endParaRPr lang="zh-CN" sz="1030"/>
          </a:p>
        </p:txBody>
      </p:sp>
      <p:sp>
        <p:nvSpPr>
          <p:cNvPr id="135" name="TextBox 135"/>
          <p:cNvSpPr txBox="1"/>
          <p:nvPr/>
        </p:nvSpPr>
        <p:spPr>
          <a:xfrm>
            <a:off x="3324225" y="7648575"/>
            <a:ext cx="15144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管理有限公司</a:t>
            </a:r>
            <a:endParaRPr lang="zh-CN" sz="1030"/>
          </a:p>
        </p:txBody>
      </p:sp>
      <p:sp>
        <p:nvSpPr>
          <p:cNvPr id="136" name="TextBox 136"/>
          <p:cNvSpPr txBox="1"/>
          <p:nvPr/>
        </p:nvSpPr>
        <p:spPr>
          <a:xfrm>
            <a:off x="3324225" y="7839075"/>
            <a:ext cx="15144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(江苏新川鸿运)</a:t>
            </a:r>
            <a:endParaRPr lang="zh-CN" sz="1030"/>
          </a:p>
        </p:txBody>
      </p:sp>
      <p:sp>
        <p:nvSpPr>
          <p:cNvPr id="137" name="TextBox 137"/>
          <p:cNvSpPr txBox="1"/>
          <p:nvPr/>
        </p:nvSpPr>
        <p:spPr>
          <a:xfrm>
            <a:off x="5000625" y="74485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上海日出元</a:t>
            </a:r>
            <a:endParaRPr lang="zh-CN" sz="1030"/>
          </a:p>
        </p:txBody>
      </p:sp>
      <p:sp>
        <p:nvSpPr>
          <p:cNvPr id="138" name="TextBox 138"/>
          <p:cNvSpPr txBox="1"/>
          <p:nvPr/>
        </p:nvSpPr>
        <p:spPr>
          <a:xfrm>
            <a:off x="5000625" y="76390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信息技术</a:t>
            </a:r>
            <a:endParaRPr lang="zh-CN" sz="1030"/>
          </a:p>
        </p:txBody>
      </p:sp>
      <p:sp>
        <p:nvSpPr>
          <p:cNvPr id="139" name="TextBox 139"/>
          <p:cNvSpPr txBox="1"/>
          <p:nvPr/>
        </p:nvSpPr>
        <p:spPr>
          <a:xfrm>
            <a:off x="5000625" y="78295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140" name="TextBox 140"/>
          <p:cNvSpPr txBox="1"/>
          <p:nvPr/>
        </p:nvSpPr>
        <p:spPr>
          <a:xfrm>
            <a:off x="5000625" y="80200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(日出元)</a:t>
            </a:r>
            <a:endParaRPr lang="zh-CN" sz="1030"/>
          </a:p>
        </p:txBody>
      </p:sp>
      <p:sp>
        <p:nvSpPr>
          <p:cNvPr id="141" name="TextBox 141"/>
          <p:cNvSpPr txBox="1"/>
          <p:nvPr/>
        </p:nvSpPr>
        <p:spPr>
          <a:xfrm>
            <a:off x="6972300" y="7491412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江西蓝吉空明</a:t>
            </a:r>
            <a:endParaRPr lang="zh-CN" sz="1030"/>
          </a:p>
        </p:txBody>
      </p:sp>
      <p:sp>
        <p:nvSpPr>
          <p:cNvPr id="142" name="TextBox 142"/>
          <p:cNvSpPr txBox="1"/>
          <p:nvPr/>
        </p:nvSpPr>
        <p:spPr>
          <a:xfrm>
            <a:off x="6972300" y="7681912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科技有限公司</a:t>
            </a:r>
            <a:endParaRPr lang="zh-CN" sz="1030"/>
          </a:p>
        </p:txBody>
      </p:sp>
      <p:sp>
        <p:nvSpPr>
          <p:cNvPr id="143" name="TextBox 143"/>
          <p:cNvSpPr txBox="1"/>
          <p:nvPr/>
        </p:nvSpPr>
        <p:spPr>
          <a:xfrm>
            <a:off x="6972300" y="7872412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(江西蓝吉)</a:t>
            </a:r>
            <a:endParaRPr lang="zh-CN" sz="1030"/>
          </a:p>
        </p:txBody>
      </p:sp>
      <p:sp>
        <p:nvSpPr>
          <p:cNvPr id="144" name="TextBox 144"/>
          <p:cNvSpPr txBox="1"/>
          <p:nvPr/>
        </p:nvSpPr>
        <p:spPr>
          <a:xfrm>
            <a:off x="8420100" y="7491412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北京京东世纪贸易</a:t>
            </a:r>
            <a:endParaRPr lang="zh-CN" sz="1030"/>
          </a:p>
        </p:txBody>
      </p:sp>
      <p:sp>
        <p:nvSpPr>
          <p:cNvPr id="145" name="TextBox 145"/>
          <p:cNvSpPr txBox="1"/>
          <p:nvPr/>
        </p:nvSpPr>
        <p:spPr>
          <a:xfrm>
            <a:off x="8420100" y="7681912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有限公司</a:t>
            </a:r>
            <a:endParaRPr lang="zh-CN" sz="1030"/>
          </a:p>
        </p:txBody>
      </p:sp>
      <p:sp>
        <p:nvSpPr>
          <p:cNvPr id="146" name="TextBox 146"/>
          <p:cNvSpPr txBox="1"/>
          <p:nvPr/>
        </p:nvSpPr>
        <p:spPr>
          <a:xfrm>
            <a:off x="8420100" y="7872412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(京东世纪)</a:t>
            </a:r>
            <a:endParaRPr lang="zh-CN" sz="1030"/>
          </a:p>
        </p:txBody>
      </p:sp>
      <p:sp>
        <p:nvSpPr>
          <p:cNvPr id="147" name="TextBox 147"/>
          <p:cNvSpPr txBox="1"/>
          <p:nvPr/>
        </p:nvSpPr>
        <p:spPr>
          <a:xfrm>
            <a:off x="10267950" y="7543800"/>
            <a:ext cx="19907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北京京东叁佰陆拾度</a:t>
            </a:r>
            <a:endParaRPr lang="zh-CN" sz="1030"/>
          </a:p>
        </p:txBody>
      </p:sp>
      <p:sp>
        <p:nvSpPr>
          <p:cNvPr id="148" name="TextBox 148"/>
          <p:cNvSpPr txBox="1"/>
          <p:nvPr/>
        </p:nvSpPr>
        <p:spPr>
          <a:xfrm>
            <a:off x="10267950" y="7734300"/>
            <a:ext cx="19907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电子商务有限公司</a:t>
            </a:r>
            <a:endParaRPr lang="zh-CN" sz="1030"/>
          </a:p>
        </p:txBody>
      </p:sp>
      <p:sp>
        <p:nvSpPr>
          <p:cNvPr id="149" name="TextBox 149"/>
          <p:cNvSpPr txBox="1"/>
          <p:nvPr/>
        </p:nvSpPr>
        <p:spPr>
          <a:xfrm>
            <a:off x="10267950" y="7924800"/>
            <a:ext cx="19907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(京东360)</a:t>
            </a:r>
            <a:endParaRPr lang="zh-CN" sz="1030"/>
          </a:p>
        </p:txBody>
      </p:sp>
      <p:sp>
        <p:nvSpPr>
          <p:cNvPr id="150" name="TextBox 150"/>
          <p:cNvSpPr txBox="1"/>
          <p:nvPr/>
        </p:nvSpPr>
        <p:spPr>
          <a:xfrm>
            <a:off x="3333750" y="8705850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西安京东信成信息</a:t>
            </a:r>
            <a:endParaRPr lang="zh-CN" sz="1030"/>
          </a:p>
        </p:txBody>
      </p:sp>
      <p:sp>
        <p:nvSpPr>
          <p:cNvPr id="151" name="TextBox 151"/>
          <p:cNvSpPr txBox="1"/>
          <p:nvPr/>
        </p:nvSpPr>
        <p:spPr>
          <a:xfrm>
            <a:off x="3333750" y="8896350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科技有限公司</a:t>
            </a:r>
            <a:endParaRPr lang="zh-CN" sz="1030"/>
          </a:p>
        </p:txBody>
      </p:sp>
      <p:sp>
        <p:nvSpPr>
          <p:cNvPr id="152" name="TextBox 152"/>
          <p:cNvSpPr txBox="1"/>
          <p:nvPr/>
        </p:nvSpPr>
        <p:spPr>
          <a:xfrm>
            <a:off x="5000625" y="87058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宿迁琪邦投资</a:t>
            </a:r>
            <a:endParaRPr lang="zh-CN" sz="1030"/>
          </a:p>
        </p:txBody>
      </p:sp>
      <p:sp>
        <p:nvSpPr>
          <p:cNvPr id="153" name="TextBox 153"/>
          <p:cNvSpPr txBox="1"/>
          <p:nvPr/>
        </p:nvSpPr>
        <p:spPr>
          <a:xfrm>
            <a:off x="5000625" y="88963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管理有限公司</a:t>
            </a:r>
            <a:endParaRPr lang="zh-CN" sz="1030"/>
          </a:p>
        </p:txBody>
      </p:sp>
      <p:sp>
        <p:nvSpPr>
          <p:cNvPr id="154" name="TextBox 154"/>
          <p:cNvSpPr txBox="1"/>
          <p:nvPr/>
        </p:nvSpPr>
        <p:spPr>
          <a:xfrm>
            <a:off x="6896100" y="8720137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宿迁蓝佳供应链</a:t>
            </a:r>
            <a:endParaRPr lang="zh-CN" sz="1030"/>
          </a:p>
        </p:txBody>
      </p:sp>
      <p:sp>
        <p:nvSpPr>
          <p:cNvPr id="155" name="TextBox 155"/>
          <p:cNvSpPr txBox="1"/>
          <p:nvPr/>
        </p:nvSpPr>
        <p:spPr>
          <a:xfrm>
            <a:off x="6896100" y="8910638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管理有限公司</a:t>
            </a:r>
            <a:endParaRPr lang="zh-CN" sz="1030"/>
          </a:p>
        </p:txBody>
      </p:sp>
      <p:sp>
        <p:nvSpPr>
          <p:cNvPr id="156" name="TextBox 156"/>
          <p:cNvSpPr txBox="1"/>
          <p:nvPr/>
        </p:nvSpPr>
        <p:spPr>
          <a:xfrm>
            <a:off x="8382000" y="8720137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北京京东世纪信息</a:t>
            </a:r>
            <a:endParaRPr lang="zh-CN" sz="1030"/>
          </a:p>
        </p:txBody>
      </p:sp>
      <p:sp>
        <p:nvSpPr>
          <p:cNvPr id="157" name="TextBox 157"/>
          <p:cNvSpPr txBox="1"/>
          <p:nvPr/>
        </p:nvSpPr>
        <p:spPr>
          <a:xfrm>
            <a:off x="8382000" y="8910638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技术有限公司</a:t>
            </a:r>
            <a:endParaRPr lang="zh-CN" sz="1030"/>
          </a:p>
        </p:txBody>
      </p:sp>
      <p:sp>
        <p:nvSpPr>
          <p:cNvPr id="158" name="TextBox 158"/>
          <p:cNvSpPr txBox="1"/>
          <p:nvPr/>
        </p:nvSpPr>
        <p:spPr>
          <a:xfrm>
            <a:off x="12973050" y="6772275"/>
            <a:ext cx="5810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境外</a:t>
            </a:r>
            <a:endParaRPr lang="zh-CN" sz="1350"/>
          </a:p>
        </p:txBody>
      </p:sp>
      <p:sp>
        <p:nvSpPr>
          <p:cNvPr id="159" name="TextBox 159"/>
          <p:cNvSpPr txBox="1"/>
          <p:nvPr/>
        </p:nvSpPr>
        <p:spPr>
          <a:xfrm>
            <a:off x="12973050" y="7086600"/>
            <a:ext cx="5810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境内</a:t>
            </a:r>
            <a:endParaRPr lang="zh-CN" sz="1350"/>
          </a:p>
        </p:txBody>
      </p:sp>
      <p:sp>
        <p:nvSpPr>
          <p:cNvPr id="160" name="TextBox 160"/>
          <p:cNvSpPr txBox="1"/>
          <p:nvPr/>
        </p:nvSpPr>
        <p:spPr>
          <a:xfrm>
            <a:off x="3171825" y="3000375"/>
            <a:ext cx="4095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1" name="TextBox 161"/>
          <p:cNvSpPr txBox="1"/>
          <p:nvPr/>
        </p:nvSpPr>
        <p:spPr>
          <a:xfrm>
            <a:off x="2571750" y="3724275"/>
            <a:ext cx="4095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2" name="TextBox 162"/>
          <p:cNvSpPr txBox="1"/>
          <p:nvPr/>
        </p:nvSpPr>
        <p:spPr>
          <a:xfrm>
            <a:off x="4333875" y="372427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63%</a:t>
            </a:r>
            <a:endParaRPr lang="zh-CN" sz="950"/>
          </a:p>
        </p:txBody>
      </p:sp>
      <p:sp>
        <p:nvSpPr>
          <p:cNvPr id="163" name="TextBox 163"/>
          <p:cNvSpPr txBox="1"/>
          <p:nvPr/>
        </p:nvSpPr>
        <p:spPr>
          <a:xfrm>
            <a:off x="5629275" y="34956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4" name="TextBox 164"/>
          <p:cNvSpPr txBox="1"/>
          <p:nvPr/>
        </p:nvSpPr>
        <p:spPr>
          <a:xfrm>
            <a:off x="8658225" y="36480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5" name="TextBox 165"/>
          <p:cNvSpPr txBox="1"/>
          <p:nvPr/>
        </p:nvSpPr>
        <p:spPr>
          <a:xfrm>
            <a:off x="10153650" y="36480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6" name="TextBox 166"/>
          <p:cNvSpPr txBox="1"/>
          <p:nvPr/>
        </p:nvSpPr>
        <p:spPr>
          <a:xfrm>
            <a:off x="11553825" y="36480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7" name="TextBox 167"/>
          <p:cNvSpPr txBox="1"/>
          <p:nvPr/>
        </p:nvSpPr>
        <p:spPr>
          <a:xfrm>
            <a:off x="12839700" y="36480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8" name="TextBox 168"/>
          <p:cNvSpPr txBox="1"/>
          <p:nvPr/>
        </p:nvSpPr>
        <p:spPr>
          <a:xfrm>
            <a:off x="1343025" y="4905375"/>
            <a:ext cx="4095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69" name="TextBox 169"/>
          <p:cNvSpPr txBox="1"/>
          <p:nvPr/>
        </p:nvSpPr>
        <p:spPr>
          <a:xfrm>
            <a:off x="2647950" y="4905375"/>
            <a:ext cx="3429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75%</a:t>
            </a:r>
            <a:endParaRPr lang="zh-CN" sz="950"/>
          </a:p>
        </p:txBody>
      </p:sp>
      <p:sp>
        <p:nvSpPr>
          <p:cNvPr id="170" name="TextBox 170"/>
          <p:cNvSpPr txBox="1"/>
          <p:nvPr/>
        </p:nvSpPr>
        <p:spPr>
          <a:xfrm>
            <a:off x="3867150" y="4905375"/>
            <a:ext cx="4095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1" name="TextBox 171"/>
          <p:cNvSpPr txBox="1"/>
          <p:nvPr/>
        </p:nvSpPr>
        <p:spPr>
          <a:xfrm>
            <a:off x="2600325" y="5962650"/>
            <a:ext cx="4095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2" name="TextBox 172"/>
          <p:cNvSpPr txBox="1"/>
          <p:nvPr/>
        </p:nvSpPr>
        <p:spPr>
          <a:xfrm>
            <a:off x="10153650" y="49053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3" name="TextBox 173"/>
          <p:cNvSpPr txBox="1"/>
          <p:nvPr/>
        </p:nvSpPr>
        <p:spPr>
          <a:xfrm>
            <a:off x="11553825" y="4905375"/>
            <a:ext cx="3429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67%</a:t>
            </a:r>
            <a:endParaRPr lang="zh-CN" sz="950"/>
          </a:p>
        </p:txBody>
      </p:sp>
      <p:sp>
        <p:nvSpPr>
          <p:cNvPr id="174" name="TextBox 174"/>
          <p:cNvSpPr txBox="1"/>
          <p:nvPr/>
        </p:nvSpPr>
        <p:spPr>
          <a:xfrm>
            <a:off x="12858750" y="4905375"/>
            <a:ext cx="3429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71%</a:t>
            </a:r>
            <a:endParaRPr lang="zh-CN" sz="950"/>
          </a:p>
        </p:txBody>
      </p:sp>
      <p:sp>
        <p:nvSpPr>
          <p:cNvPr id="175" name="TextBox 175"/>
          <p:cNvSpPr txBox="1"/>
          <p:nvPr/>
        </p:nvSpPr>
        <p:spPr>
          <a:xfrm>
            <a:off x="1733550" y="7115175"/>
            <a:ext cx="40957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6" name="TextBox 176"/>
          <p:cNvSpPr txBox="1"/>
          <p:nvPr/>
        </p:nvSpPr>
        <p:spPr>
          <a:xfrm>
            <a:off x="3848100" y="71247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7" name="TextBox 177"/>
          <p:cNvSpPr txBox="1"/>
          <p:nvPr/>
        </p:nvSpPr>
        <p:spPr>
          <a:xfrm>
            <a:off x="5162550" y="71247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8" name="TextBox 178"/>
          <p:cNvSpPr txBox="1"/>
          <p:nvPr/>
        </p:nvSpPr>
        <p:spPr>
          <a:xfrm>
            <a:off x="7553325" y="71247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79" name="TextBox 179"/>
          <p:cNvSpPr txBox="1"/>
          <p:nvPr/>
        </p:nvSpPr>
        <p:spPr>
          <a:xfrm>
            <a:off x="8658225" y="71247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80" name="TextBox 180"/>
          <p:cNvSpPr txBox="1"/>
          <p:nvPr/>
        </p:nvSpPr>
        <p:spPr>
          <a:xfrm>
            <a:off x="5619750" y="83629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  <p:sp>
        <p:nvSpPr>
          <p:cNvPr id="181" name="TextBox 181"/>
          <p:cNvSpPr txBox="1"/>
          <p:nvPr/>
        </p:nvSpPr>
        <p:spPr>
          <a:xfrm>
            <a:off x="8658225" y="83820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100%</a:t>
            </a:r>
            <a:endParaRPr lang="zh-CN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