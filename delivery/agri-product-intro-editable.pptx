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pale mint paper and upper-right curved sunlit mulched-farm 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Path 3"/>
          <p:cNvSpPr/>
          <p:nvPr/>
        </p:nvSpPr>
        <p:spPr>
          <a:xfrm>
            <a:off x="615278" y="408128"/>
            <a:ext cx="2106230" cy="52473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495" y="0"/>
                </a:moveTo>
                <a:lnTo>
                  <a:pt x="21600" y="0"/>
                </a:lnTo>
                <a:lnTo>
                  <a:pt x="2025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BE69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ath 4"/>
          <p:cNvSpPr/>
          <p:nvPr/>
        </p:nvSpPr>
        <p:spPr>
          <a:xfrm>
            <a:off x="2692356" y="415416"/>
            <a:ext cx="3257732" cy="51744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870" y="0"/>
                </a:moveTo>
                <a:lnTo>
                  <a:pt x="20779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CF8EE"/>
          </a:solidFill>
          <a:ln w="7620">
            <a:solidFill>
              <a:srgbClr val="63B487"/>
            </a:solidFill>
          </a:ln>
        </p:spPr>
        <p:txBody>
          <a:bodyPr/>
          <a:lstStyle/>
          <a:p/>
        </p:txBody>
      </p:sp>
      <p:sp>
        <p:nvSpPr>
          <p:cNvPr id="5" name="Path 5"/>
          <p:cNvSpPr/>
          <p:nvPr/>
        </p:nvSpPr>
        <p:spPr>
          <a:xfrm>
            <a:off x="498670" y="1115063"/>
            <a:ext cx="7717983" cy="1326414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673" y="0"/>
                </a:moveTo>
                <a:lnTo>
                  <a:pt x="16236" y="0"/>
                </a:lnTo>
                <a:cubicBezTo>
                  <a:pt x="17113" y="9020"/>
                  <a:pt x="19152" y="17921"/>
                  <a:pt x="21600" y="21600"/>
                </a:cubicBezTo>
                <a:lnTo>
                  <a:pt x="673" y="21600"/>
                </a:lnTo>
                <a:cubicBezTo>
                  <a:pt x="184" y="21600"/>
                  <a:pt x="0" y="19938"/>
                  <a:pt x="0" y="17684"/>
                </a:cubicBezTo>
                <a:lnTo>
                  <a:pt x="0" y="3916"/>
                </a:lnTo>
                <a:cubicBezTo>
                  <a:pt x="0" y="1543"/>
                  <a:pt x="245" y="0"/>
                  <a:pt x="673" y="0"/>
                </a:cubicBezTo>
                <a:close/>
              </a:path>
            </a:pathLst>
          </a:custGeom>
          <a:solidFill>
            <a:srgbClr val="FBF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33078" y="2616389"/>
            <a:ext cx="5079730" cy="2047926"/>
          </a:xfrm>
          <a:prstGeom prst="roundRect">
            <a:avLst>
              <a:gd name="adj" fmla="val 7829"/>
            </a:avLst>
          </a:prstGeom>
          <a:solidFill>
            <a:srgbClr val="FCFDF8"/>
          </a:solidFill>
          <a:ln w="6350">
            <a:solidFill>
              <a:srgbClr val="DFEDD6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5614840" y="2594525"/>
            <a:ext cx="3986531" cy="2077078"/>
          </a:xfrm>
          <a:prstGeom prst="roundRect">
            <a:avLst>
              <a:gd name="adj" fmla="val 7719"/>
            </a:avLst>
          </a:prstGeom>
          <a:solidFill>
            <a:srgbClr val="FCFDF8"/>
          </a:solidFill>
          <a:ln w="6350">
            <a:solidFill>
              <a:srgbClr val="DFEDD6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440366" y="4795498"/>
            <a:ext cx="3818908" cy="1596070"/>
          </a:xfrm>
          <a:prstGeom prst="roundRect">
            <a:avLst>
              <a:gd name="adj" fmla="val 10046"/>
            </a:avLst>
          </a:prstGeom>
          <a:solidFill>
            <a:srgbClr val="FCFDF8"/>
          </a:solidFill>
          <a:ln w="6350">
            <a:solidFill>
              <a:srgbClr val="DFEDD6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324866" y="4795498"/>
            <a:ext cx="3578404" cy="1596070"/>
          </a:xfrm>
          <a:prstGeom prst="roundRect">
            <a:avLst>
              <a:gd name="adj" fmla="val 10046"/>
            </a:avLst>
          </a:prstGeom>
          <a:solidFill>
            <a:srgbClr val="FCFDF8"/>
          </a:solidFill>
          <a:ln w="6350">
            <a:solidFill>
              <a:srgbClr val="DFEDD6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7990725" y="4795498"/>
            <a:ext cx="4001107" cy="1596070"/>
          </a:xfrm>
          <a:prstGeom prst="roundRect">
            <a:avLst>
              <a:gd name="adj" fmla="val 10046"/>
            </a:avLst>
          </a:prstGeom>
          <a:solidFill>
            <a:srgbClr val="FCFDF8"/>
          </a:solidFill>
          <a:ln w="6350">
            <a:solidFill>
              <a:srgbClr val="DFEDD6"/>
            </a:solidFill>
          </a:ln>
        </p:spPr>
        <p:txBody>
          <a:bodyPr/>
          <a:lstStyle/>
          <a:p/>
        </p:txBody>
      </p:sp>
      <p:sp>
        <p:nvSpPr>
          <p:cNvPr id="11" name="Path 11"/>
          <p:cNvSpPr/>
          <p:nvPr/>
        </p:nvSpPr>
        <p:spPr>
          <a:xfrm>
            <a:off x="702734" y="408128"/>
            <a:ext cx="1931318" cy="52473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467" y="0"/>
                </a:moveTo>
                <a:lnTo>
                  <a:pt x="21600" y="0"/>
                </a:lnTo>
                <a:lnTo>
                  <a:pt x="20133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5D3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Path 12"/>
          <p:cNvSpPr/>
          <p:nvPr/>
        </p:nvSpPr>
        <p:spPr>
          <a:xfrm>
            <a:off x="498670" y="1115063"/>
            <a:ext cx="7630527" cy="1326414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16298" y="0"/>
                </a:moveTo>
                <a:lnTo>
                  <a:pt x="681" y="0"/>
                </a:lnTo>
                <a:cubicBezTo>
                  <a:pt x="248" y="0"/>
                  <a:pt x="0" y="1543"/>
                  <a:pt x="0" y="3916"/>
                </a:cubicBezTo>
                <a:lnTo>
                  <a:pt x="0" y="17684"/>
                </a:lnTo>
                <a:cubicBezTo>
                  <a:pt x="0" y="19938"/>
                  <a:pt x="186" y="21600"/>
                  <a:pt x="681" y="21600"/>
                </a:cubicBezTo>
                <a:lnTo>
                  <a:pt x="21600" y="21600"/>
                </a:lnTo>
              </a:path>
            </a:pathLst>
          </a:custGeom>
          <a:noFill/>
          <a:ln w="8890">
            <a:solidFill>
              <a:srgbClr val="D4EBCC"/>
            </a:solidFill>
          </a:ln>
        </p:spPr>
        <p:txBody>
          <a:bodyPr/>
          <a:lstStyle/>
          <a:p/>
        </p:txBody>
      </p:sp>
      <p:sp>
        <p:nvSpPr>
          <p:cNvPr id="13" name="Ellipse 13"/>
          <p:cNvSpPr/>
          <p:nvPr/>
        </p:nvSpPr>
        <p:spPr>
          <a:xfrm>
            <a:off x="2852691" y="604903"/>
            <a:ext cx="138472" cy="138472"/>
          </a:xfrm>
          <a:prstGeom prst="ellipse">
            <a:avLst/>
          </a:prstGeom>
          <a:solidFill>
            <a:srgbClr val="009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th 14"/>
          <p:cNvSpPr/>
          <p:nvPr/>
        </p:nvSpPr>
        <p:spPr>
          <a:xfrm>
            <a:off x="666294" y="2616389"/>
            <a:ext cx="2251989" cy="32067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0062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D8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th 15"/>
          <p:cNvSpPr/>
          <p:nvPr/>
        </p:nvSpPr>
        <p:spPr>
          <a:xfrm>
            <a:off x="5869920" y="2638253"/>
            <a:ext cx="1851150" cy="313384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9729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D8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ath 16"/>
          <p:cNvSpPr/>
          <p:nvPr/>
        </p:nvSpPr>
        <p:spPr>
          <a:xfrm>
            <a:off x="761038" y="4802786"/>
            <a:ext cx="1639798" cy="32067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9488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D8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Path 17"/>
          <p:cNvSpPr/>
          <p:nvPr/>
        </p:nvSpPr>
        <p:spPr>
          <a:xfrm>
            <a:off x="4696553" y="4802786"/>
            <a:ext cx="1443022" cy="32067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92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D8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Path 18"/>
          <p:cNvSpPr/>
          <p:nvPr/>
        </p:nvSpPr>
        <p:spPr>
          <a:xfrm>
            <a:off x="8384277" y="4802786"/>
            <a:ext cx="2164533" cy="32067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00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D8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556974" y="4321779"/>
            <a:ext cx="4846514" cy="269656"/>
          </a:xfrm>
          <a:prstGeom prst="roundRect">
            <a:avLst>
              <a:gd name="adj" fmla="val 48649"/>
            </a:avLst>
          </a:prstGeom>
          <a:solidFill>
            <a:srgbClr val="B9DDA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Path 20"/>
          <p:cNvSpPr/>
          <p:nvPr/>
        </p:nvSpPr>
        <p:spPr>
          <a:xfrm>
            <a:off x="2524732" y="2616389"/>
            <a:ext cx="393552" cy="32067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2800" y="0"/>
                </a:lnTo>
                <a:lnTo>
                  <a:pt x="21600" y="21600"/>
                </a:lnTo>
                <a:lnTo>
                  <a:pt x="12000" y="21600"/>
                </a:lnTo>
                <a:close/>
              </a:path>
            </a:pathLst>
          </a:custGeom>
          <a:solidFill>
            <a:srgbClr val="9BC656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Path 21"/>
          <p:cNvSpPr/>
          <p:nvPr/>
        </p:nvSpPr>
        <p:spPr>
          <a:xfrm>
            <a:off x="7327518" y="2638253"/>
            <a:ext cx="393552" cy="313384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2800" y="0"/>
                </a:lnTo>
                <a:lnTo>
                  <a:pt x="21600" y="21600"/>
                </a:lnTo>
                <a:lnTo>
                  <a:pt x="12000" y="21600"/>
                </a:lnTo>
                <a:close/>
              </a:path>
            </a:pathLst>
          </a:custGeom>
          <a:solidFill>
            <a:srgbClr val="9BC65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Path 22"/>
          <p:cNvSpPr/>
          <p:nvPr/>
        </p:nvSpPr>
        <p:spPr>
          <a:xfrm>
            <a:off x="2007284" y="4802786"/>
            <a:ext cx="393552" cy="32067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2800" y="0"/>
                </a:lnTo>
                <a:lnTo>
                  <a:pt x="21600" y="21600"/>
                </a:lnTo>
                <a:lnTo>
                  <a:pt x="12000" y="21600"/>
                </a:lnTo>
                <a:close/>
              </a:path>
            </a:pathLst>
          </a:custGeom>
          <a:solidFill>
            <a:srgbClr val="9BC65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Path 23"/>
          <p:cNvSpPr/>
          <p:nvPr/>
        </p:nvSpPr>
        <p:spPr>
          <a:xfrm>
            <a:off x="5746024" y="4802786"/>
            <a:ext cx="393552" cy="32067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2800" y="0"/>
                </a:lnTo>
                <a:lnTo>
                  <a:pt x="21600" y="21600"/>
                </a:lnTo>
                <a:lnTo>
                  <a:pt x="12000" y="21600"/>
                </a:lnTo>
                <a:close/>
              </a:path>
            </a:pathLst>
          </a:custGeom>
          <a:solidFill>
            <a:srgbClr val="9BC656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Path 24"/>
          <p:cNvSpPr/>
          <p:nvPr/>
        </p:nvSpPr>
        <p:spPr>
          <a:xfrm>
            <a:off x="10155259" y="4802786"/>
            <a:ext cx="393552" cy="32067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2800" y="0"/>
                </a:lnTo>
                <a:lnTo>
                  <a:pt x="21600" y="21600"/>
                </a:lnTo>
                <a:lnTo>
                  <a:pt x="12000" y="21600"/>
                </a:lnTo>
                <a:close/>
              </a:path>
            </a:pathLst>
          </a:custGeom>
          <a:solidFill>
            <a:srgbClr val="9BC656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884934" y="1304550"/>
            <a:ext cx="415416" cy="218640"/>
          </a:xfrm>
          <a:prstGeom prst="rect">
            <a:avLst/>
          </a:prstGeom>
          <a:solidFill>
            <a:srgbClr val="F4E9A4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6" name="Original source very pale green globe decoration; targeted source-contrast repair, no ordinary label/text inside."/>
          <p:cNvPicPr/>
          <p:nvPr/>
        </p:nvPicPr>
        <p:blipFill>
          <a:blip r:embed="rId14"/>
          <a:stretch>
            <a:fillRect/>
          </a:stretch>
        </p:blipFill>
        <p:spPr>
          <a:xfrm>
            <a:off x="8046690" y="2743443"/>
            <a:ext cx="1491429" cy="1531450"/>
          </a:xfrm>
          <a:prstGeom prst="rect">
            <a:avLst/>
          </a:prstGeom>
        </p:spPr>
      </p:pic>
      <p:sp>
        <p:nvSpPr>
          <p:cNvPr id="27" name="Line 27"/>
          <p:cNvSpPr/>
          <p:nvPr/>
        </p:nvSpPr>
        <p:spPr>
          <a:xfrm>
            <a:off x="731886" y="1304550"/>
            <a:ext cx="0" cy="969303"/>
          </a:xfrm>
          <a:prstGeom prst="line">
            <a:avLst/>
          </a:prstGeom>
          <a:noFill/>
          <a:ln w="15240">
            <a:solidFill>
              <a:srgbClr val="178043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4674689" y="6107337"/>
            <a:ext cx="2907909" cy="0"/>
          </a:xfrm>
          <a:prstGeom prst="line">
            <a:avLst/>
          </a:prstGeom>
          <a:noFill/>
          <a:ln w="6350">
            <a:solidFill>
              <a:srgbClr val="DDEBD4"/>
            </a:solidFill>
          </a:ln>
        </p:spPr>
        <p:txBody>
          <a:bodyPr/>
          <a:lstStyle/>
          <a:p/>
        </p:txBody>
      </p:sp>
      <p:pic>
        <p:nvPicPr>
          <p:cNvPr id="29" name="Original source pla material sample, including thin green circular rim and source colors."/>
          <p:cNvPicPr/>
          <p:nvPr/>
        </p:nvPicPr>
        <p:blipFill>
          <a:blip r:embed="rId8"/>
          <a:stretch>
            <a:fillRect/>
          </a:stretch>
        </p:blipFill>
        <p:spPr>
          <a:xfrm>
            <a:off x="515891" y="2967601"/>
            <a:ext cx="898421" cy="893647"/>
          </a:xfrm>
          <a:prstGeom prst="rect">
            <a:avLst/>
          </a:prstGeom>
        </p:spPr>
      </p:pic>
      <p:pic>
        <p:nvPicPr>
          <p:cNvPr id="30" name="Original source pbat material sample, including thin green circular rim and source colors."/>
          <p:cNvPicPr/>
          <p:nvPr/>
        </p:nvPicPr>
        <p:blipFill>
          <a:blip r:embed="rId9"/>
          <a:stretch>
            <a:fillRect/>
          </a:stretch>
        </p:blipFill>
        <p:spPr>
          <a:xfrm>
            <a:off x="1529192" y="2967883"/>
            <a:ext cx="897881" cy="893081"/>
          </a:xfrm>
          <a:prstGeom prst="rect">
            <a:avLst/>
          </a:prstGeom>
        </p:spPr>
      </p:pic>
      <p:pic>
        <p:nvPicPr>
          <p:cNvPr id="31" name="Original source starch material sample, including thin green circular rim and source colors."/>
          <p:cNvPicPr/>
          <p:nvPr/>
        </p:nvPicPr>
        <p:blipFill>
          <a:blip r:embed="rId10"/>
          <a:stretch>
            <a:fillRect/>
          </a:stretch>
        </p:blipFill>
        <p:spPr>
          <a:xfrm>
            <a:off x="2534935" y="2968164"/>
            <a:ext cx="897881" cy="892521"/>
          </a:xfrm>
          <a:prstGeom prst="rect">
            <a:avLst/>
          </a:prstGeom>
        </p:spPr>
      </p:pic>
      <p:pic>
        <p:nvPicPr>
          <p:cNvPr id="32" name="Original source mineral material sample, including thin green circular rim and source colors."/>
          <p:cNvPicPr/>
          <p:nvPr/>
        </p:nvPicPr>
        <p:blipFill>
          <a:blip r:embed="rId11"/>
          <a:stretch>
            <a:fillRect/>
          </a:stretch>
        </p:blipFill>
        <p:spPr>
          <a:xfrm>
            <a:off x="3548639" y="2968164"/>
            <a:ext cx="889247" cy="892521"/>
          </a:xfrm>
          <a:prstGeom prst="rect">
            <a:avLst/>
          </a:prstGeom>
        </p:spPr>
      </p:pic>
      <p:pic>
        <p:nvPicPr>
          <p:cNvPr id="33" name="Original source additive material sample, including thin green circular rim and source colors."/>
          <p:cNvPicPr/>
          <p:nvPr/>
        </p:nvPicPr>
        <p:blipFill>
          <a:blip r:embed="rId12"/>
          <a:stretch>
            <a:fillRect/>
          </a:stretch>
        </p:blipFill>
        <p:spPr>
          <a:xfrm>
            <a:off x="4560324" y="2967316"/>
            <a:ext cx="906514" cy="894216"/>
          </a:xfrm>
          <a:prstGeom prst="rect">
            <a:avLst/>
          </a:prstGeom>
        </p:spPr>
      </p:pic>
      <p:pic>
        <p:nvPicPr>
          <p:cNvPr id="34" name="Original lower-left seedling on mulch foreground photo, original soft feathered edge retained."/>
          <p:cNvPicPr/>
          <p:nvPr/>
        </p:nvPicPr>
        <p:blipFill>
          <a:blip r:embed="rId17"/>
          <a:stretch>
            <a:fillRect/>
          </a:stretch>
        </p:blipFill>
        <p:spPr>
          <a:xfrm>
            <a:off x="449851" y="5133486"/>
            <a:ext cx="1620829" cy="1299071"/>
          </a:xfrm>
          <a:prstGeom prst="rect">
            <a:avLst/>
          </a:prstGeom>
        </p:spPr>
      </p:pic>
      <p:pic>
        <p:nvPicPr>
          <p:cNvPr id="35" name="Original source white PLA pellet bowl with source-like feathered lower body; targeted depth/fade repair used instead of initial fully opaque deep bowl."/>
          <p:cNvPicPr/>
          <p:nvPr/>
        </p:nvPicPr>
        <p:blipFill>
          <a:blip r:embed="rId21"/>
          <a:stretch>
            <a:fillRect/>
          </a:stretch>
        </p:blipFill>
        <p:spPr>
          <a:xfrm>
            <a:off x="4603378" y="5088679"/>
            <a:ext cx="1308702" cy="776494"/>
          </a:xfrm>
          <a:prstGeom prst="rect">
            <a:avLst/>
          </a:prstGeom>
        </p:spPr>
      </p:pic>
      <p:pic>
        <p:nvPicPr>
          <p:cNvPr id="36" name="Original source beige PBAT pellet bowl with source-like feathered lower body; ordinary label removed."/>
          <p:cNvPicPr/>
          <p:nvPr/>
        </p:nvPicPr>
        <p:blipFill>
          <a:blip r:embed="rId22"/>
          <a:stretch>
            <a:fillRect/>
          </a:stretch>
        </p:blipFill>
        <p:spPr>
          <a:xfrm>
            <a:off x="6338040" y="5088785"/>
            <a:ext cx="1308460" cy="776282"/>
          </a:xfrm>
          <a:prstGeom prst="rect">
            <a:avLst/>
          </a:prstGeom>
        </p:spPr>
      </p:pic>
      <p:pic>
        <p:nvPicPr>
          <p:cNvPr id="37" name="Original lower-right sunlit seedling on mulch foreground photo with feathered edge; same crop and sunlight retained."/>
          <p:cNvPicPr/>
          <p:nvPr/>
        </p:nvPicPr>
        <p:blipFill>
          <a:blip r:embed="rId23"/>
          <a:stretch>
            <a:fillRect/>
          </a:stretch>
        </p:blipFill>
        <p:spPr>
          <a:xfrm>
            <a:off x="7972943" y="5142245"/>
            <a:ext cx="1631636" cy="1296129"/>
          </a:xfrm>
          <a:prstGeom prst="rect">
            <a:avLst/>
          </a:prstGeom>
        </p:spPr>
      </p:pic>
      <p:pic>
        <p:nvPicPr>
          <p:cNvPr id="38" name="Original circular farm/black-and-white film roll photograph; separate from rough ring/leaf ornament."/>
          <p:cNvPicPr/>
          <p:nvPr/>
        </p:nvPicPr>
        <p:blipFill>
          <a:blip r:embed="rId15"/>
          <a:stretch>
            <a:fillRect/>
          </a:stretch>
        </p:blipFill>
        <p:spPr>
          <a:xfrm>
            <a:off x="9067393" y="1781693"/>
            <a:ext cx="2977411" cy="2924326"/>
          </a:xfrm>
          <a:prstGeom prst="rect">
            <a:avLst/>
          </a:prstGeom>
        </p:spPr>
      </p:pic>
      <p:pic>
        <p:nvPicPr>
          <p:cNvPr id="39" name="Original rough green/white brush ring with attached sharp leaves; empty interior separated via chroma removal, photo independent below."/>
          <p:cNvPicPr/>
          <p:nvPr/>
        </p:nvPicPr>
        <p:blipFill>
          <a:blip r:embed="rId16"/>
          <a:stretch>
            <a:fillRect/>
          </a:stretch>
        </p:blipFill>
        <p:spPr>
          <a:xfrm>
            <a:off x="8853856" y="1647187"/>
            <a:ext cx="3547339" cy="3385778"/>
          </a:xfrm>
          <a:prstGeom prst="rect">
            <a:avLst/>
          </a:prstGeom>
        </p:spPr>
      </p:pic>
      <p:pic>
        <p:nvPicPr>
          <p:cNvPr id="40" name="Original source circular 主要原料与工艺 heading pictogram; ordinary adjacent label native."/>
          <p:cNvPicPr/>
          <p:nvPr/>
        </p:nvPicPr>
        <p:blipFill>
          <a:blip r:embed="rId3"/>
          <a:stretch>
            <a:fillRect/>
          </a:stretch>
        </p:blipFill>
        <p:spPr>
          <a:xfrm>
            <a:off x="368944" y="2512710"/>
            <a:ext cx="594700" cy="542605"/>
          </a:xfrm>
          <a:prstGeom prst="rect">
            <a:avLst/>
          </a:prstGeom>
        </p:spPr>
      </p:pic>
      <p:pic>
        <p:nvPicPr>
          <p:cNvPr id="41" name="Original source circular 海关归类 heading pictogram; ordinary adjacent label native."/>
          <p:cNvPicPr/>
          <p:nvPr/>
        </p:nvPicPr>
        <p:blipFill>
          <a:blip r:embed="rId4"/>
          <a:stretch>
            <a:fillRect/>
          </a:stretch>
        </p:blipFill>
        <p:spPr>
          <a:xfrm>
            <a:off x="5572257" y="2512550"/>
            <a:ext cx="602615" cy="550213"/>
          </a:xfrm>
          <a:prstGeom prst="rect">
            <a:avLst/>
          </a:prstGeom>
        </p:spPr>
      </p:pic>
      <p:pic>
        <p:nvPicPr>
          <p:cNvPr id="42" name="Original source circular 性能优势 heading pictogram; ordinary adjacent label native."/>
          <p:cNvPicPr/>
          <p:nvPr/>
        </p:nvPicPr>
        <p:blipFill>
          <a:blip r:embed="rId5"/>
          <a:stretch>
            <a:fillRect/>
          </a:stretch>
        </p:blipFill>
        <p:spPr>
          <a:xfrm>
            <a:off x="457609" y="4676213"/>
            <a:ext cx="592283" cy="566530"/>
          </a:xfrm>
          <a:prstGeom prst="rect">
            <a:avLst/>
          </a:prstGeom>
        </p:spPr>
      </p:pic>
      <p:pic>
        <p:nvPicPr>
          <p:cNvPr id="43" name="Original source circular 推荐配比 heading pictogram; ordinary adjacent label native."/>
          <p:cNvPicPr/>
          <p:nvPr/>
        </p:nvPicPr>
        <p:blipFill>
          <a:blip r:embed="rId6"/>
          <a:stretch>
            <a:fillRect/>
          </a:stretch>
        </p:blipFill>
        <p:spPr>
          <a:xfrm>
            <a:off x="4385125" y="4677113"/>
            <a:ext cx="600993" cy="557442"/>
          </a:xfrm>
          <a:prstGeom prst="rect">
            <a:avLst/>
          </a:prstGeom>
        </p:spPr>
      </p:pic>
      <p:pic>
        <p:nvPicPr>
          <p:cNvPr id="44" name="Original source circular 降解与环境效益 heading pictogram; ordinary adjacent label native."/>
          <p:cNvPicPr/>
          <p:nvPr/>
        </p:nvPicPr>
        <p:blipFill>
          <a:blip r:embed="rId7"/>
          <a:stretch>
            <a:fillRect/>
          </a:stretch>
        </p:blipFill>
        <p:spPr>
          <a:xfrm>
            <a:off x="8063605" y="4675780"/>
            <a:ext cx="612191" cy="560108"/>
          </a:xfrm>
          <a:prstGeom prst="rect">
            <a:avLst/>
          </a:prstGeom>
        </p:spPr>
      </p:pic>
      <p:pic>
        <p:nvPicPr>
          <p:cNvPr id="45" name="Original green staggered factory silhouette, source windows and tower relationships retained."/>
          <p:cNvPicPr/>
          <p:nvPr/>
        </p:nvPicPr>
        <p:blipFill>
          <a:blip r:embed="rId13"/>
          <a:stretch>
            <a:fillRect/>
          </a:stretch>
        </p:blipFill>
        <p:spPr>
          <a:xfrm>
            <a:off x="1121848" y="4248063"/>
            <a:ext cx="415307" cy="358784"/>
          </a:xfrm>
          <a:prstGeom prst="rect">
            <a:avLst/>
          </a:prstGeom>
        </p:spPr>
      </p:pic>
      <p:pic>
        <p:nvPicPr>
          <p:cNvPr id="46" name="Original green circle and white check repeated as source bullet."/>
          <p:cNvPicPr/>
          <p:nvPr/>
        </p:nvPicPr>
        <p:blipFill>
          <a:blip r:embed="rId18"/>
          <a:stretch>
            <a:fillRect/>
          </a:stretch>
        </p:blipFill>
        <p:spPr>
          <a:xfrm>
            <a:off x="2008584" y="5249176"/>
            <a:ext cx="237904" cy="236860"/>
          </a:xfrm>
          <a:prstGeom prst="rect">
            <a:avLst/>
          </a:prstGeom>
        </p:spPr>
      </p:pic>
      <p:pic>
        <p:nvPicPr>
          <p:cNvPr id="47" name="Original green circle and white check repeated as source bullet."/>
          <p:cNvPicPr/>
          <p:nvPr/>
        </p:nvPicPr>
        <p:blipFill>
          <a:blip r:embed="rId19"/>
          <a:stretch>
            <a:fillRect/>
          </a:stretch>
        </p:blipFill>
        <p:spPr>
          <a:xfrm>
            <a:off x="2008584" y="5540696"/>
            <a:ext cx="237904" cy="236860"/>
          </a:xfrm>
          <a:prstGeom prst="rect">
            <a:avLst/>
          </a:prstGeom>
        </p:spPr>
      </p:pic>
      <p:pic>
        <p:nvPicPr>
          <p:cNvPr id="48" name="Original green circle and white check repeated as source bullet."/>
          <p:cNvPicPr/>
          <p:nvPr/>
        </p:nvPicPr>
        <p:blipFill>
          <a:blip r:embed="rId20"/>
          <a:stretch>
            <a:fillRect/>
          </a:stretch>
        </p:blipFill>
        <p:spPr>
          <a:xfrm>
            <a:off x="2008584" y="5832215"/>
            <a:ext cx="237904" cy="236860"/>
          </a:xfrm>
          <a:prstGeom prst="rect">
            <a:avLst/>
          </a:prstGeom>
        </p:spPr>
      </p:pic>
      <p:pic>
        <p:nvPicPr>
          <p:cNvPr id="49" name="Original green check circle, repeated source environmental bullet."/>
          <p:cNvPicPr/>
          <p:nvPr/>
        </p:nvPicPr>
        <p:blipFill>
          <a:blip r:embed="rId24"/>
          <a:stretch>
            <a:fillRect/>
          </a:stretch>
        </p:blipFill>
        <p:spPr>
          <a:xfrm>
            <a:off x="9595383" y="5241888"/>
            <a:ext cx="237904" cy="236860"/>
          </a:xfrm>
          <a:prstGeom prst="rect">
            <a:avLst/>
          </a:prstGeom>
        </p:spPr>
      </p:pic>
      <p:pic>
        <p:nvPicPr>
          <p:cNvPr id="50" name="Original green check circle, repeated source environmental bullet."/>
          <p:cNvPicPr/>
          <p:nvPr/>
        </p:nvPicPr>
        <p:blipFill>
          <a:blip r:embed="rId25"/>
          <a:stretch>
            <a:fillRect/>
          </a:stretch>
        </p:blipFill>
        <p:spPr>
          <a:xfrm>
            <a:off x="9595383" y="5526120"/>
            <a:ext cx="237904" cy="236860"/>
          </a:xfrm>
          <a:prstGeom prst="rect">
            <a:avLst/>
          </a:prstGeom>
        </p:spPr>
      </p:pic>
      <p:pic>
        <p:nvPicPr>
          <p:cNvPr id="51" name="Original green check circle, repeated source environmental bullet."/>
          <p:cNvPicPr/>
          <p:nvPr/>
        </p:nvPicPr>
        <p:blipFill>
          <a:blip r:embed="rId26"/>
          <a:stretch>
            <a:fillRect/>
          </a:stretch>
        </p:blipFill>
        <p:spPr>
          <a:xfrm>
            <a:off x="9595383" y="5963399"/>
            <a:ext cx="237904" cy="236860"/>
          </a:xfrm>
          <a:prstGeom prst="rect">
            <a:avLst/>
          </a:prstGeom>
        </p:spPr>
      </p:pic>
      <p:sp>
        <p:nvSpPr>
          <p:cNvPr id="52" name="TextBox 52"/>
          <p:cNvSpPr txBox="1"/>
          <p:nvPr/>
        </p:nvSpPr>
        <p:spPr>
          <a:xfrm>
            <a:off x="928662" y="444567"/>
            <a:ext cx="1559630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070" b="1" i="1">
                <a:solidFill>
                  <a:srgbClr val="FDE9AA"/>
                </a:solidFill>
                <a:latin typeface="Microsoft YaHei"/>
                <a:ea typeface="Microsoft YaHei"/>
                <a:cs typeface="Microsoft YaHei"/>
              </a:rPr>
              <a:t>产品介绍</a:t>
            </a:r>
            <a:endParaRPr lang="zh-CN" sz="3070"/>
          </a:p>
        </p:txBody>
      </p:sp>
      <p:sp>
        <p:nvSpPr>
          <p:cNvPr id="53" name="TextBox 53"/>
          <p:cNvSpPr txBox="1"/>
          <p:nvPr/>
        </p:nvSpPr>
        <p:spPr>
          <a:xfrm>
            <a:off x="3217091" y="466431"/>
            <a:ext cx="1530478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>
                <a:solidFill>
                  <a:srgbClr val="005235"/>
                </a:solidFill>
                <a:latin typeface="KaiTi"/>
                <a:ea typeface="KaiTi"/>
                <a:cs typeface="KaiTi"/>
              </a:rPr>
              <a:t>产品简介</a:t>
            </a:r>
            <a:endParaRPr lang="zh-CN" sz="2400"/>
          </a:p>
        </p:txBody>
      </p:sp>
      <p:sp>
        <p:nvSpPr>
          <p:cNvPr id="54" name="TextBox 54"/>
          <p:cNvSpPr txBox="1"/>
          <p:nvPr/>
        </p:nvSpPr>
        <p:spPr>
          <a:xfrm>
            <a:off x="892222" y="1246247"/>
            <a:ext cx="4664315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00603B"/>
                </a:solidFill>
                <a:latin typeface="Microsoft YaHei"/>
                <a:ea typeface="Microsoft YaHei"/>
                <a:cs typeface="Microsoft YaHei"/>
              </a:rPr>
              <a:t>PLA+PBAT共混型全生物降解农用地膜，</a:t>
            </a:r>
            <a:endParaRPr lang="zh-CN" sz="1700"/>
          </a:p>
        </p:txBody>
      </p:sp>
      <p:sp>
        <p:nvSpPr>
          <p:cNvPr id="55" name="TextBox 55"/>
          <p:cNvSpPr txBox="1"/>
          <p:nvPr/>
        </p:nvSpPr>
        <p:spPr>
          <a:xfrm>
            <a:off x="884934" y="1559630"/>
            <a:ext cx="6056321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242A27"/>
                </a:solidFill>
                <a:latin typeface="Microsoft YaHei"/>
                <a:ea typeface="Microsoft YaHei"/>
                <a:cs typeface="Microsoft YaHei"/>
              </a:rPr>
              <a:t>以聚乳酸（PLA）、聚己二酸对苯二甲酸丁二醇酯（PBAT）为双核心基材，</a:t>
            </a:r>
            <a:endParaRPr lang="zh-CN" sz="1250"/>
          </a:p>
        </p:txBody>
      </p:sp>
      <p:sp>
        <p:nvSpPr>
          <p:cNvPr id="56" name="TextBox 56"/>
          <p:cNvSpPr txBox="1"/>
          <p:nvPr/>
        </p:nvSpPr>
        <p:spPr>
          <a:xfrm>
            <a:off x="884934" y="1800134"/>
            <a:ext cx="6056321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242A27"/>
                </a:solidFill>
                <a:latin typeface="Microsoft YaHei"/>
                <a:ea typeface="Microsoft YaHei"/>
                <a:cs typeface="Microsoft YaHei"/>
              </a:rPr>
              <a:t>复配食用级改性淀粉、天然矿物填料及环保生物功能性助剂，</a:t>
            </a:r>
            <a:endParaRPr lang="zh-CN" sz="1250"/>
          </a:p>
        </p:txBody>
      </p:sp>
      <p:sp>
        <p:nvSpPr>
          <p:cNvPr id="57" name="TextBox 57"/>
          <p:cNvSpPr txBox="1"/>
          <p:nvPr/>
        </p:nvSpPr>
        <p:spPr>
          <a:xfrm>
            <a:off x="884934" y="2040638"/>
            <a:ext cx="6056321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242A27"/>
                </a:solidFill>
                <a:latin typeface="Microsoft YaHei"/>
                <a:ea typeface="Microsoft YaHei"/>
                <a:cs typeface="Microsoft YaHei"/>
              </a:rPr>
              <a:t>经吹塑、流延等标准化工业化工艺一体成型的农用地面覆盖薄膜。</a:t>
            </a:r>
            <a:endParaRPr lang="zh-CN" sz="1250"/>
          </a:p>
        </p:txBody>
      </p:sp>
      <p:sp>
        <p:nvSpPr>
          <p:cNvPr id="58" name="TextBox 58"/>
          <p:cNvSpPr txBox="1"/>
          <p:nvPr/>
        </p:nvSpPr>
        <p:spPr>
          <a:xfrm>
            <a:off x="1067133" y="2645541"/>
            <a:ext cx="1858438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主要原料与工艺</a:t>
            </a:r>
            <a:endParaRPr lang="zh-CN" sz="1600"/>
          </a:p>
        </p:txBody>
      </p:sp>
      <p:sp>
        <p:nvSpPr>
          <p:cNvPr id="59" name="TextBox 59"/>
          <p:cNvSpPr txBox="1"/>
          <p:nvPr/>
        </p:nvSpPr>
        <p:spPr>
          <a:xfrm>
            <a:off x="6263471" y="2652829"/>
            <a:ext cx="1494038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海关归类</a:t>
            </a:r>
            <a:endParaRPr lang="zh-CN" sz="1600"/>
          </a:p>
        </p:txBody>
      </p:sp>
      <p:sp>
        <p:nvSpPr>
          <p:cNvPr id="60" name="TextBox 60"/>
          <p:cNvSpPr txBox="1"/>
          <p:nvPr/>
        </p:nvSpPr>
        <p:spPr>
          <a:xfrm>
            <a:off x="1140013" y="4831938"/>
            <a:ext cx="1333702" cy="2915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性能优势</a:t>
            </a:r>
            <a:endParaRPr lang="zh-CN" sz="1600"/>
          </a:p>
        </p:txBody>
      </p:sp>
      <p:sp>
        <p:nvSpPr>
          <p:cNvPr id="61" name="TextBox 61"/>
          <p:cNvSpPr txBox="1"/>
          <p:nvPr/>
        </p:nvSpPr>
        <p:spPr>
          <a:xfrm>
            <a:off x="5031801" y="4831938"/>
            <a:ext cx="1187943" cy="2915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推荐配比</a:t>
            </a:r>
            <a:endParaRPr lang="zh-CN" sz="1600"/>
          </a:p>
        </p:txBody>
      </p:sp>
      <p:sp>
        <p:nvSpPr>
          <p:cNvPr id="62" name="TextBox 62"/>
          <p:cNvSpPr txBox="1"/>
          <p:nvPr/>
        </p:nvSpPr>
        <p:spPr>
          <a:xfrm>
            <a:off x="8755964" y="4831938"/>
            <a:ext cx="2062502" cy="2915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降解与环境效益</a:t>
            </a:r>
            <a:endParaRPr lang="zh-CN" sz="1600"/>
          </a:p>
        </p:txBody>
      </p:sp>
      <p:sp>
        <p:nvSpPr>
          <p:cNvPr id="63" name="TextBox 63"/>
          <p:cNvSpPr txBox="1"/>
          <p:nvPr/>
        </p:nvSpPr>
        <p:spPr>
          <a:xfrm>
            <a:off x="615278" y="3804332"/>
            <a:ext cx="699647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15382D"/>
                </a:solidFill>
                <a:latin typeface="Microsoft YaHei"/>
                <a:ea typeface="Microsoft YaHei"/>
                <a:cs typeface="Microsoft YaHei"/>
              </a:rPr>
              <a:t>聚乳酸</a:t>
            </a:r>
            <a:endParaRPr lang="zh-CN" sz="1050"/>
          </a:p>
          <a:p>
            <a:pPr algn="ctr"/>
            <a:r>
              <a:rPr lang="zh-CN" sz="1050">
                <a:solidFill>
                  <a:srgbClr val="15382D"/>
                </a:solidFill>
                <a:latin typeface="Microsoft YaHei"/>
                <a:ea typeface="Microsoft YaHei"/>
                <a:cs typeface="Microsoft YaHei"/>
              </a:rPr>
              <a:t>(PLA)</a:t>
            </a:r>
            <a:endParaRPr lang="zh-CN" sz="1050"/>
          </a:p>
        </p:txBody>
      </p:sp>
      <p:sp>
        <p:nvSpPr>
          <p:cNvPr id="64" name="TextBox 64"/>
          <p:cNvSpPr txBox="1"/>
          <p:nvPr/>
        </p:nvSpPr>
        <p:spPr>
          <a:xfrm>
            <a:off x="1402381" y="3250444"/>
            <a:ext cx="145760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7853E"/>
                </a:solidFill>
                <a:latin typeface="Microsoft YaHei"/>
                <a:ea typeface="Microsoft YaHei"/>
                <a:cs typeface="Microsoft YaHei"/>
              </a:rPr>
              <a:t>+</a:t>
            </a:r>
            <a:endParaRPr lang="zh-CN" sz="1150"/>
          </a:p>
        </p:txBody>
      </p:sp>
      <p:sp>
        <p:nvSpPr>
          <p:cNvPr id="65" name="TextBox 65"/>
          <p:cNvSpPr txBox="1"/>
          <p:nvPr/>
        </p:nvSpPr>
        <p:spPr>
          <a:xfrm>
            <a:off x="1460685" y="3804332"/>
            <a:ext cx="1034895" cy="5101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15382D"/>
                </a:solidFill>
                <a:latin typeface="Microsoft YaHei"/>
                <a:ea typeface="Microsoft YaHei"/>
                <a:cs typeface="Microsoft YaHei"/>
              </a:rPr>
              <a:t>聚己二酸对苯</a:t>
            </a:r>
            <a:endParaRPr lang="zh-CN" sz="1050"/>
          </a:p>
          <a:p>
            <a:pPr algn="ctr"/>
            <a:r>
              <a:rPr lang="zh-CN" sz="1050">
                <a:solidFill>
                  <a:srgbClr val="15382D"/>
                </a:solidFill>
                <a:latin typeface="Microsoft YaHei"/>
                <a:ea typeface="Microsoft YaHei"/>
                <a:cs typeface="Microsoft YaHei"/>
              </a:rPr>
              <a:t>二甲酸丁二醇酯</a:t>
            </a:r>
            <a:endParaRPr lang="zh-CN" sz="1050"/>
          </a:p>
          <a:p>
            <a:pPr algn="ctr"/>
            <a:r>
              <a:rPr lang="zh-CN" sz="1050">
                <a:solidFill>
                  <a:srgbClr val="15382D"/>
                </a:solidFill>
                <a:latin typeface="Microsoft YaHei"/>
                <a:ea typeface="Microsoft YaHei"/>
                <a:cs typeface="Microsoft YaHei"/>
              </a:rPr>
              <a:t>(PBAT)</a:t>
            </a:r>
            <a:endParaRPr lang="zh-CN" sz="1050"/>
          </a:p>
        </p:txBody>
      </p:sp>
      <p:sp>
        <p:nvSpPr>
          <p:cNvPr id="66" name="TextBox 66"/>
          <p:cNvSpPr txBox="1"/>
          <p:nvPr/>
        </p:nvSpPr>
        <p:spPr>
          <a:xfrm>
            <a:off x="2408124" y="3250444"/>
            <a:ext cx="145760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7853E"/>
                </a:solidFill>
                <a:latin typeface="Microsoft YaHei"/>
                <a:ea typeface="Microsoft YaHei"/>
                <a:cs typeface="Microsoft YaHei"/>
              </a:rPr>
              <a:t>+</a:t>
            </a:r>
            <a:endParaRPr lang="zh-CN" sz="1150"/>
          </a:p>
        </p:txBody>
      </p:sp>
      <p:sp>
        <p:nvSpPr>
          <p:cNvPr id="67" name="TextBox 67"/>
          <p:cNvSpPr txBox="1"/>
          <p:nvPr/>
        </p:nvSpPr>
        <p:spPr>
          <a:xfrm>
            <a:off x="2546596" y="3804332"/>
            <a:ext cx="889135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15382D"/>
                </a:solidFill>
                <a:latin typeface="Microsoft YaHei"/>
                <a:ea typeface="Microsoft YaHei"/>
                <a:cs typeface="Microsoft YaHei"/>
              </a:rPr>
              <a:t>食用级</a:t>
            </a:r>
            <a:endParaRPr lang="zh-CN" sz="1050"/>
          </a:p>
          <a:p>
            <a:pPr algn="ctr"/>
            <a:r>
              <a:rPr lang="zh-CN" sz="1050">
                <a:solidFill>
                  <a:srgbClr val="15382D"/>
                </a:solidFill>
                <a:latin typeface="Microsoft YaHei"/>
                <a:ea typeface="Microsoft YaHei"/>
                <a:cs typeface="Microsoft YaHei"/>
              </a:rPr>
              <a:t>改性淀粉</a:t>
            </a:r>
            <a:endParaRPr lang="zh-CN" sz="1050"/>
          </a:p>
        </p:txBody>
      </p:sp>
      <p:sp>
        <p:nvSpPr>
          <p:cNvPr id="68" name="TextBox 68"/>
          <p:cNvSpPr txBox="1"/>
          <p:nvPr/>
        </p:nvSpPr>
        <p:spPr>
          <a:xfrm>
            <a:off x="3413867" y="3250444"/>
            <a:ext cx="145760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7853E"/>
                </a:solidFill>
                <a:latin typeface="Microsoft YaHei"/>
                <a:ea typeface="Microsoft YaHei"/>
                <a:cs typeface="Microsoft YaHei"/>
              </a:rPr>
              <a:t>+</a:t>
            </a:r>
            <a:endParaRPr lang="zh-CN" sz="1150"/>
          </a:p>
        </p:txBody>
      </p:sp>
      <p:sp>
        <p:nvSpPr>
          <p:cNvPr id="69" name="TextBox 69"/>
          <p:cNvSpPr txBox="1"/>
          <p:nvPr/>
        </p:nvSpPr>
        <p:spPr>
          <a:xfrm>
            <a:off x="3552339" y="3804332"/>
            <a:ext cx="889135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15382D"/>
                </a:solidFill>
                <a:latin typeface="Microsoft YaHei"/>
                <a:ea typeface="Microsoft YaHei"/>
                <a:cs typeface="Microsoft YaHei"/>
              </a:rPr>
              <a:t>天然矿物</a:t>
            </a:r>
            <a:endParaRPr lang="zh-CN" sz="1050"/>
          </a:p>
          <a:p>
            <a:pPr algn="ctr"/>
            <a:r>
              <a:rPr lang="zh-CN" sz="1050">
                <a:solidFill>
                  <a:srgbClr val="15382D"/>
                </a:solidFill>
                <a:latin typeface="Microsoft YaHei"/>
                <a:ea typeface="Microsoft YaHei"/>
                <a:cs typeface="Microsoft YaHei"/>
              </a:rPr>
              <a:t>填料</a:t>
            </a:r>
            <a:endParaRPr lang="zh-CN" sz="1050"/>
          </a:p>
        </p:txBody>
      </p:sp>
      <p:sp>
        <p:nvSpPr>
          <p:cNvPr id="70" name="TextBox 70"/>
          <p:cNvSpPr txBox="1"/>
          <p:nvPr/>
        </p:nvSpPr>
        <p:spPr>
          <a:xfrm>
            <a:off x="4419610" y="3250444"/>
            <a:ext cx="145760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7853E"/>
                </a:solidFill>
                <a:latin typeface="Microsoft YaHei"/>
                <a:ea typeface="Microsoft YaHei"/>
                <a:cs typeface="Microsoft YaHei"/>
              </a:rPr>
              <a:t>+</a:t>
            </a:r>
            <a:endParaRPr lang="zh-CN" sz="1150"/>
          </a:p>
        </p:txBody>
      </p:sp>
      <p:sp>
        <p:nvSpPr>
          <p:cNvPr id="71" name="TextBox 71"/>
          <p:cNvSpPr txBox="1"/>
          <p:nvPr/>
        </p:nvSpPr>
        <p:spPr>
          <a:xfrm>
            <a:off x="4587233" y="3804332"/>
            <a:ext cx="881847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15382D"/>
                </a:solidFill>
                <a:latin typeface="Microsoft YaHei"/>
                <a:ea typeface="Microsoft YaHei"/>
                <a:cs typeface="Microsoft YaHei"/>
              </a:rPr>
              <a:t>环保生物</a:t>
            </a:r>
            <a:endParaRPr lang="zh-CN" sz="1050"/>
          </a:p>
          <a:p>
            <a:pPr algn="ctr"/>
            <a:r>
              <a:rPr lang="zh-CN" sz="1050">
                <a:solidFill>
                  <a:srgbClr val="15382D"/>
                </a:solidFill>
                <a:latin typeface="Microsoft YaHei"/>
                <a:ea typeface="Microsoft YaHei"/>
                <a:cs typeface="Microsoft YaHei"/>
              </a:rPr>
              <a:t>功能性助剂</a:t>
            </a:r>
            <a:endParaRPr lang="zh-CN" sz="1050"/>
          </a:p>
        </p:txBody>
      </p:sp>
      <p:sp>
        <p:nvSpPr>
          <p:cNvPr id="72" name="TextBox 72"/>
          <p:cNvSpPr txBox="1"/>
          <p:nvPr/>
        </p:nvSpPr>
        <p:spPr>
          <a:xfrm>
            <a:off x="1774069" y="4329067"/>
            <a:ext cx="3541964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 b="1">
                <a:solidFill>
                  <a:srgbClr val="075B37"/>
                </a:solidFill>
                <a:latin typeface="Microsoft YaHei"/>
                <a:ea typeface="Microsoft YaHei"/>
                <a:cs typeface="Microsoft YaHei"/>
              </a:rPr>
              <a:t>采用吹塑、流延等标准化工业化工艺一体成型</a:t>
            </a:r>
            <a:endParaRPr lang="zh-CN" sz="1050"/>
          </a:p>
        </p:txBody>
      </p:sp>
      <p:sp>
        <p:nvSpPr>
          <p:cNvPr id="73" name="TextBox 73"/>
          <p:cNvSpPr txBox="1"/>
          <p:nvPr/>
        </p:nvSpPr>
        <p:spPr>
          <a:xfrm>
            <a:off x="5818904" y="3133836"/>
            <a:ext cx="3068244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242A27"/>
                </a:solidFill>
                <a:latin typeface="Microsoft YaHei"/>
                <a:ea typeface="Microsoft YaHei"/>
                <a:cs typeface="Microsoft YaHei"/>
              </a:rPr>
              <a:t>现行WCO-HS2022未设置专门的</a:t>
            </a:r>
            <a:endParaRPr lang="zh-CN" sz="1200"/>
          </a:p>
        </p:txBody>
      </p:sp>
      <p:sp>
        <p:nvSpPr>
          <p:cNvPr id="74" name="TextBox 74"/>
          <p:cNvSpPr txBox="1"/>
          <p:nvPr/>
        </p:nvSpPr>
        <p:spPr>
          <a:xfrm>
            <a:off x="5891784" y="3367052"/>
            <a:ext cx="3068244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242A27"/>
                </a:solidFill>
                <a:latin typeface="Microsoft YaHei"/>
                <a:ea typeface="Microsoft YaHei"/>
                <a:cs typeface="Microsoft YaHei"/>
              </a:rPr>
              <a:t>“全生物降解农用地膜”子目，</a:t>
            </a:r>
            <a:endParaRPr lang="zh-CN" sz="1200"/>
          </a:p>
        </p:txBody>
      </p:sp>
      <p:sp>
        <p:nvSpPr>
          <p:cNvPr id="75" name="TextBox 75"/>
          <p:cNvSpPr txBox="1"/>
          <p:nvPr/>
        </p:nvSpPr>
        <p:spPr>
          <a:xfrm>
            <a:off x="5818904" y="3600268"/>
            <a:ext cx="3111972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242A27"/>
                </a:solidFill>
                <a:latin typeface="Microsoft YaHei"/>
                <a:ea typeface="Microsoft YaHei"/>
                <a:cs typeface="Microsoft YaHei"/>
              </a:rPr>
              <a:t>该产品归入</a:t>
            </a:r>
            <a:r>
              <a:rPr lang="zh-CN" sz="1200" b="1">
                <a:solidFill>
                  <a:srgbClr val="00663C"/>
                </a:solidFill>
                <a:latin typeface="Microsoft YaHei"/>
                <a:ea typeface="Microsoft YaHei"/>
                <a:cs typeface="Microsoft YaHei"/>
              </a:rPr>
              <a:t>第三十九章“塑料及其制品”</a:t>
            </a:r>
            <a:endParaRPr lang="zh-CN" sz="1200"/>
          </a:p>
        </p:txBody>
      </p:sp>
      <p:sp>
        <p:nvSpPr>
          <p:cNvPr id="76" name="TextBox 76"/>
          <p:cNvSpPr txBox="1"/>
          <p:nvPr/>
        </p:nvSpPr>
        <p:spPr>
          <a:xfrm>
            <a:off x="5818904" y="3833484"/>
            <a:ext cx="3068244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007143"/>
                </a:solidFill>
                <a:latin typeface="Microsoft YaHei"/>
                <a:ea typeface="Microsoft YaHei"/>
                <a:cs typeface="Microsoft YaHei"/>
              </a:rPr>
              <a:t>品目3920</a:t>
            </a:r>
            <a:r>
              <a:rPr lang="zh-CN" sz="1200">
                <a:solidFill>
                  <a:srgbClr val="242A27"/>
                </a:solidFill>
                <a:latin typeface="Microsoft YaHei"/>
                <a:ea typeface="Microsoft YaHei"/>
                <a:cs typeface="Microsoft YaHei"/>
              </a:rPr>
              <a:t>：其他非泡沫塑料的</a:t>
            </a:r>
            <a:endParaRPr lang="zh-CN" sz="1200"/>
          </a:p>
        </p:txBody>
      </p:sp>
      <p:sp>
        <p:nvSpPr>
          <p:cNvPr id="77" name="TextBox 77"/>
          <p:cNvSpPr txBox="1"/>
          <p:nvPr/>
        </p:nvSpPr>
        <p:spPr>
          <a:xfrm>
            <a:off x="5818904" y="4081275"/>
            <a:ext cx="3068244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242A27"/>
                </a:solidFill>
                <a:latin typeface="Microsoft YaHei"/>
                <a:ea typeface="Microsoft YaHei"/>
                <a:cs typeface="Microsoft YaHei"/>
              </a:rPr>
              <a:t>板、片、膜、箔及扁条。</a:t>
            </a:r>
            <a:endParaRPr lang="zh-CN" sz="1200"/>
          </a:p>
        </p:txBody>
      </p:sp>
      <p:sp>
        <p:nvSpPr>
          <p:cNvPr id="78" name="TextBox 78"/>
          <p:cNvSpPr txBox="1"/>
          <p:nvPr/>
        </p:nvSpPr>
        <p:spPr>
          <a:xfrm>
            <a:off x="2313380" y="5261930"/>
            <a:ext cx="1880302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242A27"/>
                </a:solidFill>
                <a:latin typeface="Microsoft YaHei"/>
                <a:ea typeface="Microsoft YaHei"/>
                <a:cs typeface="Microsoft YaHei"/>
              </a:rPr>
              <a:t>PLA与PBAT性能互补</a:t>
            </a:r>
            <a:endParaRPr lang="zh-CN" sz="1050"/>
          </a:p>
        </p:txBody>
      </p:sp>
      <p:sp>
        <p:nvSpPr>
          <p:cNvPr id="79" name="TextBox 79"/>
          <p:cNvSpPr txBox="1"/>
          <p:nvPr/>
        </p:nvSpPr>
        <p:spPr>
          <a:xfrm>
            <a:off x="2313380" y="5553450"/>
            <a:ext cx="1880302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242A27"/>
                </a:solidFill>
                <a:latin typeface="Microsoft YaHei"/>
                <a:ea typeface="Microsoft YaHei"/>
                <a:cs typeface="Microsoft YaHei"/>
              </a:rPr>
              <a:t>满足农用标准化使用要求</a:t>
            </a:r>
            <a:endParaRPr lang="zh-CN" sz="1050"/>
          </a:p>
        </p:txBody>
      </p:sp>
      <p:sp>
        <p:nvSpPr>
          <p:cNvPr id="80" name="TextBox 80"/>
          <p:cNvSpPr txBox="1"/>
          <p:nvPr/>
        </p:nvSpPr>
        <p:spPr>
          <a:xfrm>
            <a:off x="2313380" y="5844969"/>
            <a:ext cx="1880302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242A27"/>
                </a:solidFill>
                <a:latin typeface="Microsoft YaHei"/>
                <a:ea typeface="Microsoft YaHei"/>
                <a:cs typeface="Microsoft YaHei"/>
              </a:rPr>
              <a:t>适配机械化铺膜、田间作业</a:t>
            </a:r>
            <a:endParaRPr lang="zh-CN" sz="1050"/>
          </a:p>
        </p:txBody>
      </p:sp>
      <p:sp>
        <p:nvSpPr>
          <p:cNvPr id="81" name="TextBox 81"/>
          <p:cNvSpPr txBox="1"/>
          <p:nvPr/>
        </p:nvSpPr>
        <p:spPr>
          <a:xfrm>
            <a:off x="5986528" y="5422266"/>
            <a:ext cx="247792" cy="3279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007142"/>
                </a:solidFill>
                <a:latin typeface="Microsoft YaHei"/>
                <a:ea typeface="Microsoft YaHei"/>
                <a:cs typeface="Microsoft YaHei"/>
              </a:rPr>
              <a:t>+</a:t>
            </a:r>
            <a:endParaRPr lang="zh-CN" sz="1950"/>
          </a:p>
        </p:txBody>
      </p:sp>
      <p:sp>
        <p:nvSpPr>
          <p:cNvPr id="82" name="TextBox 82"/>
          <p:cNvSpPr txBox="1"/>
          <p:nvPr/>
        </p:nvSpPr>
        <p:spPr>
          <a:xfrm>
            <a:off x="4776721" y="5684633"/>
            <a:ext cx="932863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06B43"/>
                </a:solidFill>
                <a:latin typeface="Microsoft YaHei"/>
                <a:ea typeface="Microsoft YaHei"/>
                <a:cs typeface="Microsoft YaHei"/>
              </a:rPr>
              <a:t>PLA</a:t>
            </a:r>
            <a:endParaRPr lang="zh-CN" sz="1150"/>
          </a:p>
        </p:txBody>
      </p:sp>
      <p:sp>
        <p:nvSpPr>
          <p:cNvPr id="83" name="TextBox 83"/>
          <p:cNvSpPr txBox="1"/>
          <p:nvPr/>
        </p:nvSpPr>
        <p:spPr>
          <a:xfrm>
            <a:off x="4652825" y="5852257"/>
            <a:ext cx="1187943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60" b="1">
                <a:solidFill>
                  <a:srgbClr val="00683D"/>
                </a:solidFill>
                <a:latin typeface="Microsoft YaHei"/>
                <a:ea typeface="Microsoft YaHei"/>
                <a:cs typeface="Microsoft YaHei"/>
              </a:rPr>
              <a:t>30% ~ 50%</a:t>
            </a:r>
            <a:endParaRPr lang="zh-CN" sz="1160"/>
          </a:p>
        </p:txBody>
      </p:sp>
      <p:sp>
        <p:nvSpPr>
          <p:cNvPr id="84" name="TextBox 84"/>
          <p:cNvSpPr txBox="1"/>
          <p:nvPr/>
        </p:nvSpPr>
        <p:spPr>
          <a:xfrm>
            <a:off x="6525839" y="5684633"/>
            <a:ext cx="932863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06B43"/>
                </a:solidFill>
                <a:latin typeface="Microsoft YaHei"/>
                <a:ea typeface="Microsoft YaHei"/>
                <a:cs typeface="Microsoft YaHei"/>
              </a:rPr>
              <a:t>PBAT</a:t>
            </a:r>
            <a:endParaRPr lang="zh-CN" sz="1150"/>
          </a:p>
        </p:txBody>
      </p:sp>
      <p:sp>
        <p:nvSpPr>
          <p:cNvPr id="85" name="TextBox 85"/>
          <p:cNvSpPr txBox="1"/>
          <p:nvPr/>
        </p:nvSpPr>
        <p:spPr>
          <a:xfrm>
            <a:off x="6387367" y="5852257"/>
            <a:ext cx="1231671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60" b="1">
                <a:solidFill>
                  <a:srgbClr val="00683D"/>
                </a:solidFill>
                <a:latin typeface="Microsoft YaHei"/>
                <a:ea typeface="Microsoft YaHei"/>
                <a:cs typeface="Microsoft YaHei"/>
              </a:rPr>
              <a:t>45% ~ 65%</a:t>
            </a:r>
            <a:endParaRPr lang="zh-CN" sz="1160"/>
          </a:p>
        </p:txBody>
      </p:sp>
      <p:sp>
        <p:nvSpPr>
          <p:cNvPr id="86" name="TextBox 86"/>
          <p:cNvSpPr txBox="1"/>
          <p:nvPr/>
        </p:nvSpPr>
        <p:spPr>
          <a:xfrm>
            <a:off x="4973497" y="6121913"/>
            <a:ext cx="2507069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075A37"/>
                </a:solidFill>
                <a:latin typeface="Microsoft YaHei"/>
                <a:ea typeface="Microsoft YaHei"/>
                <a:cs typeface="Microsoft YaHei"/>
              </a:rPr>
              <a:t>环保功能性助剂 ≤ 5%</a:t>
            </a:r>
            <a:endParaRPr lang="zh-CN" sz="1050"/>
          </a:p>
        </p:txBody>
      </p:sp>
      <p:sp>
        <p:nvSpPr>
          <p:cNvPr id="87" name="TextBox 87"/>
          <p:cNvSpPr txBox="1"/>
          <p:nvPr/>
        </p:nvSpPr>
        <p:spPr>
          <a:xfrm>
            <a:off x="9892891" y="5261930"/>
            <a:ext cx="2018774" cy="218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242A27"/>
                </a:solidFill>
                <a:latin typeface="Microsoft YaHei"/>
                <a:ea typeface="Microsoft YaHei"/>
                <a:cs typeface="Microsoft YaHei"/>
              </a:rPr>
              <a:t>可被土壤原生微生物完全分解</a:t>
            </a:r>
            <a:endParaRPr lang="zh-CN" sz="1050"/>
          </a:p>
        </p:txBody>
      </p:sp>
      <p:sp>
        <p:nvSpPr>
          <p:cNvPr id="88" name="TextBox 88"/>
          <p:cNvSpPr txBox="1"/>
          <p:nvPr/>
        </p:nvSpPr>
        <p:spPr>
          <a:xfrm>
            <a:off x="9892891" y="5546162"/>
            <a:ext cx="2018774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242A27"/>
                </a:solidFill>
                <a:latin typeface="Microsoft YaHei"/>
                <a:ea typeface="Microsoft YaHei"/>
                <a:cs typeface="Microsoft YaHei"/>
              </a:rPr>
              <a:t>最终产物为二氧化碳、水、</a:t>
            </a:r>
            <a:endParaRPr lang="zh-CN" sz="1050"/>
          </a:p>
          <a:p>
            <a:pPr algn="l"/>
            <a:r>
              <a:rPr lang="zh-CN" sz="1050">
                <a:solidFill>
                  <a:srgbClr val="242A27"/>
                </a:solidFill>
                <a:latin typeface="Microsoft YaHei"/>
                <a:ea typeface="Microsoft YaHei"/>
                <a:cs typeface="Microsoft YaHei"/>
              </a:rPr>
              <a:t>土壤有机质与无危害无机矿物盐</a:t>
            </a:r>
            <a:endParaRPr lang="zh-CN" sz="1050"/>
          </a:p>
        </p:txBody>
      </p:sp>
      <p:sp>
        <p:nvSpPr>
          <p:cNvPr id="89" name="TextBox 89"/>
          <p:cNvSpPr txBox="1"/>
          <p:nvPr/>
        </p:nvSpPr>
        <p:spPr>
          <a:xfrm>
            <a:off x="9892891" y="5983441"/>
            <a:ext cx="2018774" cy="218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242A27"/>
                </a:solidFill>
                <a:latin typeface="Microsoft YaHei"/>
                <a:ea typeface="Microsoft YaHei"/>
                <a:cs typeface="Microsoft YaHei"/>
              </a:rPr>
              <a:t>从源头改善农田白色污染</a:t>
            </a:r>
            <a:endParaRPr lang="zh-CN" sz="1050"/>
          </a:p>
        </p:txBody>
      </p:sp>
      <p:sp>
        <p:nvSpPr>
          <p:cNvPr id="90" name="Path 90"/>
          <p:cNvSpPr/>
          <p:nvPr/>
        </p:nvSpPr>
        <p:spPr>
          <a:xfrm>
            <a:off x="3087" y="6194793"/>
            <a:ext cx="12185522" cy="109319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44"/>
                </a:moveTo>
                <a:cubicBezTo>
                  <a:pt x="4651" y="6480"/>
                  <a:pt x="8707" y="13104"/>
                  <a:pt x="10800" y="14112"/>
                </a:cubicBezTo>
                <a:cubicBezTo>
                  <a:pt x="13888" y="12960"/>
                  <a:pt x="18590" y="5040"/>
                  <a:pt x="21600" y="144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BFFF9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Path 91"/>
          <p:cNvSpPr/>
          <p:nvPr/>
        </p:nvSpPr>
        <p:spPr>
          <a:xfrm>
            <a:off x="3087" y="6194793"/>
            <a:ext cx="12185522" cy="109319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584"/>
                </a:moveTo>
                <a:cubicBezTo>
                  <a:pt x="4651" y="7920"/>
                  <a:pt x="8707" y="14544"/>
                  <a:pt x="10800" y="15552"/>
                </a:cubicBezTo>
                <a:cubicBezTo>
                  <a:pt x="13888" y="14400"/>
                  <a:pt x="18590" y="6480"/>
                  <a:pt x="21600" y="1584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78C59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Path 92"/>
          <p:cNvSpPr/>
          <p:nvPr/>
        </p:nvSpPr>
        <p:spPr>
          <a:xfrm>
            <a:off x="3087" y="6194793"/>
            <a:ext cx="12185522" cy="109319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8064"/>
                </a:moveTo>
                <a:cubicBezTo>
                  <a:pt x="4651" y="14400"/>
                  <a:pt x="8707" y="18720"/>
                  <a:pt x="10800" y="19728"/>
                </a:cubicBezTo>
                <a:cubicBezTo>
                  <a:pt x="13888" y="18576"/>
                  <a:pt x="18590" y="13248"/>
                  <a:pt x="21600" y="8352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2BC44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Path 93"/>
          <p:cNvSpPr/>
          <p:nvPr/>
        </p:nvSpPr>
        <p:spPr>
          <a:xfrm>
            <a:off x="3087" y="6194793"/>
            <a:ext cx="12185522" cy="109319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2096"/>
                </a:moveTo>
                <a:cubicBezTo>
                  <a:pt x="4651" y="18432"/>
                  <a:pt x="8707" y="22464"/>
                  <a:pt x="10800" y="23472"/>
                </a:cubicBezTo>
                <a:cubicBezTo>
                  <a:pt x="13888" y="22320"/>
                  <a:pt x="18590" y="17424"/>
                  <a:pt x="21600" y="12528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33F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