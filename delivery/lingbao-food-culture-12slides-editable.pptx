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Relationship Id="rId13" Type="http://schemas.openxmlformats.org/officeDocument/2006/relationships/image" Target="../media/image107.png"/><Relationship Id="rId14" Type="http://schemas.openxmlformats.org/officeDocument/2006/relationships/image" Target="../media/image10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115.png"/><Relationship Id="rId9" Type="http://schemas.openxmlformats.org/officeDocument/2006/relationships/image" Target="../media/image116.png"/><Relationship Id="rId10" Type="http://schemas.openxmlformats.org/officeDocument/2006/relationships/image" Target="../media/image117.png"/><Relationship Id="rId11" Type="http://schemas.openxmlformats.org/officeDocument/2006/relationships/image" Target="../media/image118.png"/><Relationship Id="rId12" Type="http://schemas.openxmlformats.org/officeDocument/2006/relationships/image" Target="../media/image119.png"/><Relationship Id="rId13" Type="http://schemas.openxmlformats.org/officeDocument/2006/relationships/image" Target="../media/image120.png"/><Relationship Id="rId14" Type="http://schemas.openxmlformats.org/officeDocument/2006/relationships/image" Target="../media/image12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128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image" Target="../media/image134.png"/><Relationship Id="rId15" Type="http://schemas.openxmlformats.org/officeDocument/2006/relationships/image" Target="../media/image135.png"/><Relationship Id="rId16" Type="http://schemas.openxmlformats.org/officeDocument/2006/relationships/image" Target="../media/image136.png"/><Relationship Id="rId17" Type="http://schemas.openxmlformats.org/officeDocument/2006/relationships/image" Target="../media/image13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image" Target="../media/image145.png"/><Relationship Id="rId10" Type="http://schemas.openxmlformats.org/officeDocument/2006/relationships/image" Target="../media/image146.png"/><Relationship Id="rId11" Type="http://schemas.openxmlformats.org/officeDocument/2006/relationships/image" Target="../media/image147.png"/><Relationship Id="rId12" Type="http://schemas.openxmlformats.org/officeDocument/2006/relationships/image" Target="../media/image148.png"/><Relationship Id="rId13" Type="http://schemas.openxmlformats.org/officeDocument/2006/relationships/image" Target="../media/image149.png"/><Relationship Id="rId14" Type="http://schemas.openxmlformats.org/officeDocument/2006/relationships/image" Target="../media/image1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tabletop-support"/>
          <p:cNvPicPr/>
          <p:nvPr/>
        </p:nvPicPr>
        <p:blipFill>
          <a:blip r:embed="rId3"/>
          <a:stretch>
            <a:fillRect/>
          </a:stretch>
        </p:blipFill>
        <p:spPr>
          <a:xfrm>
            <a:off x="3151499" y="4999562"/>
            <a:ext cx="9233885" cy="1989622"/>
          </a:xfrm>
          <a:prstGeom prst="rect">
            <a:avLst/>
          </a:prstGeom>
        </p:spPr>
      </p:pic>
      <p:pic>
        <p:nvPicPr>
          <p:cNvPr id="4" name="ceramic-jar"/>
          <p:cNvPicPr/>
          <p:nvPr/>
        </p:nvPicPr>
        <p:blipFill>
          <a:blip r:embed="rId4"/>
          <a:stretch>
            <a:fillRect/>
          </a:stretch>
        </p:blipFill>
        <p:spPr>
          <a:xfrm>
            <a:off x="11058970" y="3294172"/>
            <a:ext cx="1843862" cy="1945894"/>
          </a:xfrm>
          <a:prstGeom prst="rect">
            <a:avLst/>
          </a:prstGeom>
        </p:spPr>
      </p:pic>
      <p:pic>
        <p:nvPicPr>
          <p:cNvPr id="5" name="noodle-bowl"/>
          <p:cNvPicPr/>
          <p:nvPr/>
        </p:nvPicPr>
        <p:blipFill>
          <a:blip r:embed="rId5"/>
          <a:stretch>
            <a:fillRect/>
          </a:stretch>
        </p:blipFill>
        <p:spPr>
          <a:xfrm>
            <a:off x="6387367" y="3490948"/>
            <a:ext cx="5283794" cy="3571116"/>
          </a:xfrm>
          <a:prstGeom prst="rect">
            <a:avLst/>
          </a:prstGeom>
        </p:spPr>
      </p:pic>
      <p:pic>
        <p:nvPicPr>
          <p:cNvPr id="6" name="blank-red-brush"/>
          <p:cNvPicPr/>
          <p:nvPr/>
        </p:nvPicPr>
        <p:blipFill>
          <a:blip r:embed="rId6"/>
          <a:stretch>
            <a:fillRect/>
          </a:stretch>
        </p:blipFill>
        <p:spPr>
          <a:xfrm>
            <a:off x="739174" y="2521645"/>
            <a:ext cx="7543071" cy="1362854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02734" y="269656"/>
            <a:ext cx="2332157" cy="240503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500">
                <a:solidFill>
                  <a:srgbClr val="321B07"/>
                </a:solidFill>
                <a:latin typeface="Ma Shan Zheng"/>
                <a:ea typeface="Ma Shan Zheng"/>
                <a:cs typeface="Ma Shan Zheng"/>
              </a:rPr>
              <a:t>寻</a:t>
            </a:r>
            <a:endParaRPr lang="zh-CN" sz="17500"/>
          </a:p>
        </p:txBody>
      </p:sp>
      <p:sp>
        <p:nvSpPr>
          <p:cNvPr id="8" name="TextBox 8"/>
          <p:cNvSpPr txBox="1"/>
          <p:nvPr/>
        </p:nvSpPr>
        <p:spPr>
          <a:xfrm>
            <a:off x="2583036" y="364400"/>
            <a:ext cx="2332157" cy="240503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500">
                <a:solidFill>
                  <a:srgbClr val="321B07"/>
                </a:solidFill>
                <a:latin typeface="Ma Shan Zheng"/>
                <a:ea typeface="Ma Shan Zheng"/>
                <a:cs typeface="Ma Shan Zheng"/>
              </a:rPr>
              <a:t>根</a:t>
            </a:r>
            <a:endParaRPr lang="zh-CN" sz="17500"/>
          </a:p>
        </p:txBody>
      </p:sp>
      <p:sp>
        <p:nvSpPr>
          <p:cNvPr id="9" name="TextBox 9"/>
          <p:cNvSpPr txBox="1"/>
          <p:nvPr/>
        </p:nvSpPr>
        <p:spPr>
          <a:xfrm>
            <a:off x="4434186" y="320672"/>
            <a:ext cx="2332157" cy="240503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500">
                <a:solidFill>
                  <a:srgbClr val="A72302"/>
                </a:solidFill>
                <a:latin typeface="Ma Shan Zheng"/>
                <a:ea typeface="Ma Shan Zheng"/>
                <a:cs typeface="Ma Shan Zheng"/>
              </a:rPr>
              <a:t>灵</a:t>
            </a:r>
            <a:endParaRPr lang="zh-CN" sz="17500"/>
          </a:p>
        </p:txBody>
      </p:sp>
      <p:sp>
        <p:nvSpPr>
          <p:cNvPr id="10" name="TextBox 10"/>
          <p:cNvSpPr txBox="1"/>
          <p:nvPr/>
        </p:nvSpPr>
        <p:spPr>
          <a:xfrm>
            <a:off x="6081272" y="284232"/>
            <a:ext cx="2332157" cy="240503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7500">
                <a:solidFill>
                  <a:srgbClr val="AA2A03"/>
                </a:solidFill>
                <a:latin typeface="Ma Shan Zheng"/>
                <a:ea typeface="Ma Shan Zheng"/>
                <a:cs typeface="Ma Shan Zheng"/>
              </a:rPr>
              <a:t>宝</a:t>
            </a:r>
            <a:endParaRPr lang="zh-CN" sz="17500"/>
          </a:p>
        </p:txBody>
      </p:sp>
      <p:sp>
        <p:nvSpPr>
          <p:cNvPr id="11" name="TextBox 11"/>
          <p:cNvSpPr txBox="1"/>
          <p:nvPr/>
        </p:nvSpPr>
        <p:spPr>
          <a:xfrm>
            <a:off x="1876101" y="2915197"/>
            <a:ext cx="553887" cy="67049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800">
                <a:solidFill>
                  <a:srgbClr val="FFF1D6"/>
                </a:solidFill>
                <a:latin typeface="Ma Shan Zheng"/>
                <a:ea typeface="Ma Shan Zheng"/>
                <a:cs typeface="Ma Shan Zheng"/>
              </a:rPr>
              <a:t>从</a:t>
            </a:r>
            <a:endParaRPr lang="zh-CN" sz="3800"/>
          </a:p>
        </p:txBody>
      </p:sp>
      <p:sp>
        <p:nvSpPr>
          <p:cNvPr id="12" name="TextBox 12"/>
          <p:cNvSpPr txBox="1"/>
          <p:nvPr/>
        </p:nvSpPr>
        <p:spPr>
          <a:xfrm>
            <a:off x="2583036" y="2915197"/>
            <a:ext cx="335248" cy="47371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640">
                <a:solidFill>
                  <a:srgbClr val="FFF1D6"/>
                </a:solidFill>
                <a:latin typeface="Noto Serif CJK SC"/>
                <a:ea typeface="Noto Serif CJK SC"/>
                <a:cs typeface="Noto Serif CJK SC"/>
              </a:rPr>
              <a:t>“</a:t>
            </a:r>
            <a:endParaRPr lang="zh-CN" sz="2640"/>
          </a:p>
        </p:txBody>
      </p:sp>
      <p:sp>
        <p:nvSpPr>
          <p:cNvPr id="13" name="TextBox 13"/>
          <p:cNvSpPr txBox="1"/>
          <p:nvPr/>
        </p:nvSpPr>
        <p:spPr>
          <a:xfrm>
            <a:off x="2918283" y="2900621"/>
            <a:ext cx="539311" cy="67049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800">
                <a:solidFill>
                  <a:srgbClr val="FFF1D6"/>
                </a:solidFill>
                <a:latin typeface="Ma Shan Zheng"/>
                <a:ea typeface="Ma Shan Zheng"/>
                <a:cs typeface="Ma Shan Zheng"/>
              </a:rPr>
              <a:t>土</a:t>
            </a:r>
            <a:endParaRPr lang="zh-CN" sz="3800"/>
          </a:p>
        </p:txBody>
      </p:sp>
      <p:sp>
        <p:nvSpPr>
          <p:cNvPr id="14" name="TextBox 14"/>
          <p:cNvSpPr txBox="1"/>
          <p:nvPr/>
        </p:nvSpPr>
        <p:spPr>
          <a:xfrm>
            <a:off x="3443019" y="2893333"/>
            <a:ext cx="539311" cy="67049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800">
                <a:solidFill>
                  <a:srgbClr val="FFF1D6"/>
                </a:solidFill>
                <a:latin typeface="Ma Shan Zheng"/>
                <a:ea typeface="Ma Shan Zheng"/>
                <a:cs typeface="Ma Shan Zheng"/>
              </a:rPr>
              <a:t>味</a:t>
            </a:r>
            <a:endParaRPr lang="zh-CN" sz="3800"/>
          </a:p>
        </p:txBody>
      </p:sp>
      <p:sp>
        <p:nvSpPr>
          <p:cNvPr id="15" name="TextBox 15"/>
          <p:cNvSpPr txBox="1"/>
          <p:nvPr/>
        </p:nvSpPr>
        <p:spPr>
          <a:xfrm>
            <a:off x="3953178" y="2893333"/>
            <a:ext cx="306096" cy="47371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410">
                <a:solidFill>
                  <a:srgbClr val="FFF1D6"/>
                </a:solidFill>
                <a:latin typeface="Noto Serif CJK SC"/>
                <a:ea typeface="Noto Serif CJK SC"/>
                <a:cs typeface="Noto Serif CJK SC"/>
              </a:rPr>
              <a:t>”</a:t>
            </a:r>
            <a:endParaRPr lang="zh-CN" sz="2410"/>
          </a:p>
        </p:txBody>
      </p:sp>
      <p:sp>
        <p:nvSpPr>
          <p:cNvPr id="16" name="TextBox 16"/>
          <p:cNvSpPr txBox="1"/>
          <p:nvPr/>
        </p:nvSpPr>
        <p:spPr>
          <a:xfrm>
            <a:off x="4288426" y="2893333"/>
            <a:ext cx="561175" cy="670495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800">
                <a:solidFill>
                  <a:srgbClr val="FFF1D6"/>
                </a:solidFill>
                <a:latin typeface="Ma Shan Zheng"/>
                <a:ea typeface="Ma Shan Zheng"/>
                <a:cs typeface="Ma Shan Zheng"/>
              </a:rPr>
              <a:t>到</a:t>
            </a:r>
            <a:endParaRPr lang="zh-CN" sz="3800"/>
          </a:p>
        </p:txBody>
      </p:sp>
      <p:sp>
        <p:nvSpPr>
          <p:cNvPr id="17" name="TextBox 17"/>
          <p:cNvSpPr txBox="1"/>
          <p:nvPr/>
        </p:nvSpPr>
        <p:spPr>
          <a:xfrm>
            <a:off x="4893329" y="2820453"/>
            <a:ext cx="349824" cy="53931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750">
                <a:solidFill>
                  <a:srgbClr val="FFE293"/>
                </a:solidFill>
                <a:latin typeface="Noto Serif CJK SC"/>
                <a:ea typeface="Noto Serif CJK SC"/>
                <a:cs typeface="Noto Serif CJK SC"/>
              </a:rPr>
              <a:t>“</a:t>
            </a:r>
            <a:endParaRPr lang="zh-CN" sz="2750"/>
          </a:p>
        </p:txBody>
      </p:sp>
      <p:sp>
        <p:nvSpPr>
          <p:cNvPr id="18" name="TextBox 18"/>
          <p:cNvSpPr txBox="1"/>
          <p:nvPr/>
        </p:nvSpPr>
        <p:spPr>
          <a:xfrm>
            <a:off x="5214001" y="2791301"/>
            <a:ext cx="670495" cy="78710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700">
                <a:solidFill>
                  <a:srgbClr val="FFE293"/>
                </a:solidFill>
                <a:latin typeface="Ma Shan Zheng"/>
                <a:ea typeface="Ma Shan Zheng"/>
                <a:cs typeface="Ma Shan Zheng"/>
              </a:rPr>
              <a:t>家</a:t>
            </a:r>
            <a:endParaRPr lang="zh-CN" sz="4700"/>
          </a:p>
        </p:txBody>
      </p:sp>
      <p:sp>
        <p:nvSpPr>
          <p:cNvPr id="19" name="TextBox 19"/>
          <p:cNvSpPr txBox="1"/>
          <p:nvPr/>
        </p:nvSpPr>
        <p:spPr>
          <a:xfrm>
            <a:off x="5862632" y="2791301"/>
            <a:ext cx="670495" cy="78710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700">
                <a:solidFill>
                  <a:srgbClr val="FFE293"/>
                </a:solidFill>
                <a:latin typeface="Ma Shan Zheng"/>
                <a:ea typeface="Ma Shan Zheng"/>
                <a:cs typeface="Ma Shan Zheng"/>
              </a:rPr>
              <a:t>乡</a:t>
            </a:r>
            <a:endParaRPr lang="zh-CN" sz="4700"/>
          </a:p>
        </p:txBody>
      </p:sp>
      <p:sp>
        <p:nvSpPr>
          <p:cNvPr id="20" name="TextBox 20"/>
          <p:cNvSpPr txBox="1"/>
          <p:nvPr/>
        </p:nvSpPr>
        <p:spPr>
          <a:xfrm>
            <a:off x="6525839" y="2791301"/>
            <a:ext cx="728799" cy="78710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4700">
                <a:solidFill>
                  <a:srgbClr val="FFE293"/>
                </a:solidFill>
                <a:latin typeface="Ma Shan Zheng"/>
                <a:ea typeface="Ma Shan Zheng"/>
                <a:cs typeface="Ma Shan Zheng"/>
              </a:rPr>
              <a:t>魂</a:t>
            </a:r>
            <a:endParaRPr lang="zh-CN" sz="4700"/>
          </a:p>
        </p:txBody>
      </p:sp>
      <p:sp>
        <p:nvSpPr>
          <p:cNvPr id="21" name="TextBox 21"/>
          <p:cNvSpPr txBox="1"/>
          <p:nvPr/>
        </p:nvSpPr>
        <p:spPr>
          <a:xfrm>
            <a:off x="7247350" y="2798589"/>
            <a:ext cx="342536" cy="53931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FFE293"/>
                </a:solidFill>
                <a:latin typeface="Noto Serif CJK SC"/>
                <a:ea typeface="Noto Serif CJK SC"/>
                <a:cs typeface="Noto Serif CJK SC"/>
              </a:rPr>
              <a:t>”</a:t>
            </a:r>
            <a:endParaRPr lang="zh-CN" sz="2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-preserve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classroom-aligned"/>
          <p:cNvPicPr/>
          <p:nvPr/>
        </p:nvPicPr>
        <p:blipFill>
          <a:blip r:embed="rId3"/>
          <a:stretch>
            <a:fillRect/>
          </a:stretch>
        </p:blipFill>
        <p:spPr>
          <a:xfrm>
            <a:off x="3087" y="2310293"/>
            <a:ext cx="7732559" cy="4547707"/>
          </a:xfrm>
          <a:prstGeom prst="rect">
            <a:avLst/>
          </a:prstGeom>
        </p:spPr>
      </p:pic>
      <p:pic>
        <p:nvPicPr>
          <p:cNvPr id="4" name="vendor-aligned"/>
          <p:cNvPicPr/>
          <p:nvPr/>
        </p:nvPicPr>
        <p:blipFill>
          <a:blip r:embed="rId4"/>
          <a:stretch>
            <a:fillRect/>
          </a:stretch>
        </p:blipFill>
        <p:spPr>
          <a:xfrm>
            <a:off x="9441036" y="371688"/>
            <a:ext cx="2747573" cy="5502434"/>
          </a:xfrm>
          <a:prstGeom prst="rect">
            <a:avLst/>
          </a:prstGeom>
        </p:spPr>
      </p:pic>
      <p:pic>
        <p:nvPicPr>
          <p:cNvPr id="5" name="title-brush"/>
          <p:cNvPicPr/>
          <p:nvPr/>
        </p:nvPicPr>
        <p:blipFill>
          <a:blip r:embed="rId5"/>
          <a:stretch>
            <a:fillRect/>
          </a:stretch>
        </p:blipFill>
        <p:spPr>
          <a:xfrm>
            <a:off x="1606445" y="2200973"/>
            <a:ext cx="4664315" cy="422704"/>
          </a:xfrm>
          <a:prstGeom prst="rect">
            <a:avLst/>
          </a:prstGeom>
        </p:spPr>
      </p:pic>
      <p:pic>
        <p:nvPicPr>
          <p:cNvPr id="6" name="listen-brush"/>
          <p:cNvPicPr/>
          <p:nvPr/>
        </p:nvPicPr>
        <p:blipFill>
          <a:blip r:embed="rId6"/>
          <a:stretch>
            <a:fillRect/>
          </a:stretch>
        </p:blipFill>
        <p:spPr>
          <a:xfrm>
            <a:off x="6890239" y="1814710"/>
            <a:ext cx="3148412" cy="2215549"/>
          </a:xfrm>
          <a:prstGeom prst="rect">
            <a:avLst/>
          </a:prstGeom>
        </p:spPr>
      </p:pic>
      <p:pic>
        <p:nvPicPr>
          <p:cNvPr id="7" name="large-speaker"/>
          <p:cNvPicPr/>
          <p:nvPr/>
        </p:nvPicPr>
        <p:blipFill>
          <a:blip r:embed="rId7"/>
          <a:stretch>
            <a:fillRect/>
          </a:stretch>
        </p:blipFill>
        <p:spPr>
          <a:xfrm>
            <a:off x="6270759" y="2397749"/>
            <a:ext cx="1253535" cy="1275399"/>
          </a:xfrm>
          <a:prstGeom prst="rect">
            <a:avLst/>
          </a:prstGeom>
        </p:spPr>
      </p:pic>
      <p:pic>
        <p:nvPicPr>
          <p:cNvPr id="8" name="small-speaker"/>
          <p:cNvPicPr/>
          <p:nvPr/>
        </p:nvPicPr>
        <p:blipFill>
          <a:blip r:embed="rId8"/>
          <a:stretch>
            <a:fillRect/>
          </a:stretch>
        </p:blipFill>
        <p:spPr>
          <a:xfrm>
            <a:off x="7597174" y="2193685"/>
            <a:ext cx="495583" cy="422704"/>
          </a:xfrm>
          <a:prstGeom prst="rect">
            <a:avLst/>
          </a:prstGeom>
        </p:spPr>
      </p:pic>
      <p:pic>
        <p:nvPicPr>
          <p:cNvPr id="9" name="waveform"/>
          <p:cNvPicPr/>
          <p:nvPr/>
        </p:nvPicPr>
        <p:blipFill>
          <a:blip r:embed="rId9"/>
          <a:stretch>
            <a:fillRect/>
          </a:stretch>
        </p:blipFill>
        <p:spPr>
          <a:xfrm>
            <a:off x="7407686" y="2944349"/>
            <a:ext cx="2456053" cy="685071"/>
          </a:xfrm>
          <a:prstGeom prst="rect">
            <a:avLst/>
          </a:prstGeom>
        </p:spPr>
      </p:pic>
      <p:pic>
        <p:nvPicPr>
          <p:cNvPr id="10" name="response-cloud"/>
          <p:cNvPicPr/>
          <p:nvPr/>
        </p:nvPicPr>
        <p:blipFill>
          <a:blip r:embed="rId10"/>
          <a:stretch>
            <a:fillRect/>
          </a:stretch>
        </p:blipFill>
        <p:spPr>
          <a:xfrm>
            <a:off x="5483656" y="3833484"/>
            <a:ext cx="4270763" cy="2018774"/>
          </a:xfrm>
          <a:prstGeom prst="rect">
            <a:avLst/>
          </a:prstGeom>
        </p:spPr>
      </p:pic>
      <p:pic>
        <p:nvPicPr>
          <p:cNvPr id="11" name="question-circle"/>
          <p:cNvPicPr/>
          <p:nvPr/>
        </p:nvPicPr>
        <p:blipFill>
          <a:blip r:embed="rId11"/>
          <a:stretch>
            <a:fillRect/>
          </a:stretch>
        </p:blipFill>
        <p:spPr>
          <a:xfrm>
            <a:off x="6125000" y="4052123"/>
            <a:ext cx="553887" cy="612191"/>
          </a:xfrm>
          <a:prstGeom prst="rect">
            <a:avLst/>
          </a:prstGeom>
        </p:spPr>
      </p:pic>
      <p:sp>
        <p:nvSpPr>
          <p:cNvPr id="12" name="Roundrect 12"/>
          <p:cNvSpPr/>
          <p:nvPr/>
        </p:nvSpPr>
        <p:spPr>
          <a:xfrm>
            <a:off x="5950088" y="4780922"/>
            <a:ext cx="1610646" cy="568463"/>
          </a:xfrm>
          <a:prstGeom prst="roundRect">
            <a:avLst>
              <a:gd name="adj" fmla="val 50000"/>
            </a:avLst>
          </a:prstGeom>
          <a:solidFill>
            <a:srgbClr val="F1CF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7721070" y="4780922"/>
            <a:ext cx="1654374" cy="568463"/>
          </a:xfrm>
          <a:prstGeom prst="roundRect">
            <a:avLst>
              <a:gd name="adj" fmla="val 50000"/>
            </a:avLst>
          </a:prstGeom>
          <a:solidFill>
            <a:srgbClr val="F1CF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90190" y="196776"/>
            <a:ext cx="5189050" cy="133370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8000">
                <a:solidFill>
                  <a:srgbClr val="432007"/>
                </a:solidFill>
                <a:latin typeface="Ma Shan Zheng"/>
                <a:ea typeface="Ma Shan Zheng"/>
                <a:cs typeface="Ma Shan Zheng"/>
              </a:rPr>
              <a:t>你敢带朋友</a:t>
            </a:r>
            <a:endParaRPr lang="zh-CN" sz="8000"/>
          </a:p>
        </p:txBody>
      </p:sp>
      <p:sp>
        <p:nvSpPr>
          <p:cNvPr id="15" name="TextBox 15"/>
          <p:cNvSpPr txBox="1"/>
          <p:nvPr/>
        </p:nvSpPr>
        <p:spPr>
          <a:xfrm>
            <a:off x="2240500" y="1195231"/>
            <a:ext cx="4722618" cy="12389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30">
                <a:solidFill>
                  <a:srgbClr val="8F2108"/>
                </a:solidFill>
                <a:latin typeface="Ma Shan Zheng"/>
                <a:ea typeface="Ma Shan Zheng"/>
                <a:cs typeface="Ma Shan Zheng"/>
              </a:rPr>
              <a:t>回</a:t>
            </a:r>
            <a:r>
              <a:rPr lang="zh-CN" sz="7430">
                <a:solidFill>
                  <a:srgbClr val="D82B0A"/>
                </a:solidFill>
                <a:latin typeface="Ma Shan Zheng"/>
                <a:ea typeface="Ma Shan Zheng"/>
                <a:cs typeface="Ma Shan Zheng"/>
              </a:rPr>
              <a:t>灵</a:t>
            </a:r>
            <a:r>
              <a:rPr lang="zh-CN" sz="7430">
                <a:solidFill>
                  <a:srgbClr val="A81806"/>
                </a:solidFill>
                <a:latin typeface="Ma Shan Zheng"/>
                <a:ea typeface="Ma Shan Zheng"/>
                <a:cs typeface="Ma Shan Zheng"/>
              </a:rPr>
              <a:t>宝吗</a:t>
            </a:r>
            <a:r>
              <a:rPr lang="zh-CN" sz="7430">
                <a:solidFill>
                  <a:srgbClr val="632307"/>
                </a:solidFill>
                <a:latin typeface="Ma Shan Zheng"/>
                <a:ea typeface="Ma Shan Zheng"/>
                <a:cs typeface="Ma Shan Zheng"/>
              </a:rPr>
              <a:t>？</a:t>
            </a:r>
            <a:endParaRPr lang="zh-CN" sz="7430"/>
          </a:p>
        </p:txBody>
      </p:sp>
      <p:sp>
        <p:nvSpPr>
          <p:cNvPr id="16" name="TextBox 16"/>
          <p:cNvSpPr txBox="1"/>
          <p:nvPr/>
        </p:nvSpPr>
        <p:spPr>
          <a:xfrm>
            <a:off x="3778266" y="3170276"/>
            <a:ext cx="2084366" cy="6486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79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不敢带你</a:t>
            </a:r>
            <a:endParaRPr lang="zh-CN" sz="3779"/>
          </a:p>
        </p:txBody>
      </p:sp>
      <p:sp>
        <p:nvSpPr>
          <p:cNvPr id="17" name="TextBox 17"/>
          <p:cNvSpPr txBox="1"/>
          <p:nvPr/>
        </p:nvSpPr>
        <p:spPr>
          <a:xfrm>
            <a:off x="4098938" y="3716876"/>
            <a:ext cx="1967758" cy="6559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79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回灵宝...</a:t>
            </a:r>
            <a:endParaRPr lang="zh-CN" sz="3779"/>
          </a:p>
        </p:txBody>
      </p:sp>
      <p:sp>
        <p:nvSpPr>
          <p:cNvPr id="18" name="TextBox 18"/>
          <p:cNvSpPr txBox="1"/>
          <p:nvPr/>
        </p:nvSpPr>
        <p:spPr>
          <a:xfrm>
            <a:off x="8143773" y="2142670"/>
            <a:ext cx="1187943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860">
                <a:solidFill>
                  <a:srgbClr val="FFF0D0"/>
                </a:solidFill>
                <a:latin typeface="Ma Shan Zheng"/>
                <a:ea typeface="Ma Shan Zheng"/>
                <a:cs typeface="Ma Shan Zheng"/>
              </a:rPr>
              <a:t>听一听</a:t>
            </a:r>
            <a:endParaRPr lang="zh-CN" sz="2860"/>
          </a:p>
        </p:txBody>
      </p:sp>
      <p:sp>
        <p:nvSpPr>
          <p:cNvPr id="19" name="TextBox 19"/>
          <p:cNvSpPr txBox="1"/>
          <p:nvPr/>
        </p:nvSpPr>
        <p:spPr>
          <a:xfrm>
            <a:off x="7677342" y="2616389"/>
            <a:ext cx="1982334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900">
                <a:solidFill>
                  <a:srgbClr val="FFF0D0"/>
                </a:solidFill>
                <a:latin typeface="Ma Shan Zheng"/>
                <a:ea typeface="Ma Shan Zheng"/>
                <a:cs typeface="Ma Shan Zheng"/>
              </a:rPr>
              <a:t>这是什么在叫卖？</a:t>
            </a:r>
            <a:endParaRPr lang="zh-CN" sz="1900"/>
          </a:p>
        </p:txBody>
      </p:sp>
      <p:sp>
        <p:nvSpPr>
          <p:cNvPr id="20" name="TextBox 20"/>
          <p:cNvSpPr txBox="1"/>
          <p:nvPr/>
        </p:nvSpPr>
        <p:spPr>
          <a:xfrm>
            <a:off x="6168728" y="4110427"/>
            <a:ext cx="451855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FFF5DD"/>
                </a:solidFill>
                <a:latin typeface="Noto Serif CJK SC"/>
                <a:ea typeface="Noto Serif CJK SC"/>
                <a:cs typeface="Noto Serif CJK SC"/>
              </a:rPr>
              <a:t>?</a:t>
            </a:r>
            <a:endParaRPr lang="zh-CN" sz="2800"/>
          </a:p>
        </p:txBody>
      </p:sp>
      <p:sp>
        <p:nvSpPr>
          <p:cNvPr id="21" name="TextBox 21"/>
          <p:cNvSpPr txBox="1"/>
          <p:nvPr/>
        </p:nvSpPr>
        <p:spPr>
          <a:xfrm>
            <a:off x="6729903" y="4197883"/>
            <a:ext cx="2193685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650">
                <a:solidFill>
                  <a:srgbClr val="482008"/>
                </a:solidFill>
                <a:latin typeface="Ma Shan Zheng"/>
                <a:ea typeface="Ma Shan Zheng"/>
                <a:cs typeface="Ma Shan Zheng"/>
              </a:rPr>
              <a:t>你听懂了吗？</a:t>
            </a:r>
            <a:endParaRPr lang="zh-CN" sz="2650"/>
          </a:p>
        </p:txBody>
      </p:sp>
      <p:sp>
        <p:nvSpPr>
          <p:cNvPr id="22" name="TextBox 22"/>
          <p:cNvSpPr txBox="1"/>
          <p:nvPr/>
        </p:nvSpPr>
        <p:spPr>
          <a:xfrm>
            <a:off x="5950088" y="4780922"/>
            <a:ext cx="1610646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4B210B"/>
                </a:solidFill>
                <a:latin typeface="Ma Shan Zheng"/>
                <a:ea typeface="Ma Shan Zheng"/>
                <a:cs typeface="Ma Shan Zheng"/>
              </a:rPr>
              <a:t>听不懂</a:t>
            </a:r>
            <a:endParaRPr lang="zh-CN" sz="2410"/>
          </a:p>
        </p:txBody>
      </p:sp>
      <p:sp>
        <p:nvSpPr>
          <p:cNvPr id="23" name="TextBox 23"/>
          <p:cNvSpPr txBox="1"/>
          <p:nvPr/>
        </p:nvSpPr>
        <p:spPr>
          <a:xfrm>
            <a:off x="7721070" y="4780922"/>
            <a:ext cx="1654374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4B210B"/>
                </a:solidFill>
                <a:latin typeface="Ma Shan Zheng"/>
                <a:ea typeface="Ma Shan Zheng"/>
                <a:cs typeface="Ma Shan Zheng"/>
              </a:rPr>
              <a:t>觉得“土”</a:t>
            </a:r>
            <a:endParaRPr lang="zh-CN" sz="241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 source valley/castle/foliage/cream parchment clean base. Incidental castle sign retained as scene identity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Independent source-faithful blank decorative asset: title-underline. Ordinary characters removed; no text strokes duplicated."/>
          <p:cNvPicPr/>
          <p:nvPr/>
        </p:nvPicPr>
        <p:blipFill>
          <a:blip r:embed="rId18"/>
          <a:stretch>
            <a:fillRect/>
          </a:stretch>
        </p:blipFill>
        <p:spPr>
          <a:xfrm>
            <a:off x="1168509" y="1351922"/>
            <a:ext cx="5226809" cy="564819"/>
          </a:xfrm>
          <a:prstGeom prst="rect">
            <a:avLst/>
          </a:prstGeom>
        </p:spPr>
      </p:pic>
      <p:pic>
        <p:nvPicPr>
          <p:cNvPr id="4" name="Independent source-faithful blank decorative asset: red-slogan-brush. Ordinary characters removed; no text strokes duplicated."/>
          <p:cNvPicPr/>
          <p:nvPr/>
        </p:nvPicPr>
        <p:blipFill>
          <a:blip r:embed="rId19"/>
          <a:stretch>
            <a:fillRect/>
          </a:stretch>
        </p:blipFill>
        <p:spPr>
          <a:xfrm>
            <a:off x="6924026" y="855246"/>
            <a:ext cx="3642006" cy="1165044"/>
          </a:xfrm>
          <a:prstGeom prst="rect">
            <a:avLst/>
          </a:prstGeom>
        </p:spPr>
      </p:pic>
      <p:pic>
        <p:nvPicPr>
          <p:cNvPr id="5" name="Independent source left noodle soup photographic panel with exact ceramic bowl and wooden setting; blank reconstructed label overlays separately. Incidental jar markings are photo identity."/>
          <p:cNvPicPr/>
          <p:nvPr/>
        </p:nvPicPr>
        <p:blipFill>
          <a:blip r:embed="rId3"/>
          <a:stretch>
            <a:fillRect/>
          </a:stretch>
        </p:blipFill>
        <p:spPr>
          <a:xfrm>
            <a:off x="-128505" y="2327741"/>
            <a:ext cx="4375346" cy="2837040"/>
          </a:xfrm>
          <a:prstGeom prst="rect">
            <a:avLst/>
          </a:prstGeom>
        </p:spPr>
      </p:pic>
      <p:pic>
        <p:nvPicPr>
          <p:cNvPr id="6" name="Independent source center liangfen photographic panel preserving translucent jelly plate, cucumber and wooden scene."/>
          <p:cNvPicPr/>
          <p:nvPr/>
        </p:nvPicPr>
        <p:blipFill>
          <a:blip r:embed="rId4"/>
          <a:stretch>
            <a:fillRect/>
          </a:stretch>
        </p:blipFill>
        <p:spPr>
          <a:xfrm>
            <a:off x="4142331" y="2325489"/>
            <a:ext cx="4261442" cy="2845822"/>
          </a:xfrm>
          <a:prstGeom prst="rect">
            <a:avLst/>
          </a:prstGeom>
        </p:spPr>
      </p:pic>
      <p:pic>
        <p:nvPicPr>
          <p:cNvPr id="7" name="Independent source right fermented-rice photographic panel preserving rice bowl, raised rice/date spoon and jar scene."/>
          <p:cNvPicPr/>
          <p:nvPr/>
        </p:nvPicPr>
        <p:blipFill>
          <a:blip r:embed="rId5"/>
          <a:stretch>
            <a:fillRect/>
          </a:stretch>
        </p:blipFill>
        <p:spPr>
          <a:xfrm>
            <a:off x="8245506" y="2204501"/>
            <a:ext cx="4067290" cy="3093461"/>
          </a:xfrm>
          <a:prstGeom prst="rect">
            <a:avLst/>
          </a:prstGeom>
        </p:spPr>
      </p:pic>
      <p:pic>
        <p:nvPicPr>
          <p:cNvPr id="8" name="Independent complete source ingredient/food circular photo medallion with rough border: fermented-sour-water. All captions are native."/>
          <p:cNvPicPr/>
          <p:nvPr/>
        </p:nvPicPr>
        <p:blipFill>
          <a:blip r:embed="rId6"/>
          <a:stretch>
            <a:fillRect/>
          </a:stretch>
        </p:blipFill>
        <p:spPr>
          <a:xfrm>
            <a:off x="115533" y="4687906"/>
            <a:ext cx="1385761" cy="1306059"/>
          </a:xfrm>
          <a:prstGeom prst="rect">
            <a:avLst/>
          </a:prstGeom>
        </p:spPr>
      </p:pic>
      <p:pic>
        <p:nvPicPr>
          <p:cNvPr id="9" name="Independent complete source ingredient/food circular photo medallion with rough border: handmade-noodles. All captions are native."/>
          <p:cNvPicPr/>
          <p:nvPr/>
        </p:nvPicPr>
        <p:blipFill>
          <a:blip r:embed="rId7"/>
          <a:stretch>
            <a:fillRect/>
          </a:stretch>
        </p:blipFill>
        <p:spPr>
          <a:xfrm>
            <a:off x="1353610" y="4671894"/>
            <a:ext cx="1387524" cy="1326269"/>
          </a:xfrm>
          <a:prstGeom prst="rect">
            <a:avLst/>
          </a:prstGeom>
        </p:spPr>
      </p:pic>
      <p:pic>
        <p:nvPicPr>
          <p:cNvPr id="10" name="Independent complete source ingredient/food circular photo medallion with rough border: sour-noodle-bowl. All captions are native."/>
          <p:cNvPicPr/>
          <p:nvPr/>
        </p:nvPicPr>
        <p:blipFill>
          <a:blip r:embed="rId8"/>
          <a:stretch>
            <a:fillRect/>
          </a:stretch>
        </p:blipFill>
        <p:spPr>
          <a:xfrm>
            <a:off x="2601314" y="4679765"/>
            <a:ext cx="1384602" cy="1318084"/>
          </a:xfrm>
          <a:prstGeom prst="rect">
            <a:avLst/>
          </a:prstGeom>
        </p:spPr>
      </p:pic>
      <p:pic>
        <p:nvPicPr>
          <p:cNvPr id="11" name="Independent complete source ingredient/food circular photo medallion with rough border: ingredient-powder. All captions are native."/>
          <p:cNvPicPr/>
          <p:nvPr/>
        </p:nvPicPr>
        <p:blipFill>
          <a:blip r:embed="rId9"/>
          <a:stretch>
            <a:fillRect/>
          </a:stretch>
        </p:blipFill>
        <p:spPr>
          <a:xfrm>
            <a:off x="4206888" y="4725607"/>
            <a:ext cx="1445770" cy="1288714"/>
          </a:xfrm>
          <a:prstGeom prst="rect">
            <a:avLst/>
          </a:prstGeom>
        </p:spPr>
      </p:pic>
      <p:pic>
        <p:nvPicPr>
          <p:cNvPr id="12" name="Independent complete source ingredient/food circular photo medallion with rough border: solidified-liangfen. All captions are native."/>
          <p:cNvPicPr/>
          <p:nvPr/>
        </p:nvPicPr>
        <p:blipFill>
          <a:blip r:embed="rId10"/>
          <a:stretch>
            <a:fillRect/>
          </a:stretch>
        </p:blipFill>
        <p:spPr>
          <a:xfrm>
            <a:off x="5479174" y="4713494"/>
            <a:ext cx="1379114" cy="1309062"/>
          </a:xfrm>
          <a:prstGeom prst="rect">
            <a:avLst/>
          </a:prstGeom>
        </p:spPr>
      </p:pic>
      <p:pic>
        <p:nvPicPr>
          <p:cNvPr id="13" name="Independent complete source ingredient/food circular photo medallion with rough border: cool-liangfen. All captions are native."/>
          <p:cNvPicPr/>
          <p:nvPr/>
        </p:nvPicPr>
        <p:blipFill>
          <a:blip r:embed="rId11"/>
          <a:stretch>
            <a:fillRect/>
          </a:stretch>
        </p:blipFill>
        <p:spPr>
          <a:xfrm>
            <a:off x="6700292" y="4718319"/>
            <a:ext cx="1443948" cy="1288714"/>
          </a:xfrm>
          <a:prstGeom prst="rect">
            <a:avLst/>
          </a:prstGeom>
        </p:spPr>
      </p:pic>
      <p:pic>
        <p:nvPicPr>
          <p:cNvPr id="14" name="Independent complete source ingredient/food circular photo medallion with rough border: glutinous-rice. All captions are native."/>
          <p:cNvPicPr/>
          <p:nvPr/>
        </p:nvPicPr>
        <p:blipFill>
          <a:blip r:embed="rId12"/>
          <a:stretch>
            <a:fillRect/>
          </a:stretch>
        </p:blipFill>
        <p:spPr>
          <a:xfrm>
            <a:off x="8392250" y="4730351"/>
            <a:ext cx="1434357" cy="1319935"/>
          </a:xfrm>
          <a:prstGeom prst="rect">
            <a:avLst/>
          </a:prstGeom>
        </p:spPr>
      </p:pic>
      <p:pic>
        <p:nvPicPr>
          <p:cNvPr id="15" name="Independent complete source ingredient/food circular photo medallion with rough border: fermentation-jar. All captions are native."/>
          <p:cNvPicPr/>
          <p:nvPr/>
        </p:nvPicPr>
        <p:blipFill>
          <a:blip r:embed="rId13"/>
          <a:stretch>
            <a:fillRect/>
          </a:stretch>
        </p:blipFill>
        <p:spPr>
          <a:xfrm>
            <a:off x="9623840" y="4710273"/>
            <a:ext cx="1419949" cy="1341588"/>
          </a:xfrm>
          <a:prstGeom prst="rect">
            <a:avLst/>
          </a:prstGeom>
        </p:spPr>
      </p:pic>
      <p:pic>
        <p:nvPicPr>
          <p:cNvPr id="16" name="Independent complete source ingredient/food circular photo medallion with rough border: sweet-warm-laozao. All captions are native."/>
          <p:cNvPicPr/>
          <p:nvPr/>
        </p:nvPicPr>
        <p:blipFill>
          <a:blip r:embed="rId14"/>
          <a:stretch>
            <a:fillRect/>
          </a:stretch>
        </p:blipFill>
        <p:spPr>
          <a:xfrm>
            <a:off x="10847407" y="4710571"/>
            <a:ext cx="1436150" cy="1333404"/>
          </a:xfrm>
          <a:prstGeom prst="rect">
            <a:avLst/>
          </a:prstGeom>
        </p:spPr>
      </p:pic>
      <p:pic>
        <p:nvPicPr>
          <p:cNvPr id="17" name="Independent source-faithful blank decorative asset: label-paper-left. Ordinary characters removed; no text strokes duplicated."/>
          <p:cNvPicPr/>
          <p:nvPr/>
        </p:nvPicPr>
        <p:blipFill>
          <a:blip r:embed="rId15"/>
          <a:stretch>
            <a:fillRect/>
          </a:stretch>
        </p:blipFill>
        <p:spPr>
          <a:xfrm>
            <a:off x="165339" y="2216723"/>
            <a:ext cx="878021" cy="1805068"/>
          </a:xfrm>
          <a:prstGeom prst="rect">
            <a:avLst/>
          </a:prstGeom>
        </p:spPr>
      </p:pic>
      <p:pic>
        <p:nvPicPr>
          <p:cNvPr id="18" name="Independent source-faithful blank decorative asset: label-paper-center. Ordinary characters removed; no text strokes duplicated."/>
          <p:cNvPicPr/>
          <p:nvPr/>
        </p:nvPicPr>
        <p:blipFill>
          <a:blip r:embed="rId16"/>
          <a:stretch>
            <a:fillRect/>
          </a:stretch>
        </p:blipFill>
        <p:spPr>
          <a:xfrm>
            <a:off x="4425571" y="2247063"/>
            <a:ext cx="760604" cy="1833491"/>
          </a:xfrm>
          <a:prstGeom prst="rect">
            <a:avLst/>
          </a:prstGeom>
        </p:spPr>
      </p:pic>
      <p:pic>
        <p:nvPicPr>
          <p:cNvPr id="19" name="Independent source-faithful blank decorative asset: label-paper-right. Ordinary characters removed; no text strokes duplicated."/>
          <p:cNvPicPr/>
          <p:nvPr/>
        </p:nvPicPr>
        <p:blipFill>
          <a:blip r:embed="rId17"/>
          <a:stretch>
            <a:fillRect/>
          </a:stretch>
        </p:blipFill>
        <p:spPr>
          <a:xfrm>
            <a:off x="8537828" y="2223683"/>
            <a:ext cx="800666" cy="1667259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65102" y="218640"/>
            <a:ext cx="1304550" cy="139929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9030">
                <a:solidFill>
                  <a:srgbClr val="351204"/>
                </a:solidFill>
                <a:latin typeface="Ma Shan Zheng"/>
                <a:ea typeface="Ma Shan Zheng"/>
                <a:cs typeface="Ma Shan Zheng"/>
              </a:rPr>
              <a:t>舌</a:t>
            </a:r>
            <a:endParaRPr lang="zh-CN" sz="9030"/>
          </a:p>
        </p:txBody>
      </p:sp>
      <p:sp>
        <p:nvSpPr>
          <p:cNvPr id="21" name="TextBox 21"/>
          <p:cNvSpPr txBox="1"/>
          <p:nvPr/>
        </p:nvSpPr>
        <p:spPr>
          <a:xfrm>
            <a:off x="2131180" y="247792"/>
            <a:ext cx="1304550" cy="139929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9030">
                <a:solidFill>
                  <a:srgbClr val="351204"/>
                </a:solidFill>
                <a:latin typeface="Ma Shan Zheng"/>
                <a:ea typeface="Ma Shan Zheng"/>
                <a:cs typeface="Ma Shan Zheng"/>
              </a:rPr>
              <a:t>尖</a:t>
            </a:r>
            <a:endParaRPr lang="zh-CN" sz="9030"/>
          </a:p>
        </p:txBody>
      </p:sp>
      <p:sp>
        <p:nvSpPr>
          <p:cNvPr id="22" name="TextBox 22"/>
          <p:cNvSpPr txBox="1"/>
          <p:nvPr/>
        </p:nvSpPr>
        <p:spPr>
          <a:xfrm>
            <a:off x="3340987" y="393552"/>
            <a:ext cx="794391" cy="94743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6110">
                <a:solidFill>
                  <a:srgbClr val="351204"/>
                </a:solidFill>
                <a:latin typeface="Ma Shan Zheng"/>
                <a:ea typeface="Ma Shan Zheng"/>
                <a:cs typeface="Ma Shan Zheng"/>
              </a:rPr>
              <a:t>上</a:t>
            </a:r>
            <a:endParaRPr lang="zh-CN" sz="6110"/>
          </a:p>
        </p:txBody>
      </p:sp>
      <p:sp>
        <p:nvSpPr>
          <p:cNvPr id="23" name="TextBox 23"/>
          <p:cNvSpPr txBox="1"/>
          <p:nvPr/>
        </p:nvSpPr>
        <p:spPr>
          <a:xfrm>
            <a:off x="4004194" y="393552"/>
            <a:ext cx="794391" cy="94743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6110">
                <a:solidFill>
                  <a:srgbClr val="351204"/>
                </a:solidFill>
                <a:latin typeface="Ma Shan Zheng"/>
                <a:ea typeface="Ma Shan Zheng"/>
                <a:cs typeface="Ma Shan Zheng"/>
              </a:rPr>
              <a:t>的</a:t>
            </a:r>
            <a:endParaRPr lang="zh-CN" sz="6110"/>
          </a:p>
        </p:txBody>
      </p:sp>
      <p:sp>
        <p:nvSpPr>
          <p:cNvPr id="24" name="TextBox 24"/>
          <p:cNvSpPr txBox="1"/>
          <p:nvPr/>
        </p:nvSpPr>
        <p:spPr>
          <a:xfrm>
            <a:off x="4667401" y="14576"/>
            <a:ext cx="1406582" cy="154505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9970">
                <a:solidFill>
                  <a:srgbClr val="A32006"/>
                </a:solidFill>
                <a:latin typeface="Ma Shan Zheng"/>
                <a:ea typeface="Ma Shan Zheng"/>
                <a:cs typeface="Ma Shan Zheng"/>
              </a:rPr>
              <a:t>灵</a:t>
            </a:r>
            <a:endParaRPr lang="zh-CN" sz="9970"/>
          </a:p>
        </p:txBody>
      </p:sp>
      <p:sp>
        <p:nvSpPr>
          <p:cNvPr id="25" name="TextBox 25"/>
          <p:cNvSpPr txBox="1"/>
          <p:nvPr/>
        </p:nvSpPr>
        <p:spPr>
          <a:xfrm>
            <a:off x="5775176" y="58304"/>
            <a:ext cx="1406582" cy="154505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9970">
                <a:solidFill>
                  <a:srgbClr val="A32006"/>
                </a:solidFill>
                <a:latin typeface="Ma Shan Zheng"/>
                <a:ea typeface="Ma Shan Zheng"/>
                <a:cs typeface="Ma Shan Zheng"/>
              </a:rPr>
              <a:t>宝</a:t>
            </a:r>
            <a:endParaRPr lang="zh-CN" sz="9970"/>
          </a:p>
        </p:txBody>
      </p:sp>
      <p:sp>
        <p:nvSpPr>
          <p:cNvPr id="26" name="TextBox 26"/>
          <p:cNvSpPr txBox="1"/>
          <p:nvPr/>
        </p:nvSpPr>
        <p:spPr>
          <a:xfrm>
            <a:off x="7458702" y="998455"/>
            <a:ext cx="225927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>
                <a:solidFill>
                  <a:srgbClr val="FFF9E8"/>
                </a:solidFill>
                <a:latin typeface="Ma Shan Zheng"/>
                <a:ea typeface="Ma Shan Zheng"/>
                <a:cs typeface="Ma Shan Zheng"/>
              </a:rPr>
              <a:t>这些 </a:t>
            </a:r>
            <a:r>
              <a:rPr lang="zh-CN" sz="2550">
                <a:solidFill>
                  <a:srgbClr val="FFF9E8"/>
                </a:solidFill>
                <a:latin typeface="Noto Serif CJK SC"/>
                <a:ea typeface="Noto Serif CJK SC"/>
                <a:cs typeface="Noto Serif CJK SC"/>
              </a:rPr>
              <a:t>“</a:t>
            </a:r>
            <a:r>
              <a:rPr lang="zh-CN" sz="2550">
                <a:solidFill>
                  <a:srgbClr val="FFF9E8"/>
                </a:solidFill>
                <a:latin typeface="Ma Shan Zheng"/>
                <a:ea typeface="Ma Shan Zheng"/>
                <a:cs typeface="Ma Shan Zheng"/>
              </a:rPr>
              <a:t>土味</a:t>
            </a:r>
            <a:r>
              <a:rPr lang="zh-CN" sz="2550">
                <a:solidFill>
                  <a:srgbClr val="FFF9E8"/>
                </a:solidFill>
                <a:latin typeface="Noto Serif CJK SC"/>
                <a:ea typeface="Noto Serif CJK SC"/>
                <a:cs typeface="Noto Serif CJK SC"/>
              </a:rPr>
              <a:t>”</a:t>
            </a:r>
            <a:endParaRPr lang="zh-CN" sz="2550"/>
          </a:p>
        </p:txBody>
      </p:sp>
      <p:sp>
        <p:nvSpPr>
          <p:cNvPr id="27" name="TextBox 27"/>
          <p:cNvSpPr txBox="1"/>
          <p:nvPr/>
        </p:nvSpPr>
        <p:spPr>
          <a:xfrm>
            <a:off x="7575310" y="1377430"/>
            <a:ext cx="2397749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550">
                <a:solidFill>
                  <a:srgbClr val="FFF9E8"/>
                </a:solidFill>
                <a:latin typeface="Ma Shan Zheng"/>
                <a:ea typeface="Ma Shan Zheng"/>
                <a:cs typeface="Ma Shan Zheng"/>
              </a:rPr>
              <a:t>藏着家乡的味道</a:t>
            </a:r>
            <a:endParaRPr lang="zh-CN" sz="2550"/>
          </a:p>
        </p:txBody>
      </p:sp>
      <p:sp>
        <p:nvSpPr>
          <p:cNvPr id="28" name="TextBox 28"/>
          <p:cNvSpPr txBox="1"/>
          <p:nvPr/>
        </p:nvSpPr>
        <p:spPr>
          <a:xfrm>
            <a:off x="352910" y="2521645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浆</a:t>
            </a:r>
            <a:endParaRPr lang="zh-CN" sz="2800"/>
          </a:p>
        </p:txBody>
      </p:sp>
      <p:sp>
        <p:nvSpPr>
          <p:cNvPr id="29" name="TextBox 29"/>
          <p:cNvSpPr txBox="1"/>
          <p:nvPr/>
        </p:nvSpPr>
        <p:spPr>
          <a:xfrm>
            <a:off x="352910" y="2937061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面</a:t>
            </a:r>
            <a:endParaRPr lang="zh-CN" sz="2800"/>
          </a:p>
        </p:txBody>
      </p:sp>
      <p:sp>
        <p:nvSpPr>
          <p:cNvPr id="30" name="TextBox 30"/>
          <p:cNvSpPr txBox="1"/>
          <p:nvPr/>
        </p:nvSpPr>
        <p:spPr>
          <a:xfrm>
            <a:off x="352910" y="3352476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条</a:t>
            </a:r>
            <a:endParaRPr lang="zh-CN" sz="2800"/>
          </a:p>
        </p:txBody>
      </p:sp>
      <p:sp>
        <p:nvSpPr>
          <p:cNvPr id="31" name="TextBox 31"/>
          <p:cNvSpPr txBox="1"/>
          <p:nvPr/>
        </p:nvSpPr>
        <p:spPr>
          <a:xfrm>
            <a:off x="4565369" y="2456053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一</a:t>
            </a:r>
            <a:endParaRPr lang="zh-CN" sz="2800"/>
          </a:p>
        </p:txBody>
      </p:sp>
      <p:sp>
        <p:nvSpPr>
          <p:cNvPr id="32" name="TextBox 32"/>
          <p:cNvSpPr txBox="1"/>
          <p:nvPr/>
        </p:nvSpPr>
        <p:spPr>
          <a:xfrm>
            <a:off x="4565369" y="2791301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生</a:t>
            </a:r>
            <a:endParaRPr lang="zh-CN" sz="2800"/>
          </a:p>
        </p:txBody>
      </p:sp>
      <p:sp>
        <p:nvSpPr>
          <p:cNvPr id="33" name="TextBox 33"/>
          <p:cNvSpPr txBox="1"/>
          <p:nvPr/>
        </p:nvSpPr>
        <p:spPr>
          <a:xfrm>
            <a:off x="4565369" y="3133836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凉</a:t>
            </a:r>
            <a:endParaRPr lang="zh-CN" sz="2800"/>
          </a:p>
        </p:txBody>
      </p:sp>
      <p:sp>
        <p:nvSpPr>
          <p:cNvPr id="34" name="TextBox 34"/>
          <p:cNvSpPr txBox="1"/>
          <p:nvPr/>
        </p:nvSpPr>
        <p:spPr>
          <a:xfrm>
            <a:off x="4565369" y="3476372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粉</a:t>
            </a:r>
            <a:endParaRPr lang="zh-CN" sz="2800"/>
          </a:p>
        </p:txBody>
      </p:sp>
      <p:sp>
        <p:nvSpPr>
          <p:cNvPr id="35" name="TextBox 35"/>
          <p:cNvSpPr txBox="1"/>
          <p:nvPr/>
        </p:nvSpPr>
        <p:spPr>
          <a:xfrm>
            <a:off x="8675797" y="2601813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醪</a:t>
            </a:r>
            <a:endParaRPr lang="zh-CN" sz="2800"/>
          </a:p>
        </p:txBody>
      </p:sp>
      <p:sp>
        <p:nvSpPr>
          <p:cNvPr id="36" name="TextBox 36"/>
          <p:cNvSpPr txBox="1"/>
          <p:nvPr/>
        </p:nvSpPr>
        <p:spPr>
          <a:xfrm>
            <a:off x="8675797" y="3119260"/>
            <a:ext cx="502871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00">
                <a:solidFill>
                  <a:srgbClr val="231005"/>
                </a:solidFill>
                <a:latin typeface="Ma Shan Zheng"/>
                <a:ea typeface="Ma Shan Zheng"/>
                <a:cs typeface="Ma Shan Zheng"/>
              </a:rPr>
              <a:t>糟</a:t>
            </a:r>
            <a:endParaRPr lang="zh-CN" sz="2800"/>
          </a:p>
        </p:txBody>
      </p:sp>
      <p:sp>
        <p:nvSpPr>
          <p:cNvPr id="37" name="TextBox 37"/>
          <p:cNvSpPr txBox="1"/>
          <p:nvPr/>
        </p:nvSpPr>
        <p:spPr>
          <a:xfrm>
            <a:off x="323758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发酵浆水</a:t>
            </a:r>
            <a:endParaRPr lang="zh-CN" sz="1650"/>
          </a:p>
        </p:txBody>
      </p:sp>
      <p:sp>
        <p:nvSpPr>
          <p:cNvPr id="38" name="TextBox 38"/>
          <p:cNvSpPr txBox="1"/>
          <p:nvPr/>
        </p:nvSpPr>
        <p:spPr>
          <a:xfrm>
            <a:off x="1562717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手工面条</a:t>
            </a:r>
            <a:endParaRPr lang="zh-CN" sz="1650"/>
          </a:p>
        </p:txBody>
      </p:sp>
      <p:sp>
        <p:nvSpPr>
          <p:cNvPr id="39" name="TextBox 39"/>
          <p:cNvSpPr txBox="1"/>
          <p:nvPr/>
        </p:nvSpPr>
        <p:spPr>
          <a:xfrm>
            <a:off x="2801675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酸香浓郁</a:t>
            </a:r>
            <a:endParaRPr lang="zh-CN" sz="1650"/>
          </a:p>
        </p:txBody>
      </p:sp>
      <p:sp>
        <p:nvSpPr>
          <p:cNvPr id="40" name="TextBox 40"/>
          <p:cNvSpPr txBox="1"/>
          <p:nvPr/>
        </p:nvSpPr>
        <p:spPr>
          <a:xfrm>
            <a:off x="4456050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精选原料</a:t>
            </a:r>
            <a:endParaRPr lang="zh-CN" sz="1650"/>
          </a:p>
        </p:txBody>
      </p:sp>
      <p:sp>
        <p:nvSpPr>
          <p:cNvPr id="41" name="TextBox 41"/>
          <p:cNvSpPr txBox="1"/>
          <p:nvPr/>
        </p:nvSpPr>
        <p:spPr>
          <a:xfrm>
            <a:off x="5702296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提纯凝固</a:t>
            </a:r>
            <a:endParaRPr lang="zh-CN" sz="1650"/>
          </a:p>
        </p:txBody>
      </p:sp>
      <p:sp>
        <p:nvSpPr>
          <p:cNvPr id="42" name="TextBox 42"/>
          <p:cNvSpPr txBox="1"/>
          <p:nvPr/>
        </p:nvSpPr>
        <p:spPr>
          <a:xfrm>
            <a:off x="6926679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清凉爽滑</a:t>
            </a:r>
            <a:endParaRPr lang="zh-CN" sz="1650"/>
          </a:p>
        </p:txBody>
      </p:sp>
      <p:sp>
        <p:nvSpPr>
          <p:cNvPr id="43" name="TextBox 43"/>
          <p:cNvSpPr txBox="1"/>
          <p:nvPr/>
        </p:nvSpPr>
        <p:spPr>
          <a:xfrm>
            <a:off x="8610205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优质糯米</a:t>
            </a:r>
            <a:endParaRPr lang="zh-CN" sz="1650"/>
          </a:p>
        </p:txBody>
      </p:sp>
      <p:sp>
        <p:nvSpPr>
          <p:cNvPr id="44" name="TextBox 44"/>
          <p:cNvSpPr txBox="1"/>
          <p:nvPr/>
        </p:nvSpPr>
        <p:spPr>
          <a:xfrm>
            <a:off x="9849163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自然发酵</a:t>
            </a:r>
            <a:endParaRPr lang="zh-CN" sz="1650"/>
          </a:p>
        </p:txBody>
      </p:sp>
      <p:sp>
        <p:nvSpPr>
          <p:cNvPr id="45" name="TextBox 45"/>
          <p:cNvSpPr txBox="1"/>
          <p:nvPr/>
        </p:nvSpPr>
        <p:spPr>
          <a:xfrm>
            <a:off x="11073546" y="5947001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41306"/>
                </a:solidFill>
                <a:latin typeface="Ma Shan Zheng"/>
                <a:ea typeface="Ma Shan Zheng"/>
                <a:cs typeface="Ma Shan Zheng"/>
              </a:rPr>
              <a:t>香甜温暖</a:t>
            </a:r>
            <a:endParaRPr lang="zh-CN" sz="1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2932859" y="4868378"/>
            <a:ext cx="378976" cy="0"/>
          </a:xfrm>
          <a:prstGeom prst="line">
            <a:avLst/>
          </a:prstGeom>
          <a:noFill/>
          <a:ln w="104139">
            <a:solidFill>
              <a:srgbClr val="9D170A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5928224" y="4868378"/>
            <a:ext cx="378976" cy="0"/>
          </a:xfrm>
          <a:prstGeom prst="line">
            <a:avLst/>
          </a:prstGeom>
          <a:noFill/>
          <a:ln w="104139">
            <a:solidFill>
              <a:srgbClr val="9D170A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916300" y="4868378"/>
            <a:ext cx="371688" cy="0"/>
          </a:xfrm>
          <a:prstGeom prst="line">
            <a:avLst/>
          </a:prstGeom>
          <a:noFill/>
          <a:ln w="104139">
            <a:solidFill>
              <a:srgbClr val="9D170A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pic>
        <p:nvPicPr>
          <p:cNvPr id="6" name="process1"/>
          <p:cNvPicPr/>
          <p:nvPr/>
        </p:nvPicPr>
        <p:blipFill>
          <a:blip r:embed="rId10"/>
          <a:stretch>
            <a:fillRect/>
          </a:stretch>
        </p:blipFill>
        <p:spPr>
          <a:xfrm>
            <a:off x="193815" y="3885832"/>
            <a:ext cx="2691362" cy="1911820"/>
          </a:xfrm>
          <a:prstGeom prst="rect">
            <a:avLst/>
          </a:prstGeom>
        </p:spPr>
      </p:pic>
      <p:pic>
        <p:nvPicPr>
          <p:cNvPr id="7" name="process2"/>
          <p:cNvPicPr/>
          <p:nvPr/>
        </p:nvPicPr>
        <p:blipFill>
          <a:blip r:embed="rId11"/>
          <a:stretch>
            <a:fillRect/>
          </a:stretch>
        </p:blipFill>
        <p:spPr>
          <a:xfrm>
            <a:off x="3264354" y="3906525"/>
            <a:ext cx="2672151" cy="1889371"/>
          </a:xfrm>
          <a:prstGeom prst="rect">
            <a:avLst/>
          </a:prstGeom>
        </p:spPr>
      </p:pic>
      <p:pic>
        <p:nvPicPr>
          <p:cNvPr id="8" name="process3"/>
          <p:cNvPicPr/>
          <p:nvPr/>
        </p:nvPicPr>
        <p:blipFill>
          <a:blip r:embed="rId12"/>
          <a:stretch>
            <a:fillRect/>
          </a:stretch>
        </p:blipFill>
        <p:spPr>
          <a:xfrm>
            <a:off x="6253332" y="3893528"/>
            <a:ext cx="2643798" cy="1903471"/>
          </a:xfrm>
          <a:prstGeom prst="rect">
            <a:avLst/>
          </a:prstGeom>
        </p:spPr>
      </p:pic>
      <p:pic>
        <p:nvPicPr>
          <p:cNvPr id="9" name="process4"/>
          <p:cNvPicPr/>
          <p:nvPr/>
        </p:nvPicPr>
        <p:blipFill>
          <a:blip r:embed="rId13"/>
          <a:stretch>
            <a:fillRect/>
          </a:stretch>
        </p:blipFill>
        <p:spPr>
          <a:xfrm>
            <a:off x="9246005" y="3901224"/>
            <a:ext cx="2808965" cy="1895123"/>
          </a:xfrm>
          <a:prstGeom prst="rect">
            <a:avLst/>
          </a:prstGeom>
        </p:spPr>
      </p:pic>
      <p:pic>
        <p:nvPicPr>
          <p:cNvPr id="10" name="probe-brush"/>
          <p:cNvPicPr/>
          <p:nvPr/>
        </p:nvPicPr>
        <p:blipFill>
          <a:blip r:embed="rId3"/>
          <a:stretch>
            <a:fillRect/>
          </a:stretch>
        </p:blipFill>
        <p:spPr>
          <a:xfrm>
            <a:off x="433078" y="335248"/>
            <a:ext cx="3053668" cy="991167"/>
          </a:xfrm>
          <a:prstGeom prst="rect">
            <a:avLst/>
          </a:prstGeom>
        </p:spPr>
      </p:pic>
      <p:pic>
        <p:nvPicPr>
          <p:cNvPr id="11" name="subtitle-brush"/>
          <p:cNvPicPr/>
          <p:nvPr/>
        </p:nvPicPr>
        <p:blipFill>
          <a:blip r:embed="rId4"/>
          <a:stretch>
            <a:fillRect/>
          </a:stretch>
        </p:blipFill>
        <p:spPr>
          <a:xfrm>
            <a:off x="542398" y="2077078"/>
            <a:ext cx="6639360" cy="969303"/>
          </a:xfrm>
          <a:prstGeom prst="rect">
            <a:avLst/>
          </a:prstGeom>
        </p:spPr>
      </p:pic>
      <p:pic>
        <p:nvPicPr>
          <p:cNvPr id="12" name="step1-brush"/>
          <p:cNvPicPr/>
          <p:nvPr/>
        </p:nvPicPr>
        <p:blipFill>
          <a:blip r:embed="rId6"/>
          <a:stretch>
            <a:fillRect/>
          </a:stretch>
        </p:blipFill>
        <p:spPr>
          <a:xfrm>
            <a:off x="520534" y="5487858"/>
            <a:ext cx="2120806" cy="685071"/>
          </a:xfrm>
          <a:prstGeom prst="rect">
            <a:avLst/>
          </a:prstGeom>
        </p:spPr>
      </p:pic>
      <p:pic>
        <p:nvPicPr>
          <p:cNvPr id="13" name="step2-brush"/>
          <p:cNvPicPr/>
          <p:nvPr/>
        </p:nvPicPr>
        <p:blipFill>
          <a:blip r:embed="rId7"/>
          <a:stretch>
            <a:fillRect/>
          </a:stretch>
        </p:blipFill>
        <p:spPr>
          <a:xfrm>
            <a:off x="3545051" y="5487858"/>
            <a:ext cx="2113518" cy="685071"/>
          </a:xfrm>
          <a:prstGeom prst="rect">
            <a:avLst/>
          </a:prstGeom>
        </p:spPr>
      </p:pic>
      <p:pic>
        <p:nvPicPr>
          <p:cNvPr id="14" name="step3-brush"/>
          <p:cNvPicPr/>
          <p:nvPr/>
        </p:nvPicPr>
        <p:blipFill>
          <a:blip r:embed="rId8"/>
          <a:stretch>
            <a:fillRect/>
          </a:stretch>
        </p:blipFill>
        <p:spPr>
          <a:xfrm>
            <a:off x="6540415" y="5480570"/>
            <a:ext cx="2098942" cy="692359"/>
          </a:xfrm>
          <a:prstGeom prst="rect">
            <a:avLst/>
          </a:prstGeom>
        </p:spPr>
      </p:pic>
      <p:pic>
        <p:nvPicPr>
          <p:cNvPr id="15" name="step4-brush"/>
          <p:cNvPicPr/>
          <p:nvPr/>
        </p:nvPicPr>
        <p:blipFill>
          <a:blip r:embed="rId9"/>
          <a:stretch>
            <a:fillRect/>
          </a:stretch>
        </p:blipFill>
        <p:spPr>
          <a:xfrm>
            <a:off x="9579508" y="5480570"/>
            <a:ext cx="2091654" cy="692359"/>
          </a:xfrm>
          <a:prstGeom prst="rect">
            <a:avLst/>
          </a:prstGeom>
        </p:spPr>
      </p:pic>
      <p:pic>
        <p:nvPicPr>
          <p:cNvPr id="16" name="hero-arrangement"/>
          <p:cNvPicPr/>
          <p:nvPr/>
        </p:nvPicPr>
        <p:blipFill>
          <a:blip r:embed="rId5"/>
          <a:stretch>
            <a:fillRect/>
          </a:stretch>
        </p:blipFill>
        <p:spPr>
          <a:xfrm>
            <a:off x="5425352" y="677783"/>
            <a:ext cx="6909016" cy="3498236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49333" y="583039"/>
            <a:ext cx="13628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3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探秘一</a:t>
            </a:r>
            <a:endParaRPr lang="zh-CN" sz="3350"/>
          </a:p>
        </p:txBody>
      </p:sp>
      <p:sp>
        <p:nvSpPr>
          <p:cNvPr id="18" name="TextBox 18"/>
          <p:cNvSpPr txBox="1"/>
          <p:nvPr/>
        </p:nvSpPr>
        <p:spPr>
          <a:xfrm>
            <a:off x="826630" y="1093199"/>
            <a:ext cx="1151503" cy="12170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859">
                <a:solidFill>
                  <a:srgbClr val="980C05"/>
                </a:solidFill>
                <a:latin typeface="Ma Shan Zheng"/>
                <a:ea typeface="Ma Shan Zheng"/>
                <a:cs typeface="Ma Shan Zheng"/>
              </a:rPr>
              <a:t>浆</a:t>
            </a:r>
            <a:endParaRPr lang="zh-CN" sz="7859"/>
          </a:p>
        </p:txBody>
      </p:sp>
      <p:sp>
        <p:nvSpPr>
          <p:cNvPr id="19" name="TextBox 19"/>
          <p:cNvSpPr txBox="1"/>
          <p:nvPr/>
        </p:nvSpPr>
        <p:spPr>
          <a:xfrm>
            <a:off x="1817797" y="1136927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面</a:t>
            </a:r>
            <a:endParaRPr lang="zh-CN" sz="7100"/>
          </a:p>
        </p:txBody>
      </p:sp>
      <p:sp>
        <p:nvSpPr>
          <p:cNvPr id="20" name="TextBox 20"/>
          <p:cNvSpPr txBox="1"/>
          <p:nvPr/>
        </p:nvSpPr>
        <p:spPr>
          <a:xfrm>
            <a:off x="2604900" y="1064047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条</a:t>
            </a:r>
            <a:endParaRPr lang="zh-CN" sz="7100"/>
          </a:p>
        </p:txBody>
      </p:sp>
      <p:sp>
        <p:nvSpPr>
          <p:cNvPr id="21" name="TextBox 21"/>
          <p:cNvSpPr txBox="1"/>
          <p:nvPr/>
        </p:nvSpPr>
        <p:spPr>
          <a:xfrm>
            <a:off x="3362851" y="1202519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的</a:t>
            </a:r>
            <a:endParaRPr lang="zh-CN" sz="7100"/>
          </a:p>
        </p:txBody>
      </p:sp>
      <p:sp>
        <p:nvSpPr>
          <p:cNvPr id="22" name="TextBox 22"/>
          <p:cNvSpPr txBox="1"/>
          <p:nvPr/>
        </p:nvSpPr>
        <p:spPr>
          <a:xfrm>
            <a:off x="4004194" y="1056759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发</a:t>
            </a:r>
            <a:endParaRPr lang="zh-CN" sz="7100"/>
          </a:p>
        </p:txBody>
      </p:sp>
      <p:sp>
        <p:nvSpPr>
          <p:cNvPr id="23" name="TextBox 23"/>
          <p:cNvSpPr txBox="1"/>
          <p:nvPr/>
        </p:nvSpPr>
        <p:spPr>
          <a:xfrm>
            <a:off x="4813161" y="1056759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酵</a:t>
            </a:r>
            <a:endParaRPr lang="zh-CN" sz="7100"/>
          </a:p>
        </p:txBody>
      </p:sp>
      <p:sp>
        <p:nvSpPr>
          <p:cNvPr id="24" name="TextBox 24"/>
          <p:cNvSpPr txBox="1"/>
          <p:nvPr/>
        </p:nvSpPr>
        <p:spPr>
          <a:xfrm>
            <a:off x="5651280" y="1180655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3B1608"/>
                </a:solidFill>
                <a:latin typeface="Ma Shan Zheng"/>
                <a:ea typeface="Ma Shan Zheng"/>
                <a:cs typeface="Ma Shan Zheng"/>
              </a:rPr>
              <a:t>工</a:t>
            </a:r>
            <a:endParaRPr lang="zh-CN" sz="7100"/>
          </a:p>
        </p:txBody>
      </p:sp>
      <p:sp>
        <p:nvSpPr>
          <p:cNvPr id="25" name="TextBox 25"/>
          <p:cNvSpPr txBox="1"/>
          <p:nvPr/>
        </p:nvSpPr>
        <p:spPr>
          <a:xfrm>
            <a:off x="6314487" y="1049471"/>
            <a:ext cx="1005743" cy="11004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100">
                <a:solidFill>
                  <a:srgbClr val="980C05"/>
                </a:solidFill>
                <a:latin typeface="Ma Shan Zheng"/>
                <a:ea typeface="Ma Shan Zheng"/>
                <a:cs typeface="Ma Shan Zheng"/>
              </a:rPr>
              <a:t>艺</a:t>
            </a:r>
            <a:endParaRPr lang="zh-CN" sz="7100"/>
          </a:p>
        </p:txBody>
      </p:sp>
      <p:sp>
        <p:nvSpPr>
          <p:cNvPr id="26" name="TextBox 26"/>
          <p:cNvSpPr txBox="1"/>
          <p:nvPr/>
        </p:nvSpPr>
        <p:spPr>
          <a:xfrm>
            <a:off x="1285773" y="2361309"/>
            <a:ext cx="5130746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一碗酸香的浆面条，藏着千年的生活智慧</a:t>
            </a:r>
            <a:endParaRPr lang="zh-CN" sz="2200"/>
          </a:p>
        </p:txBody>
      </p:sp>
      <p:sp>
        <p:nvSpPr>
          <p:cNvPr id="27" name="TextBox 27"/>
          <p:cNvSpPr txBox="1"/>
          <p:nvPr/>
        </p:nvSpPr>
        <p:spPr>
          <a:xfrm>
            <a:off x="812054" y="5691921"/>
            <a:ext cx="157420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发酵浆水</a:t>
            </a:r>
            <a:endParaRPr lang="zh-CN" sz="1950"/>
          </a:p>
        </p:txBody>
      </p:sp>
      <p:sp>
        <p:nvSpPr>
          <p:cNvPr id="28" name="TextBox 28"/>
          <p:cNvSpPr txBox="1"/>
          <p:nvPr/>
        </p:nvSpPr>
        <p:spPr>
          <a:xfrm>
            <a:off x="403926" y="6092761"/>
            <a:ext cx="2390461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E1309"/>
                </a:solidFill>
                <a:latin typeface="Ma Shan Zheng"/>
                <a:ea typeface="Ma Shan Zheng"/>
                <a:cs typeface="Ma Shan Zheng"/>
              </a:rPr>
              <a:t>天然发酵 酸香独特</a:t>
            </a:r>
            <a:endParaRPr lang="zh-CN" sz="1650"/>
          </a:p>
        </p:txBody>
      </p:sp>
      <p:sp>
        <p:nvSpPr>
          <p:cNvPr id="29" name="TextBox 29"/>
          <p:cNvSpPr txBox="1"/>
          <p:nvPr/>
        </p:nvSpPr>
        <p:spPr>
          <a:xfrm>
            <a:off x="3821994" y="5691921"/>
            <a:ext cx="157420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手工面条</a:t>
            </a:r>
            <a:endParaRPr lang="zh-CN" sz="1950"/>
          </a:p>
        </p:txBody>
      </p:sp>
      <p:sp>
        <p:nvSpPr>
          <p:cNvPr id="30" name="TextBox 30"/>
          <p:cNvSpPr txBox="1"/>
          <p:nvPr/>
        </p:nvSpPr>
        <p:spPr>
          <a:xfrm>
            <a:off x="3413867" y="6092761"/>
            <a:ext cx="2390461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E1309"/>
                </a:solidFill>
                <a:latin typeface="Ma Shan Zheng"/>
                <a:ea typeface="Ma Shan Zheng"/>
                <a:cs typeface="Ma Shan Zheng"/>
              </a:rPr>
              <a:t>筋道爽滑</a:t>
            </a:r>
            <a:endParaRPr lang="zh-CN" sz="1650"/>
          </a:p>
        </p:txBody>
      </p:sp>
      <p:sp>
        <p:nvSpPr>
          <p:cNvPr id="31" name="TextBox 31"/>
          <p:cNvSpPr txBox="1"/>
          <p:nvPr/>
        </p:nvSpPr>
        <p:spPr>
          <a:xfrm>
            <a:off x="6817359" y="5691921"/>
            <a:ext cx="157420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下锅煮制</a:t>
            </a:r>
            <a:endParaRPr lang="zh-CN" sz="1950"/>
          </a:p>
        </p:txBody>
      </p:sp>
      <p:sp>
        <p:nvSpPr>
          <p:cNvPr id="32" name="TextBox 32"/>
          <p:cNvSpPr txBox="1"/>
          <p:nvPr/>
        </p:nvSpPr>
        <p:spPr>
          <a:xfrm>
            <a:off x="6409231" y="6092761"/>
            <a:ext cx="2390461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E1309"/>
                </a:solidFill>
                <a:latin typeface="Ma Shan Zheng"/>
                <a:ea typeface="Ma Shan Zheng"/>
                <a:cs typeface="Ma Shan Zheng"/>
              </a:rPr>
              <a:t>浆水入锅 蔬菜同煮</a:t>
            </a:r>
            <a:endParaRPr lang="zh-CN" sz="1650"/>
          </a:p>
        </p:txBody>
      </p:sp>
      <p:sp>
        <p:nvSpPr>
          <p:cNvPr id="33" name="TextBox 33"/>
          <p:cNvSpPr txBox="1"/>
          <p:nvPr/>
        </p:nvSpPr>
        <p:spPr>
          <a:xfrm>
            <a:off x="9856451" y="5691921"/>
            <a:ext cx="1574206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酸香出锅</a:t>
            </a:r>
            <a:endParaRPr lang="zh-CN" sz="1950"/>
          </a:p>
        </p:txBody>
      </p:sp>
      <p:sp>
        <p:nvSpPr>
          <p:cNvPr id="34" name="TextBox 34"/>
          <p:cNvSpPr txBox="1"/>
          <p:nvPr/>
        </p:nvSpPr>
        <p:spPr>
          <a:xfrm>
            <a:off x="9448324" y="6092761"/>
            <a:ext cx="2390461" cy="37168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2E1309"/>
                </a:solidFill>
                <a:latin typeface="Ma Shan Zheng"/>
                <a:ea typeface="Ma Shan Zheng"/>
                <a:cs typeface="Ma Shan Zheng"/>
              </a:rPr>
              <a:t>一碗家乡味</a:t>
            </a:r>
            <a:endParaRPr lang="zh-CN" sz="16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me-source castle/valley/table/parchment clean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3115059" y="4022971"/>
            <a:ext cx="0" cy="2222837"/>
          </a:xfrm>
          <a:prstGeom prst="line">
            <a:avLst/>
          </a:prstGeom>
          <a:noFill/>
          <a:ln w="3175">
            <a:solidFill>
              <a:srgbClr val="AD7345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095848" y="4022971"/>
            <a:ext cx="0" cy="2222837"/>
          </a:xfrm>
          <a:prstGeom prst="line">
            <a:avLst/>
          </a:prstGeom>
          <a:noFill/>
          <a:ln w="3175">
            <a:solidFill>
              <a:srgbClr val="AD7345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9076636" y="4022971"/>
            <a:ext cx="0" cy="2222837"/>
          </a:xfrm>
          <a:prstGeom prst="line">
            <a:avLst/>
          </a:prstGeom>
          <a:noFill/>
          <a:ln w="3175">
            <a:solidFill>
              <a:srgbClr val="AD7345"/>
            </a:solidFill>
          </a:ln>
        </p:spPr>
        <p:txBody>
          <a:bodyPr/>
          <a:lstStyle/>
          <a:p/>
        </p:txBody>
      </p:sp>
      <p:pic>
        <p:nvPicPr>
          <p:cNvPr id="6" name="Original blank red paint decoration brush-top"/>
          <p:cNvPicPr/>
          <p:nvPr/>
        </p:nvPicPr>
        <p:blipFill>
          <a:blip r:embed="rId8"/>
          <a:stretch>
            <a:fillRect/>
          </a:stretch>
        </p:blipFill>
        <p:spPr>
          <a:xfrm>
            <a:off x="519334" y="402485"/>
            <a:ext cx="2910309" cy="907708"/>
          </a:xfrm>
          <a:prstGeom prst="rect">
            <a:avLst/>
          </a:prstGeom>
        </p:spPr>
      </p:pic>
      <p:pic>
        <p:nvPicPr>
          <p:cNvPr id="7" name="Original blank red paint decoration brush-subtitle"/>
          <p:cNvPicPr/>
          <p:nvPr/>
        </p:nvPicPr>
        <p:blipFill>
          <a:blip r:embed="rId9"/>
          <a:stretch>
            <a:fillRect/>
          </a:stretch>
        </p:blipFill>
        <p:spPr>
          <a:xfrm>
            <a:off x="981088" y="2150416"/>
            <a:ext cx="6439763" cy="866354"/>
          </a:xfrm>
          <a:prstGeom prst="rect">
            <a:avLst/>
          </a:prstGeom>
        </p:spPr>
      </p:pic>
      <p:pic>
        <p:nvPicPr>
          <p:cNvPr id="8" name="Original blank red paint decoration brush-step1"/>
          <p:cNvPicPr/>
          <p:nvPr/>
        </p:nvPicPr>
        <p:blipFill>
          <a:blip r:embed="rId10"/>
          <a:stretch>
            <a:fillRect/>
          </a:stretch>
        </p:blipFill>
        <p:spPr>
          <a:xfrm>
            <a:off x="564902" y="5615148"/>
            <a:ext cx="1995630" cy="561675"/>
          </a:xfrm>
          <a:prstGeom prst="rect">
            <a:avLst/>
          </a:prstGeom>
        </p:spPr>
      </p:pic>
      <p:pic>
        <p:nvPicPr>
          <p:cNvPr id="9" name="Original blank red paint decoration brush-step2"/>
          <p:cNvPicPr/>
          <p:nvPr/>
        </p:nvPicPr>
        <p:blipFill>
          <a:blip r:embed="rId11"/>
          <a:stretch>
            <a:fillRect/>
          </a:stretch>
        </p:blipFill>
        <p:spPr>
          <a:xfrm>
            <a:off x="3650054" y="5610583"/>
            <a:ext cx="1939950" cy="570804"/>
          </a:xfrm>
          <a:prstGeom prst="rect">
            <a:avLst/>
          </a:prstGeom>
        </p:spPr>
      </p:pic>
      <p:pic>
        <p:nvPicPr>
          <p:cNvPr id="10" name="Original blank red paint decoration brush-step3"/>
          <p:cNvPicPr/>
          <p:nvPr/>
        </p:nvPicPr>
        <p:blipFill>
          <a:blip r:embed="rId12"/>
          <a:stretch>
            <a:fillRect/>
          </a:stretch>
        </p:blipFill>
        <p:spPr>
          <a:xfrm>
            <a:off x="6662715" y="5613690"/>
            <a:ext cx="1898071" cy="564590"/>
          </a:xfrm>
          <a:prstGeom prst="rect">
            <a:avLst/>
          </a:prstGeom>
        </p:spPr>
      </p:pic>
      <p:pic>
        <p:nvPicPr>
          <p:cNvPr id="11" name="Original blank red paint decoration brush-step4"/>
          <p:cNvPicPr/>
          <p:nvPr/>
        </p:nvPicPr>
        <p:blipFill>
          <a:blip r:embed="rId13"/>
          <a:stretch>
            <a:fillRect/>
          </a:stretch>
        </p:blipFill>
        <p:spPr>
          <a:xfrm>
            <a:off x="9645532" y="5612170"/>
            <a:ext cx="1974180" cy="567630"/>
          </a:xfrm>
          <a:prstGeom prst="rect">
            <a:avLst/>
          </a:prstGeom>
        </p:spPr>
      </p:pic>
      <p:pic>
        <p:nvPicPr>
          <p:cNvPr id="12" name="Complete original liangfen hero plate"/>
          <p:cNvPicPr/>
          <p:nvPr/>
        </p:nvPicPr>
        <p:blipFill>
          <a:blip r:embed="rId3"/>
          <a:stretch>
            <a:fillRect/>
          </a:stretch>
        </p:blipFill>
        <p:spPr>
          <a:xfrm>
            <a:off x="6776502" y="1461912"/>
            <a:ext cx="5584147" cy="2519095"/>
          </a:xfrm>
          <a:prstGeom prst="rect">
            <a:avLst/>
          </a:prstGeom>
        </p:spPr>
      </p:pic>
      <p:pic>
        <p:nvPicPr>
          <p:cNvPr id="13" name="Raw white starch in wooden bowl and scoop"/>
          <p:cNvPicPr/>
          <p:nvPr/>
        </p:nvPicPr>
        <p:blipFill>
          <a:blip r:embed="rId4"/>
          <a:stretch>
            <a:fillRect/>
          </a:stretch>
        </p:blipFill>
        <p:spPr>
          <a:xfrm>
            <a:off x="250115" y="3896646"/>
            <a:ext cx="2698084" cy="1870584"/>
          </a:xfrm>
          <a:prstGeom prst="rect">
            <a:avLst/>
          </a:prstGeom>
        </p:spPr>
      </p:pic>
      <p:pic>
        <p:nvPicPr>
          <p:cNvPr id="14" name="Pouring starch milk into wooden basin"/>
          <p:cNvPicPr/>
          <p:nvPr/>
        </p:nvPicPr>
        <p:blipFill>
          <a:blip r:embed="rId5"/>
          <a:stretch>
            <a:fillRect/>
          </a:stretch>
        </p:blipFill>
        <p:spPr>
          <a:xfrm>
            <a:off x="3333973" y="3897345"/>
            <a:ext cx="2593976" cy="1869186"/>
          </a:xfrm>
          <a:prstGeom prst="rect">
            <a:avLst/>
          </a:prstGeom>
        </p:spPr>
      </p:pic>
      <p:pic>
        <p:nvPicPr>
          <p:cNvPr id="15" name="Set liangfen cut with knife on wooden board"/>
          <p:cNvPicPr/>
          <p:nvPr/>
        </p:nvPicPr>
        <p:blipFill>
          <a:blip r:embed="rId6"/>
          <a:stretch>
            <a:fillRect/>
          </a:stretch>
        </p:blipFill>
        <p:spPr>
          <a:xfrm>
            <a:off x="6339752" y="3902025"/>
            <a:ext cx="2580435" cy="1863817"/>
          </a:xfrm>
          <a:prstGeom prst="rect">
            <a:avLst/>
          </a:prstGeom>
        </p:spPr>
      </p:pic>
      <p:pic>
        <p:nvPicPr>
          <p:cNvPr id="16" name="Finished dressed liangfen plate"/>
          <p:cNvPicPr/>
          <p:nvPr/>
        </p:nvPicPr>
        <p:blipFill>
          <a:blip r:embed="rId7"/>
          <a:stretch>
            <a:fillRect/>
          </a:stretch>
        </p:blipFill>
        <p:spPr>
          <a:xfrm>
            <a:off x="9317269" y="3896174"/>
            <a:ext cx="2645284" cy="1871528"/>
          </a:xfrm>
          <a:prstGeom prst="rect">
            <a:avLst/>
          </a:prstGeom>
        </p:spPr>
      </p:pic>
      <p:sp>
        <p:nvSpPr>
          <p:cNvPr id="17" name="Line 17"/>
          <p:cNvSpPr/>
          <p:nvPr/>
        </p:nvSpPr>
        <p:spPr>
          <a:xfrm>
            <a:off x="2910995" y="4868378"/>
            <a:ext cx="415416" cy="0"/>
          </a:xfrm>
          <a:prstGeom prst="line">
            <a:avLst/>
          </a:prstGeom>
          <a:noFill/>
          <a:ln w="95250">
            <a:solidFill>
              <a:srgbClr val="A519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5891784" y="4868378"/>
            <a:ext cx="415416" cy="0"/>
          </a:xfrm>
          <a:prstGeom prst="line">
            <a:avLst/>
          </a:prstGeom>
          <a:noFill/>
          <a:ln w="95250">
            <a:solidFill>
              <a:srgbClr val="A519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879860" y="4868378"/>
            <a:ext cx="415416" cy="0"/>
          </a:xfrm>
          <a:prstGeom prst="line">
            <a:avLst/>
          </a:prstGeom>
          <a:noFill/>
          <a:ln w="95250">
            <a:solidFill>
              <a:srgbClr val="A5190A"/>
            </a:solidFill>
            <a:tailEnd type="triangle"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1242045" y="641343"/>
            <a:ext cx="1494038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9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探秘二</a:t>
            </a:r>
            <a:endParaRPr lang="zh-CN" sz="3290"/>
          </a:p>
        </p:txBody>
      </p:sp>
      <p:sp>
        <p:nvSpPr>
          <p:cNvPr id="21" name="TextBox 21"/>
          <p:cNvSpPr txBox="1"/>
          <p:nvPr/>
        </p:nvSpPr>
        <p:spPr>
          <a:xfrm>
            <a:off x="782902" y="1246247"/>
            <a:ext cx="1013031" cy="962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10">
                <a:solidFill>
                  <a:srgbClr val="561B06"/>
                </a:solidFill>
                <a:latin typeface="Ma Shan Zheng"/>
                <a:ea typeface="Ma Shan Zheng"/>
                <a:cs typeface="Ma Shan Zheng"/>
              </a:rPr>
              <a:t>一</a:t>
            </a:r>
            <a:endParaRPr lang="zh-CN" sz="6210"/>
          </a:p>
        </p:txBody>
      </p:sp>
      <p:sp>
        <p:nvSpPr>
          <p:cNvPr id="22" name="TextBox 22"/>
          <p:cNvSpPr txBox="1"/>
          <p:nvPr/>
        </p:nvSpPr>
        <p:spPr>
          <a:xfrm>
            <a:off x="1737629" y="1187943"/>
            <a:ext cx="2660117" cy="10640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870">
                <a:solidFill>
                  <a:srgbClr val="A51609"/>
                </a:solidFill>
                <a:latin typeface="Ma Shan Zheng"/>
                <a:ea typeface="Ma Shan Zheng"/>
                <a:cs typeface="Ma Shan Zheng"/>
              </a:rPr>
              <a:t>生凉粉</a:t>
            </a:r>
            <a:endParaRPr lang="zh-CN" sz="6870"/>
          </a:p>
        </p:txBody>
      </p:sp>
      <p:sp>
        <p:nvSpPr>
          <p:cNvPr id="23" name="TextBox 23"/>
          <p:cNvSpPr txBox="1"/>
          <p:nvPr/>
        </p:nvSpPr>
        <p:spPr>
          <a:xfrm>
            <a:off x="4339442" y="1486750"/>
            <a:ext cx="583039" cy="6049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900">
                <a:solidFill>
                  <a:srgbClr val="4D1C09"/>
                </a:solidFill>
                <a:latin typeface="Ma Shan Zheng"/>
                <a:ea typeface="Ma Shan Zheng"/>
                <a:cs typeface="Ma Shan Zheng"/>
              </a:rPr>
              <a:t>的</a:t>
            </a:r>
            <a:endParaRPr lang="zh-CN" sz="3900"/>
          </a:p>
        </p:txBody>
      </p:sp>
      <p:sp>
        <p:nvSpPr>
          <p:cNvPr id="24" name="TextBox 24"/>
          <p:cNvSpPr txBox="1"/>
          <p:nvPr/>
        </p:nvSpPr>
        <p:spPr>
          <a:xfrm>
            <a:off x="4864177" y="1246247"/>
            <a:ext cx="3192140" cy="9401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070">
                <a:solidFill>
                  <a:srgbClr val="4D1C09"/>
                </a:solidFill>
                <a:latin typeface="Ma Shan Zheng"/>
                <a:ea typeface="Ma Shan Zheng"/>
                <a:cs typeface="Ma Shan Zheng"/>
              </a:rPr>
              <a:t>提纯技巧</a:t>
            </a:r>
            <a:endParaRPr lang="zh-CN" sz="6070"/>
          </a:p>
        </p:txBody>
      </p:sp>
      <p:sp>
        <p:nvSpPr>
          <p:cNvPr id="25" name="TextBox 25"/>
          <p:cNvSpPr txBox="1"/>
          <p:nvPr/>
        </p:nvSpPr>
        <p:spPr>
          <a:xfrm>
            <a:off x="1518989" y="2375885"/>
            <a:ext cx="5130746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一碗清凉爽滑的凉粉，藏着代代相传的手艺</a:t>
            </a:r>
            <a:endParaRPr lang="zh-CN" sz="2050"/>
          </a:p>
        </p:txBody>
      </p:sp>
      <p:sp>
        <p:nvSpPr>
          <p:cNvPr id="26" name="TextBox 26"/>
          <p:cNvSpPr txBox="1"/>
          <p:nvPr/>
        </p:nvSpPr>
        <p:spPr>
          <a:xfrm>
            <a:off x="914086" y="5735649"/>
            <a:ext cx="135556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精选原料</a:t>
            </a:r>
            <a:endParaRPr lang="zh-CN" sz="1950"/>
          </a:p>
        </p:txBody>
      </p:sp>
      <p:sp>
        <p:nvSpPr>
          <p:cNvPr id="27" name="TextBox 27"/>
          <p:cNvSpPr txBox="1"/>
          <p:nvPr/>
        </p:nvSpPr>
        <p:spPr>
          <a:xfrm>
            <a:off x="491382" y="6114625"/>
            <a:ext cx="2200973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321805"/>
                </a:solidFill>
                <a:latin typeface="Ma Shan Zheng"/>
                <a:ea typeface="Ma Shan Zheng"/>
                <a:cs typeface="Ma Shan Zheng"/>
              </a:rPr>
              <a:t>优质淀粉 天然纯净</a:t>
            </a:r>
            <a:endParaRPr lang="zh-CN" sz="1650"/>
          </a:p>
        </p:txBody>
      </p:sp>
      <p:sp>
        <p:nvSpPr>
          <p:cNvPr id="28" name="TextBox 28"/>
          <p:cNvSpPr txBox="1"/>
          <p:nvPr/>
        </p:nvSpPr>
        <p:spPr>
          <a:xfrm>
            <a:off x="3953178" y="5735649"/>
            <a:ext cx="135556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提纯过滤</a:t>
            </a:r>
            <a:endParaRPr lang="zh-CN" sz="1950"/>
          </a:p>
        </p:txBody>
      </p:sp>
      <p:sp>
        <p:nvSpPr>
          <p:cNvPr id="29" name="TextBox 29"/>
          <p:cNvSpPr txBox="1"/>
          <p:nvPr/>
        </p:nvSpPr>
        <p:spPr>
          <a:xfrm>
            <a:off x="3530475" y="6114625"/>
            <a:ext cx="2200973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321805"/>
                </a:solidFill>
                <a:latin typeface="Ma Shan Zheng"/>
                <a:ea typeface="Ma Shan Zheng"/>
                <a:cs typeface="Ma Shan Zheng"/>
              </a:rPr>
              <a:t>反复沉淀 去除杂质</a:t>
            </a:r>
            <a:endParaRPr lang="zh-CN" sz="1650"/>
          </a:p>
        </p:txBody>
      </p:sp>
      <p:sp>
        <p:nvSpPr>
          <p:cNvPr id="30" name="TextBox 30"/>
          <p:cNvSpPr txBox="1"/>
          <p:nvPr/>
        </p:nvSpPr>
        <p:spPr>
          <a:xfrm>
            <a:off x="6941255" y="5735649"/>
            <a:ext cx="135556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凝固成型</a:t>
            </a:r>
            <a:endParaRPr lang="zh-CN" sz="1950"/>
          </a:p>
        </p:txBody>
      </p:sp>
      <p:sp>
        <p:nvSpPr>
          <p:cNvPr id="31" name="TextBox 31"/>
          <p:cNvSpPr txBox="1"/>
          <p:nvPr/>
        </p:nvSpPr>
        <p:spPr>
          <a:xfrm>
            <a:off x="6518551" y="6114625"/>
            <a:ext cx="2200973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321805"/>
                </a:solidFill>
                <a:latin typeface="Ma Shan Zheng"/>
                <a:ea typeface="Ma Shan Zheng"/>
                <a:cs typeface="Ma Shan Zheng"/>
              </a:rPr>
              <a:t>自然凝固 晶莹剔透</a:t>
            </a:r>
            <a:endParaRPr lang="zh-CN" sz="1650"/>
          </a:p>
        </p:txBody>
      </p:sp>
      <p:sp>
        <p:nvSpPr>
          <p:cNvPr id="32" name="TextBox 32"/>
          <p:cNvSpPr txBox="1"/>
          <p:nvPr/>
        </p:nvSpPr>
        <p:spPr>
          <a:xfrm>
            <a:off x="9958483" y="5735649"/>
            <a:ext cx="1355566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爽滑美味</a:t>
            </a:r>
            <a:endParaRPr lang="zh-CN" sz="1950"/>
          </a:p>
        </p:txBody>
      </p:sp>
      <p:sp>
        <p:nvSpPr>
          <p:cNvPr id="33" name="TextBox 33"/>
          <p:cNvSpPr txBox="1"/>
          <p:nvPr/>
        </p:nvSpPr>
        <p:spPr>
          <a:xfrm>
            <a:off x="9535780" y="6114625"/>
            <a:ext cx="2200973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>
                <a:solidFill>
                  <a:srgbClr val="321805"/>
                </a:solidFill>
                <a:latin typeface="Ma Shan Zheng"/>
                <a:ea typeface="Ma Shan Zheng"/>
                <a:cs typeface="Ma Shan Zheng"/>
              </a:rPr>
              <a:t>清凉爽滑 回味无穷</a:t>
            </a:r>
            <a:endParaRPr lang="zh-CN" sz="16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iginal valley/castle/foliage/parchment clean base; castle signage is incidental location identity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Source rice-wine bowl, spoon with red date, jar, dates, table and cloth; jar character retained as photographed product identity."/>
          <p:cNvPicPr/>
          <p:nvPr/>
        </p:nvPicPr>
        <p:blipFill>
          <a:blip r:embed="rId3"/>
          <a:stretch>
            <a:fillRect/>
          </a:stretch>
        </p:blipFill>
        <p:spPr>
          <a:xfrm>
            <a:off x="5804614" y="669080"/>
            <a:ext cx="7593514" cy="3391746"/>
          </a:xfrm>
          <a:prstGeom prst="rect">
            <a:avLst/>
          </a:prstGeom>
        </p:spPr>
      </p:pic>
      <p:pic>
        <p:nvPicPr>
          <p:cNvPr id="4" name="Raw glutinous rice in source bamboo tray."/>
          <p:cNvPicPr/>
          <p:nvPr/>
        </p:nvPicPr>
        <p:blipFill>
          <a:blip r:embed="rId4"/>
          <a:stretch>
            <a:fillRect/>
          </a:stretch>
        </p:blipFill>
        <p:spPr>
          <a:xfrm>
            <a:off x="241174" y="3899866"/>
            <a:ext cx="2694817" cy="1908832"/>
          </a:xfrm>
          <a:prstGeom prst="rect">
            <a:avLst/>
          </a:prstGeom>
        </p:spPr>
      </p:pic>
      <p:pic>
        <p:nvPicPr>
          <p:cNvPr id="5" name="Source steamed glutinous rice in bamboo steamer."/>
          <p:cNvPicPr/>
          <p:nvPr/>
        </p:nvPicPr>
        <p:blipFill>
          <a:blip r:embed="rId5"/>
          <a:stretch>
            <a:fillRect/>
          </a:stretch>
        </p:blipFill>
        <p:spPr>
          <a:xfrm>
            <a:off x="3331617" y="3866091"/>
            <a:ext cx="2602854" cy="1938199"/>
          </a:xfrm>
          <a:prstGeom prst="rect">
            <a:avLst/>
          </a:prstGeom>
        </p:spPr>
      </p:pic>
      <p:pic>
        <p:nvPicPr>
          <p:cNvPr id="6" name="Source brown fermenting pot with center well."/>
          <p:cNvPicPr/>
          <p:nvPr/>
        </p:nvPicPr>
        <p:blipFill>
          <a:blip r:embed="rId6"/>
          <a:stretch>
            <a:fillRect/>
          </a:stretch>
        </p:blipFill>
        <p:spPr>
          <a:xfrm>
            <a:off x="6310179" y="3858135"/>
            <a:ext cx="2608377" cy="1946852"/>
          </a:xfrm>
          <a:prstGeom prst="rect">
            <a:avLst/>
          </a:prstGeom>
        </p:spPr>
      </p:pic>
      <p:pic>
        <p:nvPicPr>
          <p:cNvPr id="7" name="Source rice-wine close-up with spoon and red dates."/>
          <p:cNvPicPr/>
          <p:nvPr/>
        </p:nvPicPr>
        <p:blipFill>
          <a:blip r:embed="rId7"/>
          <a:stretch>
            <a:fillRect/>
          </a:stretch>
        </p:blipFill>
        <p:spPr>
          <a:xfrm>
            <a:off x="9312411" y="3878383"/>
            <a:ext cx="2666760" cy="1924830"/>
          </a:xfrm>
          <a:prstGeom prst="rect">
            <a:avLst/>
          </a:prstGeom>
        </p:spPr>
      </p:pic>
      <p:pic>
        <p:nvPicPr>
          <p:cNvPr id="8" name="Source red brush paint base, ordinary white text removed for native reconstruc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490578" y="391996"/>
            <a:ext cx="2858503" cy="906823"/>
          </a:xfrm>
          <a:prstGeom prst="rect">
            <a:avLst/>
          </a:prstGeom>
        </p:spPr>
      </p:pic>
      <p:pic>
        <p:nvPicPr>
          <p:cNvPr id="9" name="Source red brush paint base, ordinary white text removed for native reconstruc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756504" y="2283944"/>
            <a:ext cx="6473656" cy="781497"/>
          </a:xfrm>
          <a:prstGeom prst="rect">
            <a:avLst/>
          </a:prstGeom>
        </p:spPr>
      </p:pic>
      <p:pic>
        <p:nvPicPr>
          <p:cNvPr id="10" name="Source red brush paint base, ordinary white text removed for native reconstruction."/>
          <p:cNvPicPr/>
          <p:nvPr/>
        </p:nvPicPr>
        <p:blipFill>
          <a:blip r:embed="rId10"/>
          <a:stretch>
            <a:fillRect/>
          </a:stretch>
        </p:blipFill>
        <p:spPr>
          <a:xfrm>
            <a:off x="556915" y="5605973"/>
            <a:ext cx="1995849" cy="565448"/>
          </a:xfrm>
          <a:prstGeom prst="rect">
            <a:avLst/>
          </a:prstGeom>
        </p:spPr>
      </p:pic>
      <p:pic>
        <p:nvPicPr>
          <p:cNvPr id="11" name="Source red brush paint base, ordinary white text removed for native reconstruction."/>
          <p:cNvPicPr/>
          <p:nvPr/>
        </p:nvPicPr>
        <p:blipFill>
          <a:blip r:embed="rId11"/>
          <a:stretch>
            <a:fillRect/>
          </a:stretch>
        </p:blipFill>
        <p:spPr>
          <a:xfrm>
            <a:off x="3611889" y="5604804"/>
            <a:ext cx="1979840" cy="567786"/>
          </a:xfrm>
          <a:prstGeom prst="rect">
            <a:avLst/>
          </a:prstGeom>
        </p:spPr>
      </p:pic>
      <p:pic>
        <p:nvPicPr>
          <p:cNvPr id="12" name="Source red brush paint base, ordinary white text removed for native reconstructi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6597468" y="5603608"/>
            <a:ext cx="1985148" cy="570178"/>
          </a:xfrm>
          <a:prstGeom prst="rect">
            <a:avLst/>
          </a:prstGeom>
        </p:spPr>
      </p:pic>
      <p:pic>
        <p:nvPicPr>
          <p:cNvPr id="13" name="Source red brush paint base, ordinary white text removed for native reconstruction."/>
          <p:cNvPicPr/>
          <p:nvPr/>
        </p:nvPicPr>
        <p:blipFill>
          <a:blip r:embed="rId13"/>
          <a:stretch>
            <a:fillRect/>
          </a:stretch>
        </p:blipFill>
        <p:spPr>
          <a:xfrm>
            <a:off x="9610078" y="5605973"/>
            <a:ext cx="1974560" cy="565448"/>
          </a:xfrm>
          <a:prstGeom prst="rect">
            <a:avLst/>
          </a:prstGeom>
        </p:spPr>
      </p:pic>
      <p:sp>
        <p:nvSpPr>
          <p:cNvPr id="14" name="Line 14"/>
          <p:cNvSpPr/>
          <p:nvPr/>
        </p:nvSpPr>
        <p:spPr>
          <a:xfrm>
            <a:off x="2903707" y="4861090"/>
            <a:ext cx="451855" cy="0"/>
          </a:xfrm>
          <a:prstGeom prst="line">
            <a:avLst/>
          </a:prstGeom>
          <a:noFill/>
          <a:ln w="107950">
            <a:solidFill>
              <a:srgbClr val="9B0800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5877208" y="4861090"/>
            <a:ext cx="451855" cy="0"/>
          </a:xfrm>
          <a:prstGeom prst="line">
            <a:avLst/>
          </a:prstGeom>
          <a:noFill/>
          <a:ln w="107950">
            <a:solidFill>
              <a:srgbClr val="9B0800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8865284" y="4861090"/>
            <a:ext cx="451855" cy="0"/>
          </a:xfrm>
          <a:prstGeom prst="line">
            <a:avLst/>
          </a:prstGeom>
          <a:noFill/>
          <a:ln w="107950">
            <a:solidFill>
              <a:srgbClr val="9B0800"/>
            </a:solidFill>
            <a:prstDash val="solid"/>
            <a:headEnd type="none"/>
            <a:tailEnd type="triangle"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1227469" y="597615"/>
            <a:ext cx="1384718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4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探秘三</a:t>
            </a:r>
            <a:endParaRPr lang="zh-CN" sz="3450"/>
          </a:p>
        </p:txBody>
      </p:sp>
      <p:sp>
        <p:nvSpPr>
          <p:cNvPr id="18" name="TextBox 18"/>
          <p:cNvSpPr txBox="1"/>
          <p:nvPr/>
        </p:nvSpPr>
        <p:spPr>
          <a:xfrm>
            <a:off x="877646" y="1085911"/>
            <a:ext cx="2332157" cy="136285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800">
                <a:solidFill>
                  <a:srgbClr val="990700"/>
                </a:solidFill>
                <a:latin typeface="Ma Shan Zheng"/>
                <a:ea typeface="Ma Shan Zheng"/>
                <a:cs typeface="Ma Shan Zheng"/>
              </a:rPr>
              <a:t>醪糟</a:t>
            </a:r>
            <a:endParaRPr lang="zh-CN" sz="8800"/>
          </a:p>
        </p:txBody>
      </p:sp>
      <p:sp>
        <p:nvSpPr>
          <p:cNvPr id="19" name="TextBox 19"/>
          <p:cNvSpPr txBox="1"/>
          <p:nvPr/>
        </p:nvSpPr>
        <p:spPr>
          <a:xfrm>
            <a:off x="3202515" y="1508614"/>
            <a:ext cx="626767" cy="7579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750">
                <a:solidFill>
                  <a:srgbClr val="381000"/>
                </a:solidFill>
                <a:latin typeface="Ma Shan Zheng"/>
                <a:ea typeface="Ma Shan Zheng"/>
                <a:cs typeface="Ma Shan Zheng"/>
              </a:rPr>
              <a:t>的</a:t>
            </a:r>
            <a:endParaRPr lang="zh-CN" sz="4750"/>
          </a:p>
        </p:txBody>
      </p:sp>
      <p:sp>
        <p:nvSpPr>
          <p:cNvPr id="20" name="TextBox 20"/>
          <p:cNvSpPr txBox="1"/>
          <p:nvPr/>
        </p:nvSpPr>
        <p:spPr>
          <a:xfrm>
            <a:off x="3814706" y="1297262"/>
            <a:ext cx="3352476" cy="10494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600">
                <a:solidFill>
                  <a:srgbClr val="381000"/>
                </a:solidFill>
                <a:latin typeface="Ma Shan Zheng"/>
                <a:ea typeface="Ma Shan Zheng"/>
                <a:cs typeface="Ma Shan Zheng"/>
              </a:rPr>
              <a:t>酿造过程</a:t>
            </a:r>
            <a:endParaRPr lang="zh-CN" sz="6600"/>
          </a:p>
        </p:txBody>
      </p:sp>
      <p:sp>
        <p:nvSpPr>
          <p:cNvPr id="21" name="TextBox 21"/>
          <p:cNvSpPr txBox="1"/>
          <p:nvPr/>
        </p:nvSpPr>
        <p:spPr>
          <a:xfrm>
            <a:off x="1446109" y="2470629"/>
            <a:ext cx="5167186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8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一碗香甜温暖的醪糟，藏着家乡的烟火记忆</a:t>
            </a:r>
            <a:endParaRPr lang="zh-CN" sz="2080"/>
          </a:p>
        </p:txBody>
      </p:sp>
      <p:sp>
        <p:nvSpPr>
          <p:cNvPr id="22" name="TextBox 22"/>
          <p:cNvSpPr txBox="1"/>
          <p:nvPr/>
        </p:nvSpPr>
        <p:spPr>
          <a:xfrm>
            <a:off x="877646" y="5684633"/>
            <a:ext cx="1399294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精选糯米</a:t>
            </a:r>
            <a:endParaRPr lang="zh-CN" sz="1950"/>
          </a:p>
        </p:txBody>
      </p:sp>
      <p:sp>
        <p:nvSpPr>
          <p:cNvPr id="23" name="TextBox 23"/>
          <p:cNvSpPr txBox="1"/>
          <p:nvPr/>
        </p:nvSpPr>
        <p:spPr>
          <a:xfrm>
            <a:off x="593414" y="6063609"/>
            <a:ext cx="1967758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0">
                <a:solidFill>
                  <a:srgbClr val="2A0C00"/>
                </a:solidFill>
                <a:latin typeface="Ma Shan Zheng"/>
                <a:ea typeface="Ma Shan Zheng"/>
                <a:cs typeface="Ma Shan Zheng"/>
              </a:rPr>
              <a:t>颗粒饱满 天然纯净</a:t>
            </a:r>
            <a:endParaRPr lang="zh-CN" sz="1720"/>
          </a:p>
        </p:txBody>
      </p:sp>
      <p:sp>
        <p:nvSpPr>
          <p:cNvPr id="24" name="TextBox 24"/>
          <p:cNvSpPr txBox="1"/>
          <p:nvPr/>
        </p:nvSpPr>
        <p:spPr>
          <a:xfrm>
            <a:off x="3902162" y="5684633"/>
            <a:ext cx="1399294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蒸熟晾凉</a:t>
            </a:r>
            <a:endParaRPr lang="zh-CN" sz="1950"/>
          </a:p>
        </p:txBody>
      </p:sp>
      <p:sp>
        <p:nvSpPr>
          <p:cNvPr id="25" name="TextBox 25"/>
          <p:cNvSpPr txBox="1"/>
          <p:nvPr/>
        </p:nvSpPr>
        <p:spPr>
          <a:xfrm>
            <a:off x="3617930" y="6063609"/>
            <a:ext cx="1967758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0">
                <a:solidFill>
                  <a:srgbClr val="2A0C00"/>
                </a:solidFill>
                <a:latin typeface="Ma Shan Zheng"/>
                <a:ea typeface="Ma Shan Zheng"/>
                <a:cs typeface="Ma Shan Zheng"/>
              </a:rPr>
              <a:t>蒸至软糯 自然冷却</a:t>
            </a:r>
            <a:endParaRPr lang="zh-CN" sz="1720"/>
          </a:p>
        </p:txBody>
      </p:sp>
      <p:sp>
        <p:nvSpPr>
          <p:cNvPr id="26" name="TextBox 26"/>
          <p:cNvSpPr txBox="1"/>
          <p:nvPr/>
        </p:nvSpPr>
        <p:spPr>
          <a:xfrm>
            <a:off x="6882951" y="5684633"/>
            <a:ext cx="1399294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加入酒曲</a:t>
            </a:r>
            <a:endParaRPr lang="zh-CN" sz="1950"/>
          </a:p>
        </p:txBody>
      </p:sp>
      <p:sp>
        <p:nvSpPr>
          <p:cNvPr id="27" name="TextBox 27"/>
          <p:cNvSpPr txBox="1"/>
          <p:nvPr/>
        </p:nvSpPr>
        <p:spPr>
          <a:xfrm>
            <a:off x="6598719" y="6063609"/>
            <a:ext cx="1967758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0">
                <a:solidFill>
                  <a:srgbClr val="2A0C00"/>
                </a:solidFill>
                <a:latin typeface="Ma Shan Zheng"/>
                <a:ea typeface="Ma Shan Zheng"/>
                <a:cs typeface="Ma Shan Zheng"/>
              </a:rPr>
              <a:t>拌匀酒曲 密封发酵</a:t>
            </a:r>
            <a:endParaRPr lang="zh-CN" sz="1720"/>
          </a:p>
        </p:txBody>
      </p:sp>
      <p:sp>
        <p:nvSpPr>
          <p:cNvPr id="28" name="TextBox 28"/>
          <p:cNvSpPr txBox="1"/>
          <p:nvPr/>
        </p:nvSpPr>
        <p:spPr>
          <a:xfrm>
            <a:off x="9900179" y="5684633"/>
            <a:ext cx="1399294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自然发酵</a:t>
            </a:r>
            <a:endParaRPr lang="zh-CN" sz="1950"/>
          </a:p>
        </p:txBody>
      </p:sp>
      <p:sp>
        <p:nvSpPr>
          <p:cNvPr id="29" name="TextBox 29"/>
          <p:cNvSpPr txBox="1"/>
          <p:nvPr/>
        </p:nvSpPr>
        <p:spPr>
          <a:xfrm>
            <a:off x="9615947" y="6063609"/>
            <a:ext cx="1967758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20">
                <a:solidFill>
                  <a:srgbClr val="2A0C00"/>
                </a:solidFill>
                <a:latin typeface="Ma Shan Zheng"/>
                <a:ea typeface="Ma Shan Zheng"/>
                <a:cs typeface="Ma Shan Zheng"/>
              </a:rPr>
              <a:t>香甜醇厚 温暖可口</a:t>
            </a:r>
            <a:endParaRPr lang="zh-CN" sz="17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preserving cleaned valley and parchment 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702734" y="5750225"/>
            <a:ext cx="5014138" cy="619479"/>
          </a:xfrm>
          <a:prstGeom prst="roundRect">
            <a:avLst>
              <a:gd name="adj" fmla="val 49412"/>
            </a:avLst>
          </a:prstGeom>
          <a:solidFill>
            <a:srgbClr val="F7DCA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482111" y="5750225"/>
            <a:ext cx="5079730" cy="619479"/>
          </a:xfrm>
          <a:prstGeom prst="roundRect">
            <a:avLst>
              <a:gd name="adj" fmla="val 49412"/>
            </a:avLst>
          </a:prstGeom>
          <a:solidFill>
            <a:srgbClr val="F7DCA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6088560" y="5662769"/>
            <a:ext cx="0" cy="801679"/>
          </a:xfrm>
          <a:prstGeom prst="line">
            <a:avLst/>
          </a:prstGeom>
          <a:noFill/>
          <a:ln w="5715">
            <a:solidFill>
              <a:srgbClr val="986232"/>
            </a:solidFill>
          </a:ln>
        </p:spPr>
        <p:txBody>
          <a:bodyPr/>
          <a:lstStyle/>
          <a:p/>
        </p:txBody>
      </p:sp>
      <p:pic>
        <p:nvPicPr>
          <p:cNvPr id="6" name="Independent original fast-food panel with burger, fries, cola, restaurant and photo signage FAST FOOD; all slide feature labels removed. Menu microcopy is unreadable texture and signage is incidental photo identity."/>
          <p:cNvPicPr/>
          <p:nvPr/>
        </p:nvPicPr>
        <p:blipFill>
          <a:blip r:embed="rId3"/>
          <a:stretch>
            <a:fillRect/>
          </a:stretch>
        </p:blipFill>
        <p:spPr>
          <a:xfrm>
            <a:off x="-152700" y="1798377"/>
            <a:ext cx="6426198" cy="3909878"/>
          </a:xfrm>
          <a:prstGeom prst="rect">
            <a:avLst/>
          </a:prstGeom>
        </p:spPr>
      </p:pic>
      <p:pic>
        <p:nvPicPr>
          <p:cNvPr id="7" name="Independent original elderly cook/shop panel, steam, wok, bowls, diners, source fabric 灵宝老店 sign. Photo signage is incidental identity. All slide feature labels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5602372" y="1099340"/>
            <a:ext cx="6744464" cy="4622879"/>
          </a:xfrm>
          <a:prstGeom prst="rect">
            <a:avLst/>
          </a:prstGeom>
        </p:spPr>
      </p:pic>
      <p:pic>
        <p:nvPicPr>
          <p:cNvPr id="8" name="Source red horizontal subtitle brush with ordinary copy removed"/>
          <p:cNvPicPr/>
          <p:nvPr/>
        </p:nvPicPr>
        <p:blipFill>
          <a:blip r:embed="rId5"/>
          <a:stretch>
            <a:fillRect/>
          </a:stretch>
        </p:blipFill>
        <p:spPr>
          <a:xfrm>
            <a:off x="518493" y="1344602"/>
            <a:ext cx="6454245" cy="758016"/>
          </a:xfrm>
          <a:prstGeom prst="rect">
            <a:avLst/>
          </a:prstGeom>
        </p:spPr>
      </p:pic>
      <p:pic>
        <p:nvPicPr>
          <p:cNvPr id="9" name="Source central red diagonal brush with VS removed"/>
          <p:cNvPicPr/>
          <p:nvPr/>
        </p:nvPicPr>
        <p:blipFill>
          <a:blip r:embed="rId6"/>
          <a:stretch>
            <a:fillRect/>
          </a:stretch>
        </p:blipFill>
        <p:spPr>
          <a:xfrm>
            <a:off x="5138851" y="2595530"/>
            <a:ext cx="1892128" cy="2211528"/>
          </a:xfrm>
          <a:prstGeom prst="rect">
            <a:avLst/>
          </a:prstGeom>
        </p:spPr>
      </p:pic>
      <p:pic>
        <p:nvPicPr>
          <p:cNvPr id="10" name="Source warm gold/brown rough feature label base 1, ordinary text removed"/>
          <p:cNvPicPr/>
          <p:nvPr/>
        </p:nvPicPr>
        <p:blipFill>
          <a:blip r:embed="rId7"/>
          <a:stretch>
            <a:fillRect/>
          </a:stretch>
        </p:blipFill>
        <p:spPr>
          <a:xfrm>
            <a:off x="219026" y="2170180"/>
            <a:ext cx="1611884" cy="593873"/>
          </a:xfrm>
          <a:prstGeom prst="rect">
            <a:avLst/>
          </a:prstGeom>
        </p:spPr>
      </p:pic>
      <p:pic>
        <p:nvPicPr>
          <p:cNvPr id="11" name="Source warm gold/brown rough feature label base 2, ordinary text removed"/>
          <p:cNvPicPr/>
          <p:nvPr/>
        </p:nvPicPr>
        <p:blipFill>
          <a:blip r:embed="rId8"/>
          <a:stretch>
            <a:fillRect/>
          </a:stretch>
        </p:blipFill>
        <p:spPr>
          <a:xfrm>
            <a:off x="222927" y="2685757"/>
            <a:ext cx="1613304" cy="599272"/>
          </a:xfrm>
          <a:prstGeom prst="rect">
            <a:avLst/>
          </a:prstGeom>
        </p:spPr>
      </p:pic>
      <p:pic>
        <p:nvPicPr>
          <p:cNvPr id="12" name="Source warm gold/brown rough feature label base 3, ordinary text removed"/>
          <p:cNvPicPr/>
          <p:nvPr/>
        </p:nvPicPr>
        <p:blipFill>
          <a:blip r:embed="rId9"/>
          <a:stretch>
            <a:fillRect/>
          </a:stretch>
        </p:blipFill>
        <p:spPr>
          <a:xfrm>
            <a:off x="253549" y="3248102"/>
            <a:ext cx="1570334" cy="571001"/>
          </a:xfrm>
          <a:prstGeom prst="rect">
            <a:avLst/>
          </a:prstGeom>
        </p:spPr>
      </p:pic>
      <p:pic>
        <p:nvPicPr>
          <p:cNvPr id="13" name="Source warm gold/brown rough feature label base 4, ordinary text removed"/>
          <p:cNvPicPr/>
          <p:nvPr/>
        </p:nvPicPr>
        <p:blipFill>
          <a:blip r:embed="rId10"/>
          <a:stretch>
            <a:fillRect/>
          </a:stretch>
        </p:blipFill>
        <p:spPr>
          <a:xfrm>
            <a:off x="263828" y="3765043"/>
            <a:ext cx="1606129" cy="617160"/>
          </a:xfrm>
          <a:prstGeom prst="rect">
            <a:avLst/>
          </a:prstGeom>
        </p:spPr>
      </p:pic>
      <p:pic>
        <p:nvPicPr>
          <p:cNvPr id="14" name="Source warm gold/brown rough feature label base 5, ordinary text removed"/>
          <p:cNvPicPr/>
          <p:nvPr/>
        </p:nvPicPr>
        <p:blipFill>
          <a:blip r:embed="rId11"/>
          <a:stretch>
            <a:fillRect/>
          </a:stretch>
        </p:blipFill>
        <p:spPr>
          <a:xfrm>
            <a:off x="10509125" y="2578028"/>
            <a:ext cx="1620915" cy="701304"/>
          </a:xfrm>
          <a:prstGeom prst="rect">
            <a:avLst/>
          </a:prstGeom>
        </p:spPr>
      </p:pic>
      <p:pic>
        <p:nvPicPr>
          <p:cNvPr id="15" name="Source warm gold/brown rough feature label base 6, ordinary text removed"/>
          <p:cNvPicPr/>
          <p:nvPr/>
        </p:nvPicPr>
        <p:blipFill>
          <a:blip r:embed="rId12"/>
          <a:stretch>
            <a:fillRect/>
          </a:stretch>
        </p:blipFill>
        <p:spPr>
          <a:xfrm>
            <a:off x="10524347" y="3150200"/>
            <a:ext cx="1628078" cy="737737"/>
          </a:xfrm>
          <a:prstGeom prst="rect">
            <a:avLst/>
          </a:prstGeom>
        </p:spPr>
      </p:pic>
      <p:pic>
        <p:nvPicPr>
          <p:cNvPr id="16" name="Source warm gold/brown rough feature label base 7, ordinary text removed"/>
          <p:cNvPicPr/>
          <p:nvPr/>
        </p:nvPicPr>
        <p:blipFill>
          <a:blip r:embed="rId13"/>
          <a:stretch>
            <a:fillRect/>
          </a:stretch>
        </p:blipFill>
        <p:spPr>
          <a:xfrm>
            <a:off x="10584050" y="3763206"/>
            <a:ext cx="1546421" cy="688780"/>
          </a:xfrm>
          <a:prstGeom prst="rect">
            <a:avLst/>
          </a:prstGeom>
        </p:spPr>
      </p:pic>
      <p:pic>
        <p:nvPicPr>
          <p:cNvPr id="17" name="Source warm gold/brown rough feature label base 8, ordinary text removed"/>
          <p:cNvPicPr/>
          <p:nvPr/>
        </p:nvPicPr>
        <p:blipFill>
          <a:blip r:embed="rId14"/>
          <a:stretch>
            <a:fillRect/>
          </a:stretch>
        </p:blipFill>
        <p:spPr>
          <a:xfrm>
            <a:off x="10500310" y="4336355"/>
            <a:ext cx="1722223" cy="720517"/>
          </a:xfrm>
          <a:prstGeom prst="rect">
            <a:avLst/>
          </a:prstGeom>
        </p:spPr>
      </p:pic>
      <p:pic>
        <p:nvPicPr>
          <p:cNvPr id="18" name="Original red circular question badge base with question character removed"/>
          <p:cNvPicPr/>
          <p:nvPr/>
        </p:nvPicPr>
        <p:blipFill>
          <a:blip r:embed="rId15"/>
          <a:stretch>
            <a:fillRect/>
          </a:stretch>
        </p:blipFill>
        <p:spPr>
          <a:xfrm>
            <a:off x="798061" y="5672161"/>
            <a:ext cx="815745" cy="776885"/>
          </a:xfrm>
          <a:prstGeom prst="rect">
            <a:avLst/>
          </a:prstGeom>
        </p:spPr>
      </p:pic>
      <p:pic>
        <p:nvPicPr>
          <p:cNvPr id="19" name="Original gold circular badge with dark brown three-person pictogram; source-faithful semantic foreground"/>
          <p:cNvPicPr/>
          <p:nvPr/>
        </p:nvPicPr>
        <p:blipFill>
          <a:blip r:embed="rId16"/>
          <a:stretch>
            <a:fillRect/>
          </a:stretch>
        </p:blipFill>
        <p:spPr>
          <a:xfrm>
            <a:off x="6607722" y="5660919"/>
            <a:ext cx="900281" cy="837704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30694" y="276944"/>
            <a:ext cx="3811620" cy="12098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500">
                <a:solidFill>
                  <a:srgbClr val="3A1503"/>
                </a:solidFill>
                <a:latin typeface="Ma Shan Zheng"/>
                <a:ea typeface="Ma Shan Zheng"/>
                <a:cs typeface="Ma Shan Zheng"/>
              </a:rPr>
              <a:t>你会怎样</a:t>
            </a:r>
            <a:endParaRPr lang="zh-CN" sz="7500"/>
          </a:p>
        </p:txBody>
      </p:sp>
      <p:sp>
        <p:nvSpPr>
          <p:cNvPr id="21" name="TextBox 21"/>
          <p:cNvSpPr txBox="1"/>
          <p:nvPr/>
        </p:nvSpPr>
        <p:spPr>
          <a:xfrm>
            <a:off x="4732993" y="276944"/>
            <a:ext cx="2113518" cy="12098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500">
                <a:solidFill>
                  <a:srgbClr val="B71905"/>
                </a:solidFill>
                <a:latin typeface="Ma Shan Zheng"/>
                <a:ea typeface="Ma Shan Zheng"/>
                <a:cs typeface="Ma Shan Zheng"/>
              </a:rPr>
              <a:t>选择</a:t>
            </a:r>
            <a:endParaRPr lang="zh-CN" sz="7500"/>
          </a:p>
        </p:txBody>
      </p:sp>
      <p:sp>
        <p:nvSpPr>
          <p:cNvPr id="22" name="TextBox 22"/>
          <p:cNvSpPr txBox="1"/>
          <p:nvPr/>
        </p:nvSpPr>
        <p:spPr>
          <a:xfrm>
            <a:off x="6591431" y="276944"/>
            <a:ext cx="1056759" cy="12098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500">
                <a:solidFill>
                  <a:srgbClr val="701708"/>
                </a:solidFill>
                <a:latin typeface="Ma Shan Zheng"/>
                <a:ea typeface="Ma Shan Zheng"/>
                <a:cs typeface="Ma Shan Zheng"/>
              </a:rPr>
              <a:t>？</a:t>
            </a:r>
            <a:endParaRPr lang="zh-CN" sz="7500"/>
          </a:p>
        </p:txBody>
      </p:sp>
      <p:sp>
        <p:nvSpPr>
          <p:cNvPr id="23" name="TextBox 23"/>
          <p:cNvSpPr txBox="1"/>
          <p:nvPr/>
        </p:nvSpPr>
        <p:spPr>
          <a:xfrm>
            <a:off x="1220181" y="1545054"/>
            <a:ext cx="5116170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23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两种不同的餐饮店，哪一家更有吸引力？</a:t>
            </a:r>
            <a:endParaRPr lang="zh-CN" sz="2230"/>
          </a:p>
        </p:txBody>
      </p:sp>
      <p:sp>
        <p:nvSpPr>
          <p:cNvPr id="24" name="TextBox 24"/>
          <p:cNvSpPr txBox="1"/>
          <p:nvPr/>
        </p:nvSpPr>
        <p:spPr>
          <a:xfrm>
            <a:off x="316470" y="2200973"/>
            <a:ext cx="1457598" cy="488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环境明亮</a:t>
            </a:r>
            <a:endParaRPr lang="zh-CN" sz="2100"/>
          </a:p>
        </p:txBody>
      </p:sp>
      <p:sp>
        <p:nvSpPr>
          <p:cNvPr id="25" name="TextBox 25"/>
          <p:cNvSpPr txBox="1"/>
          <p:nvPr/>
        </p:nvSpPr>
        <p:spPr>
          <a:xfrm>
            <a:off x="323758" y="2725709"/>
            <a:ext cx="1428446" cy="48829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干净整洁</a:t>
            </a:r>
            <a:endParaRPr lang="zh-CN" sz="2100"/>
          </a:p>
        </p:txBody>
      </p:sp>
      <p:sp>
        <p:nvSpPr>
          <p:cNvPr id="26" name="TextBox 26"/>
          <p:cNvSpPr txBox="1"/>
          <p:nvPr/>
        </p:nvSpPr>
        <p:spPr>
          <a:xfrm>
            <a:off x="331046" y="3265020"/>
            <a:ext cx="1435734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标准统一</a:t>
            </a:r>
            <a:endParaRPr lang="zh-CN" sz="2100"/>
          </a:p>
        </p:txBody>
      </p:sp>
      <p:sp>
        <p:nvSpPr>
          <p:cNvPr id="27" name="TextBox 27"/>
          <p:cNvSpPr txBox="1"/>
          <p:nvPr/>
        </p:nvSpPr>
        <p:spPr>
          <a:xfrm>
            <a:off x="323758" y="3797044"/>
            <a:ext cx="1450310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方便快捷</a:t>
            </a:r>
            <a:endParaRPr lang="zh-CN" sz="2100"/>
          </a:p>
        </p:txBody>
      </p:sp>
      <p:sp>
        <p:nvSpPr>
          <p:cNvPr id="28" name="TextBox 28"/>
          <p:cNvSpPr txBox="1"/>
          <p:nvPr/>
        </p:nvSpPr>
        <p:spPr>
          <a:xfrm>
            <a:off x="10607114" y="2689269"/>
            <a:ext cx="1457598" cy="53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老锅熬煮</a:t>
            </a:r>
            <a:endParaRPr lang="zh-CN" sz="2100"/>
          </a:p>
        </p:txBody>
      </p:sp>
      <p:sp>
        <p:nvSpPr>
          <p:cNvPr id="29" name="TextBox 29"/>
          <p:cNvSpPr txBox="1"/>
          <p:nvPr/>
        </p:nvSpPr>
        <p:spPr>
          <a:xfrm>
            <a:off x="10592538" y="3272308"/>
            <a:ext cx="1457598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手艺传承</a:t>
            </a:r>
            <a:endParaRPr lang="zh-CN" sz="2100"/>
          </a:p>
        </p:txBody>
      </p:sp>
      <p:sp>
        <p:nvSpPr>
          <p:cNvPr id="30" name="TextBox 30"/>
          <p:cNvSpPr txBox="1"/>
          <p:nvPr/>
        </p:nvSpPr>
        <p:spPr>
          <a:xfrm>
            <a:off x="10636266" y="3877211"/>
            <a:ext cx="1413870" cy="53202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地道风味</a:t>
            </a:r>
            <a:endParaRPr lang="zh-CN" sz="2100"/>
          </a:p>
        </p:txBody>
      </p:sp>
      <p:sp>
        <p:nvSpPr>
          <p:cNvPr id="31" name="TextBox 31"/>
          <p:cNvSpPr txBox="1"/>
          <p:nvPr/>
        </p:nvSpPr>
        <p:spPr>
          <a:xfrm>
            <a:off x="10607114" y="4445675"/>
            <a:ext cx="1508614" cy="5465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充满烟火气</a:t>
            </a:r>
            <a:endParaRPr lang="zh-CN" sz="2100"/>
          </a:p>
        </p:txBody>
      </p:sp>
      <p:sp>
        <p:nvSpPr>
          <p:cNvPr id="32" name="TextBox 32"/>
          <p:cNvSpPr txBox="1"/>
          <p:nvPr/>
        </p:nvSpPr>
        <p:spPr>
          <a:xfrm>
            <a:off x="5512808" y="3141124"/>
            <a:ext cx="1209807" cy="12753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823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VS</a:t>
            </a:r>
            <a:endParaRPr lang="zh-CN" sz="8230"/>
          </a:p>
        </p:txBody>
      </p:sp>
      <p:sp>
        <p:nvSpPr>
          <p:cNvPr id="33" name="TextBox 33"/>
          <p:cNvSpPr txBox="1"/>
          <p:nvPr/>
        </p:nvSpPr>
        <p:spPr>
          <a:xfrm>
            <a:off x="798061" y="5672161"/>
            <a:ext cx="815745" cy="77688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43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?</a:t>
            </a:r>
            <a:endParaRPr lang="zh-CN" sz="4300"/>
          </a:p>
        </p:txBody>
      </p:sp>
      <p:sp>
        <p:nvSpPr>
          <p:cNvPr id="34" name="TextBox 34"/>
          <p:cNvSpPr txBox="1"/>
          <p:nvPr/>
        </p:nvSpPr>
        <p:spPr>
          <a:xfrm>
            <a:off x="1672037" y="5852257"/>
            <a:ext cx="402297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>
                <a:solidFill>
                  <a:srgbClr val="361201"/>
                </a:solidFill>
                <a:latin typeface="Ma Shan Zheng"/>
                <a:ea typeface="Ma Shan Zheng"/>
                <a:cs typeface="Ma Shan Zheng"/>
              </a:rPr>
              <a:t>两家店各自最大的优势是什么？</a:t>
            </a:r>
            <a:endParaRPr lang="zh-CN" sz="2000"/>
          </a:p>
        </p:txBody>
      </p:sp>
      <p:sp>
        <p:nvSpPr>
          <p:cNvPr id="35" name="TextBox 35"/>
          <p:cNvSpPr txBox="1"/>
          <p:nvPr/>
        </p:nvSpPr>
        <p:spPr>
          <a:xfrm>
            <a:off x="7473278" y="5852257"/>
            <a:ext cx="408127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000">
                <a:solidFill>
                  <a:srgbClr val="361201"/>
                </a:solidFill>
                <a:latin typeface="Ma Shan Zheng"/>
                <a:ea typeface="Ma Shan Zheng"/>
                <a:cs typeface="Ma Shan Zheng"/>
              </a:rPr>
              <a:t>说一说，你更喜欢哪一家？为什么？</a:t>
            </a:r>
            <a:endParaRPr lang="zh-CN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rce-faithful cleaned valley/castle/jar/foliage/table and lower parchment background; all main text, medallions, brushes, bowl and question ornament removed. 白马关 and 浆 are incidental scene/product identity exceptions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Source rice/lake/mountain picture within its rough circular cream frame, ordinary heading and paragraph fully removed."/>
          <p:cNvPicPr/>
          <p:nvPr/>
        </p:nvPicPr>
        <p:blipFill>
          <a:blip r:embed="rId3"/>
          <a:stretch>
            <a:fillRect/>
          </a:stretch>
        </p:blipFill>
        <p:spPr>
          <a:xfrm>
            <a:off x="108879" y="2617635"/>
            <a:ext cx="3323251" cy="3161210"/>
          </a:xfrm>
          <a:prstGeom prst="rect">
            <a:avLst/>
          </a:prstGeom>
        </p:spPr>
      </p:pic>
      <p:pic>
        <p:nvPicPr>
          <p:cNvPr id="4" name="Source hands cutting handmade noodles picture in its rough circular cream frame, ordinary text removed."/>
          <p:cNvPicPr/>
          <p:nvPr/>
        </p:nvPicPr>
        <p:blipFill>
          <a:blip r:embed="rId4"/>
          <a:stretch>
            <a:fillRect/>
          </a:stretch>
        </p:blipFill>
        <p:spPr>
          <a:xfrm>
            <a:off x="3133818" y="2624493"/>
            <a:ext cx="3314958" cy="3169314"/>
          </a:xfrm>
          <a:prstGeom prst="rect">
            <a:avLst/>
          </a:prstGeom>
        </p:spPr>
      </p:pic>
      <p:pic>
        <p:nvPicPr>
          <p:cNvPr id="5" name="Source communal meal in warm old street picture within rough cream circular frame, all main text removed."/>
          <p:cNvPicPr/>
          <p:nvPr/>
        </p:nvPicPr>
        <p:blipFill>
          <a:blip r:embed="rId5"/>
          <a:stretch>
            <a:fillRect/>
          </a:stretch>
        </p:blipFill>
        <p:spPr>
          <a:xfrm>
            <a:off x="6165820" y="2624923"/>
            <a:ext cx="3284778" cy="3161210"/>
          </a:xfrm>
          <a:prstGeom prst="rect">
            <a:avLst/>
          </a:prstGeom>
        </p:spPr>
      </p:pic>
      <p:pic>
        <p:nvPicPr>
          <p:cNvPr id="6" name="Source ceramic noodle bowl with red/green toppings, dark cloth and straw support. Complete separated assembly positioned with same intentional right/bottom frame crop as source."/>
          <p:cNvPicPr/>
          <p:nvPr/>
        </p:nvPicPr>
        <p:blipFill>
          <a:blip r:embed="rId6"/>
          <a:stretch>
            <a:fillRect/>
          </a:stretch>
        </p:blipFill>
        <p:spPr>
          <a:xfrm>
            <a:off x="7344251" y="3143027"/>
            <a:ext cx="7123341" cy="3705791"/>
          </a:xfrm>
          <a:prstGeom prst="rect">
            <a:avLst/>
          </a:prstGeom>
        </p:spPr>
      </p:pic>
      <p:sp>
        <p:nvSpPr>
          <p:cNvPr id="7" name="Roundrect 7"/>
          <p:cNvSpPr/>
          <p:nvPr/>
        </p:nvSpPr>
        <p:spPr>
          <a:xfrm>
            <a:off x="957814" y="5691921"/>
            <a:ext cx="10174036" cy="699647"/>
          </a:xfrm>
          <a:prstGeom prst="roundRect">
            <a:avLst>
              <a:gd name="adj" fmla="val 50000"/>
            </a:avLst>
          </a:prstGeom>
          <a:solidFill>
            <a:srgbClr val="FFEDCC"/>
          </a:solidFill>
          <a:ln>
            <a:noFill/>
          </a:ln>
        </p:spPr>
        <p:txBody>
          <a:bodyPr/>
          <a:lstStyle/>
          <a:p/>
        </p:txBody>
      </p:sp>
      <p:pic>
        <p:nvPicPr>
          <p:cNvPr id="8" name="Source-faithful separated blank top-red-brush ink swash. All ordinary words removed for native reconstruction."/>
          <p:cNvPicPr/>
          <p:nvPr/>
        </p:nvPicPr>
        <p:blipFill>
          <a:blip r:embed="rId7"/>
          <a:stretch>
            <a:fillRect/>
          </a:stretch>
        </p:blipFill>
        <p:spPr>
          <a:xfrm>
            <a:off x="480931" y="197818"/>
            <a:ext cx="3623334" cy="1040098"/>
          </a:xfrm>
          <a:prstGeom prst="rect">
            <a:avLst/>
          </a:prstGeom>
        </p:spPr>
      </p:pic>
      <p:pic>
        <p:nvPicPr>
          <p:cNvPr id="9" name="Source-faithful separated blank subtitle-red-brush ink swash. All ordinary words removed for native reconstruc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1429733" y="1908178"/>
            <a:ext cx="7116673" cy="816138"/>
          </a:xfrm>
          <a:prstGeom prst="rect">
            <a:avLst/>
          </a:prstGeom>
        </p:spPr>
      </p:pic>
      <p:pic>
        <p:nvPicPr>
          <p:cNvPr id="10" name="Source-faithful separated blank nature-heading-brush ink swash. All ordinary words removed for native reconstruc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649451" y="2665080"/>
            <a:ext cx="2290295" cy="660569"/>
          </a:xfrm>
          <a:prstGeom prst="rect">
            <a:avLst/>
          </a:prstGeom>
        </p:spPr>
      </p:pic>
      <p:pic>
        <p:nvPicPr>
          <p:cNvPr id="11" name="Source-faithful separated blank tradition-heading-brush ink swash. All ordinary words removed for native reconstruction."/>
          <p:cNvPicPr/>
          <p:nvPr/>
        </p:nvPicPr>
        <p:blipFill>
          <a:blip r:embed="rId10"/>
          <a:stretch>
            <a:fillRect/>
          </a:stretch>
        </p:blipFill>
        <p:spPr>
          <a:xfrm>
            <a:off x="3698397" y="2675823"/>
            <a:ext cx="2305257" cy="653667"/>
          </a:xfrm>
          <a:prstGeom prst="rect">
            <a:avLst/>
          </a:prstGeom>
        </p:spPr>
      </p:pic>
      <p:pic>
        <p:nvPicPr>
          <p:cNvPr id="12" name="Source-faithful separated blank human-heading-brush ink swash. All ordinary words removed for native reconstruction."/>
          <p:cNvPicPr/>
          <p:nvPr/>
        </p:nvPicPr>
        <p:blipFill>
          <a:blip r:embed="rId11"/>
          <a:stretch>
            <a:fillRect/>
          </a:stretch>
        </p:blipFill>
        <p:spPr>
          <a:xfrm>
            <a:off x="6655893" y="2670859"/>
            <a:ext cx="2312553" cy="653616"/>
          </a:xfrm>
          <a:prstGeom prst="rect">
            <a:avLst/>
          </a:prstGeom>
        </p:spPr>
      </p:pic>
      <p:pic>
        <p:nvPicPr>
          <p:cNvPr id="13" name="Source-faithful separated blank question-frame-decoration. No ordinary text retained; question asset contains only hollow rough border, mountain ornament and underline, its central panel fill remains native."/>
          <p:cNvPicPr/>
          <p:nvPr/>
        </p:nvPicPr>
        <p:blipFill>
          <a:blip r:embed="rId12"/>
          <a:stretch>
            <a:fillRect/>
          </a:stretch>
        </p:blipFill>
        <p:spPr>
          <a:xfrm>
            <a:off x="765221" y="5565307"/>
            <a:ext cx="10566516" cy="98202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 rot="-240000">
            <a:off x="1059845" y="444567"/>
            <a:ext cx="2368597" cy="5247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从美食看家乡</a:t>
            </a:r>
            <a:endParaRPr lang="zh-CN" sz="3000"/>
          </a:p>
        </p:txBody>
      </p:sp>
      <p:sp>
        <p:nvSpPr>
          <p:cNvPr id="15" name="TextBox 15"/>
          <p:cNvSpPr txBox="1"/>
          <p:nvPr/>
        </p:nvSpPr>
        <p:spPr>
          <a:xfrm>
            <a:off x="921374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家</a:t>
            </a:r>
            <a:endParaRPr lang="zh-CN" sz="6500"/>
          </a:p>
        </p:txBody>
      </p:sp>
      <p:sp>
        <p:nvSpPr>
          <p:cNvPr id="16" name="TextBox 16"/>
          <p:cNvSpPr txBox="1"/>
          <p:nvPr/>
        </p:nvSpPr>
        <p:spPr>
          <a:xfrm>
            <a:off x="1817797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乡</a:t>
            </a:r>
            <a:endParaRPr lang="zh-CN" sz="6500"/>
          </a:p>
        </p:txBody>
      </p:sp>
      <p:sp>
        <p:nvSpPr>
          <p:cNvPr id="17" name="TextBox 17"/>
          <p:cNvSpPr txBox="1"/>
          <p:nvPr/>
        </p:nvSpPr>
        <p:spPr>
          <a:xfrm>
            <a:off x="2495580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味</a:t>
            </a:r>
            <a:endParaRPr lang="zh-CN" sz="6500"/>
          </a:p>
        </p:txBody>
      </p:sp>
      <p:sp>
        <p:nvSpPr>
          <p:cNvPr id="18" name="TextBox 18"/>
          <p:cNvSpPr txBox="1"/>
          <p:nvPr/>
        </p:nvSpPr>
        <p:spPr>
          <a:xfrm>
            <a:off x="3195227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道</a:t>
            </a:r>
            <a:endParaRPr lang="zh-CN" sz="6500"/>
          </a:p>
        </p:txBody>
      </p:sp>
      <p:sp>
        <p:nvSpPr>
          <p:cNvPr id="19" name="TextBox 19"/>
          <p:cNvSpPr txBox="1"/>
          <p:nvPr/>
        </p:nvSpPr>
        <p:spPr>
          <a:xfrm>
            <a:off x="3967754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背</a:t>
            </a:r>
            <a:endParaRPr lang="zh-CN" sz="6500"/>
          </a:p>
        </p:txBody>
      </p:sp>
      <p:sp>
        <p:nvSpPr>
          <p:cNvPr id="20" name="TextBox 20"/>
          <p:cNvSpPr txBox="1"/>
          <p:nvPr/>
        </p:nvSpPr>
        <p:spPr>
          <a:xfrm>
            <a:off x="4696553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后</a:t>
            </a:r>
            <a:endParaRPr lang="zh-CN" sz="6500"/>
          </a:p>
        </p:txBody>
      </p:sp>
      <p:sp>
        <p:nvSpPr>
          <p:cNvPr id="21" name="TextBox 21"/>
          <p:cNvSpPr txBox="1"/>
          <p:nvPr/>
        </p:nvSpPr>
        <p:spPr>
          <a:xfrm>
            <a:off x="5345184" y="1056759"/>
            <a:ext cx="910999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351302"/>
                </a:solidFill>
                <a:latin typeface="Ma Shan Zheng"/>
                <a:ea typeface="Ma Shan Zheng"/>
                <a:cs typeface="Ma Shan Zheng"/>
              </a:rPr>
              <a:t>的</a:t>
            </a:r>
            <a:endParaRPr lang="zh-CN" sz="6500"/>
          </a:p>
        </p:txBody>
      </p:sp>
      <p:sp>
        <p:nvSpPr>
          <p:cNvPr id="22" name="TextBox 22"/>
          <p:cNvSpPr txBox="1"/>
          <p:nvPr/>
        </p:nvSpPr>
        <p:spPr>
          <a:xfrm>
            <a:off x="5913648" y="954727"/>
            <a:ext cx="962015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AA0009"/>
                </a:solidFill>
                <a:latin typeface="Ma Shan Zheng"/>
                <a:ea typeface="Ma Shan Zheng"/>
                <a:cs typeface="Ma Shan Zheng"/>
              </a:rPr>
              <a:t>文</a:t>
            </a:r>
            <a:endParaRPr lang="zh-CN" sz="6500"/>
          </a:p>
        </p:txBody>
      </p:sp>
      <p:sp>
        <p:nvSpPr>
          <p:cNvPr id="23" name="TextBox 23"/>
          <p:cNvSpPr txBox="1"/>
          <p:nvPr/>
        </p:nvSpPr>
        <p:spPr>
          <a:xfrm>
            <a:off x="6671599" y="954727"/>
            <a:ext cx="962015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AA0009"/>
                </a:solidFill>
                <a:latin typeface="Ma Shan Zheng"/>
                <a:ea typeface="Ma Shan Zheng"/>
                <a:cs typeface="Ma Shan Zheng"/>
              </a:rPr>
              <a:t>化</a:t>
            </a:r>
            <a:endParaRPr lang="zh-CN" sz="6500"/>
          </a:p>
        </p:txBody>
      </p:sp>
      <p:sp>
        <p:nvSpPr>
          <p:cNvPr id="24" name="TextBox 24"/>
          <p:cNvSpPr txBox="1"/>
          <p:nvPr/>
        </p:nvSpPr>
        <p:spPr>
          <a:xfrm>
            <a:off x="7444126" y="954727"/>
            <a:ext cx="962015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AA0009"/>
                </a:solidFill>
                <a:latin typeface="Ma Shan Zheng"/>
                <a:ea typeface="Ma Shan Zheng"/>
                <a:cs typeface="Ma Shan Zheng"/>
              </a:rPr>
              <a:t>密</a:t>
            </a:r>
            <a:endParaRPr lang="zh-CN" sz="6500"/>
          </a:p>
        </p:txBody>
      </p:sp>
      <p:sp>
        <p:nvSpPr>
          <p:cNvPr id="25" name="TextBox 25"/>
          <p:cNvSpPr txBox="1"/>
          <p:nvPr/>
        </p:nvSpPr>
        <p:spPr>
          <a:xfrm>
            <a:off x="8238517" y="954727"/>
            <a:ext cx="962015" cy="10567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6500">
                <a:solidFill>
                  <a:srgbClr val="AA0009"/>
                </a:solidFill>
                <a:latin typeface="Ma Shan Zheng"/>
                <a:ea typeface="Ma Shan Zheng"/>
                <a:cs typeface="Ma Shan Zheng"/>
              </a:rPr>
              <a:t>码</a:t>
            </a:r>
            <a:endParaRPr lang="zh-CN" sz="6500"/>
          </a:p>
        </p:txBody>
      </p:sp>
      <p:sp>
        <p:nvSpPr>
          <p:cNvPr id="26" name="TextBox 26"/>
          <p:cNvSpPr txBox="1"/>
          <p:nvPr/>
        </p:nvSpPr>
        <p:spPr>
          <a:xfrm>
            <a:off x="2123892" y="2098942"/>
            <a:ext cx="5538874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一碗碗家乡味道，藏着灵宝的自然、历史与人情</a:t>
            </a:r>
            <a:endParaRPr lang="zh-CN" sz="2050"/>
          </a:p>
        </p:txBody>
      </p:sp>
      <p:sp>
        <p:nvSpPr>
          <p:cNvPr id="27" name="TextBox 27"/>
          <p:cNvSpPr txBox="1"/>
          <p:nvPr/>
        </p:nvSpPr>
        <p:spPr>
          <a:xfrm>
            <a:off x="979678" y="2849605"/>
            <a:ext cx="1734542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自然环境的馈赠</a:t>
            </a:r>
            <a:endParaRPr lang="zh-CN" sz="1850"/>
          </a:p>
        </p:txBody>
      </p:sp>
      <p:sp>
        <p:nvSpPr>
          <p:cNvPr id="28" name="TextBox 28"/>
          <p:cNvSpPr txBox="1"/>
          <p:nvPr/>
        </p:nvSpPr>
        <p:spPr>
          <a:xfrm>
            <a:off x="3996906" y="2856893"/>
            <a:ext cx="1734542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历史传承的印记</a:t>
            </a:r>
            <a:endParaRPr lang="zh-CN" sz="1850"/>
          </a:p>
        </p:txBody>
      </p:sp>
      <p:sp>
        <p:nvSpPr>
          <p:cNvPr id="29" name="TextBox 29"/>
          <p:cNvSpPr txBox="1"/>
          <p:nvPr/>
        </p:nvSpPr>
        <p:spPr>
          <a:xfrm>
            <a:off x="6984983" y="2849605"/>
            <a:ext cx="1734542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人情温度的味道</a:t>
            </a:r>
            <a:endParaRPr lang="zh-CN" sz="1850"/>
          </a:p>
        </p:txBody>
      </p:sp>
      <p:sp>
        <p:nvSpPr>
          <p:cNvPr id="30" name="TextBox 30"/>
          <p:cNvSpPr txBox="1"/>
          <p:nvPr/>
        </p:nvSpPr>
        <p:spPr>
          <a:xfrm>
            <a:off x="1023406" y="3257732"/>
            <a:ext cx="149403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优质的粮食作物</a:t>
            </a:r>
            <a:endParaRPr lang="zh-CN" sz="1500"/>
          </a:p>
        </p:txBody>
      </p:sp>
      <p:sp>
        <p:nvSpPr>
          <p:cNvPr id="31" name="TextBox 31"/>
          <p:cNvSpPr txBox="1"/>
          <p:nvPr/>
        </p:nvSpPr>
        <p:spPr>
          <a:xfrm>
            <a:off x="1023406" y="3512812"/>
            <a:ext cx="149403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清澈的水源</a:t>
            </a:r>
            <a:endParaRPr lang="zh-CN" sz="1500"/>
          </a:p>
        </p:txBody>
      </p:sp>
      <p:sp>
        <p:nvSpPr>
          <p:cNvPr id="32" name="TextBox 32"/>
          <p:cNvSpPr txBox="1"/>
          <p:nvPr/>
        </p:nvSpPr>
        <p:spPr>
          <a:xfrm>
            <a:off x="1023406" y="3767892"/>
            <a:ext cx="149403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适宜的气候</a:t>
            </a:r>
            <a:endParaRPr lang="zh-CN" sz="1500"/>
          </a:p>
        </p:txBody>
      </p:sp>
      <p:sp>
        <p:nvSpPr>
          <p:cNvPr id="33" name="TextBox 33"/>
          <p:cNvSpPr txBox="1"/>
          <p:nvPr/>
        </p:nvSpPr>
        <p:spPr>
          <a:xfrm>
            <a:off x="4004194" y="3257732"/>
            <a:ext cx="171267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古老的饮食习俗</a:t>
            </a:r>
            <a:endParaRPr lang="zh-CN" sz="1500"/>
          </a:p>
        </p:txBody>
      </p:sp>
      <p:sp>
        <p:nvSpPr>
          <p:cNvPr id="34" name="TextBox 34"/>
          <p:cNvSpPr txBox="1"/>
          <p:nvPr/>
        </p:nvSpPr>
        <p:spPr>
          <a:xfrm>
            <a:off x="4004194" y="3512812"/>
            <a:ext cx="171267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一代代的手工技艺</a:t>
            </a:r>
            <a:endParaRPr lang="zh-CN" sz="1500"/>
          </a:p>
        </p:txBody>
      </p:sp>
      <p:sp>
        <p:nvSpPr>
          <p:cNvPr id="35" name="TextBox 35"/>
          <p:cNvSpPr txBox="1"/>
          <p:nvPr/>
        </p:nvSpPr>
        <p:spPr>
          <a:xfrm>
            <a:off x="4004194" y="3767892"/>
            <a:ext cx="1712678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延续至今</a:t>
            </a:r>
            <a:endParaRPr lang="zh-CN" sz="1500"/>
          </a:p>
        </p:txBody>
      </p:sp>
      <p:sp>
        <p:nvSpPr>
          <p:cNvPr id="36" name="TextBox 36"/>
          <p:cNvSpPr txBox="1"/>
          <p:nvPr/>
        </p:nvSpPr>
        <p:spPr>
          <a:xfrm>
            <a:off x="7057862" y="3257732"/>
            <a:ext cx="1588782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家人的用心制作</a:t>
            </a:r>
            <a:endParaRPr lang="zh-CN" sz="1500"/>
          </a:p>
        </p:txBody>
      </p:sp>
      <p:sp>
        <p:nvSpPr>
          <p:cNvPr id="37" name="TextBox 37"/>
          <p:cNvSpPr txBox="1"/>
          <p:nvPr/>
        </p:nvSpPr>
        <p:spPr>
          <a:xfrm>
            <a:off x="7057862" y="3512812"/>
            <a:ext cx="1588782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邻里的分享陪伴</a:t>
            </a:r>
            <a:endParaRPr lang="zh-CN" sz="1500"/>
          </a:p>
        </p:txBody>
      </p:sp>
      <p:sp>
        <p:nvSpPr>
          <p:cNvPr id="38" name="TextBox 38"/>
          <p:cNvSpPr txBox="1"/>
          <p:nvPr/>
        </p:nvSpPr>
        <p:spPr>
          <a:xfrm>
            <a:off x="7057862" y="3767892"/>
            <a:ext cx="1588782" cy="27694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170D03"/>
                </a:solidFill>
                <a:latin typeface="Noto Serif CJK SC"/>
                <a:ea typeface="Noto Serif CJK SC"/>
                <a:cs typeface="Noto Serif CJK SC"/>
              </a:rPr>
              <a:t>家乡的烟火气</a:t>
            </a:r>
            <a:endParaRPr lang="zh-CN" sz="1500"/>
          </a:p>
        </p:txBody>
      </p:sp>
      <p:sp>
        <p:nvSpPr>
          <p:cNvPr id="39" name="TextBox 39"/>
          <p:cNvSpPr txBox="1"/>
          <p:nvPr/>
        </p:nvSpPr>
        <p:spPr>
          <a:xfrm>
            <a:off x="1599157" y="5808529"/>
            <a:ext cx="9095413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>
                <a:solidFill>
                  <a:srgbClr val="261006"/>
                </a:solidFill>
                <a:latin typeface="Ma Shan Zheng"/>
                <a:ea typeface="Ma Shan Zheng"/>
                <a:cs typeface="Ma Shan Zheng"/>
              </a:rPr>
              <a:t>这些家乡味道，带给你怎样的感受？它们对灵宝这座城市意味着什么？</a:t>
            </a:r>
            <a:endParaRPr lang="zh-CN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ckground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ect 3"/>
          <p:cNvSpPr/>
          <p:nvPr/>
        </p:nvSpPr>
        <p:spPr>
          <a:xfrm>
            <a:off x="688158" y="5385826"/>
            <a:ext cx="10800803" cy="998455"/>
          </a:xfrm>
          <a:prstGeom prst="rect">
            <a:avLst/>
          </a:prstGeom>
          <a:solidFill>
            <a:srgbClr val="FFEAC0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discussion-paper-frame"/>
          <p:cNvPicPr/>
          <p:nvPr/>
        </p:nvPicPr>
        <p:blipFill>
          <a:blip r:embed="rId12"/>
          <a:stretch>
            <a:fillRect/>
          </a:stretch>
        </p:blipFill>
        <p:spPr>
          <a:xfrm>
            <a:off x="445701" y="5292452"/>
            <a:ext cx="11285710" cy="1297714"/>
          </a:xfrm>
          <a:prstGeom prst="rect">
            <a:avLst/>
          </a:prstGeom>
        </p:spPr>
      </p:pic>
      <p:pic>
        <p:nvPicPr>
          <p:cNvPr id="5" name="packaged-products"/>
          <p:cNvPicPr/>
          <p:nvPr/>
        </p:nvPicPr>
        <p:blipFill>
          <a:blip r:embed="rId3"/>
          <a:stretch>
            <a:fillRect/>
          </a:stretch>
        </p:blipFill>
        <p:spPr>
          <a:xfrm>
            <a:off x="250339" y="2771230"/>
            <a:ext cx="4013963" cy="2627379"/>
          </a:xfrm>
          <a:prstGeom prst="rect">
            <a:avLst/>
          </a:prstGeom>
        </p:spPr>
      </p:pic>
      <p:pic>
        <p:nvPicPr>
          <p:cNvPr id="6" name="culture-street"/>
          <p:cNvPicPr/>
          <p:nvPr/>
        </p:nvPicPr>
        <p:blipFill>
          <a:blip r:embed="rId4"/>
          <a:stretch>
            <a:fillRect/>
          </a:stretch>
        </p:blipFill>
        <p:spPr>
          <a:xfrm>
            <a:off x="4116181" y="2771230"/>
            <a:ext cx="3966621" cy="2627379"/>
          </a:xfrm>
          <a:prstGeom prst="rect">
            <a:avLst/>
          </a:prstGeom>
        </p:spPr>
      </p:pic>
      <p:pic>
        <p:nvPicPr>
          <p:cNvPr id="7" name="international-cuisine"/>
          <p:cNvPicPr/>
          <p:nvPr/>
        </p:nvPicPr>
        <p:blipFill>
          <a:blip r:embed="rId5"/>
          <a:stretch>
            <a:fillRect/>
          </a:stretch>
        </p:blipFill>
        <p:spPr>
          <a:xfrm>
            <a:off x="7941029" y="2771230"/>
            <a:ext cx="4045141" cy="2627379"/>
          </a:xfrm>
          <a:prstGeom prst="rect">
            <a:avLst/>
          </a:prstGeom>
        </p:spPr>
      </p:pic>
      <p:pic>
        <p:nvPicPr>
          <p:cNvPr id="8" name="top-red-brush"/>
          <p:cNvPicPr/>
          <p:nvPr/>
        </p:nvPicPr>
        <p:blipFill>
          <a:blip r:embed="rId6"/>
          <a:stretch>
            <a:fillRect/>
          </a:stretch>
        </p:blipFill>
        <p:spPr>
          <a:xfrm>
            <a:off x="256446" y="180473"/>
            <a:ext cx="3669300" cy="958006"/>
          </a:xfrm>
          <a:prstGeom prst="rect">
            <a:avLst/>
          </a:prstGeom>
        </p:spPr>
      </p:pic>
      <p:pic>
        <p:nvPicPr>
          <p:cNvPr id="9" name="subtitle-red-brush"/>
          <p:cNvPicPr/>
          <p:nvPr/>
        </p:nvPicPr>
        <p:blipFill>
          <a:blip r:embed="rId7"/>
          <a:stretch>
            <a:fillRect/>
          </a:stretch>
        </p:blipFill>
        <p:spPr>
          <a:xfrm>
            <a:off x="1166083" y="1939648"/>
            <a:ext cx="8554972" cy="768657"/>
          </a:xfrm>
          <a:prstGeom prst="rect">
            <a:avLst/>
          </a:prstGeom>
        </p:spPr>
      </p:pic>
      <p:pic>
        <p:nvPicPr>
          <p:cNvPr id="10" name="discussion-red-brush"/>
          <p:cNvPicPr/>
          <p:nvPr/>
        </p:nvPicPr>
        <p:blipFill>
          <a:blip r:embed="rId8"/>
          <a:stretch>
            <a:fillRect/>
          </a:stretch>
        </p:blipFill>
        <p:spPr>
          <a:xfrm>
            <a:off x="689083" y="5365142"/>
            <a:ext cx="2592681" cy="952562"/>
          </a:xfrm>
          <a:prstGeom prst="rect">
            <a:avLst/>
          </a:prstGeom>
        </p:spPr>
      </p:pic>
      <p:pic>
        <p:nvPicPr>
          <p:cNvPr id="11" name="product-cream-brush"/>
          <p:cNvPicPr/>
          <p:nvPr/>
        </p:nvPicPr>
        <p:blipFill>
          <a:blip r:embed="rId9"/>
          <a:stretch>
            <a:fillRect/>
          </a:stretch>
        </p:blipFill>
        <p:spPr>
          <a:xfrm>
            <a:off x="790780" y="2570387"/>
            <a:ext cx="2994191" cy="1004373"/>
          </a:xfrm>
          <a:prstGeom prst="rect">
            <a:avLst/>
          </a:prstGeom>
        </p:spPr>
      </p:pic>
      <p:pic>
        <p:nvPicPr>
          <p:cNvPr id="12" name="culture-cream-brush"/>
          <p:cNvPicPr/>
          <p:nvPr/>
        </p:nvPicPr>
        <p:blipFill>
          <a:blip r:embed="rId10"/>
          <a:stretch>
            <a:fillRect/>
          </a:stretch>
        </p:blipFill>
        <p:spPr>
          <a:xfrm>
            <a:off x="4627769" y="2582398"/>
            <a:ext cx="3016332" cy="990620"/>
          </a:xfrm>
          <a:prstGeom prst="rect">
            <a:avLst/>
          </a:prstGeom>
        </p:spPr>
      </p:pic>
      <p:pic>
        <p:nvPicPr>
          <p:cNvPr id="13" name="international-cream-brush"/>
          <p:cNvPicPr/>
          <p:nvPr/>
        </p:nvPicPr>
        <p:blipFill>
          <a:blip r:embed="rId11"/>
          <a:stretch>
            <a:fillRect/>
          </a:stretch>
        </p:blipFill>
        <p:spPr>
          <a:xfrm>
            <a:off x="8432101" y="2577150"/>
            <a:ext cx="3016332" cy="995860"/>
          </a:xfrm>
          <a:prstGeom prst="rect">
            <a:avLst/>
          </a:prstGeom>
        </p:spPr>
      </p:pic>
      <p:pic>
        <p:nvPicPr>
          <p:cNvPr id="14" name="orange-ring-bullet"/>
          <p:cNvPicPr/>
          <p:nvPr/>
        </p:nvPicPr>
        <p:blipFill>
          <a:blip r:embed="rId13"/>
          <a:stretch>
            <a:fillRect/>
          </a:stretch>
        </p:blipFill>
        <p:spPr>
          <a:xfrm>
            <a:off x="3507087" y="5588191"/>
            <a:ext cx="279997" cy="287628"/>
          </a:xfrm>
          <a:prstGeom prst="rect">
            <a:avLst/>
          </a:prstGeom>
        </p:spPr>
      </p:pic>
      <p:pic>
        <p:nvPicPr>
          <p:cNvPr id="15" name="orange-ring-bullet"/>
          <p:cNvPicPr/>
          <p:nvPr/>
        </p:nvPicPr>
        <p:blipFill>
          <a:blip r:embed="rId14"/>
          <a:stretch>
            <a:fillRect/>
          </a:stretch>
        </p:blipFill>
        <p:spPr>
          <a:xfrm>
            <a:off x="3507087" y="5945303"/>
            <a:ext cx="279997" cy="28762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05605" y="459143"/>
            <a:ext cx="1770982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走向更远</a:t>
            </a:r>
            <a:endParaRPr lang="zh-CN" sz="3200"/>
          </a:p>
        </p:txBody>
      </p:sp>
      <p:sp>
        <p:nvSpPr>
          <p:cNvPr id="17" name="TextBox 17"/>
          <p:cNvSpPr txBox="1"/>
          <p:nvPr/>
        </p:nvSpPr>
        <p:spPr>
          <a:xfrm>
            <a:off x="914086" y="1056759"/>
            <a:ext cx="4773634" cy="9547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00">
                <a:solidFill>
                  <a:srgbClr val="2A0C00"/>
                </a:solidFill>
                <a:latin typeface="Ma Shan Zheng"/>
                <a:ea typeface="Ma Shan Zheng"/>
                <a:cs typeface="Ma Shan Zheng"/>
              </a:rPr>
              <a:t>家乡味道如何</a:t>
            </a:r>
            <a:endParaRPr lang="zh-CN" sz="6200"/>
          </a:p>
        </p:txBody>
      </p:sp>
      <p:sp>
        <p:nvSpPr>
          <p:cNvPr id="18" name="TextBox 18"/>
          <p:cNvSpPr txBox="1"/>
          <p:nvPr/>
        </p:nvSpPr>
        <p:spPr>
          <a:xfrm>
            <a:off x="5563824" y="1056759"/>
            <a:ext cx="3206716" cy="95472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6200">
                <a:solidFill>
                  <a:srgbClr val="AD0000"/>
                </a:solidFill>
                <a:latin typeface="Ma Shan Zheng"/>
                <a:ea typeface="Ma Shan Zheng"/>
                <a:cs typeface="Ma Shan Zheng"/>
              </a:rPr>
              <a:t>走向世界</a:t>
            </a:r>
            <a:endParaRPr lang="zh-CN" sz="6200"/>
          </a:p>
        </p:txBody>
      </p:sp>
      <p:sp>
        <p:nvSpPr>
          <p:cNvPr id="19" name="TextBox 19"/>
          <p:cNvSpPr txBox="1"/>
          <p:nvPr/>
        </p:nvSpPr>
        <p:spPr>
          <a:xfrm>
            <a:off x="8428005" y="1042183"/>
            <a:ext cx="947439" cy="9328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00">
                <a:solidFill>
                  <a:srgbClr val="AD0000"/>
                </a:solidFill>
                <a:latin typeface="Ma Shan Zheng"/>
                <a:ea typeface="Ma Shan Zheng"/>
                <a:cs typeface="Ma Shan Zheng"/>
              </a:rPr>
              <a:t>？</a:t>
            </a:r>
            <a:endParaRPr lang="zh-CN" sz="7000"/>
          </a:p>
        </p:txBody>
      </p:sp>
      <p:sp>
        <p:nvSpPr>
          <p:cNvPr id="20" name="TextBox 20"/>
          <p:cNvSpPr txBox="1"/>
          <p:nvPr/>
        </p:nvSpPr>
        <p:spPr>
          <a:xfrm>
            <a:off x="1919828" y="2120806"/>
            <a:ext cx="7193248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一碗家乡味，连接更大的世界，让更多人认识灵宝、爱上灵宝</a:t>
            </a:r>
            <a:endParaRPr lang="zh-CN" sz="2000"/>
          </a:p>
        </p:txBody>
      </p:sp>
      <p:sp>
        <p:nvSpPr>
          <p:cNvPr id="21" name="TextBox 21"/>
          <p:cNvSpPr txBox="1"/>
          <p:nvPr/>
        </p:nvSpPr>
        <p:spPr>
          <a:xfrm>
            <a:off x="1198317" y="2769437"/>
            <a:ext cx="2186397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特色产品化</a:t>
            </a:r>
            <a:endParaRPr lang="zh-CN" sz="2400"/>
          </a:p>
        </p:txBody>
      </p:sp>
      <p:sp>
        <p:nvSpPr>
          <p:cNvPr id="22" name="TextBox 22"/>
          <p:cNvSpPr txBox="1"/>
          <p:nvPr/>
        </p:nvSpPr>
        <p:spPr>
          <a:xfrm>
            <a:off x="1103573" y="3148412"/>
            <a:ext cx="2390461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让家乡味道走出灵宝</a:t>
            </a:r>
            <a:endParaRPr lang="zh-CN" sz="1400"/>
          </a:p>
        </p:txBody>
      </p:sp>
      <p:sp>
        <p:nvSpPr>
          <p:cNvPr id="23" name="TextBox 23"/>
          <p:cNvSpPr txBox="1"/>
          <p:nvPr/>
        </p:nvSpPr>
        <p:spPr>
          <a:xfrm>
            <a:off x="5031801" y="2769437"/>
            <a:ext cx="2186397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文旅融合化</a:t>
            </a:r>
            <a:endParaRPr lang="zh-CN" sz="2400"/>
          </a:p>
        </p:txBody>
      </p:sp>
      <p:sp>
        <p:nvSpPr>
          <p:cNvPr id="24" name="TextBox 24"/>
          <p:cNvSpPr txBox="1"/>
          <p:nvPr/>
        </p:nvSpPr>
        <p:spPr>
          <a:xfrm>
            <a:off x="4937057" y="3148412"/>
            <a:ext cx="2390461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让家乡味道遇见更多人</a:t>
            </a:r>
            <a:endParaRPr lang="zh-CN" sz="1400"/>
          </a:p>
        </p:txBody>
      </p:sp>
      <p:sp>
        <p:nvSpPr>
          <p:cNvPr id="25" name="TextBox 25"/>
          <p:cNvSpPr txBox="1"/>
          <p:nvPr/>
        </p:nvSpPr>
        <p:spPr>
          <a:xfrm>
            <a:off x="8843420" y="2769437"/>
            <a:ext cx="2186397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走向国际化</a:t>
            </a:r>
            <a:endParaRPr lang="zh-CN" sz="2400"/>
          </a:p>
        </p:txBody>
      </p:sp>
      <p:sp>
        <p:nvSpPr>
          <p:cNvPr id="26" name="TextBox 26"/>
          <p:cNvSpPr txBox="1"/>
          <p:nvPr/>
        </p:nvSpPr>
        <p:spPr>
          <a:xfrm>
            <a:off x="8748677" y="3148412"/>
            <a:ext cx="2390461" cy="24779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2B1004"/>
                </a:solidFill>
                <a:latin typeface="Ma Shan Zheng"/>
                <a:ea typeface="Ma Shan Zheng"/>
                <a:cs typeface="Ma Shan Zheng"/>
              </a:rPr>
              <a:t>让家乡味道走上世界舞台</a:t>
            </a:r>
            <a:endParaRPr lang="zh-CN" sz="1400"/>
          </a:p>
        </p:txBody>
      </p:sp>
      <p:sp>
        <p:nvSpPr>
          <p:cNvPr id="27" name="TextBox 27"/>
          <p:cNvSpPr txBox="1"/>
          <p:nvPr/>
        </p:nvSpPr>
        <p:spPr>
          <a:xfrm>
            <a:off x="1191029" y="5575313"/>
            <a:ext cx="1603358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0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小组讨论</a:t>
            </a:r>
            <a:endParaRPr lang="zh-CN" sz="3000"/>
          </a:p>
        </p:txBody>
      </p:sp>
      <p:sp>
        <p:nvSpPr>
          <p:cNvPr id="28" name="TextBox 28"/>
          <p:cNvSpPr txBox="1"/>
          <p:nvPr/>
        </p:nvSpPr>
        <p:spPr>
          <a:xfrm>
            <a:off x="3887586" y="5582601"/>
            <a:ext cx="5538874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241004"/>
                </a:solidFill>
                <a:latin typeface="Ma Shan Zheng"/>
                <a:ea typeface="Ma Shan Zheng"/>
                <a:cs typeface="Ma Shan Zheng"/>
              </a:rPr>
              <a:t>我们可以用哪些方法让灵宝的家乡味道被更多人知道？</a:t>
            </a:r>
            <a:endParaRPr lang="zh-CN" sz="1750"/>
          </a:p>
        </p:txBody>
      </p:sp>
      <p:sp>
        <p:nvSpPr>
          <p:cNvPr id="29" name="TextBox 29"/>
          <p:cNvSpPr txBox="1"/>
          <p:nvPr/>
        </p:nvSpPr>
        <p:spPr>
          <a:xfrm>
            <a:off x="3887586" y="5939713"/>
            <a:ext cx="5210914" cy="30609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>
                <a:solidFill>
                  <a:srgbClr val="241004"/>
                </a:solidFill>
                <a:latin typeface="Ma Shan Zheng"/>
                <a:ea typeface="Ma Shan Zheng"/>
                <a:cs typeface="Ma Shan Zheng"/>
              </a:rPr>
              <a:t>作为小学生，我们能为家乡味道的传播做些什么？</a:t>
            </a:r>
            <a:endParaRPr lang="zh-CN" sz="1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tin source edit: original landscape/castle cleaned of all rebuilt foreground; castle signage retained only as incidental architecture identity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Roundrect 3"/>
          <p:cNvSpPr/>
          <p:nvPr/>
        </p:nvSpPr>
        <p:spPr>
          <a:xfrm>
            <a:off x="527822" y="2084366"/>
            <a:ext cx="3541964" cy="2696557"/>
          </a:xfrm>
          <a:prstGeom prst="roundRect">
            <a:avLst>
              <a:gd name="adj" fmla="val 9459"/>
            </a:avLst>
          </a:prstGeom>
          <a:solidFill>
            <a:srgbClr val="FFF0C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4200970" y="2084366"/>
            <a:ext cx="3738740" cy="2696557"/>
          </a:xfrm>
          <a:prstGeom prst="roundRect">
            <a:avLst>
              <a:gd name="adj" fmla="val 9459"/>
            </a:avLst>
          </a:prstGeom>
          <a:solidFill>
            <a:srgbClr val="FFF0CF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049029" y="2084366"/>
            <a:ext cx="3680436" cy="2696557"/>
          </a:xfrm>
          <a:prstGeom prst="roundRect">
            <a:avLst>
              <a:gd name="adj" fmla="val 9459"/>
            </a:avLst>
          </a:prstGeom>
          <a:solidFill>
            <a:srgbClr val="FFF0C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Source noodle-bowl photo separated alone with rough photo edges, no card or labels."/>
          <p:cNvPicPr/>
          <p:nvPr/>
        </p:nvPicPr>
        <p:blipFill>
          <a:blip r:embed="rId6"/>
          <a:stretch>
            <a:fillRect/>
          </a:stretch>
        </p:blipFill>
        <p:spPr>
          <a:xfrm>
            <a:off x="556100" y="3175538"/>
            <a:ext cx="3478121" cy="1552247"/>
          </a:xfrm>
          <a:prstGeom prst="rect">
            <a:avLst/>
          </a:prstGeom>
        </p:spPr>
      </p:pic>
      <p:pic>
        <p:nvPicPr>
          <p:cNvPr id="7" name="Source red delivery truck/road/world-map scene separated alone; ordinary side copy removed and rebuilt natively."/>
          <p:cNvPicPr/>
          <p:nvPr/>
        </p:nvPicPr>
        <p:blipFill>
          <a:blip r:embed="rId7"/>
          <a:stretch>
            <a:fillRect/>
          </a:stretch>
        </p:blipFill>
        <p:spPr>
          <a:xfrm>
            <a:off x="4222826" y="3212962"/>
            <a:ext cx="3644010" cy="1480679"/>
          </a:xfrm>
          <a:prstGeom prst="rect">
            <a:avLst/>
          </a:prstGeom>
        </p:spPr>
      </p:pic>
      <p:pic>
        <p:nvPicPr>
          <p:cNvPr id="8" name="Source chef and adults sharing food on original street, separated photo only; no card copy."/>
          <p:cNvPicPr/>
          <p:nvPr/>
        </p:nvPicPr>
        <p:blipFill>
          <a:blip r:embed="rId8"/>
          <a:stretch>
            <a:fillRect/>
          </a:stretch>
        </p:blipFill>
        <p:spPr>
          <a:xfrm>
            <a:off x="8089725" y="3270559"/>
            <a:ext cx="3613619" cy="1477108"/>
          </a:xfrm>
          <a:prstGeom prst="rect">
            <a:avLst/>
          </a:prstGeom>
        </p:spPr>
      </p:pic>
      <p:pic>
        <p:nvPicPr>
          <p:cNvPr id="9" name="Original rough paper/gold frame ring separated by builtin source edit, alpha processed by CLI. Same source frame identity applied to all matching card frames; all interiors remain native structure and text."/>
          <p:cNvPicPr/>
          <p:nvPr/>
        </p:nvPicPr>
        <p:blipFill>
          <a:blip r:embed="rId3"/>
          <a:stretch>
            <a:fillRect/>
          </a:stretch>
        </p:blipFill>
        <p:spPr>
          <a:xfrm>
            <a:off x="465728" y="2048582"/>
            <a:ext cx="3666151" cy="2793684"/>
          </a:xfrm>
          <a:prstGeom prst="rect">
            <a:avLst/>
          </a:prstGeom>
        </p:spPr>
      </p:pic>
      <p:pic>
        <p:nvPicPr>
          <p:cNvPr id="10" name="Original rough paper/gold frame ring separated by builtin source edit, alpha processed by CLI. Same source frame identity applied to all matching card frames; all interiors remain native structure and text."/>
          <p:cNvPicPr/>
          <p:nvPr/>
        </p:nvPicPr>
        <p:blipFill>
          <a:blip r:embed="rId4"/>
          <a:stretch>
            <a:fillRect/>
          </a:stretch>
        </p:blipFill>
        <p:spPr>
          <a:xfrm>
            <a:off x="4135429" y="2048582"/>
            <a:ext cx="3869829" cy="2793684"/>
          </a:xfrm>
          <a:prstGeom prst="rect">
            <a:avLst/>
          </a:prstGeom>
        </p:spPr>
      </p:pic>
      <p:pic>
        <p:nvPicPr>
          <p:cNvPr id="11" name="Original rough paper/gold frame ring separated by builtin source edit, alpha processed by CLI. Same source frame identity applied to all matching card frames; all interiors remain native structure and text."/>
          <p:cNvPicPr/>
          <p:nvPr/>
        </p:nvPicPr>
        <p:blipFill>
          <a:blip r:embed="rId5"/>
          <a:stretch>
            <a:fillRect/>
          </a:stretch>
        </p:blipFill>
        <p:spPr>
          <a:xfrm>
            <a:off x="7984509" y="2048582"/>
            <a:ext cx="3809477" cy="2793684"/>
          </a:xfrm>
          <a:prstGeom prst="rect">
            <a:avLst/>
          </a:prstGeom>
        </p:spPr>
      </p:pic>
      <p:pic>
        <p:nvPicPr>
          <p:cNvPr id="12" name="Source semantic home_badge separated with original cream icon/red brush circle, no ordinary letters."/>
          <p:cNvPicPr/>
          <p:nvPr/>
        </p:nvPicPr>
        <p:blipFill>
          <a:blip r:embed="rId10"/>
          <a:stretch>
            <a:fillRect/>
          </a:stretch>
        </p:blipFill>
        <p:spPr>
          <a:xfrm>
            <a:off x="911302" y="2090976"/>
            <a:ext cx="763519" cy="737275"/>
          </a:xfrm>
          <a:prstGeom prst="rect">
            <a:avLst/>
          </a:prstGeom>
        </p:spPr>
      </p:pic>
      <p:pic>
        <p:nvPicPr>
          <p:cNvPr id="13" name="Source semantic globe_badge separated with original cream icon/red brush circle, no ordinary letters."/>
          <p:cNvPicPr/>
          <p:nvPr/>
        </p:nvPicPr>
        <p:blipFill>
          <a:blip r:embed="rId11"/>
          <a:stretch>
            <a:fillRect/>
          </a:stretch>
        </p:blipFill>
        <p:spPr>
          <a:xfrm>
            <a:off x="4464008" y="2094182"/>
            <a:ext cx="800345" cy="733857"/>
          </a:xfrm>
          <a:prstGeom prst="rect">
            <a:avLst/>
          </a:prstGeom>
        </p:spPr>
      </p:pic>
      <p:pic>
        <p:nvPicPr>
          <p:cNvPr id="14" name="Source semantic people_badge separated with original cream icon/red brush circle, no ordinary letters."/>
          <p:cNvPicPr/>
          <p:nvPr/>
        </p:nvPicPr>
        <p:blipFill>
          <a:blip r:embed="rId12"/>
          <a:stretch>
            <a:fillRect/>
          </a:stretch>
        </p:blipFill>
        <p:spPr>
          <a:xfrm>
            <a:off x="8357413" y="2094438"/>
            <a:ext cx="797102" cy="730475"/>
          </a:xfrm>
          <a:prstGeom prst="rect">
            <a:avLst/>
          </a:prstGeom>
        </p:spPr>
      </p:pic>
      <p:pic>
        <p:nvPicPr>
          <p:cNvPr id="15" name="Exact source four-child back-view group separated as one object, same uniforms, scarves, poses and spacing; no new faces."/>
          <p:cNvPicPr/>
          <p:nvPr/>
        </p:nvPicPr>
        <p:blipFill>
          <a:blip r:embed="rId9"/>
          <a:stretch>
            <a:fillRect/>
          </a:stretch>
        </p:blipFill>
        <p:spPr>
          <a:xfrm>
            <a:off x="3154261" y="4500422"/>
            <a:ext cx="4855573" cy="1471999"/>
          </a:xfrm>
          <a:prstGeom prst="rect">
            <a:avLst/>
          </a:prstGeom>
        </p:spPr>
      </p:pic>
      <p:pic>
        <p:nvPicPr>
          <p:cNvPr id="16" name="Source thin red brush banner separated and all ordinary white copy removed."/>
          <p:cNvPicPr/>
          <p:nvPr/>
        </p:nvPicPr>
        <p:blipFill>
          <a:blip r:embed="rId13"/>
          <a:stretch>
            <a:fillRect/>
          </a:stretch>
        </p:blipFill>
        <p:spPr>
          <a:xfrm>
            <a:off x="1939878" y="1289974"/>
            <a:ext cx="6570110" cy="699647"/>
          </a:xfrm>
          <a:prstGeom prst="rect">
            <a:avLst/>
          </a:prstGeom>
        </p:spPr>
      </p:pic>
      <p:pic>
        <p:nvPicPr>
          <p:cNvPr id="17" name="Source broad red brush banner separated and all ordinary white copy removed."/>
          <p:cNvPicPr/>
          <p:nvPr/>
        </p:nvPicPr>
        <p:blipFill>
          <a:blip r:embed="rId14"/>
          <a:stretch>
            <a:fillRect/>
          </a:stretch>
        </p:blipFill>
        <p:spPr>
          <a:xfrm>
            <a:off x="2552062" y="5603861"/>
            <a:ext cx="7209646" cy="1228719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00349" y="459143"/>
            <a:ext cx="2929773" cy="9037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6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家乡味道</a:t>
            </a:r>
            <a:endParaRPr lang="zh-CN" sz="5600"/>
          </a:p>
        </p:txBody>
      </p:sp>
      <p:sp>
        <p:nvSpPr>
          <p:cNvPr id="19" name="TextBox 19"/>
          <p:cNvSpPr txBox="1"/>
          <p:nvPr/>
        </p:nvSpPr>
        <p:spPr>
          <a:xfrm>
            <a:off x="4193682" y="648631"/>
            <a:ext cx="1151503" cy="66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42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连接</a:t>
            </a:r>
            <a:endParaRPr lang="zh-CN" sz="4200"/>
          </a:p>
        </p:txBody>
      </p:sp>
      <p:sp>
        <p:nvSpPr>
          <p:cNvPr id="20" name="TextBox 20"/>
          <p:cNvSpPr txBox="1"/>
          <p:nvPr/>
        </p:nvSpPr>
        <p:spPr>
          <a:xfrm>
            <a:off x="5345184" y="422704"/>
            <a:ext cx="3520100" cy="962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>
                <a:solidFill>
                  <a:srgbClr val="BE0000"/>
                </a:solidFill>
                <a:latin typeface="Ma Shan Zheng"/>
                <a:ea typeface="Ma Shan Zheng"/>
                <a:cs typeface="Ma Shan Zheng"/>
              </a:rPr>
              <a:t>更大的世界</a:t>
            </a:r>
            <a:endParaRPr lang="zh-CN" sz="5400"/>
          </a:p>
        </p:txBody>
      </p:sp>
      <p:sp>
        <p:nvSpPr>
          <p:cNvPr id="21" name="TextBox 21"/>
          <p:cNvSpPr txBox="1"/>
          <p:nvPr/>
        </p:nvSpPr>
        <p:spPr>
          <a:xfrm>
            <a:off x="2634052" y="1421158"/>
            <a:ext cx="520362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FFF6DE"/>
                </a:solidFill>
                <a:latin typeface="Ma Shan Zheng"/>
                <a:ea typeface="Ma Shan Zheng"/>
                <a:cs typeface="Ma Shan Zheng"/>
              </a:rPr>
              <a:t>从一碗家乡味道出发</a:t>
            </a:r>
            <a:r>
              <a:rPr lang="zh-CN" sz="2050">
                <a:solidFill>
                  <a:srgbClr val="FFF6DE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2050">
                <a:solidFill>
                  <a:srgbClr val="FFF6DE"/>
                </a:solidFill>
                <a:latin typeface="Ma Shan Zheng"/>
                <a:ea typeface="Ma Shan Zheng"/>
                <a:cs typeface="Ma Shan Zheng"/>
              </a:rPr>
              <a:t>看见更广阔的天地</a:t>
            </a:r>
            <a:endParaRPr lang="zh-CN" sz="2050"/>
          </a:p>
        </p:txBody>
      </p:sp>
      <p:sp>
        <p:nvSpPr>
          <p:cNvPr id="22" name="TextBox 22"/>
          <p:cNvSpPr txBox="1"/>
          <p:nvPr/>
        </p:nvSpPr>
        <p:spPr>
          <a:xfrm>
            <a:off x="1730341" y="2230125"/>
            <a:ext cx="1967758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守住家乡味</a:t>
            </a:r>
            <a:endParaRPr lang="zh-CN" sz="2450"/>
          </a:p>
        </p:txBody>
      </p:sp>
      <p:sp>
        <p:nvSpPr>
          <p:cNvPr id="23" name="TextBox 23"/>
          <p:cNvSpPr txBox="1"/>
          <p:nvPr/>
        </p:nvSpPr>
        <p:spPr>
          <a:xfrm>
            <a:off x="5286881" y="2230125"/>
            <a:ext cx="2368597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走向更远的地方</a:t>
            </a:r>
            <a:endParaRPr lang="zh-CN" sz="2450"/>
          </a:p>
        </p:txBody>
      </p:sp>
      <p:sp>
        <p:nvSpPr>
          <p:cNvPr id="24" name="TextBox 24"/>
          <p:cNvSpPr txBox="1"/>
          <p:nvPr/>
        </p:nvSpPr>
        <p:spPr>
          <a:xfrm>
            <a:off x="9149516" y="2230125"/>
            <a:ext cx="2186397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连接更多的人</a:t>
            </a:r>
            <a:endParaRPr lang="zh-CN" sz="2450"/>
          </a:p>
        </p:txBody>
      </p:sp>
      <p:sp>
        <p:nvSpPr>
          <p:cNvPr id="25" name="TextBox 25"/>
          <p:cNvSpPr txBox="1"/>
          <p:nvPr/>
        </p:nvSpPr>
        <p:spPr>
          <a:xfrm>
            <a:off x="782902" y="2762149"/>
            <a:ext cx="3046380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传承家乡味道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endParaRPr lang="zh-CN" sz="1400"/>
          </a:p>
        </p:txBody>
      </p:sp>
      <p:sp>
        <p:nvSpPr>
          <p:cNvPr id="26" name="TextBox 26"/>
          <p:cNvSpPr txBox="1"/>
          <p:nvPr/>
        </p:nvSpPr>
        <p:spPr>
          <a:xfrm>
            <a:off x="731886" y="3002652"/>
            <a:ext cx="3206716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让这份独特的美好一直延续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400"/>
          </a:p>
        </p:txBody>
      </p:sp>
      <p:sp>
        <p:nvSpPr>
          <p:cNvPr id="27" name="TextBox 27"/>
          <p:cNvSpPr txBox="1"/>
          <p:nvPr/>
        </p:nvSpPr>
        <p:spPr>
          <a:xfrm>
            <a:off x="4521641" y="2762149"/>
            <a:ext cx="3060956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让家乡味道走出灵宝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endParaRPr lang="zh-CN" sz="1400"/>
          </a:p>
        </p:txBody>
      </p:sp>
      <p:sp>
        <p:nvSpPr>
          <p:cNvPr id="28" name="TextBox 28"/>
          <p:cNvSpPr txBox="1"/>
          <p:nvPr/>
        </p:nvSpPr>
        <p:spPr>
          <a:xfrm>
            <a:off x="4521641" y="3002652"/>
            <a:ext cx="3060956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被更多人看见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、</a:t>
            </a:r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喜欢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400"/>
          </a:p>
        </p:txBody>
      </p:sp>
      <p:sp>
        <p:nvSpPr>
          <p:cNvPr id="29" name="TextBox 29"/>
          <p:cNvSpPr txBox="1"/>
          <p:nvPr/>
        </p:nvSpPr>
        <p:spPr>
          <a:xfrm>
            <a:off x="8260381" y="2762149"/>
            <a:ext cx="325773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用家乡味道讲好灵宝故事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endParaRPr lang="zh-CN" sz="1400"/>
          </a:p>
        </p:txBody>
      </p:sp>
      <p:sp>
        <p:nvSpPr>
          <p:cNvPr id="30" name="TextBox 30"/>
          <p:cNvSpPr txBox="1"/>
          <p:nvPr/>
        </p:nvSpPr>
        <p:spPr>
          <a:xfrm>
            <a:off x="8260381" y="3002652"/>
            <a:ext cx="3257732" cy="26236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00">
                <a:solidFill>
                  <a:srgbClr val="3B1607"/>
                </a:solidFill>
                <a:latin typeface="Ma Shan Zheng"/>
                <a:ea typeface="Ma Shan Zheng"/>
                <a:cs typeface="Ma Shan Zheng"/>
              </a:rPr>
              <a:t>让家乡文化走向世界舞台</a:t>
            </a:r>
            <a:r>
              <a:rPr lang="zh-CN" sz="1400">
                <a:solidFill>
                  <a:srgbClr val="3B1607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400"/>
          </a:p>
        </p:txBody>
      </p:sp>
      <p:sp>
        <p:nvSpPr>
          <p:cNvPr id="31" name="TextBox 31"/>
          <p:cNvSpPr txBox="1"/>
          <p:nvPr/>
        </p:nvSpPr>
        <p:spPr>
          <a:xfrm rot="-780000">
            <a:off x="5272305" y="3695012"/>
            <a:ext cx="670495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A32310"/>
                </a:solidFill>
                <a:latin typeface="Ma Shan Zheng"/>
                <a:ea typeface="Ma Shan Zheng"/>
                <a:cs typeface="Ma Shan Zheng"/>
              </a:rPr>
              <a:t>灵宝味道</a:t>
            </a:r>
            <a:endParaRPr lang="zh-CN" sz="1080"/>
          </a:p>
        </p:txBody>
      </p:sp>
      <p:sp>
        <p:nvSpPr>
          <p:cNvPr id="32" name="TextBox 32"/>
          <p:cNvSpPr txBox="1"/>
          <p:nvPr/>
        </p:nvSpPr>
        <p:spPr>
          <a:xfrm rot="-780000">
            <a:off x="5272305" y="3891787"/>
            <a:ext cx="670495" cy="2186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80">
                <a:solidFill>
                  <a:srgbClr val="A32310"/>
                </a:solidFill>
                <a:latin typeface="Ma Shan Zheng"/>
                <a:ea typeface="Ma Shan Zheng"/>
                <a:cs typeface="Ma Shan Zheng"/>
              </a:rPr>
              <a:t>走向世界</a:t>
            </a:r>
            <a:endParaRPr lang="zh-CN" sz="1080"/>
          </a:p>
        </p:txBody>
      </p:sp>
      <p:sp>
        <p:nvSpPr>
          <p:cNvPr id="33" name="TextBox 33"/>
          <p:cNvSpPr txBox="1"/>
          <p:nvPr/>
        </p:nvSpPr>
        <p:spPr>
          <a:xfrm>
            <a:off x="4324866" y="5757513"/>
            <a:ext cx="357111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8E5"/>
                </a:solidFill>
                <a:latin typeface="Ma Shan Zheng"/>
                <a:ea typeface="Ma Shan Zheng"/>
                <a:cs typeface="Ma Shan Zheng"/>
              </a:rPr>
              <a:t>从家乡味道出发</a:t>
            </a:r>
            <a:r>
              <a:rPr lang="zh-CN" sz="2350">
                <a:solidFill>
                  <a:srgbClr val="FFF8E5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endParaRPr lang="zh-CN" sz="2350"/>
          </a:p>
        </p:txBody>
      </p:sp>
      <p:sp>
        <p:nvSpPr>
          <p:cNvPr id="34" name="TextBox 34"/>
          <p:cNvSpPr txBox="1"/>
          <p:nvPr/>
        </p:nvSpPr>
        <p:spPr>
          <a:xfrm>
            <a:off x="3217091" y="6136489"/>
            <a:ext cx="57866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>
                <a:solidFill>
                  <a:srgbClr val="FFF8E5"/>
                </a:solidFill>
                <a:latin typeface="Ma Shan Zheng"/>
                <a:ea typeface="Ma Shan Zheng"/>
                <a:cs typeface="Ma Shan Zheng"/>
              </a:rPr>
              <a:t>走向更大的世界</a:t>
            </a:r>
            <a:r>
              <a:rPr lang="zh-CN" sz="2350">
                <a:solidFill>
                  <a:srgbClr val="FFF8E5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2350">
                <a:solidFill>
                  <a:srgbClr val="FFF8E5"/>
                </a:solidFill>
                <a:latin typeface="Ma Shan Zheng"/>
                <a:ea typeface="Ma Shan Zheng"/>
                <a:cs typeface="Ma Shan Zheng"/>
              </a:rPr>
              <a:t>让更多人爱上灵宝</a:t>
            </a:r>
            <a:r>
              <a:rPr lang="zh-CN" sz="2350">
                <a:solidFill>
                  <a:srgbClr val="FFF8E5"/>
                </a:solidFill>
                <a:latin typeface="Noto Serif CJK SC"/>
                <a:ea typeface="Noto Serif CJK SC"/>
                <a:cs typeface="Noto Serif CJK SC"/>
              </a:rPr>
              <a:t>！</a:t>
            </a:r>
            <a:endParaRPr lang="zh-CN" sz="2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red-connectors"/>
          <p:cNvPicPr/>
          <p:nvPr/>
        </p:nvPicPr>
        <p:blipFill>
          <a:blip r:embed="rId3"/>
          <a:stretch>
            <a:fillRect/>
          </a:stretch>
        </p:blipFill>
        <p:spPr>
          <a:xfrm>
            <a:off x="3879198" y="3730411"/>
            <a:ext cx="4463267" cy="1168161"/>
          </a:xfrm>
          <a:prstGeom prst="rect">
            <a:avLst/>
          </a:prstGeom>
        </p:spPr>
      </p:pic>
      <p:pic>
        <p:nvPicPr>
          <p:cNvPr id="4" name="paper-left"/>
          <p:cNvPicPr/>
          <p:nvPr/>
        </p:nvPicPr>
        <p:blipFill>
          <a:blip r:embed="rId4"/>
          <a:stretch>
            <a:fillRect/>
          </a:stretch>
        </p:blipFill>
        <p:spPr>
          <a:xfrm>
            <a:off x="402640" y="2143944"/>
            <a:ext cx="3808404" cy="2672972"/>
          </a:xfrm>
          <a:prstGeom prst="rect">
            <a:avLst/>
          </a:prstGeom>
        </p:spPr>
      </p:pic>
      <p:pic>
        <p:nvPicPr>
          <p:cNvPr id="5" name="paper-center"/>
          <p:cNvPicPr/>
          <p:nvPr/>
        </p:nvPicPr>
        <p:blipFill>
          <a:blip r:embed="rId5"/>
          <a:stretch>
            <a:fillRect/>
          </a:stretch>
        </p:blipFill>
        <p:spPr>
          <a:xfrm>
            <a:off x="4269322" y="2108046"/>
            <a:ext cx="3740738" cy="2784575"/>
          </a:xfrm>
          <a:prstGeom prst="rect">
            <a:avLst/>
          </a:prstGeom>
        </p:spPr>
      </p:pic>
      <p:pic>
        <p:nvPicPr>
          <p:cNvPr id="6" name="paper-right"/>
          <p:cNvPicPr/>
          <p:nvPr/>
        </p:nvPicPr>
        <p:blipFill>
          <a:blip r:embed="rId6"/>
          <a:stretch>
            <a:fillRect/>
          </a:stretch>
        </p:blipFill>
        <p:spPr>
          <a:xfrm>
            <a:off x="8096480" y="2127598"/>
            <a:ext cx="3780878" cy="2704535"/>
          </a:xfrm>
          <a:prstGeom prst="rect">
            <a:avLst/>
          </a:prstGeom>
        </p:spPr>
      </p:pic>
      <p:pic>
        <p:nvPicPr>
          <p:cNvPr id="7" name="subtitle-brush"/>
          <p:cNvPicPr/>
          <p:nvPr/>
        </p:nvPicPr>
        <p:blipFill>
          <a:blip r:embed="rId7"/>
          <a:stretch>
            <a:fillRect/>
          </a:stretch>
        </p:blipFill>
        <p:spPr>
          <a:xfrm>
            <a:off x="1615558" y="1665114"/>
            <a:ext cx="8953962" cy="650645"/>
          </a:xfrm>
          <a:prstGeom prst="rect">
            <a:avLst/>
          </a:prstGeom>
        </p:spPr>
      </p:pic>
      <p:pic>
        <p:nvPicPr>
          <p:cNvPr id="8" name="top-brush"/>
          <p:cNvPicPr/>
          <p:nvPr/>
        </p:nvPicPr>
        <p:blipFill>
          <a:blip r:embed="rId8"/>
          <a:stretch>
            <a:fillRect/>
          </a:stretch>
        </p:blipFill>
        <p:spPr>
          <a:xfrm>
            <a:off x="245639" y="257378"/>
            <a:ext cx="3135516" cy="835164"/>
          </a:xfrm>
          <a:prstGeom prst="rect">
            <a:avLst/>
          </a:prstGeom>
        </p:spPr>
      </p:pic>
      <p:pic>
        <p:nvPicPr>
          <p:cNvPr id="9" name="closing-brush"/>
          <p:cNvPicPr/>
          <p:nvPr/>
        </p:nvPicPr>
        <p:blipFill>
          <a:blip r:embed="rId9"/>
          <a:stretch>
            <a:fillRect/>
          </a:stretch>
        </p:blipFill>
        <p:spPr>
          <a:xfrm>
            <a:off x="7605486" y="4851947"/>
            <a:ext cx="4730569" cy="1560955"/>
          </a:xfrm>
          <a:prstGeom prst="rect">
            <a:avLst/>
          </a:prstGeom>
        </p:spPr>
      </p:pic>
      <p:pic>
        <p:nvPicPr>
          <p:cNvPr id="10" name="icon-bowl"/>
          <p:cNvPicPr/>
          <p:nvPr/>
        </p:nvPicPr>
        <p:blipFill>
          <a:blip r:embed="rId10"/>
          <a:stretch>
            <a:fillRect/>
          </a:stretch>
        </p:blipFill>
        <p:spPr>
          <a:xfrm>
            <a:off x="872497" y="2415297"/>
            <a:ext cx="837723" cy="722488"/>
          </a:xfrm>
          <a:prstGeom prst="rect">
            <a:avLst/>
          </a:prstGeom>
        </p:spPr>
      </p:pic>
      <p:pic>
        <p:nvPicPr>
          <p:cNvPr id="11" name="icon-book"/>
          <p:cNvPicPr/>
          <p:nvPr/>
        </p:nvPicPr>
        <p:blipFill>
          <a:blip r:embed="rId11"/>
          <a:stretch>
            <a:fillRect/>
          </a:stretch>
        </p:blipFill>
        <p:spPr>
          <a:xfrm>
            <a:off x="4728683" y="2411925"/>
            <a:ext cx="828715" cy="718388"/>
          </a:xfrm>
          <a:prstGeom prst="rect">
            <a:avLst/>
          </a:prstGeom>
        </p:spPr>
      </p:pic>
      <p:pic>
        <p:nvPicPr>
          <p:cNvPr id="12" name="icon-globe"/>
          <p:cNvPicPr/>
          <p:nvPr/>
        </p:nvPicPr>
        <p:blipFill>
          <a:blip r:embed="rId12"/>
          <a:stretch>
            <a:fillRect/>
          </a:stretch>
        </p:blipFill>
        <p:spPr>
          <a:xfrm>
            <a:off x="8558480" y="2419613"/>
            <a:ext cx="818382" cy="710579"/>
          </a:xfrm>
          <a:prstGeom prst="rect">
            <a:avLst/>
          </a:prstGeom>
        </p:spPr>
      </p:pic>
      <p:pic>
        <p:nvPicPr>
          <p:cNvPr id="13" name="noodles"/>
          <p:cNvPicPr/>
          <p:nvPr/>
        </p:nvPicPr>
        <p:blipFill>
          <a:blip r:embed="rId13"/>
          <a:stretch>
            <a:fillRect/>
          </a:stretch>
        </p:blipFill>
        <p:spPr>
          <a:xfrm>
            <a:off x="418854" y="3452059"/>
            <a:ext cx="3570411" cy="1637407"/>
          </a:xfrm>
          <a:prstGeom prst="rect">
            <a:avLst/>
          </a:prstGeom>
        </p:spPr>
      </p:pic>
      <p:pic>
        <p:nvPicPr>
          <p:cNvPr id="14" name="street"/>
          <p:cNvPicPr/>
          <p:nvPr/>
        </p:nvPicPr>
        <p:blipFill>
          <a:blip r:embed="rId14"/>
          <a:stretch>
            <a:fillRect/>
          </a:stretch>
        </p:blipFill>
        <p:spPr>
          <a:xfrm>
            <a:off x="4306190" y="3464064"/>
            <a:ext cx="3717787" cy="1504078"/>
          </a:xfrm>
          <a:prstGeom prst="rect">
            <a:avLst/>
          </a:prstGeom>
        </p:spPr>
      </p:pic>
      <p:pic>
        <p:nvPicPr>
          <p:cNvPr id="15" name="city"/>
          <p:cNvPicPr/>
          <p:nvPr/>
        </p:nvPicPr>
        <p:blipFill>
          <a:blip r:embed="rId15"/>
          <a:stretch>
            <a:fillRect/>
          </a:stretch>
        </p:blipFill>
        <p:spPr>
          <a:xfrm>
            <a:off x="8077911" y="3477801"/>
            <a:ext cx="3812159" cy="1483892"/>
          </a:xfrm>
          <a:prstGeom prst="rect">
            <a:avLst/>
          </a:prstGeom>
        </p:spPr>
      </p:pic>
      <p:sp>
        <p:nvSpPr>
          <p:cNvPr id="16" name="Line 16"/>
          <p:cNvSpPr/>
          <p:nvPr/>
        </p:nvSpPr>
        <p:spPr>
          <a:xfrm>
            <a:off x="1781357" y="2980789"/>
            <a:ext cx="1887590" cy="0"/>
          </a:xfrm>
          <a:prstGeom prst="line">
            <a:avLst/>
          </a:prstGeom>
          <a:noFill/>
          <a:ln w="6350">
            <a:solidFill>
              <a:srgbClr val="EACB8E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5614840" y="2980789"/>
            <a:ext cx="1880302" cy="0"/>
          </a:xfrm>
          <a:prstGeom prst="line">
            <a:avLst/>
          </a:prstGeom>
          <a:noFill/>
          <a:ln w="6350">
            <a:solidFill>
              <a:srgbClr val="EACB8E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9419172" y="2980789"/>
            <a:ext cx="1938606" cy="0"/>
          </a:xfrm>
          <a:prstGeom prst="line">
            <a:avLst/>
          </a:prstGeom>
          <a:noFill/>
          <a:ln w="6350">
            <a:solidFill>
              <a:srgbClr val="EACB8E"/>
            </a:solidFill>
          </a:ln>
        </p:spPr>
        <p:txBody>
          <a:bodyPr/>
          <a:lstStyle/>
          <a:p/>
        </p:txBody>
      </p:sp>
      <p:pic>
        <p:nvPicPr>
          <p:cNvPr id="19" name="children"/>
          <p:cNvPicPr/>
          <p:nvPr/>
        </p:nvPicPr>
        <p:blipFill>
          <a:blip r:embed="rId16"/>
          <a:stretch>
            <a:fillRect/>
          </a:stretch>
        </p:blipFill>
        <p:spPr>
          <a:xfrm>
            <a:off x="2528641" y="4704770"/>
            <a:ext cx="5348855" cy="1915998"/>
          </a:xfrm>
          <a:prstGeom prst="rect">
            <a:avLst/>
          </a:prstGeom>
        </p:spPr>
      </p:pic>
      <p:pic>
        <p:nvPicPr>
          <p:cNvPr id="20" name="silk-ribbon"/>
          <p:cNvPicPr/>
          <p:nvPr/>
        </p:nvPicPr>
        <p:blipFill>
          <a:blip r:embed="rId17"/>
          <a:stretch>
            <a:fillRect/>
          </a:stretch>
        </p:blipFill>
        <p:spPr>
          <a:xfrm>
            <a:off x="-142673" y="4423811"/>
            <a:ext cx="12477041" cy="2579949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 rot="-420000">
            <a:off x="965102" y="466431"/>
            <a:ext cx="1668950" cy="44456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30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课堂小结</a:t>
            </a:r>
            <a:endParaRPr lang="zh-CN" sz="3050"/>
          </a:p>
        </p:txBody>
      </p:sp>
      <p:sp>
        <p:nvSpPr>
          <p:cNvPr id="22" name="TextBox 22"/>
          <p:cNvSpPr txBox="1"/>
          <p:nvPr/>
        </p:nvSpPr>
        <p:spPr>
          <a:xfrm>
            <a:off x="2080164" y="918287"/>
            <a:ext cx="3658572" cy="85998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5600" b="1">
                <a:solidFill>
                  <a:srgbClr val="341204"/>
                </a:solidFill>
                <a:latin typeface="Ma Shan Zheng"/>
                <a:ea typeface="Ma Shan Zheng"/>
                <a:cs typeface="Ma Shan Zheng"/>
              </a:rPr>
              <a:t>一碗家乡味</a:t>
            </a:r>
            <a:endParaRPr lang="zh-CN" sz="5600"/>
          </a:p>
        </p:txBody>
      </p:sp>
      <p:sp>
        <p:nvSpPr>
          <p:cNvPr id="23" name="TextBox 23"/>
          <p:cNvSpPr txBox="1"/>
          <p:nvPr/>
        </p:nvSpPr>
        <p:spPr>
          <a:xfrm>
            <a:off x="5869920" y="918287"/>
            <a:ext cx="1494038" cy="859983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5600" b="1">
                <a:solidFill>
                  <a:srgbClr val="341204"/>
                </a:solidFill>
                <a:latin typeface="Ma Shan Zheng"/>
                <a:ea typeface="Ma Shan Zheng"/>
                <a:cs typeface="Ma Shan Zheng"/>
              </a:rPr>
              <a:t>一份</a:t>
            </a:r>
            <a:endParaRPr lang="zh-CN" sz="5600"/>
          </a:p>
        </p:txBody>
      </p:sp>
      <p:sp>
        <p:nvSpPr>
          <p:cNvPr id="24" name="TextBox 24"/>
          <p:cNvSpPr txBox="1"/>
          <p:nvPr/>
        </p:nvSpPr>
        <p:spPr>
          <a:xfrm>
            <a:off x="7400398" y="903711"/>
            <a:ext cx="2339445" cy="874559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5600" b="1">
                <a:solidFill>
                  <a:srgbClr val="B70006"/>
                </a:solidFill>
                <a:latin typeface="Ma Shan Zheng"/>
                <a:ea typeface="Ma Shan Zheng"/>
                <a:cs typeface="Ma Shan Zheng"/>
              </a:rPr>
              <a:t>文化情</a:t>
            </a:r>
            <a:endParaRPr lang="zh-CN" sz="5600"/>
          </a:p>
        </p:txBody>
      </p:sp>
      <p:sp>
        <p:nvSpPr>
          <p:cNvPr id="25" name="TextBox 25"/>
          <p:cNvSpPr txBox="1"/>
          <p:nvPr/>
        </p:nvSpPr>
        <p:spPr>
          <a:xfrm>
            <a:off x="2728796" y="1843862"/>
            <a:ext cx="6675800" cy="335248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6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家乡味道，不只是美食，更是一种文化的传承，是我们与家乡的连接。</a:t>
            </a:r>
            <a:endParaRPr lang="zh-CN" sz="1650"/>
          </a:p>
        </p:txBody>
      </p:sp>
      <p:sp>
        <p:nvSpPr>
          <p:cNvPr id="26" name="TextBox 26"/>
          <p:cNvSpPr txBox="1"/>
          <p:nvPr/>
        </p:nvSpPr>
        <p:spPr>
          <a:xfrm>
            <a:off x="1759493" y="2543509"/>
            <a:ext cx="1639798" cy="4227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认识家乡味</a:t>
            </a:r>
            <a:endParaRPr lang="zh-CN" sz="2400"/>
          </a:p>
        </p:txBody>
      </p:sp>
      <p:sp>
        <p:nvSpPr>
          <p:cNvPr id="27" name="TextBox 27"/>
          <p:cNvSpPr txBox="1"/>
          <p:nvPr/>
        </p:nvSpPr>
        <p:spPr>
          <a:xfrm>
            <a:off x="5614840" y="2543509"/>
            <a:ext cx="1639798" cy="4227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读懂家乡情</a:t>
            </a:r>
            <a:endParaRPr lang="zh-CN" sz="2400"/>
          </a:p>
        </p:txBody>
      </p:sp>
      <p:sp>
        <p:nvSpPr>
          <p:cNvPr id="28" name="TextBox 28"/>
          <p:cNvSpPr txBox="1"/>
          <p:nvPr/>
        </p:nvSpPr>
        <p:spPr>
          <a:xfrm>
            <a:off x="9411884" y="2543509"/>
            <a:ext cx="2186397" cy="4227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走向更大的世界</a:t>
            </a:r>
            <a:endParaRPr lang="zh-CN" sz="2400"/>
          </a:p>
        </p:txBody>
      </p:sp>
      <p:sp>
        <p:nvSpPr>
          <p:cNvPr id="29" name="TextBox 29"/>
          <p:cNvSpPr txBox="1"/>
          <p:nvPr/>
        </p:nvSpPr>
        <p:spPr>
          <a:xfrm>
            <a:off x="1803221" y="3031804"/>
            <a:ext cx="1894878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发现家乡美食的独特</a:t>
            </a:r>
            <a:endParaRPr lang="zh-CN" sz="1550"/>
          </a:p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风味与制作智慧。</a:t>
            </a:r>
            <a:endParaRPr lang="zh-CN" sz="1550"/>
          </a:p>
        </p:txBody>
      </p:sp>
      <p:sp>
        <p:nvSpPr>
          <p:cNvPr id="30" name="TextBox 30"/>
          <p:cNvSpPr txBox="1"/>
          <p:nvPr/>
        </p:nvSpPr>
        <p:spPr>
          <a:xfrm>
            <a:off x="5651280" y="3031804"/>
            <a:ext cx="1938606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了解家乡味道背后的</a:t>
            </a:r>
            <a:endParaRPr lang="zh-CN" sz="1550"/>
          </a:p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历史、习俗与人情。</a:t>
            </a:r>
            <a:endParaRPr lang="zh-CN" sz="1550"/>
          </a:p>
        </p:txBody>
      </p:sp>
      <p:sp>
        <p:nvSpPr>
          <p:cNvPr id="31" name="TextBox 31"/>
          <p:cNvSpPr txBox="1"/>
          <p:nvPr/>
        </p:nvSpPr>
        <p:spPr>
          <a:xfrm>
            <a:off x="9433748" y="3031804"/>
            <a:ext cx="2077078" cy="553887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让家乡味道走出灵宝，</a:t>
            </a:r>
            <a:endParaRPr lang="zh-CN" sz="1550"/>
          </a:p>
          <a:p>
            <a:pPr algn="l"/>
            <a:r>
              <a:rPr lang="zh-CN" sz="1550">
                <a:solidFill>
                  <a:srgbClr val="2D1107"/>
                </a:solidFill>
                <a:latin typeface="Ma Shan Zheng"/>
                <a:ea typeface="Ma Shan Zheng"/>
                <a:cs typeface="Ma Shan Zheng"/>
              </a:rPr>
              <a:t>被更多人看见、喜欢。</a:t>
            </a:r>
            <a:endParaRPr lang="zh-CN" sz="1550"/>
          </a:p>
        </p:txBody>
      </p:sp>
      <p:sp>
        <p:nvSpPr>
          <p:cNvPr id="32" name="TextBox 32"/>
          <p:cNvSpPr txBox="1"/>
          <p:nvPr/>
        </p:nvSpPr>
        <p:spPr>
          <a:xfrm rot="-240000">
            <a:off x="8325973" y="5174474"/>
            <a:ext cx="2200973" cy="466431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7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家乡的味道，</a:t>
            </a:r>
            <a:endParaRPr lang="zh-CN" sz="2700"/>
          </a:p>
        </p:txBody>
      </p:sp>
      <p:sp>
        <p:nvSpPr>
          <p:cNvPr id="33" name="TextBox 33"/>
          <p:cNvSpPr txBox="1"/>
          <p:nvPr/>
        </p:nvSpPr>
        <p:spPr>
          <a:xfrm rot="-240000">
            <a:off x="8296821" y="5619041"/>
            <a:ext cx="3680436" cy="422704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/>
            <a:r>
              <a:rPr lang="zh-CN" sz="207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从这里出发，走向更大的世界！</a:t>
            </a:r>
            <a:endParaRPr lang="zh-CN" sz="207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ean-base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pic>
        <p:nvPicPr>
          <p:cNvPr id="3" name="paper"/>
          <p:cNvPicPr/>
          <p:nvPr/>
        </p:nvPicPr>
        <p:blipFill>
          <a:blip r:embed="rId3"/>
          <a:stretch>
            <a:fillRect/>
          </a:stretch>
        </p:blipFill>
        <p:spPr>
          <a:xfrm>
            <a:off x="6502539" y="2658739"/>
            <a:ext cx="5609975" cy="3989286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8049029" y="4350931"/>
            <a:ext cx="3214004" cy="0"/>
          </a:xfrm>
          <a:prstGeom prst="line">
            <a:avLst/>
          </a:prstGeom>
          <a:noFill/>
          <a:ln w="5715">
            <a:solidFill>
              <a:srgbClr val="D9BC98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049029" y="5276506"/>
            <a:ext cx="3352476" cy="0"/>
          </a:xfrm>
          <a:prstGeom prst="line">
            <a:avLst/>
          </a:prstGeom>
          <a:noFill/>
          <a:ln w="5715">
            <a:solidFill>
              <a:srgbClr val="D9BC98"/>
            </a:solidFill>
          </a:ln>
        </p:spPr>
        <p:txBody>
          <a:bodyPr/>
          <a:lstStyle/>
          <a:p/>
        </p:txBody>
      </p:sp>
      <p:pic>
        <p:nvPicPr>
          <p:cNvPr id="6" name="children"/>
          <p:cNvPicPr/>
          <p:nvPr/>
        </p:nvPicPr>
        <p:blipFill>
          <a:blip r:embed="rId4"/>
          <a:stretch>
            <a:fillRect/>
          </a:stretch>
        </p:blipFill>
        <p:spPr>
          <a:xfrm>
            <a:off x="425120" y="3792452"/>
            <a:ext cx="6279516" cy="3086741"/>
          </a:xfrm>
          <a:prstGeom prst="rect">
            <a:avLst/>
          </a:prstGeom>
        </p:spPr>
      </p:pic>
      <p:pic>
        <p:nvPicPr>
          <p:cNvPr id="7" name="top-brush"/>
          <p:cNvPicPr/>
          <p:nvPr/>
        </p:nvPicPr>
        <p:blipFill>
          <a:blip r:embed="rId5"/>
          <a:stretch>
            <a:fillRect/>
          </a:stretch>
        </p:blipFill>
        <p:spPr>
          <a:xfrm>
            <a:off x="326411" y="251414"/>
            <a:ext cx="3080831" cy="932360"/>
          </a:xfrm>
          <a:prstGeom prst="rect">
            <a:avLst/>
          </a:prstGeom>
        </p:spPr>
      </p:pic>
      <p:pic>
        <p:nvPicPr>
          <p:cNvPr id="8" name="subtitle-brush"/>
          <p:cNvPicPr/>
          <p:nvPr/>
        </p:nvPicPr>
        <p:blipFill>
          <a:blip r:embed="rId6"/>
          <a:stretch>
            <a:fillRect/>
          </a:stretch>
        </p:blipFill>
        <p:spPr>
          <a:xfrm>
            <a:off x="674704" y="1875601"/>
            <a:ext cx="10554695" cy="852615"/>
          </a:xfrm>
          <a:prstGeom prst="rect">
            <a:avLst/>
          </a:prstGeom>
        </p:spPr>
      </p:pic>
      <p:pic>
        <p:nvPicPr>
          <p:cNvPr id="9" name="commitment-brush"/>
          <p:cNvPicPr/>
          <p:nvPr/>
        </p:nvPicPr>
        <p:blipFill>
          <a:blip r:embed="rId7"/>
          <a:stretch>
            <a:fillRect/>
          </a:stretch>
        </p:blipFill>
        <p:spPr>
          <a:xfrm>
            <a:off x="7158750" y="2722998"/>
            <a:ext cx="2653849" cy="850436"/>
          </a:xfrm>
          <a:prstGeom prst="rect">
            <a:avLst/>
          </a:prstGeom>
        </p:spPr>
      </p:pic>
      <p:pic>
        <p:nvPicPr>
          <p:cNvPr id="10" name="heading-brush-1"/>
          <p:cNvPicPr/>
          <p:nvPr/>
        </p:nvPicPr>
        <p:blipFill>
          <a:blip r:embed="rId8"/>
          <a:stretch>
            <a:fillRect/>
          </a:stretch>
        </p:blipFill>
        <p:spPr>
          <a:xfrm>
            <a:off x="7731819" y="3455091"/>
            <a:ext cx="3432884" cy="610909"/>
          </a:xfrm>
          <a:prstGeom prst="rect">
            <a:avLst/>
          </a:prstGeom>
        </p:spPr>
      </p:pic>
      <p:pic>
        <p:nvPicPr>
          <p:cNvPr id="11" name="heading-brush-2"/>
          <p:cNvPicPr/>
          <p:nvPr/>
        </p:nvPicPr>
        <p:blipFill>
          <a:blip r:embed="rId9"/>
          <a:stretch>
            <a:fillRect/>
          </a:stretch>
        </p:blipFill>
        <p:spPr>
          <a:xfrm>
            <a:off x="7747540" y="4357140"/>
            <a:ext cx="3464252" cy="650788"/>
          </a:xfrm>
          <a:prstGeom prst="rect">
            <a:avLst/>
          </a:prstGeom>
        </p:spPr>
      </p:pic>
      <p:pic>
        <p:nvPicPr>
          <p:cNvPr id="12" name="heading-brush-3"/>
          <p:cNvPicPr/>
          <p:nvPr/>
        </p:nvPicPr>
        <p:blipFill>
          <a:blip r:embed="rId10"/>
          <a:stretch>
            <a:fillRect/>
          </a:stretch>
        </p:blipFill>
        <p:spPr>
          <a:xfrm>
            <a:off x="7736710" y="5283546"/>
            <a:ext cx="3500575" cy="649134"/>
          </a:xfrm>
          <a:prstGeom prst="rect">
            <a:avLst/>
          </a:prstGeom>
        </p:spPr>
      </p:pic>
      <p:pic>
        <p:nvPicPr>
          <p:cNvPr id="13" name="book-badge"/>
          <p:cNvPicPr/>
          <p:nvPr/>
        </p:nvPicPr>
        <p:blipFill>
          <a:blip r:embed="rId11"/>
          <a:stretch>
            <a:fillRect/>
          </a:stretch>
        </p:blipFill>
        <p:spPr>
          <a:xfrm>
            <a:off x="7003137" y="3471285"/>
            <a:ext cx="877860" cy="855581"/>
          </a:xfrm>
          <a:prstGeom prst="rect">
            <a:avLst/>
          </a:prstGeom>
        </p:spPr>
      </p:pic>
      <p:pic>
        <p:nvPicPr>
          <p:cNvPr id="14" name="megaphone-badge"/>
          <p:cNvPicPr/>
          <p:nvPr/>
        </p:nvPicPr>
        <p:blipFill>
          <a:blip r:embed="rId12"/>
          <a:stretch>
            <a:fillRect/>
          </a:stretch>
        </p:blipFill>
        <p:spPr>
          <a:xfrm>
            <a:off x="7000856" y="4387036"/>
            <a:ext cx="915700" cy="894244"/>
          </a:xfrm>
          <a:prstGeom prst="rect">
            <a:avLst/>
          </a:prstGeom>
        </p:spPr>
      </p:pic>
      <p:pic>
        <p:nvPicPr>
          <p:cNvPr id="15" name="plane-badge"/>
          <p:cNvPicPr/>
          <p:nvPr/>
        </p:nvPicPr>
        <p:blipFill>
          <a:blip r:embed="rId13"/>
          <a:stretch>
            <a:fillRect/>
          </a:stretch>
        </p:blipFill>
        <p:spPr>
          <a:xfrm>
            <a:off x="7009208" y="5296650"/>
            <a:ext cx="915306" cy="892568"/>
          </a:xfrm>
          <a:prstGeom prst="rect">
            <a:avLst/>
          </a:prstGeom>
        </p:spPr>
      </p:pic>
      <p:pic>
        <p:nvPicPr>
          <p:cNvPr id="16" name="heart"/>
          <p:cNvPicPr/>
          <p:nvPr/>
        </p:nvPicPr>
        <p:blipFill>
          <a:blip r:embed="rId14"/>
          <a:stretch>
            <a:fillRect/>
          </a:stretch>
        </p:blipFill>
        <p:spPr>
          <a:xfrm>
            <a:off x="9577824" y="2869370"/>
            <a:ext cx="608278" cy="528933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 rot="-240000">
            <a:off x="950526" y="429991"/>
            <a:ext cx="176369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3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课后延伸</a:t>
            </a:r>
            <a:endParaRPr lang="zh-CN" sz="3300"/>
          </a:p>
        </p:txBody>
      </p:sp>
      <p:sp>
        <p:nvSpPr>
          <p:cNvPr id="18" name="TextBox 18"/>
          <p:cNvSpPr txBox="1"/>
          <p:nvPr/>
        </p:nvSpPr>
        <p:spPr>
          <a:xfrm>
            <a:off x="965102" y="1100487"/>
            <a:ext cx="3935515" cy="9037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>
                <a:solidFill>
                  <a:srgbClr val="321201"/>
                </a:solidFill>
                <a:latin typeface="Ma Shan Zheng"/>
                <a:ea typeface="Ma Shan Zheng"/>
                <a:cs typeface="Ma Shan Zheng"/>
              </a:rPr>
              <a:t>带着家乡味</a:t>
            </a:r>
            <a:r>
              <a:rPr lang="zh-CN" sz="3000" b="1">
                <a:solidFill>
                  <a:srgbClr val="321201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endParaRPr lang="zh-CN" sz="5400"/>
          </a:p>
        </p:txBody>
      </p:sp>
      <p:sp>
        <p:nvSpPr>
          <p:cNvPr id="19" name="TextBox 19"/>
          <p:cNvSpPr txBox="1"/>
          <p:nvPr/>
        </p:nvSpPr>
        <p:spPr>
          <a:xfrm>
            <a:off x="4973497" y="1085911"/>
            <a:ext cx="4999562" cy="88913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5400" b="1">
                <a:solidFill>
                  <a:srgbClr val="B90000"/>
                </a:solidFill>
                <a:latin typeface="Ma Shan Zheng"/>
                <a:ea typeface="Ma Shan Zheng"/>
                <a:cs typeface="Ma Shan Zheng"/>
              </a:rPr>
              <a:t>走向更远的未来</a:t>
            </a:r>
            <a:endParaRPr lang="zh-CN" sz="5400"/>
          </a:p>
        </p:txBody>
      </p:sp>
      <p:sp>
        <p:nvSpPr>
          <p:cNvPr id="20" name="TextBox 20"/>
          <p:cNvSpPr txBox="1"/>
          <p:nvPr/>
        </p:nvSpPr>
        <p:spPr>
          <a:xfrm>
            <a:off x="1591869" y="2120806"/>
            <a:ext cx="9000670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从认识家乡味道开始</a:t>
            </a:r>
            <a:r>
              <a:rPr lang="zh-CN" sz="185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做家乡文化的传承者</a:t>
            </a:r>
            <a:r>
              <a:rPr lang="zh-CN" sz="185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家乡故事的讲述者</a:t>
            </a:r>
            <a:r>
              <a:rPr lang="zh-CN" sz="185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185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家乡发展的参与者</a:t>
            </a:r>
            <a:r>
              <a:rPr lang="zh-CN" sz="185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850"/>
          </a:p>
        </p:txBody>
      </p:sp>
      <p:sp>
        <p:nvSpPr>
          <p:cNvPr id="21" name="TextBox 21"/>
          <p:cNvSpPr txBox="1"/>
          <p:nvPr/>
        </p:nvSpPr>
        <p:spPr>
          <a:xfrm rot="-240000">
            <a:off x="7728358" y="2893333"/>
            <a:ext cx="1588782" cy="47371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00">
                <a:solidFill>
                  <a:srgbClr val="FFFFFF"/>
                </a:solidFill>
                <a:latin typeface="Ma Shan Zheng"/>
                <a:ea typeface="Ma Shan Zheng"/>
                <a:cs typeface="Ma Shan Zheng"/>
              </a:rPr>
              <a:t>我们的约定</a:t>
            </a:r>
            <a:endParaRPr lang="zh-CN" sz="2400"/>
          </a:p>
        </p:txBody>
      </p:sp>
      <p:sp>
        <p:nvSpPr>
          <p:cNvPr id="22" name="TextBox 22"/>
          <p:cNvSpPr txBox="1"/>
          <p:nvPr/>
        </p:nvSpPr>
        <p:spPr>
          <a:xfrm>
            <a:off x="8049029" y="3592980"/>
            <a:ext cx="247791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做家乡味道的传承者</a:t>
            </a:r>
            <a:endParaRPr lang="zh-CN" sz="1750"/>
          </a:p>
        </p:txBody>
      </p:sp>
      <p:sp>
        <p:nvSpPr>
          <p:cNvPr id="23" name="TextBox 23"/>
          <p:cNvSpPr txBox="1"/>
          <p:nvPr/>
        </p:nvSpPr>
        <p:spPr>
          <a:xfrm>
            <a:off x="8056317" y="3957379"/>
            <a:ext cx="2587237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用心了解</a:t>
            </a:r>
            <a:r>
              <a:rPr lang="zh-CN" sz="1300">
                <a:solidFill>
                  <a:srgbClr val="241403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1300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用行动守护</a:t>
            </a:r>
            <a:r>
              <a:rPr lang="zh-CN" sz="1300">
                <a:solidFill>
                  <a:srgbClr val="241403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300"/>
          </a:p>
        </p:txBody>
      </p:sp>
      <p:sp>
        <p:nvSpPr>
          <p:cNvPr id="24" name="TextBox 24"/>
          <p:cNvSpPr txBox="1"/>
          <p:nvPr/>
        </p:nvSpPr>
        <p:spPr>
          <a:xfrm>
            <a:off x="8049029" y="4518555"/>
            <a:ext cx="247791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做家乡故事的讲述者</a:t>
            </a:r>
            <a:endParaRPr lang="zh-CN" sz="1750"/>
          </a:p>
        </p:txBody>
      </p:sp>
      <p:sp>
        <p:nvSpPr>
          <p:cNvPr id="25" name="TextBox 25"/>
          <p:cNvSpPr txBox="1"/>
          <p:nvPr/>
        </p:nvSpPr>
        <p:spPr>
          <a:xfrm>
            <a:off x="8056317" y="4882954"/>
            <a:ext cx="3141124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把灵宝的美食文化分享给更多人</a:t>
            </a:r>
            <a:r>
              <a:rPr lang="zh-CN" sz="1300">
                <a:solidFill>
                  <a:srgbClr val="241403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300"/>
          </a:p>
        </p:txBody>
      </p:sp>
      <p:sp>
        <p:nvSpPr>
          <p:cNvPr id="26" name="TextBox 26"/>
          <p:cNvSpPr txBox="1"/>
          <p:nvPr/>
        </p:nvSpPr>
        <p:spPr>
          <a:xfrm>
            <a:off x="8049029" y="5436842"/>
            <a:ext cx="247791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50" b="1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做家乡发展的参与者</a:t>
            </a:r>
            <a:endParaRPr lang="zh-CN" sz="1750"/>
          </a:p>
        </p:txBody>
      </p:sp>
      <p:sp>
        <p:nvSpPr>
          <p:cNvPr id="27" name="TextBox 27"/>
          <p:cNvSpPr txBox="1"/>
          <p:nvPr/>
        </p:nvSpPr>
        <p:spPr>
          <a:xfrm>
            <a:off x="8056317" y="5808529"/>
            <a:ext cx="3104684" cy="2842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300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用自己的方式</a:t>
            </a:r>
            <a:r>
              <a:rPr lang="zh-CN" sz="1300">
                <a:solidFill>
                  <a:srgbClr val="241403"/>
                </a:solidFill>
                <a:latin typeface="Noto Serif CJK SC"/>
                <a:ea typeface="Noto Serif CJK SC"/>
                <a:cs typeface="Noto Serif CJK SC"/>
              </a:rPr>
              <a:t>，</a:t>
            </a:r>
            <a:r>
              <a:rPr lang="zh-CN" sz="1300">
                <a:solidFill>
                  <a:srgbClr val="241403"/>
                </a:solidFill>
                <a:latin typeface="Ma Shan Zheng"/>
                <a:ea typeface="Ma Shan Zheng"/>
                <a:cs typeface="Ma Shan Zheng"/>
              </a:rPr>
              <a:t>让家乡更美好</a:t>
            </a:r>
            <a:r>
              <a:rPr lang="zh-CN" sz="1300">
                <a:solidFill>
                  <a:srgbClr val="241403"/>
                </a:solidFill>
                <a:latin typeface="Noto Serif CJK SC"/>
                <a:ea typeface="Noto Serif CJK SC"/>
                <a:cs typeface="Noto Serif CJK SC"/>
              </a:rPr>
              <a:t>。</a:t>
            </a:r>
            <a:endParaRPr lang="zh-C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