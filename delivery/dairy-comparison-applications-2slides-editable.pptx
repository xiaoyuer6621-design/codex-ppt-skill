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</p:sldIdLst>
  <p:sldSz cx="12191695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Relationship Id="rId12" Type="http://schemas.openxmlformats.org/officeDocument/2006/relationships/image" Target="../media/image28.png"/><Relationship Id="rId13" Type="http://schemas.openxmlformats.org/officeDocument/2006/relationships/image" Target="../media/image29.png"/><Relationship Id="rId14" Type="http://schemas.openxmlformats.org/officeDocument/2006/relationships/image" Target="../media/image30.png"/><Relationship Id="rId15" Type="http://schemas.openxmlformats.org/officeDocument/2006/relationships/image" Target="../media/image31.png"/><Relationship Id="rId16" Type="http://schemas.openxmlformats.org/officeDocument/2006/relationships/image" Target="../media/image32.png"/><Relationship Id="rId17" Type="http://schemas.openxmlformats.org/officeDocument/2006/relationships/image" Target="../media/image33.png"/><Relationship Id="rId18" Type="http://schemas.openxmlformats.org/officeDocument/2006/relationships/image" Target="../media/image34.png"/><Relationship Id="rId19" Type="http://schemas.openxmlformats.org/officeDocument/2006/relationships/image" Target="../media/image35.png"/><Relationship Id="rId20" Type="http://schemas.openxmlformats.org/officeDocument/2006/relationships/image" Target="../media/image36.png"/><Relationship Id="rId21" Type="http://schemas.openxmlformats.org/officeDocument/2006/relationships/image" Target="../media/image37.png"/><Relationship Id="rId22" Type="http://schemas.openxmlformats.org/officeDocument/2006/relationships/image" Target="../media/image38.png"/><Relationship Id="rId23" Type="http://schemas.openxmlformats.org/officeDocument/2006/relationships/image" Target="../media/image39.png"/><Relationship Id="rId24" Type="http://schemas.openxmlformats.org/officeDocument/2006/relationships/image" Target="../media/image40.png"/><Relationship Id="rId25" Type="http://schemas.openxmlformats.org/officeDocument/2006/relationships/image" Target="../media/image41.png"/><Relationship Id="rId26" Type="http://schemas.openxmlformats.org/officeDocument/2006/relationships/image" Target="../media/image42.png"/><Relationship Id="rId27" Type="http://schemas.openxmlformats.org/officeDocument/2006/relationships/image" Target="../media/image43.png"/><Relationship Id="rId28" Type="http://schemas.openxmlformats.org/officeDocument/2006/relationships/image" Target="../media/image44.png"/><Relationship Id="rId29" Type="http://schemas.openxmlformats.org/officeDocument/2006/relationships/image" Target="../media/image45.png"/><Relationship Id="rId30" Type="http://schemas.openxmlformats.org/officeDocument/2006/relationships/image" Target="../media/image46.png"/><Relationship Id="rId31" Type="http://schemas.openxmlformats.org/officeDocument/2006/relationships/image" Target="../media/image47.png"/><Relationship Id="rId32" Type="http://schemas.openxmlformats.org/officeDocument/2006/relationships/image" Target="../media/image48.png"/><Relationship Id="rId33" Type="http://schemas.openxmlformats.org/officeDocument/2006/relationships/image" Target="../media/image49.png"/><Relationship Id="rId34" Type="http://schemas.openxmlformats.org/officeDocument/2006/relationships/image" Target="../media/image50.png"/><Relationship Id="rId35" Type="http://schemas.openxmlformats.org/officeDocument/2006/relationships/image" Target="../media/image51.png"/><Relationship Id="rId36" Type="http://schemas.openxmlformats.org/officeDocument/2006/relationships/image" Target="../media/image52.png"/><Relationship Id="rId37" Type="http://schemas.openxmlformats.org/officeDocument/2006/relationships/image" Target="../media/image53.png"/><Relationship Id="rId38" Type="http://schemas.openxmlformats.org/officeDocument/2006/relationships/image" Target="../media/image5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udited prior builtin clean header producer and original normalized file hashes verified; exact matching blue/cyan template curves and data texture, contains no title; normalized1280x101 to1672x134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976591"/>
          </a:xfrm>
          <a:prstGeom prst="rect">
            <a:avLst/>
          </a:prstGeom>
        </p:spPr>
      </p:pic>
      <p:pic>
        <p:nvPicPr>
          <p:cNvPr id="3" name="Unoccluded current-source faint engineering line-art background only; no labels/icons/photos/card screenshot."/>
          <p:cNvPicPr/>
          <p:nvPr/>
        </p:nvPicPr>
        <p:blipFill>
          <a:blip r:embed="rId3"/>
          <a:stretch>
            <a:fillRect/>
          </a:stretch>
        </p:blipFill>
        <p:spPr>
          <a:xfrm>
            <a:off x="833918" y="5830393"/>
            <a:ext cx="4780922" cy="677783"/>
          </a:xfrm>
          <a:prstGeom prst="rect">
            <a:avLst/>
          </a:prstGeom>
        </p:spPr>
      </p:pic>
      <p:pic>
        <p:nvPicPr>
          <p:cNvPr id="4" name="Unoccluded current-source faint engineering line-art background only below right panel."/>
          <p:cNvPicPr/>
          <p:nvPr/>
        </p:nvPicPr>
        <p:blipFill>
          <a:blip r:embed="rId4"/>
          <a:stretch>
            <a:fillRect/>
          </a:stretch>
        </p:blipFill>
        <p:spPr>
          <a:xfrm>
            <a:off x="5614840" y="6107337"/>
            <a:ext cx="4576859" cy="386264"/>
          </a:xfrm>
          <a:prstGeom prst="rect">
            <a:avLst/>
          </a:prstGeom>
        </p:spPr>
      </p:pic>
      <p:sp>
        <p:nvSpPr>
          <p:cNvPr id="5" name="Path 5"/>
          <p:cNvSpPr/>
          <p:nvPr/>
        </p:nvSpPr>
        <p:spPr>
          <a:xfrm>
            <a:off x="9404596" y="6471736"/>
            <a:ext cx="2784013" cy="306096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514"/>
                </a:moveTo>
                <a:cubicBezTo>
                  <a:pt x="2205" y="-3086"/>
                  <a:pt x="2488" y="16971"/>
                  <a:pt x="4524" y="17486"/>
                </a:cubicBezTo>
                <a:lnTo>
                  <a:pt x="21600" y="17486"/>
                </a:lnTo>
                <a:lnTo>
                  <a:pt x="21600" y="21600"/>
                </a:lnTo>
                <a:lnTo>
                  <a:pt x="4524" y="21600"/>
                </a:lnTo>
                <a:cubicBezTo>
                  <a:pt x="2318" y="20571"/>
                  <a:pt x="1979" y="6171"/>
                  <a:pt x="0" y="4629"/>
                </a:cubicBezTo>
                <a:close/>
              </a:path>
            </a:pathLst>
          </a:custGeom>
          <a:solidFill>
            <a:srgbClr val="F6D1C2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Deterministic normalization of ordinary background footer gradient and curved boundary; no foreground redraw."/>
          <p:cNvPicPr/>
          <p:nvPr/>
        </p:nvPicPr>
        <p:blipFill>
          <a:blip r:embed="rId5"/>
          <a:stretch>
            <a:fillRect/>
          </a:stretch>
        </p:blipFill>
        <p:spPr>
          <a:xfrm>
            <a:off x="3087" y="6457160"/>
            <a:ext cx="12185522" cy="400840"/>
          </a:xfrm>
          <a:prstGeom prst="rect">
            <a:avLst/>
          </a:prstGeom>
        </p:spPr>
      </p:pic>
      <p:sp>
        <p:nvSpPr>
          <p:cNvPr id="7" name="Roundrect 7"/>
          <p:cNvSpPr/>
          <p:nvPr/>
        </p:nvSpPr>
        <p:spPr>
          <a:xfrm>
            <a:off x="338334" y="1494038"/>
            <a:ext cx="5028714" cy="4292627"/>
          </a:xfrm>
          <a:prstGeom prst="roundRect">
            <a:avLst>
              <a:gd name="adj" fmla="val 7301"/>
            </a:avLst>
          </a:prstGeom>
          <a:solidFill>
            <a:srgbClr val="E4E4E1"/>
          </a:solidFill>
          <a:ln>
            <a:noFill/>
          </a:ln>
        </p:spPr>
        <p:txBody>
          <a:bodyPr/>
          <a:lstStyle/>
          <a:p/>
        </p:txBody>
      </p:sp>
      <p:sp>
        <p:nvSpPr>
          <p:cNvPr id="8" name="Roundrect 8"/>
          <p:cNvSpPr/>
          <p:nvPr/>
        </p:nvSpPr>
        <p:spPr>
          <a:xfrm>
            <a:off x="5643992" y="1180655"/>
            <a:ext cx="6304113" cy="4890242"/>
          </a:xfrm>
          <a:prstGeom prst="roundRect">
            <a:avLst>
              <a:gd name="adj" fmla="val 8048"/>
            </a:avLst>
          </a:prstGeom>
          <a:solidFill>
            <a:srgbClr val="EFFBFF"/>
          </a:solidFill>
          <a:ln w="25400">
            <a:solidFill>
              <a:srgbClr val="E1F7FF"/>
            </a:solidFill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411214" y="1559630"/>
            <a:ext cx="4897530" cy="4168731"/>
          </a:xfrm>
          <a:prstGeom prst="roundRect">
            <a:avLst>
              <a:gd name="adj" fmla="val 6643"/>
            </a:avLst>
          </a:prstGeom>
          <a:solidFill>
            <a:srgbClr val="CACAC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0" name="Targeted source-faithful builtin image-edit separation of only visible main-barn photographic region; zoom source reference used to preserve vanishing point/cows/roof/low contrast, local removal of overlaid V only. No source crop is used as final asset."/>
          <p:cNvPicPr/>
          <p:nvPr/>
        </p:nvPicPr>
        <p:blipFill>
          <a:blip r:embed="rId6"/>
          <a:stretch>
            <a:fillRect/>
          </a:stretch>
        </p:blipFill>
        <p:spPr>
          <a:xfrm>
            <a:off x="2051012" y="1719966"/>
            <a:ext cx="3250444" cy="2725709"/>
          </a:xfrm>
          <a:prstGeom prst="rect">
            <a:avLst/>
          </a:prstGeom>
        </p:spPr>
      </p:pic>
      <p:pic>
        <p:nvPicPr>
          <p:cNvPr id="11" name="Current-source builtin image-edit separation of original cows/feed barriers/yellow robot/cyan track scene; source composition preserved. Deterministic corner/edge-alpha normalization recreates source fade. Tiny equipment sticker identity exception."/>
          <p:cNvPicPr/>
          <p:nvPr/>
        </p:nvPicPr>
        <p:blipFill>
          <a:blip r:embed="rId8"/>
          <a:stretch>
            <a:fillRect/>
          </a:stretch>
        </p:blipFill>
        <p:spPr>
          <a:xfrm>
            <a:off x="5797040" y="1282687"/>
            <a:ext cx="6063609" cy="3549252"/>
          </a:xfrm>
          <a:prstGeom prst="rect">
            <a:avLst/>
          </a:prstGeom>
        </p:spPr>
      </p:pic>
      <p:pic>
        <p:nvPicPr>
          <p:cNvPr id="12" name="Independent narrow device photograph separated through current-source builtin image edit; original tall gray unit and smaller blue-handled gray device retained. Equipment identity lettering is exception; ordinary panel labels removed."/>
          <p:cNvPicPr/>
          <p:nvPr/>
        </p:nvPicPr>
        <p:blipFill>
          <a:blip r:embed="rId7"/>
          <a:stretch>
            <a:fillRect/>
          </a:stretch>
        </p:blipFill>
        <p:spPr>
          <a:xfrm>
            <a:off x="476806" y="1712678"/>
            <a:ext cx="1574206" cy="3279596"/>
          </a:xfrm>
          <a:prstGeom prst="rect">
            <a:avLst/>
          </a:prstGeom>
        </p:spPr>
      </p:pic>
      <p:sp>
        <p:nvSpPr>
          <p:cNvPr id="13" name="Path 13"/>
          <p:cNvSpPr/>
          <p:nvPr/>
        </p:nvSpPr>
        <p:spPr>
          <a:xfrm>
            <a:off x="411214" y="4445675"/>
            <a:ext cx="4897530" cy="128268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0"/>
                </a:moveTo>
                <a:lnTo>
                  <a:pt x="21600" y="0"/>
                </a:lnTo>
                <a:lnTo>
                  <a:pt x="21600" y="16323"/>
                </a:lnTo>
                <a:quadBezTo>
                  <a:pt x="21600" y="21600"/>
                  <a:pt x="20218" y="21600"/>
                </a:quadBezTo>
                <a:lnTo>
                  <a:pt x="289" y="21600"/>
                </a:lnTo>
                <a:quadBezTo>
                  <a:pt x="0" y="21600"/>
                  <a:pt x="0" y="20495"/>
                </a:quadBezTo>
                <a:close/>
              </a:path>
            </a:pathLst>
          </a:custGeom>
          <a:solidFill>
            <a:srgbClr val="605F5B"/>
          </a:solidFill>
          <a:ln>
            <a:noFill/>
          </a:ln>
        </p:spPr>
        <p:txBody>
          <a:bodyPr/>
          <a:lstStyle/>
          <a:p/>
        </p:txBody>
      </p:sp>
      <p:sp>
        <p:nvSpPr>
          <p:cNvPr id="14" name="Line 14"/>
          <p:cNvSpPr/>
          <p:nvPr/>
        </p:nvSpPr>
        <p:spPr>
          <a:xfrm flipV="1">
            <a:off x="4937057" y="1865726"/>
            <a:ext cx="1370142" cy="3316036"/>
          </a:xfrm>
          <a:prstGeom prst="line">
            <a:avLst/>
          </a:prstGeom>
          <a:noFill/>
          <a:ln w="15240">
            <a:solidFill>
              <a:srgbClr val="FFCB67"/>
            </a:solidFill>
          </a:ln>
        </p:spPr>
        <p:txBody>
          <a:bodyPr/>
          <a:lstStyle/>
          <a:p/>
        </p:txBody>
      </p:sp>
      <p:sp>
        <p:nvSpPr>
          <p:cNvPr id="15" name="Rect 15"/>
          <p:cNvSpPr/>
          <p:nvPr/>
        </p:nvSpPr>
        <p:spPr>
          <a:xfrm>
            <a:off x="1577293" y="1268111"/>
            <a:ext cx="2893333" cy="451855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632" y="0"/>
                </a:lnTo>
                <a:lnTo>
                  <a:pt x="21600" y="0"/>
                </a:lnTo>
                <a:lnTo>
                  <a:pt x="19805" y="21600"/>
                </a:lnTo>
                <a:close/>
              </a:path>
            </a:pathLst>
          </a:custGeom>
          <a:solidFill>
            <a:srgbClr val="969695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Rect 16"/>
          <p:cNvSpPr/>
          <p:nvPr/>
        </p:nvSpPr>
        <p:spPr>
          <a:xfrm>
            <a:off x="7101590" y="918287"/>
            <a:ext cx="3746028" cy="568463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0" y="21600"/>
                </a:moveTo>
                <a:lnTo>
                  <a:pt x="1471" y="0"/>
                </a:lnTo>
                <a:lnTo>
                  <a:pt x="21600" y="0"/>
                </a:lnTo>
                <a:lnTo>
                  <a:pt x="20045" y="21600"/>
                </a:lnTo>
                <a:close/>
              </a:path>
            </a:pathLst>
          </a:custGeom>
          <a:solidFill>
            <a:srgbClr val="008CF9"/>
          </a:solidFill>
          <a:ln>
            <a:noFill/>
          </a:ln>
        </p:spPr>
        <p:txBody>
          <a:bodyPr/>
          <a:lstStyle/>
          <a:p/>
        </p:txBody>
      </p:sp>
      <p:sp>
        <p:nvSpPr>
          <p:cNvPr id="17" name="Ellipse 17"/>
          <p:cNvSpPr/>
          <p:nvPr/>
        </p:nvSpPr>
        <p:spPr>
          <a:xfrm>
            <a:off x="644430" y="4547707"/>
            <a:ext cx="685071" cy="685071"/>
          </a:xfrm>
          <a:prstGeom prst="ellipse">
            <a:avLst/>
          </a:prstGeom>
          <a:noFill/>
          <a:ln w="29209">
            <a:solidFill>
              <a:srgbClr val="B9B9B7"/>
            </a:solidFill>
          </a:ln>
        </p:spPr>
        <p:txBody>
          <a:bodyPr/>
          <a:lstStyle/>
          <a:p/>
        </p:txBody>
      </p:sp>
      <p:sp>
        <p:nvSpPr>
          <p:cNvPr id="18" name="Ellipse 18"/>
          <p:cNvSpPr/>
          <p:nvPr/>
        </p:nvSpPr>
        <p:spPr>
          <a:xfrm>
            <a:off x="2094740" y="4547707"/>
            <a:ext cx="685071" cy="685071"/>
          </a:xfrm>
          <a:prstGeom prst="ellipse">
            <a:avLst/>
          </a:prstGeom>
          <a:noFill/>
          <a:ln w="29209">
            <a:solidFill>
              <a:srgbClr val="B9B9B7"/>
            </a:solidFill>
          </a:ln>
        </p:spPr>
        <p:txBody>
          <a:bodyPr/>
          <a:lstStyle/>
          <a:p/>
        </p:txBody>
      </p:sp>
      <p:sp>
        <p:nvSpPr>
          <p:cNvPr id="19" name="Ellipse 19"/>
          <p:cNvSpPr/>
          <p:nvPr/>
        </p:nvSpPr>
        <p:spPr>
          <a:xfrm>
            <a:off x="3588779" y="4547707"/>
            <a:ext cx="685071" cy="685071"/>
          </a:xfrm>
          <a:prstGeom prst="ellipse">
            <a:avLst/>
          </a:prstGeom>
          <a:noFill/>
          <a:ln w="29209">
            <a:solidFill>
              <a:srgbClr val="B9B9B7"/>
            </a:solidFill>
          </a:ln>
        </p:spPr>
        <p:txBody>
          <a:bodyPr/>
          <a:lstStyle/>
          <a:p/>
        </p:txBody>
      </p:sp>
      <p:sp>
        <p:nvSpPr>
          <p:cNvPr id="20" name="Ellipse 20"/>
          <p:cNvSpPr/>
          <p:nvPr/>
        </p:nvSpPr>
        <p:spPr>
          <a:xfrm>
            <a:off x="5738736" y="4212459"/>
            <a:ext cx="1005743" cy="976591"/>
          </a:xfrm>
          <a:prstGeom prst="ellipse">
            <a:avLst/>
          </a:prstGeom>
          <a:solidFill>
            <a:srgbClr val="E0F6FF"/>
          </a:solidFill>
          <a:ln w="38100">
            <a:solidFill>
              <a:srgbClr val="C5F1FC"/>
            </a:solidFill>
          </a:ln>
        </p:spPr>
        <p:txBody>
          <a:bodyPr/>
          <a:lstStyle/>
          <a:p/>
        </p:txBody>
      </p:sp>
      <p:sp>
        <p:nvSpPr>
          <p:cNvPr id="21" name="Ellipse 21"/>
          <p:cNvSpPr/>
          <p:nvPr/>
        </p:nvSpPr>
        <p:spPr>
          <a:xfrm>
            <a:off x="7014135" y="4212459"/>
            <a:ext cx="1005743" cy="976591"/>
          </a:xfrm>
          <a:prstGeom prst="ellipse">
            <a:avLst/>
          </a:prstGeom>
          <a:solidFill>
            <a:srgbClr val="E0F6FF"/>
          </a:solidFill>
          <a:ln w="38100">
            <a:solidFill>
              <a:srgbClr val="C5F1FC"/>
            </a:solidFill>
          </a:ln>
        </p:spPr>
        <p:txBody>
          <a:bodyPr/>
          <a:lstStyle/>
          <a:p/>
        </p:txBody>
      </p:sp>
      <p:sp>
        <p:nvSpPr>
          <p:cNvPr id="22" name="Ellipse 22"/>
          <p:cNvSpPr/>
          <p:nvPr/>
        </p:nvSpPr>
        <p:spPr>
          <a:xfrm>
            <a:off x="8296821" y="4212459"/>
            <a:ext cx="1005743" cy="976591"/>
          </a:xfrm>
          <a:prstGeom prst="ellipse">
            <a:avLst/>
          </a:prstGeom>
          <a:solidFill>
            <a:srgbClr val="E0F6FF"/>
          </a:solidFill>
          <a:ln w="38100">
            <a:solidFill>
              <a:srgbClr val="C5F1FC"/>
            </a:solidFill>
          </a:ln>
        </p:spPr>
        <p:txBody>
          <a:bodyPr/>
          <a:lstStyle/>
          <a:p/>
        </p:txBody>
      </p:sp>
      <p:sp>
        <p:nvSpPr>
          <p:cNvPr id="23" name="Ellipse 23"/>
          <p:cNvSpPr/>
          <p:nvPr/>
        </p:nvSpPr>
        <p:spPr>
          <a:xfrm>
            <a:off x="9572220" y="4212459"/>
            <a:ext cx="1005743" cy="976591"/>
          </a:xfrm>
          <a:prstGeom prst="ellipse">
            <a:avLst/>
          </a:prstGeom>
          <a:solidFill>
            <a:srgbClr val="E0F6FF"/>
          </a:solidFill>
          <a:ln w="38100">
            <a:solidFill>
              <a:srgbClr val="C5F1FC"/>
            </a:solidFill>
          </a:ln>
        </p:spPr>
        <p:txBody>
          <a:bodyPr/>
          <a:lstStyle/>
          <a:p/>
        </p:txBody>
      </p:sp>
      <p:sp>
        <p:nvSpPr>
          <p:cNvPr id="24" name="Ellipse 24"/>
          <p:cNvSpPr/>
          <p:nvPr/>
        </p:nvSpPr>
        <p:spPr>
          <a:xfrm>
            <a:off x="10840330" y="4212459"/>
            <a:ext cx="1005743" cy="976591"/>
          </a:xfrm>
          <a:prstGeom prst="ellipse">
            <a:avLst/>
          </a:prstGeom>
          <a:solidFill>
            <a:srgbClr val="E0F6FF"/>
          </a:solidFill>
          <a:ln w="38100">
            <a:solidFill>
              <a:srgbClr val="C5F1FC"/>
            </a:solidFill>
          </a:ln>
        </p:spPr>
        <p:txBody>
          <a:bodyPr/>
          <a:lstStyle/>
          <a:p/>
        </p:txBody>
      </p:sp>
      <p:sp>
        <p:nvSpPr>
          <p:cNvPr id="25" name="Ellipse 25"/>
          <p:cNvSpPr/>
          <p:nvPr/>
        </p:nvSpPr>
        <p:spPr>
          <a:xfrm>
            <a:off x="5782464" y="4248899"/>
            <a:ext cx="918287" cy="896423"/>
          </a:xfrm>
          <a:prstGeom prst="ellipse">
            <a:avLst/>
          </a:prstGeom>
          <a:solidFill>
            <a:srgbClr val="E3F5FE"/>
          </a:solidFill>
          <a:ln w="13970">
            <a:solidFill>
              <a:srgbClr val="F1FDFF"/>
            </a:solidFill>
          </a:ln>
        </p:spPr>
        <p:txBody>
          <a:bodyPr/>
          <a:lstStyle/>
          <a:p/>
        </p:txBody>
      </p:sp>
      <p:sp>
        <p:nvSpPr>
          <p:cNvPr id="26" name="Ellipse 26"/>
          <p:cNvSpPr/>
          <p:nvPr/>
        </p:nvSpPr>
        <p:spPr>
          <a:xfrm>
            <a:off x="7057862" y="4248899"/>
            <a:ext cx="918287" cy="896423"/>
          </a:xfrm>
          <a:prstGeom prst="ellipse">
            <a:avLst/>
          </a:prstGeom>
          <a:solidFill>
            <a:srgbClr val="E3F5FE"/>
          </a:solidFill>
          <a:ln w="13970">
            <a:solidFill>
              <a:srgbClr val="F1FDFF"/>
            </a:solidFill>
          </a:ln>
        </p:spPr>
        <p:txBody>
          <a:bodyPr/>
          <a:lstStyle/>
          <a:p/>
        </p:txBody>
      </p:sp>
      <p:sp>
        <p:nvSpPr>
          <p:cNvPr id="27" name="Ellipse 27"/>
          <p:cNvSpPr/>
          <p:nvPr/>
        </p:nvSpPr>
        <p:spPr>
          <a:xfrm>
            <a:off x="8340549" y="4248899"/>
            <a:ext cx="918287" cy="896423"/>
          </a:xfrm>
          <a:prstGeom prst="ellipse">
            <a:avLst/>
          </a:prstGeom>
          <a:solidFill>
            <a:srgbClr val="E3F5FE"/>
          </a:solidFill>
          <a:ln w="13970">
            <a:solidFill>
              <a:srgbClr val="F1FDFF"/>
            </a:solidFill>
          </a:ln>
        </p:spPr>
        <p:txBody>
          <a:bodyPr/>
          <a:lstStyle/>
          <a:p/>
        </p:txBody>
      </p:sp>
      <p:sp>
        <p:nvSpPr>
          <p:cNvPr id="28" name="Ellipse 28"/>
          <p:cNvSpPr/>
          <p:nvPr/>
        </p:nvSpPr>
        <p:spPr>
          <a:xfrm>
            <a:off x="9615947" y="4248899"/>
            <a:ext cx="918287" cy="896423"/>
          </a:xfrm>
          <a:prstGeom prst="ellipse">
            <a:avLst/>
          </a:prstGeom>
          <a:solidFill>
            <a:srgbClr val="E3F5FE"/>
          </a:solidFill>
          <a:ln w="13970">
            <a:solidFill>
              <a:srgbClr val="F1FDFF"/>
            </a:solidFill>
          </a:ln>
        </p:spPr>
        <p:txBody>
          <a:bodyPr/>
          <a:lstStyle/>
          <a:p/>
        </p:txBody>
      </p:sp>
      <p:sp>
        <p:nvSpPr>
          <p:cNvPr id="29" name="Ellipse 29"/>
          <p:cNvSpPr/>
          <p:nvPr/>
        </p:nvSpPr>
        <p:spPr>
          <a:xfrm>
            <a:off x="10884058" y="4248899"/>
            <a:ext cx="918287" cy="896423"/>
          </a:xfrm>
          <a:prstGeom prst="ellipse">
            <a:avLst/>
          </a:prstGeom>
          <a:solidFill>
            <a:srgbClr val="E3F5FE"/>
          </a:solidFill>
          <a:ln w="13970">
            <a:solidFill>
              <a:srgbClr val="F1FDFF"/>
            </a:solidFill>
          </a:ln>
        </p:spPr>
        <p:txBody>
          <a:bodyPr/>
          <a:lstStyle/>
          <a:p/>
        </p:txBody>
      </p:sp>
      <p:sp>
        <p:nvSpPr>
          <p:cNvPr id="30" name="Roundrect 30"/>
          <p:cNvSpPr/>
          <p:nvPr/>
        </p:nvSpPr>
        <p:spPr>
          <a:xfrm>
            <a:off x="5592976" y="5167186"/>
            <a:ext cx="1136927" cy="342536"/>
          </a:xfrm>
          <a:prstGeom prst="roundRect">
            <a:avLst>
              <a:gd name="adj" fmla="val 50000"/>
            </a:avLst>
          </a:prstGeom>
          <a:solidFill>
            <a:srgbClr val="008D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1" name="Roundrect 31"/>
          <p:cNvSpPr/>
          <p:nvPr/>
        </p:nvSpPr>
        <p:spPr>
          <a:xfrm>
            <a:off x="6904815" y="5167186"/>
            <a:ext cx="1136927" cy="342536"/>
          </a:xfrm>
          <a:prstGeom prst="roundRect">
            <a:avLst>
              <a:gd name="adj" fmla="val 50000"/>
            </a:avLst>
          </a:prstGeom>
          <a:solidFill>
            <a:srgbClr val="00BA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2" name="Roundrect 32"/>
          <p:cNvSpPr/>
          <p:nvPr/>
        </p:nvSpPr>
        <p:spPr>
          <a:xfrm>
            <a:off x="8202077" y="5167186"/>
            <a:ext cx="1136927" cy="342536"/>
          </a:xfrm>
          <a:prstGeom prst="roundRect">
            <a:avLst>
              <a:gd name="adj" fmla="val 50000"/>
            </a:avLst>
          </a:prstGeom>
          <a:solidFill>
            <a:srgbClr val="0BA4FA"/>
          </a:solidFill>
          <a:ln>
            <a:noFill/>
          </a:ln>
        </p:spPr>
        <p:txBody>
          <a:bodyPr/>
          <a:lstStyle/>
          <a:p/>
        </p:txBody>
      </p:sp>
      <p:sp>
        <p:nvSpPr>
          <p:cNvPr id="33" name="Roundrect 33"/>
          <p:cNvSpPr/>
          <p:nvPr/>
        </p:nvSpPr>
        <p:spPr>
          <a:xfrm>
            <a:off x="9492052" y="5167186"/>
            <a:ext cx="1129639" cy="342536"/>
          </a:xfrm>
          <a:prstGeom prst="roundRect">
            <a:avLst>
              <a:gd name="adj" fmla="val 50000"/>
            </a:avLst>
          </a:prstGeom>
          <a:solidFill>
            <a:srgbClr val="00B9C0"/>
          </a:solidFill>
          <a:ln>
            <a:noFill/>
          </a:ln>
        </p:spPr>
        <p:txBody>
          <a:bodyPr/>
          <a:lstStyle/>
          <a:p/>
        </p:txBody>
      </p:sp>
      <p:sp>
        <p:nvSpPr>
          <p:cNvPr id="34" name="Roundrect 34"/>
          <p:cNvSpPr/>
          <p:nvPr/>
        </p:nvSpPr>
        <p:spPr>
          <a:xfrm>
            <a:off x="10774738" y="5167186"/>
            <a:ext cx="1136927" cy="342536"/>
          </a:xfrm>
          <a:prstGeom prst="roundRect">
            <a:avLst>
              <a:gd name="adj" fmla="val 50000"/>
            </a:avLst>
          </a:prstGeom>
          <a:solidFill>
            <a:srgbClr val="008FFB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5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9"/>
          <a:stretch>
            <a:fillRect/>
          </a:stretch>
        </p:blipFill>
        <p:spPr>
          <a:xfrm>
            <a:off x="774415" y="4694305"/>
            <a:ext cx="446966" cy="406451"/>
          </a:xfrm>
          <a:prstGeom prst="rect">
            <a:avLst/>
          </a:prstGeom>
        </p:spPr>
      </p:pic>
      <p:pic>
        <p:nvPicPr>
          <p:cNvPr id="36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0"/>
          <a:stretch>
            <a:fillRect/>
          </a:stretch>
        </p:blipFill>
        <p:spPr>
          <a:xfrm>
            <a:off x="2240565" y="4685834"/>
            <a:ext cx="415287" cy="430680"/>
          </a:xfrm>
          <a:prstGeom prst="rect">
            <a:avLst/>
          </a:prstGeom>
        </p:spPr>
      </p:pic>
      <p:pic>
        <p:nvPicPr>
          <p:cNvPr id="37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1"/>
          <a:stretch>
            <a:fillRect/>
          </a:stretch>
        </p:blipFill>
        <p:spPr>
          <a:xfrm>
            <a:off x="3693769" y="4687493"/>
            <a:ext cx="489666" cy="427363"/>
          </a:xfrm>
          <a:prstGeom prst="rect">
            <a:avLst/>
          </a:prstGeom>
        </p:spPr>
      </p:pic>
      <p:pic>
        <p:nvPicPr>
          <p:cNvPr id="38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2"/>
          <a:stretch>
            <a:fillRect/>
          </a:stretch>
        </p:blipFill>
        <p:spPr>
          <a:xfrm>
            <a:off x="5887303" y="4372381"/>
            <a:ext cx="664881" cy="671323"/>
          </a:xfrm>
          <a:prstGeom prst="rect">
            <a:avLst/>
          </a:prstGeom>
        </p:spPr>
      </p:pic>
      <p:pic>
        <p:nvPicPr>
          <p:cNvPr id="39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3"/>
          <a:stretch>
            <a:fillRect/>
          </a:stretch>
        </p:blipFill>
        <p:spPr>
          <a:xfrm>
            <a:off x="7191747" y="4375832"/>
            <a:ext cx="672381" cy="671710"/>
          </a:xfrm>
          <a:prstGeom prst="rect">
            <a:avLst/>
          </a:prstGeom>
        </p:spPr>
      </p:pic>
      <p:pic>
        <p:nvPicPr>
          <p:cNvPr id="40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4"/>
          <a:stretch>
            <a:fillRect/>
          </a:stretch>
        </p:blipFill>
        <p:spPr>
          <a:xfrm>
            <a:off x="8512326" y="4402588"/>
            <a:ext cx="611174" cy="625485"/>
          </a:xfrm>
          <a:prstGeom prst="rect">
            <a:avLst/>
          </a:prstGeom>
        </p:spPr>
      </p:pic>
      <p:pic>
        <p:nvPicPr>
          <p:cNvPr id="41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5"/>
          <a:stretch>
            <a:fillRect/>
          </a:stretch>
        </p:blipFill>
        <p:spPr>
          <a:xfrm>
            <a:off x="9744216" y="4376970"/>
            <a:ext cx="647174" cy="669433"/>
          </a:xfrm>
          <a:prstGeom prst="rect">
            <a:avLst/>
          </a:prstGeom>
        </p:spPr>
      </p:pic>
      <p:pic>
        <p:nvPicPr>
          <p:cNvPr id="42" name="Source-faithful current-source builtin image-edit glyph separation; explicit imported producer, complete inspected disjoint region, CLI chroma removal and split; no native foreground redraw or screenshot substitution."/>
          <p:cNvPicPr/>
          <p:nvPr/>
        </p:nvPicPr>
        <p:blipFill>
          <a:blip r:embed="rId16"/>
          <a:stretch>
            <a:fillRect/>
          </a:stretch>
        </p:blipFill>
        <p:spPr>
          <a:xfrm>
            <a:off x="11026272" y="4364225"/>
            <a:ext cx="604706" cy="665771"/>
          </a:xfrm>
          <a:prstGeom prst="rect">
            <a:avLst/>
          </a:prstGeom>
        </p:spPr>
      </p:pic>
      <p:sp>
        <p:nvSpPr>
          <p:cNvPr id="43" name="TextBox 43"/>
          <p:cNvSpPr txBox="1"/>
          <p:nvPr/>
        </p:nvSpPr>
        <p:spPr>
          <a:xfrm>
            <a:off x="185286" y="174912"/>
            <a:ext cx="2397749" cy="66320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55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对比与创新</a:t>
            </a:r>
            <a:endParaRPr lang="zh-CN" sz="3550"/>
          </a:p>
        </p:txBody>
      </p:sp>
      <p:sp>
        <p:nvSpPr>
          <p:cNvPr id="44" name="TextBox 44"/>
          <p:cNvSpPr txBox="1"/>
          <p:nvPr/>
        </p:nvSpPr>
        <p:spPr>
          <a:xfrm>
            <a:off x="2036436" y="1304550"/>
            <a:ext cx="1967758" cy="35711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国外推料机器人</a:t>
            </a:r>
            <a:endParaRPr lang="zh-CN" sz="1950"/>
          </a:p>
        </p:txBody>
      </p:sp>
      <p:sp>
        <p:nvSpPr>
          <p:cNvPr id="45" name="TextBox 45"/>
          <p:cNvSpPr txBox="1"/>
          <p:nvPr/>
        </p:nvSpPr>
        <p:spPr>
          <a:xfrm>
            <a:off x="7713782" y="976591"/>
            <a:ext cx="2485205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本项目推料机器人</a:t>
            </a:r>
            <a:endParaRPr lang="zh-CN" sz="2325"/>
          </a:p>
        </p:txBody>
      </p:sp>
      <p:sp>
        <p:nvSpPr>
          <p:cNvPr id="46" name="TextBox 46"/>
          <p:cNvSpPr txBox="1"/>
          <p:nvPr/>
        </p:nvSpPr>
        <p:spPr>
          <a:xfrm>
            <a:off x="4754857" y="2419613"/>
            <a:ext cx="2004198" cy="176369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1300" b="1" i="1">
                <a:solidFill>
                  <a:srgbClr val="D0D0D0"/>
                </a:solidFill>
                <a:latin typeface="Liberation Sans"/>
                <a:ea typeface="Liberation Sans"/>
                <a:cs typeface="Liberation Sans"/>
              </a:rPr>
              <a:t>V</a:t>
            </a:r>
            <a:r>
              <a:rPr lang="zh-CN" sz="11300" b="1" i="1">
                <a:solidFill>
                  <a:srgbClr val="FFB526"/>
                </a:solidFill>
                <a:latin typeface="Liberation Sans"/>
                <a:ea typeface="Liberation Sans"/>
                <a:cs typeface="Liberation Sans"/>
              </a:rPr>
              <a:t>S</a:t>
            </a:r>
            <a:endParaRPr lang="zh-CN" sz="11300"/>
          </a:p>
        </p:txBody>
      </p:sp>
      <p:sp>
        <p:nvSpPr>
          <p:cNvPr id="47" name="TextBox 47"/>
          <p:cNvSpPr txBox="1"/>
          <p:nvPr/>
        </p:nvSpPr>
        <p:spPr>
          <a:xfrm>
            <a:off x="637142" y="5225490"/>
            <a:ext cx="969303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推料不干净</a:t>
            </a:r>
            <a:endParaRPr lang="zh-CN" sz="1500"/>
          </a:p>
        </p:txBody>
      </p:sp>
      <p:sp>
        <p:nvSpPr>
          <p:cNvPr id="48" name="TextBox 48"/>
          <p:cNvSpPr txBox="1"/>
          <p:nvPr/>
        </p:nvSpPr>
        <p:spPr>
          <a:xfrm>
            <a:off x="2087452" y="5225490"/>
            <a:ext cx="998455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价格昂贵</a:t>
            </a:r>
            <a:endParaRPr lang="zh-CN" sz="1500"/>
          </a:p>
        </p:txBody>
      </p:sp>
      <p:sp>
        <p:nvSpPr>
          <p:cNvPr id="49" name="TextBox 49"/>
          <p:cNvSpPr txBox="1"/>
          <p:nvPr/>
        </p:nvSpPr>
        <p:spPr>
          <a:xfrm>
            <a:off x="3566915" y="5225490"/>
            <a:ext cx="1268111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5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影响奶牛饲喂</a:t>
            </a:r>
            <a:endParaRPr lang="zh-CN" sz="1500"/>
          </a:p>
        </p:txBody>
      </p:sp>
      <p:sp>
        <p:nvSpPr>
          <p:cNvPr id="50" name="TextBox 50"/>
          <p:cNvSpPr txBox="1"/>
          <p:nvPr/>
        </p:nvSpPr>
        <p:spPr>
          <a:xfrm>
            <a:off x="5592976" y="5167186"/>
            <a:ext cx="11369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推料干净</a:t>
            </a:r>
            <a:endParaRPr lang="zh-CN" sz="1650"/>
          </a:p>
        </p:txBody>
      </p:sp>
      <p:sp>
        <p:nvSpPr>
          <p:cNvPr id="51" name="TextBox 51"/>
          <p:cNvSpPr txBox="1"/>
          <p:nvPr/>
        </p:nvSpPr>
        <p:spPr>
          <a:xfrm>
            <a:off x="6904815" y="5167186"/>
            <a:ext cx="11369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高智能化</a:t>
            </a:r>
            <a:endParaRPr lang="zh-CN" sz="1650"/>
          </a:p>
        </p:txBody>
      </p:sp>
      <p:sp>
        <p:nvSpPr>
          <p:cNvPr id="52" name="TextBox 52"/>
          <p:cNvSpPr txBox="1"/>
          <p:nvPr/>
        </p:nvSpPr>
        <p:spPr>
          <a:xfrm>
            <a:off x="8202077" y="5167186"/>
            <a:ext cx="11369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低成本</a:t>
            </a:r>
            <a:endParaRPr lang="zh-CN" sz="1650"/>
          </a:p>
        </p:txBody>
      </p:sp>
      <p:sp>
        <p:nvSpPr>
          <p:cNvPr id="53" name="TextBox 53"/>
          <p:cNvSpPr txBox="1"/>
          <p:nvPr/>
        </p:nvSpPr>
        <p:spPr>
          <a:xfrm>
            <a:off x="9492052" y="5167186"/>
            <a:ext cx="1129639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高功效</a:t>
            </a:r>
            <a:endParaRPr lang="zh-CN" sz="1650"/>
          </a:p>
        </p:txBody>
      </p:sp>
      <p:sp>
        <p:nvSpPr>
          <p:cNvPr id="54" name="TextBox 54"/>
          <p:cNvSpPr txBox="1"/>
          <p:nvPr/>
        </p:nvSpPr>
        <p:spPr>
          <a:xfrm>
            <a:off x="10774738" y="5167186"/>
            <a:ext cx="1136927" cy="34253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ctr"/>
            <a:r>
              <a:rPr lang="zh-CN" sz="16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操作简单</a:t>
            </a:r>
            <a:endParaRPr lang="zh-CN" sz="1650"/>
          </a:p>
        </p:txBody>
      </p:sp>
      <p:pic>
        <p:nvPicPr>
          <p:cNvPr id="55" name="Prior actual builtin-imagegen separated brand, SHA256 and producer job verified; visually same current-source CPIPC mark; all wordmark text is brand identity exception. See analysis/reuse-provenance.json."/>
          <p:cNvPicPr/>
          <p:nvPr/>
        </p:nvPicPr>
        <p:blipFill>
          <a:blip r:embed="rId17"/>
          <a:stretch>
            <a:fillRect/>
          </a:stretch>
        </p:blipFill>
        <p:spPr>
          <a:xfrm>
            <a:off x="272742" y="6078185"/>
            <a:ext cx="969303" cy="626767"/>
          </a:xfrm>
          <a:prstGeom prst="rect">
            <a:avLst/>
          </a:prstGeom>
        </p:spPr>
      </p:pic>
      <p:pic>
        <p:nvPicPr>
          <p:cNvPr id="56" name="Prior actual builtin-imagegen separated brand, SHA256 and producer job verified; exact same current-source competition brand; small lettering is brand identity exception. See analysis/reuse-provenance.json."/>
          <p:cNvPicPr/>
          <p:nvPr/>
        </p:nvPicPr>
        <p:blipFill>
          <a:blip r:embed="rId18"/>
          <a:stretch>
            <a:fillRect/>
          </a:stretch>
        </p:blipFill>
        <p:spPr>
          <a:xfrm>
            <a:off x="10111531" y="6151065"/>
            <a:ext cx="1683526" cy="55388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 2"/>
          <p:cNvSpPr/>
          <p:nvPr/>
        </p:nvSpPr>
        <p:spPr>
          <a:xfrm>
            <a:off x="3087" y="0"/>
            <a:ext cx="1218552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3" name="Original builtin edit clean same-template competition header, actual producer/hash/current identity audited in analysis/reuse-provenance.json; dimension normalization only."/>
          <p:cNvPicPr/>
          <p:nvPr/>
        </p:nvPicPr>
        <p:blipFill>
          <a:blip r:embed="rId2"/>
          <a:stretch>
            <a:fillRect/>
          </a:stretch>
        </p:blipFill>
        <p:spPr>
          <a:xfrm>
            <a:off x="3087" y="0"/>
            <a:ext cx="12185522" cy="1027607"/>
          </a:xfrm>
          <a:prstGeom prst="rect">
            <a:avLst/>
          </a:prstGeom>
        </p:spPr>
      </p:pic>
      <p:pic>
        <p:nvPicPr>
          <p:cNvPr id="4" name="Unoccluded faint engineering line-art background from current source rectangle164,819,769,67 only, no words/icons/brands."/>
          <p:cNvPicPr/>
          <p:nvPr/>
        </p:nvPicPr>
        <p:blipFill>
          <a:blip r:embed="rId3"/>
          <a:stretch>
            <a:fillRect/>
          </a:stretch>
        </p:blipFill>
        <p:spPr>
          <a:xfrm>
            <a:off x="1198317" y="5968865"/>
            <a:ext cx="5604465" cy="488295"/>
          </a:xfrm>
          <a:prstGeom prst="rect">
            <a:avLst/>
          </a:prstGeom>
        </p:spPr>
      </p:pic>
      <p:sp>
        <p:nvSpPr>
          <p:cNvPr id="5" name="Path 5"/>
          <p:cNvSpPr/>
          <p:nvPr/>
        </p:nvSpPr>
        <p:spPr>
          <a:xfrm>
            <a:off x="1169165" y="6413433"/>
            <a:ext cx="11019443" cy="444567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1071" y="2479"/>
                </a:lnTo>
                <a:lnTo>
                  <a:pt x="16257" y="354"/>
                </a:lnTo>
                <a:cubicBezTo>
                  <a:pt x="16914" y="354"/>
                  <a:pt x="16814" y="13102"/>
                  <a:pt x="17457" y="13456"/>
                </a:cubicBezTo>
                <a:lnTo>
                  <a:pt x="21600" y="13456"/>
                </a:lnTo>
                <a:lnTo>
                  <a:pt x="21600" y="15934"/>
                </a:lnTo>
                <a:lnTo>
                  <a:pt x="17429" y="15934"/>
                </a:lnTo>
                <a:cubicBezTo>
                  <a:pt x="16771" y="15934"/>
                  <a:pt x="16829" y="3187"/>
                  <a:pt x="16214" y="2833"/>
                </a:cubicBezTo>
                <a:lnTo>
                  <a:pt x="1129" y="4957"/>
                </a:lnTo>
                <a:lnTo>
                  <a:pt x="143" y="21600"/>
                </a:lnTo>
                <a:close/>
              </a:path>
            </a:pathLst>
          </a:custGeom>
          <a:solidFill>
            <a:srgbClr val="F8BCA7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" name="Deterministic ordinary source blue/cyan footer gradient and simple curved boundary only; no source foreground crop."/>
          <p:cNvPicPr/>
          <p:nvPr/>
        </p:nvPicPr>
        <p:blipFill>
          <a:blip r:embed="rId4"/>
          <a:stretch>
            <a:fillRect/>
          </a:stretch>
        </p:blipFill>
        <p:spPr>
          <a:xfrm>
            <a:off x="3087" y="6413433"/>
            <a:ext cx="12185522" cy="444567"/>
          </a:xfrm>
          <a:prstGeom prst="rect">
            <a:avLst/>
          </a:prstGeom>
        </p:spPr>
      </p:pic>
      <p:pic>
        <p:nvPicPr>
          <p:cNvPr id="7" name="Current source strict builtin edit photo separation of exact wide dairy barn, foreground red/silver robot and cows at right; labels/cube removed. Six-source scene identities reconciled against original."/>
          <p:cNvPicPr/>
          <p:nvPr/>
        </p:nvPicPr>
        <p:blipFill>
          <a:blip r:embed="rId5"/>
          <a:stretch>
            <a:fillRect/>
          </a:stretch>
        </p:blipFill>
        <p:spPr>
          <a:xfrm>
            <a:off x="3087" y="1902166"/>
            <a:ext cx="3950091" cy="1559630"/>
          </a:xfrm>
          <a:prstGeom prst="rect">
            <a:avLst/>
          </a:prstGeom>
        </p:spPr>
      </p:pic>
      <p:sp>
        <p:nvSpPr>
          <p:cNvPr id="8" name="Ellipse 8"/>
          <p:cNvSpPr/>
          <p:nvPr/>
        </p:nvSpPr>
        <p:spPr>
          <a:xfrm>
            <a:off x="-273857" y="1027607"/>
            <a:ext cx="4576859" cy="1275399"/>
          </a:xfrm>
          <a:prstGeom prst="ellipse">
            <a:avLst/>
          </a:prstGeom>
          <a:solidFill>
            <a:srgbClr val="F0FAFF"/>
          </a:solidFill>
          <a:ln>
            <a:noFill/>
          </a:ln>
        </p:spPr>
        <p:txBody>
          <a:bodyPr/>
          <a:lstStyle/>
          <a:p/>
        </p:txBody>
      </p:sp>
      <p:sp>
        <p:nvSpPr>
          <p:cNvPr id="9" name="Roundrect 9"/>
          <p:cNvSpPr/>
          <p:nvPr/>
        </p:nvSpPr>
        <p:spPr>
          <a:xfrm>
            <a:off x="3953178" y="1100487"/>
            <a:ext cx="7994927" cy="2215549"/>
          </a:xfrm>
          <a:prstGeom prst="roundRect">
            <a:avLst>
              <a:gd name="adj" fmla="val 5921"/>
            </a:avLst>
          </a:prstGeom>
          <a:solidFill>
            <a:srgbClr val="F2FAFF"/>
          </a:solidFill>
          <a:ln w="7620">
            <a:solidFill>
              <a:srgbClr val="D6EEFF"/>
            </a:solidFill>
          </a:ln>
        </p:spPr>
        <p:txBody>
          <a:bodyPr/>
          <a:lstStyle/>
          <a:p/>
        </p:txBody>
      </p:sp>
      <p:pic>
        <p:nvPicPr>
          <p:cNvPr id="10" name="Strict current source builtin edit separated original translucent swooping panorama/title arcs, no photo/text/icon pixels."/>
          <p:cNvPicPr/>
          <p:nvPr/>
        </p:nvPicPr>
        <p:blipFill>
          <a:blip r:embed="rId6"/>
          <a:stretch>
            <a:fillRect/>
          </a:stretch>
        </p:blipFill>
        <p:spPr>
          <a:xfrm>
            <a:off x="-62505" y="1042183"/>
            <a:ext cx="4117715" cy="1362854"/>
          </a:xfrm>
          <a:prstGeom prst="rect">
            <a:avLst/>
          </a:prstGeom>
        </p:spPr>
      </p:pic>
      <p:sp>
        <p:nvSpPr>
          <p:cNvPr id="11" name="Roundrect 11"/>
          <p:cNvSpPr/>
          <p:nvPr/>
        </p:nvSpPr>
        <p:spPr>
          <a:xfrm>
            <a:off x="309182" y="3461796"/>
            <a:ext cx="6194793" cy="2499781"/>
          </a:xfrm>
          <a:prstGeom prst="roundRect">
            <a:avLst>
              <a:gd name="adj" fmla="val 5831"/>
            </a:avLst>
          </a:prstGeom>
          <a:solidFill>
            <a:srgbClr val="F6FCFF"/>
          </a:solidFill>
          <a:ln w="7620">
            <a:solidFill>
              <a:srgbClr val="D7EEFC"/>
            </a:solidFill>
          </a:ln>
        </p:spPr>
        <p:txBody>
          <a:bodyPr/>
          <a:lstStyle/>
          <a:p/>
        </p:txBody>
      </p:sp>
      <p:sp>
        <p:nvSpPr>
          <p:cNvPr id="12" name="Roundrect 12"/>
          <p:cNvSpPr/>
          <p:nvPr/>
        </p:nvSpPr>
        <p:spPr>
          <a:xfrm>
            <a:off x="6671599" y="3461796"/>
            <a:ext cx="5247354" cy="2507069"/>
          </a:xfrm>
          <a:prstGeom prst="roundRect">
            <a:avLst>
              <a:gd name="adj" fmla="val 6105"/>
            </a:avLst>
          </a:prstGeom>
          <a:solidFill>
            <a:srgbClr val="F5FBFF"/>
          </a:solidFill>
          <a:ln w="7620">
            <a:solidFill>
              <a:srgbClr val="D6EDF9"/>
            </a:solidFill>
          </a:ln>
        </p:spPr>
        <p:txBody>
          <a:bodyPr/>
          <a:lstStyle/>
          <a:p/>
        </p:txBody>
      </p:sp>
      <p:sp>
        <p:nvSpPr>
          <p:cNvPr id="13" name="Roundrect 13"/>
          <p:cNvSpPr/>
          <p:nvPr/>
        </p:nvSpPr>
        <p:spPr>
          <a:xfrm>
            <a:off x="309182" y="3461796"/>
            <a:ext cx="6194793" cy="459143"/>
          </a:xfrm>
          <a:prstGeom prst="roundRect">
            <a:avLst>
              <a:gd name="adj" fmla="val 31746"/>
            </a:avLst>
          </a:prstGeom>
          <a:solidFill>
            <a:srgbClr val="EAF7FF"/>
          </a:solidFill>
          <a:ln w="7620">
            <a:solidFill>
              <a:srgbClr val="D7EEFC"/>
            </a:solidFill>
          </a:ln>
        </p:spPr>
        <p:txBody>
          <a:bodyPr/>
          <a:lstStyle/>
          <a:p/>
        </p:txBody>
      </p:sp>
      <p:sp>
        <p:nvSpPr>
          <p:cNvPr id="14" name="Roundrect 14"/>
          <p:cNvSpPr/>
          <p:nvPr/>
        </p:nvSpPr>
        <p:spPr>
          <a:xfrm>
            <a:off x="6671599" y="3461796"/>
            <a:ext cx="5247354" cy="459143"/>
          </a:xfrm>
          <a:prstGeom prst="roundRect">
            <a:avLst>
              <a:gd name="adj" fmla="val 31746"/>
            </a:avLst>
          </a:prstGeom>
          <a:solidFill>
            <a:srgbClr val="E6F7FE"/>
          </a:solidFill>
          <a:ln w="7620">
            <a:solidFill>
              <a:srgbClr val="D6EDF9"/>
            </a:solidFill>
          </a:ln>
        </p:spPr>
        <p:txBody>
          <a:bodyPr/>
          <a:lstStyle/>
          <a:p/>
        </p:txBody>
      </p:sp>
      <p:sp>
        <p:nvSpPr>
          <p:cNvPr id="15" name="Path 15"/>
          <p:cNvSpPr/>
          <p:nvPr/>
        </p:nvSpPr>
        <p:spPr>
          <a:xfrm>
            <a:off x="309182" y="3461796"/>
            <a:ext cx="2784013" cy="43727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0" y="11880"/>
                </a:lnTo>
                <a:quadBezTo>
                  <a:pt x="0" y="0"/>
                  <a:pt x="1809" y="0"/>
                </a:quadBezTo>
                <a:lnTo>
                  <a:pt x="17529" y="0"/>
                </a:lnTo>
                <a:quadBezTo>
                  <a:pt x="18886" y="0"/>
                  <a:pt x="19734" y="7920"/>
                </a:quadBezTo>
                <a:lnTo>
                  <a:pt x="21600" y="21600"/>
                </a:lnTo>
                <a:close/>
              </a:path>
            </a:pathLst>
          </a:custGeom>
          <a:solidFill>
            <a:srgbClr val="008CFF"/>
          </a:solidFill>
          <a:ln>
            <a:noFill/>
          </a:ln>
        </p:spPr>
        <p:txBody>
          <a:bodyPr/>
          <a:lstStyle/>
          <a:p/>
        </p:txBody>
      </p:sp>
      <p:sp>
        <p:nvSpPr>
          <p:cNvPr id="16" name="Path 16"/>
          <p:cNvSpPr/>
          <p:nvPr/>
        </p:nvSpPr>
        <p:spPr>
          <a:xfrm>
            <a:off x="6671599" y="3461796"/>
            <a:ext cx="2222837" cy="437279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21600"/>
                </a:moveTo>
                <a:lnTo>
                  <a:pt x="0" y="10800"/>
                </a:lnTo>
                <a:quadBezTo>
                  <a:pt x="0" y="0"/>
                  <a:pt x="2266" y="0"/>
                </a:quadBezTo>
                <a:lnTo>
                  <a:pt x="16926" y="0"/>
                </a:lnTo>
                <a:quadBezTo>
                  <a:pt x="18626" y="0"/>
                  <a:pt x="19475" y="7560"/>
                </a:quadBezTo>
                <a:lnTo>
                  <a:pt x="21600" y="21600"/>
                </a:lnTo>
                <a:close/>
              </a:path>
            </a:pathLst>
          </a:custGeom>
          <a:solidFill>
            <a:srgbClr val="008DFF"/>
          </a:solidFill>
          <a:ln>
            <a:noFill/>
          </a:ln>
        </p:spPr>
        <p:txBody>
          <a:bodyPr/>
          <a:lstStyle/>
          <a:p/>
        </p:txBody>
      </p:sp>
      <p:pic>
        <p:nvPicPr>
          <p:cNvPr id="17" name="Actual current-source builtin edit separated same pale China globe/radar map; all source bold deployment routes and colored pins removed, native routing below. Geographic cartographic boundaries remain intrinsic map identity."/>
          <p:cNvPicPr/>
          <p:nvPr/>
        </p:nvPicPr>
        <p:blipFill>
          <a:blip r:embed="rId12"/>
          <a:stretch>
            <a:fillRect/>
          </a:stretch>
        </p:blipFill>
        <p:spPr>
          <a:xfrm>
            <a:off x="316470" y="3950091"/>
            <a:ext cx="2332157" cy="1996910"/>
          </a:xfrm>
          <a:prstGeom prst="rect">
            <a:avLst/>
          </a:prstGeom>
        </p:spPr>
      </p:pic>
      <p:sp>
        <p:nvSpPr>
          <p:cNvPr id="18" name="Roundrect 18"/>
          <p:cNvSpPr/>
          <p:nvPr/>
        </p:nvSpPr>
        <p:spPr>
          <a:xfrm>
            <a:off x="2590324" y="4044835"/>
            <a:ext cx="3811620" cy="561175"/>
          </a:xfrm>
          <a:prstGeom prst="roundRect">
            <a:avLst>
              <a:gd name="adj" fmla="val 25974"/>
            </a:avLst>
          </a:prstGeom>
          <a:solidFill>
            <a:srgbClr val="ECF8FF"/>
          </a:solidFill>
          <a:ln w="7620">
            <a:solidFill>
              <a:srgbClr val="E3F3FD"/>
            </a:solidFill>
          </a:ln>
        </p:spPr>
        <p:txBody>
          <a:bodyPr/>
          <a:lstStyle/>
          <a:p/>
        </p:txBody>
      </p:sp>
      <p:sp>
        <p:nvSpPr>
          <p:cNvPr id="19" name="Roundrect 19"/>
          <p:cNvSpPr/>
          <p:nvPr/>
        </p:nvSpPr>
        <p:spPr>
          <a:xfrm>
            <a:off x="2590324" y="4708043"/>
            <a:ext cx="3811620" cy="561175"/>
          </a:xfrm>
          <a:prstGeom prst="roundRect">
            <a:avLst>
              <a:gd name="adj" fmla="val 25974"/>
            </a:avLst>
          </a:prstGeom>
          <a:solidFill>
            <a:srgbClr val="FFF5E9"/>
          </a:solidFill>
          <a:ln w="7620">
            <a:solidFill>
              <a:srgbClr val="E3F3FD"/>
            </a:solidFill>
          </a:ln>
        </p:spPr>
        <p:txBody>
          <a:bodyPr/>
          <a:lstStyle/>
          <a:p/>
        </p:txBody>
      </p:sp>
      <p:sp>
        <p:nvSpPr>
          <p:cNvPr id="20" name="Roundrect 20"/>
          <p:cNvSpPr/>
          <p:nvPr/>
        </p:nvSpPr>
        <p:spPr>
          <a:xfrm>
            <a:off x="2590324" y="5371250"/>
            <a:ext cx="3811620" cy="561175"/>
          </a:xfrm>
          <a:prstGeom prst="roundRect">
            <a:avLst>
              <a:gd name="adj" fmla="val 25974"/>
            </a:avLst>
          </a:prstGeom>
          <a:solidFill>
            <a:srgbClr val="ECF8FF"/>
          </a:solidFill>
          <a:ln w="7620">
            <a:solidFill>
              <a:srgbClr val="E3F3FD"/>
            </a:solidFill>
          </a:ln>
        </p:spPr>
        <p:txBody>
          <a:bodyPr/>
          <a:lstStyle/>
          <a:p/>
        </p:txBody>
      </p:sp>
      <p:sp>
        <p:nvSpPr>
          <p:cNvPr id="21" name="Roundrect 21"/>
          <p:cNvSpPr/>
          <p:nvPr/>
        </p:nvSpPr>
        <p:spPr>
          <a:xfrm>
            <a:off x="6780919" y="4052123"/>
            <a:ext cx="1967758" cy="808967"/>
          </a:xfrm>
          <a:prstGeom prst="roundRect">
            <a:avLst>
              <a:gd name="adj" fmla="val 26126"/>
            </a:avLst>
          </a:prstGeom>
          <a:solidFill>
            <a:srgbClr val="FBFEFF"/>
          </a:solidFill>
          <a:ln w="8890">
            <a:solidFill>
              <a:srgbClr val="CCE9FB"/>
            </a:solidFill>
          </a:ln>
        </p:spPr>
        <p:txBody>
          <a:bodyPr/>
          <a:lstStyle/>
          <a:p/>
        </p:txBody>
      </p:sp>
      <p:sp>
        <p:nvSpPr>
          <p:cNvPr id="22" name="Roundrect 22"/>
          <p:cNvSpPr/>
          <p:nvPr/>
        </p:nvSpPr>
        <p:spPr>
          <a:xfrm>
            <a:off x="9783571" y="4052123"/>
            <a:ext cx="2026062" cy="808967"/>
          </a:xfrm>
          <a:prstGeom prst="roundRect">
            <a:avLst>
              <a:gd name="adj" fmla="val 26126"/>
            </a:avLst>
          </a:prstGeom>
          <a:solidFill>
            <a:srgbClr val="FBFEFF"/>
          </a:solidFill>
          <a:ln w="8890">
            <a:solidFill>
              <a:srgbClr val="CCE9FB"/>
            </a:solidFill>
          </a:ln>
        </p:spPr>
        <p:txBody>
          <a:bodyPr/>
          <a:lstStyle/>
          <a:p/>
        </p:txBody>
      </p:sp>
      <p:sp>
        <p:nvSpPr>
          <p:cNvPr id="23" name="Roundrect 23"/>
          <p:cNvSpPr/>
          <p:nvPr/>
        </p:nvSpPr>
        <p:spPr>
          <a:xfrm>
            <a:off x="6780919" y="5014138"/>
            <a:ext cx="1967758" cy="823543"/>
          </a:xfrm>
          <a:prstGeom prst="roundRect">
            <a:avLst>
              <a:gd name="adj" fmla="val 25664"/>
            </a:avLst>
          </a:prstGeom>
          <a:solidFill>
            <a:srgbClr val="FBFEFF"/>
          </a:solidFill>
          <a:ln w="8890">
            <a:solidFill>
              <a:srgbClr val="CCE9FB"/>
            </a:solidFill>
          </a:ln>
        </p:spPr>
        <p:txBody>
          <a:bodyPr/>
          <a:lstStyle/>
          <a:p/>
        </p:txBody>
      </p:sp>
      <p:sp>
        <p:nvSpPr>
          <p:cNvPr id="24" name="Roundrect 24"/>
          <p:cNvSpPr/>
          <p:nvPr/>
        </p:nvSpPr>
        <p:spPr>
          <a:xfrm>
            <a:off x="9783571" y="5014138"/>
            <a:ext cx="2026062" cy="823543"/>
          </a:xfrm>
          <a:prstGeom prst="roundRect">
            <a:avLst>
              <a:gd name="adj" fmla="val 25664"/>
            </a:avLst>
          </a:prstGeom>
          <a:solidFill>
            <a:srgbClr val="FBFEFF"/>
          </a:solidFill>
          <a:ln w="8890">
            <a:solidFill>
              <a:srgbClr val="CCE9FB"/>
            </a:solidFill>
          </a:ln>
        </p:spPr>
        <p:txBody>
          <a:bodyPr/>
          <a:lstStyle/>
          <a:p/>
        </p:txBody>
      </p:sp>
      <p:sp>
        <p:nvSpPr>
          <p:cNvPr id="25" name="Roundrect 25"/>
          <p:cNvSpPr/>
          <p:nvPr/>
        </p:nvSpPr>
        <p:spPr>
          <a:xfrm>
            <a:off x="4026058" y="1260823"/>
            <a:ext cx="1479462" cy="1975046"/>
          </a:xfrm>
          <a:prstGeom prst="roundRect">
            <a:avLst>
              <a:gd name="adj" fmla="val 10345"/>
            </a:avLst>
          </a:prstGeom>
          <a:solidFill>
            <a:srgbClr val="FFFFFF"/>
          </a:solidFill>
          <a:ln w="8890">
            <a:solidFill>
              <a:srgbClr val="C7E7FC"/>
            </a:solidFill>
          </a:ln>
        </p:spPr>
        <p:txBody>
          <a:bodyPr/>
          <a:lstStyle/>
          <a:p/>
        </p:txBody>
      </p:sp>
      <p:sp>
        <p:nvSpPr>
          <p:cNvPr id="26" name="Roundrect 26"/>
          <p:cNvSpPr/>
          <p:nvPr/>
        </p:nvSpPr>
        <p:spPr>
          <a:xfrm>
            <a:off x="5578400" y="1260823"/>
            <a:ext cx="1464886" cy="1975046"/>
          </a:xfrm>
          <a:prstGeom prst="roundRect">
            <a:avLst>
              <a:gd name="adj" fmla="val 10448"/>
            </a:avLst>
          </a:prstGeom>
          <a:solidFill>
            <a:srgbClr val="FFFFFF"/>
          </a:solidFill>
          <a:ln w="8890">
            <a:solidFill>
              <a:srgbClr val="C7E7FC"/>
            </a:solidFill>
          </a:ln>
        </p:spPr>
        <p:txBody>
          <a:bodyPr/>
          <a:lstStyle/>
          <a:p/>
        </p:txBody>
      </p:sp>
      <p:sp>
        <p:nvSpPr>
          <p:cNvPr id="27" name="Roundrect 27"/>
          <p:cNvSpPr/>
          <p:nvPr/>
        </p:nvSpPr>
        <p:spPr>
          <a:xfrm>
            <a:off x="7123454" y="1260823"/>
            <a:ext cx="1457598" cy="1975046"/>
          </a:xfrm>
          <a:prstGeom prst="roundRect">
            <a:avLst>
              <a:gd name="adj" fmla="val 10500"/>
            </a:avLst>
          </a:prstGeom>
          <a:solidFill>
            <a:srgbClr val="FFFFFF"/>
          </a:solidFill>
          <a:ln w="8890">
            <a:solidFill>
              <a:srgbClr val="C7E7FC"/>
            </a:solidFill>
          </a:ln>
        </p:spPr>
        <p:txBody>
          <a:bodyPr/>
          <a:lstStyle/>
          <a:p/>
        </p:txBody>
      </p:sp>
      <p:sp>
        <p:nvSpPr>
          <p:cNvPr id="28" name="Roundrect 28"/>
          <p:cNvSpPr/>
          <p:nvPr/>
        </p:nvSpPr>
        <p:spPr>
          <a:xfrm>
            <a:off x="8661221" y="1260823"/>
            <a:ext cx="1559630" cy="1975046"/>
          </a:xfrm>
          <a:prstGeom prst="roundRect">
            <a:avLst>
              <a:gd name="adj" fmla="val 9813"/>
            </a:avLst>
          </a:prstGeom>
          <a:solidFill>
            <a:srgbClr val="FFFFFF"/>
          </a:solidFill>
          <a:ln w="8890">
            <a:solidFill>
              <a:srgbClr val="C7E7FC"/>
            </a:solidFill>
          </a:ln>
        </p:spPr>
        <p:txBody>
          <a:bodyPr/>
          <a:lstStyle/>
          <a:p/>
        </p:txBody>
      </p:sp>
      <p:sp>
        <p:nvSpPr>
          <p:cNvPr id="29" name="Roundrect 29"/>
          <p:cNvSpPr/>
          <p:nvPr/>
        </p:nvSpPr>
        <p:spPr>
          <a:xfrm>
            <a:off x="10301019" y="1260823"/>
            <a:ext cx="1523190" cy="1975046"/>
          </a:xfrm>
          <a:prstGeom prst="roundRect">
            <a:avLst>
              <a:gd name="adj" fmla="val 10048"/>
            </a:avLst>
          </a:prstGeom>
          <a:solidFill>
            <a:srgbClr val="FFFFFF"/>
          </a:solidFill>
          <a:ln w="8890">
            <a:solidFill>
              <a:srgbClr val="C7E7FC"/>
            </a:solidFill>
          </a:ln>
        </p:spPr>
        <p:txBody>
          <a:bodyPr/>
          <a:lstStyle/>
          <a:p/>
        </p:txBody>
      </p:sp>
      <p:sp>
        <p:nvSpPr>
          <p:cNvPr id="30" name="Ellipse 30"/>
          <p:cNvSpPr/>
          <p:nvPr/>
        </p:nvSpPr>
        <p:spPr>
          <a:xfrm>
            <a:off x="8500885" y="4212459"/>
            <a:ext cx="1464886" cy="1464886"/>
          </a:xfrm>
          <a:prstGeom prst="ellipse">
            <a:avLst/>
          </a:prstGeom>
          <a:solidFill>
            <a:srgbClr val="EDF9FF"/>
          </a:solidFill>
          <a:ln w="8890">
            <a:solidFill>
              <a:srgbClr val="DFEFF8"/>
            </a:solidFill>
          </a:ln>
        </p:spPr>
        <p:txBody>
          <a:bodyPr/>
          <a:lstStyle/>
          <a:p/>
        </p:txBody>
      </p:sp>
      <p:sp>
        <p:nvSpPr>
          <p:cNvPr id="31" name="Ellipse 31"/>
          <p:cNvSpPr/>
          <p:nvPr/>
        </p:nvSpPr>
        <p:spPr>
          <a:xfrm>
            <a:off x="8610205" y="4336355"/>
            <a:ext cx="1246247" cy="1246247"/>
          </a:xfrm>
          <a:prstGeom prst="ellipse">
            <a:avLst/>
          </a:prstGeom>
          <a:solidFill>
            <a:srgbClr val="D5F2FF"/>
          </a:solidFill>
          <a:ln w="254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2" name="Ellipse 32"/>
          <p:cNvSpPr/>
          <p:nvPr/>
        </p:nvSpPr>
        <p:spPr>
          <a:xfrm>
            <a:off x="8734101" y="4460251"/>
            <a:ext cx="991167" cy="991167"/>
          </a:xfrm>
          <a:prstGeom prst="ellipse">
            <a:avLst/>
          </a:prstGeom>
          <a:solidFill>
            <a:srgbClr val="F7FDFF"/>
          </a:solidFill>
          <a:ln w="12700">
            <a:solidFill>
              <a:srgbClr val="E1F3FF"/>
            </a:solidFill>
          </a:ln>
        </p:spPr>
        <p:txBody>
          <a:bodyPr/>
          <a:lstStyle/>
          <a:p/>
        </p:txBody>
      </p:sp>
      <p:sp>
        <p:nvSpPr>
          <p:cNvPr id="33" name="Ellipse 33"/>
          <p:cNvSpPr/>
          <p:nvPr/>
        </p:nvSpPr>
        <p:spPr>
          <a:xfrm>
            <a:off x="2597612" y="4081275"/>
            <a:ext cx="517447" cy="517447"/>
          </a:xfrm>
          <a:prstGeom prst="ellipse">
            <a:avLst/>
          </a:prstGeom>
          <a:solidFill>
            <a:srgbClr val="DFF3FF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4" name="Ellipse 34"/>
          <p:cNvSpPr/>
          <p:nvPr/>
        </p:nvSpPr>
        <p:spPr>
          <a:xfrm>
            <a:off x="2597612" y="4751770"/>
            <a:ext cx="517447" cy="517447"/>
          </a:xfrm>
          <a:prstGeom prst="ellipse">
            <a:avLst/>
          </a:prstGeom>
          <a:solidFill>
            <a:srgbClr val="FFF0D9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5" name="Ellipse 35"/>
          <p:cNvSpPr/>
          <p:nvPr/>
        </p:nvSpPr>
        <p:spPr>
          <a:xfrm>
            <a:off x="2597612" y="5414978"/>
            <a:ext cx="517447" cy="517447"/>
          </a:xfrm>
          <a:prstGeom prst="ellipse">
            <a:avLst/>
          </a:prstGeom>
          <a:solidFill>
            <a:srgbClr val="DBF8DC"/>
          </a:solidFill>
          <a:ln w="12700">
            <a:solidFill>
              <a:srgbClr val="FFFFFF"/>
            </a:solidFill>
          </a:ln>
        </p:spPr>
        <p:txBody>
          <a:bodyPr/>
          <a:lstStyle/>
          <a:p/>
        </p:txBody>
      </p:sp>
      <p:sp>
        <p:nvSpPr>
          <p:cNvPr id="36" name="Path 36"/>
          <p:cNvSpPr/>
          <p:nvPr/>
        </p:nvSpPr>
        <p:spPr>
          <a:xfrm>
            <a:off x="8457157" y="4212459"/>
            <a:ext cx="1530478" cy="14575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1006" y="432"/>
                </a:moveTo>
                <a:cubicBezTo>
                  <a:pt x="14400" y="432"/>
                  <a:pt x="17177" y="1944"/>
                  <a:pt x="18514" y="4644"/>
                </a:cubicBezTo>
              </a:path>
            </a:pathLst>
          </a:custGeom>
          <a:noFill/>
          <a:ln w="38100">
            <a:solidFill>
              <a:srgbClr val="F8CD92"/>
            </a:solidFill>
            <a:prstDash val="solid"/>
          </a:ln>
        </p:spPr>
        <p:txBody>
          <a:bodyPr/>
          <a:lstStyle/>
          <a:p/>
        </p:txBody>
      </p:sp>
      <p:sp>
        <p:nvSpPr>
          <p:cNvPr id="37" name="Path 37"/>
          <p:cNvSpPr/>
          <p:nvPr/>
        </p:nvSpPr>
        <p:spPr>
          <a:xfrm>
            <a:off x="8457157" y="4212459"/>
            <a:ext cx="1530478" cy="14575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8514" y="4644"/>
                </a:moveTo>
                <a:cubicBezTo>
                  <a:pt x="21291" y="9288"/>
                  <a:pt x="21189" y="13068"/>
                  <a:pt x="18514" y="16956"/>
                </a:cubicBezTo>
              </a:path>
            </a:pathLst>
          </a:custGeom>
          <a:noFill/>
          <a:ln w="38100">
            <a:solidFill>
              <a:srgbClr val="C79BF4"/>
            </a:solidFill>
            <a:prstDash val="solid"/>
          </a:ln>
        </p:spPr>
        <p:txBody>
          <a:bodyPr/>
          <a:lstStyle/>
          <a:p/>
        </p:txBody>
      </p:sp>
      <p:sp>
        <p:nvSpPr>
          <p:cNvPr id="38" name="Path 38"/>
          <p:cNvSpPr/>
          <p:nvPr/>
        </p:nvSpPr>
        <p:spPr>
          <a:xfrm>
            <a:off x="8457157" y="4212459"/>
            <a:ext cx="1530478" cy="14575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18514" y="16956"/>
                </a:moveTo>
                <a:cubicBezTo>
                  <a:pt x="15840" y="20196"/>
                  <a:pt x="11006" y="21816"/>
                  <a:pt x="6994" y="19980"/>
                </a:cubicBezTo>
              </a:path>
            </a:pathLst>
          </a:custGeom>
          <a:noFill/>
          <a:ln w="38100">
            <a:solidFill>
              <a:srgbClr val="79D4D4"/>
            </a:solidFill>
            <a:prstDash val="solid"/>
          </a:ln>
        </p:spPr>
        <p:txBody>
          <a:bodyPr/>
          <a:lstStyle/>
          <a:p/>
        </p:txBody>
      </p:sp>
      <p:sp>
        <p:nvSpPr>
          <p:cNvPr id="39" name="Path 39"/>
          <p:cNvSpPr/>
          <p:nvPr/>
        </p:nvSpPr>
        <p:spPr>
          <a:xfrm>
            <a:off x="8457157" y="4212459"/>
            <a:ext cx="1530478" cy="145759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3600" y="4644"/>
                </a:moveTo>
                <a:cubicBezTo>
                  <a:pt x="617" y="8748"/>
                  <a:pt x="617" y="13068"/>
                  <a:pt x="3600" y="16956"/>
                </a:cubicBezTo>
              </a:path>
            </a:pathLst>
          </a:custGeom>
          <a:noFill/>
          <a:ln w="38100">
            <a:solidFill>
              <a:srgbClr val="12B997"/>
            </a:solidFill>
            <a:prstDash val="solid"/>
          </a:ln>
        </p:spPr>
        <p:txBody>
          <a:bodyPr/>
          <a:lstStyle/>
          <a:p/>
        </p:txBody>
      </p:sp>
      <p:sp>
        <p:nvSpPr>
          <p:cNvPr id="40" name="Path 40"/>
          <p:cNvSpPr/>
          <p:nvPr/>
        </p:nvSpPr>
        <p:spPr>
          <a:xfrm>
            <a:off x="841206" y="4241611"/>
            <a:ext cx="1486750" cy="51015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3706" y="9874"/>
                  <a:pt x="12706" y="926"/>
                  <a:pt x="21600" y="926"/>
                </a:cubicBezTo>
              </a:path>
            </a:pathLst>
          </a:custGeom>
          <a:noFill/>
          <a:ln w="12700">
            <a:solidFill>
              <a:srgbClr val="0088FF"/>
            </a:solidFill>
            <a:prstDash val="dot"/>
          </a:ln>
        </p:spPr>
        <p:txBody>
          <a:bodyPr/>
          <a:lstStyle/>
          <a:p/>
        </p:txBody>
      </p:sp>
      <p:sp>
        <p:nvSpPr>
          <p:cNvPr id="41" name="Path 41"/>
          <p:cNvSpPr/>
          <p:nvPr/>
        </p:nvSpPr>
        <p:spPr>
          <a:xfrm>
            <a:off x="841206" y="4751770"/>
            <a:ext cx="1486750" cy="947439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0"/>
                </a:moveTo>
                <a:cubicBezTo>
                  <a:pt x="1588" y="9637"/>
                  <a:pt x="5824" y="17114"/>
                  <a:pt x="12494" y="21600"/>
                </a:cubicBezTo>
                <a:cubicBezTo>
                  <a:pt x="14824" y="14123"/>
                  <a:pt x="18106" y="6812"/>
                  <a:pt x="21600" y="4486"/>
                </a:cubicBezTo>
              </a:path>
            </a:pathLst>
          </a:custGeom>
          <a:noFill/>
          <a:ln w="12700">
            <a:solidFill>
              <a:srgbClr val="0088FF"/>
            </a:solidFill>
            <a:prstDash val="dot"/>
          </a:ln>
        </p:spPr>
        <p:txBody>
          <a:bodyPr/>
          <a:lstStyle/>
          <a:p/>
        </p:txBody>
      </p:sp>
      <p:sp>
        <p:nvSpPr>
          <p:cNvPr id="42" name="Path 42"/>
          <p:cNvSpPr/>
          <p:nvPr/>
        </p:nvSpPr>
        <p:spPr>
          <a:xfrm>
            <a:off x="1701189" y="5509722"/>
            <a:ext cx="940151" cy="189488"/>
          </a:xfrm>
          <a:custGeom>
            <a:avLst/>
            <a:gdLst/>
            <a:ahLst/>
            <a:cxnLst/>
            <a:rect l="l" t="t" r="r" b="b"/>
            <a:pathLst>
              <a:path w="21600" h="21600" fill="none">
                <a:moveTo>
                  <a:pt x="0" y="21600"/>
                </a:moveTo>
                <a:cubicBezTo>
                  <a:pt x="7033" y="0"/>
                  <a:pt x="15237" y="0"/>
                  <a:pt x="21600" y="3323"/>
                </a:cubicBezTo>
              </a:path>
            </a:pathLst>
          </a:custGeom>
          <a:noFill/>
          <a:ln w="12700">
            <a:solidFill>
              <a:srgbClr val="0088FF"/>
            </a:solidFill>
            <a:prstDash val="dot"/>
          </a:ln>
        </p:spPr>
        <p:txBody>
          <a:bodyPr/>
          <a:lstStyle/>
          <a:p/>
        </p:txBody>
      </p:sp>
      <p:pic>
        <p:nvPicPr>
          <p:cNvPr id="43" name="Targeted current-source builtin photo separation from inspected source editor-input crop; cropped to visible photograph region before native label, complete source scene/robot/cow identity retained. Actual returned sheet imported, region split, transparent-margin and source corner normalization only. Small proportions/antialiasing differences are allowed warning."/>
          <p:cNvPicPr/>
          <p:nvPr/>
        </p:nvPicPr>
        <p:blipFill>
          <a:blip r:embed="rId7"/>
          <a:stretch>
            <a:fillRect/>
          </a:stretch>
        </p:blipFill>
        <p:spPr>
          <a:xfrm>
            <a:off x="4047922" y="1289974"/>
            <a:ext cx="1435734" cy="1392006"/>
          </a:xfrm>
          <a:prstGeom prst="rect">
            <a:avLst/>
          </a:prstGeom>
        </p:spPr>
      </p:pic>
      <p:pic>
        <p:nvPicPr>
          <p:cNvPr id="44" name="Targeted current-source builtin photo separation from inspected source editor-input crop; cropped to visible photograph region before native label, complete source scene/robot/cow identity retained. Actual returned sheet imported, region split, transparent-margin and source corner normalization only. Small proportions/antialiasing differences are allowed warning."/>
          <p:cNvPicPr/>
          <p:nvPr/>
        </p:nvPicPr>
        <p:blipFill>
          <a:blip r:embed="rId8"/>
          <a:stretch>
            <a:fillRect/>
          </a:stretch>
        </p:blipFill>
        <p:spPr>
          <a:xfrm>
            <a:off x="5600264" y="1289974"/>
            <a:ext cx="1421158" cy="1392006"/>
          </a:xfrm>
          <a:prstGeom prst="rect">
            <a:avLst/>
          </a:prstGeom>
        </p:spPr>
      </p:pic>
      <p:pic>
        <p:nvPicPr>
          <p:cNvPr id="45" name="Targeted current-source builtin photo separation from inspected source editor-input crop; cropped to visible photograph region before native label, complete source scene/robot/cow identity retained. Actual returned sheet imported, region split, transparent-margin and source corner normalization only. Small proportions/antialiasing differences are allowed warning."/>
          <p:cNvPicPr/>
          <p:nvPr/>
        </p:nvPicPr>
        <p:blipFill>
          <a:blip r:embed="rId9"/>
          <a:stretch>
            <a:fillRect/>
          </a:stretch>
        </p:blipFill>
        <p:spPr>
          <a:xfrm>
            <a:off x="7145318" y="1289974"/>
            <a:ext cx="1413870" cy="1392006"/>
          </a:xfrm>
          <a:prstGeom prst="rect">
            <a:avLst/>
          </a:prstGeom>
        </p:spPr>
      </p:pic>
      <p:pic>
        <p:nvPicPr>
          <p:cNvPr id="46" name="Targeted current-source builtin photo separation from inspected source editor-input crop; cropped to visible photograph region before native label, complete source scene/robot/cow identity retained. Actual returned sheet imported, region split, transparent-margin and source corner normalization only. Small proportions/antialiasing differences are allowed warning."/>
          <p:cNvPicPr/>
          <p:nvPr/>
        </p:nvPicPr>
        <p:blipFill>
          <a:blip r:embed="rId10"/>
          <a:stretch>
            <a:fillRect/>
          </a:stretch>
        </p:blipFill>
        <p:spPr>
          <a:xfrm>
            <a:off x="8683085" y="1289974"/>
            <a:ext cx="1515902" cy="1392006"/>
          </a:xfrm>
          <a:prstGeom prst="rect">
            <a:avLst/>
          </a:prstGeom>
        </p:spPr>
      </p:pic>
      <p:pic>
        <p:nvPicPr>
          <p:cNvPr id="47" name="Targeted current-source builtin photo separation from inspected source editor-input crop; cropped to visible photograph region before native label, complete source scene/robot/cow identity retained. Actual returned sheet imported, region split, transparent-margin and source corner normalization only. Small proportions/antialiasing differences are allowed warning."/>
          <p:cNvPicPr/>
          <p:nvPr/>
        </p:nvPicPr>
        <p:blipFill>
          <a:blip r:embed="rId11"/>
          <a:stretch>
            <a:fillRect/>
          </a:stretch>
        </p:blipFill>
        <p:spPr>
          <a:xfrm>
            <a:off x="10322883" y="1289974"/>
            <a:ext cx="1479462" cy="1392006"/>
          </a:xfrm>
          <a:prstGeom prst="rect">
            <a:avLst/>
          </a:prstGeom>
        </p:spPr>
      </p:pic>
      <p:pic>
        <p:nvPicPr>
          <p:cNvPr id="48" name="Current source exact gradient/white-center pin separated by builtin image edit, independent semantic object; same source color/shape reused for repeated occurrence."/>
          <p:cNvPicPr/>
          <p:nvPr/>
        </p:nvPicPr>
        <p:blipFill>
          <a:blip r:embed="rId13"/>
          <a:stretch>
            <a:fillRect/>
          </a:stretch>
        </p:blipFill>
        <p:spPr>
          <a:xfrm>
            <a:off x="731886" y="4598723"/>
            <a:ext cx="225928" cy="313384"/>
          </a:xfrm>
          <a:prstGeom prst="rect">
            <a:avLst/>
          </a:prstGeom>
        </p:spPr>
      </p:pic>
      <p:pic>
        <p:nvPicPr>
          <p:cNvPr id="49" name="Current source exact gradient/white-center pin separated by builtin image edit, independent semantic object; same source color/shape reused for repeated occurrence."/>
          <p:cNvPicPr/>
          <p:nvPr/>
        </p:nvPicPr>
        <p:blipFill>
          <a:blip r:embed="rId14"/>
          <a:stretch>
            <a:fillRect/>
          </a:stretch>
        </p:blipFill>
        <p:spPr>
          <a:xfrm>
            <a:off x="2189484" y="4139579"/>
            <a:ext cx="284232" cy="364400"/>
          </a:xfrm>
          <a:prstGeom prst="rect">
            <a:avLst/>
          </a:prstGeom>
        </p:spPr>
      </p:pic>
      <p:pic>
        <p:nvPicPr>
          <p:cNvPr id="50" name="Current source exact gradient/white-center pin separated by builtin image edit, independent semantic object; same source color/shape reused for repeated occurrence."/>
          <p:cNvPicPr/>
          <p:nvPr/>
        </p:nvPicPr>
        <p:blipFill>
          <a:blip r:embed="rId15"/>
          <a:stretch>
            <a:fillRect/>
          </a:stretch>
        </p:blipFill>
        <p:spPr>
          <a:xfrm>
            <a:off x="1249333" y="5036002"/>
            <a:ext cx="233216" cy="313384"/>
          </a:xfrm>
          <a:prstGeom prst="rect">
            <a:avLst/>
          </a:prstGeom>
        </p:spPr>
      </p:pic>
      <p:pic>
        <p:nvPicPr>
          <p:cNvPr id="51" name="Current source exact gradient/white-center pin separated by builtin image edit, independent semantic object; same source color/shape reused for repeated occurrence."/>
          <p:cNvPicPr/>
          <p:nvPr/>
        </p:nvPicPr>
        <p:blipFill>
          <a:blip r:embed="rId16"/>
          <a:stretch>
            <a:fillRect/>
          </a:stretch>
        </p:blipFill>
        <p:spPr>
          <a:xfrm>
            <a:off x="2189484" y="4773634"/>
            <a:ext cx="284232" cy="364400"/>
          </a:xfrm>
          <a:prstGeom prst="rect">
            <a:avLst/>
          </a:prstGeom>
        </p:spPr>
      </p:pic>
      <p:pic>
        <p:nvPicPr>
          <p:cNvPr id="52" name="Current source exact gradient/white-center pin separated by builtin image edit, independent semantic object; same source color/shape reused for repeated occurrence."/>
          <p:cNvPicPr/>
          <p:nvPr/>
        </p:nvPicPr>
        <p:blipFill>
          <a:blip r:embed="rId17"/>
          <a:stretch>
            <a:fillRect/>
          </a:stretch>
        </p:blipFill>
        <p:spPr>
          <a:xfrm>
            <a:off x="1577293" y="5385826"/>
            <a:ext cx="255080" cy="342536"/>
          </a:xfrm>
          <a:prstGeom prst="rect">
            <a:avLst/>
          </a:prstGeom>
        </p:spPr>
      </p:pic>
      <p:pic>
        <p:nvPicPr>
          <p:cNvPr id="53" name="Exact source central blue cow silhouette separated with builtin image editing. Diagram ring, connectors and words excluded for native structure."/>
          <p:cNvPicPr/>
          <p:nvPr/>
        </p:nvPicPr>
        <p:blipFill>
          <a:blip r:embed="rId18"/>
          <a:stretch>
            <a:fillRect/>
          </a:stretch>
        </p:blipFill>
        <p:spPr>
          <a:xfrm>
            <a:off x="8879860" y="4729906"/>
            <a:ext cx="626767" cy="466431"/>
          </a:xfrm>
          <a:prstGeom prst="rect">
            <a:avLst/>
          </a:prstGeom>
        </p:spPr>
      </p:pic>
      <p:sp>
        <p:nvSpPr>
          <p:cNvPr id="54" name="Ellipse 54"/>
          <p:cNvSpPr/>
          <p:nvPr/>
        </p:nvSpPr>
        <p:spPr>
          <a:xfrm>
            <a:off x="8653933" y="4467539"/>
            <a:ext cx="116608" cy="11660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ACD8"/>
            </a:solidFill>
          </a:ln>
        </p:spPr>
        <p:txBody>
          <a:bodyPr/>
          <a:lstStyle/>
          <a:p/>
        </p:txBody>
      </p:sp>
      <p:sp>
        <p:nvSpPr>
          <p:cNvPr id="55" name="Ellipse 55"/>
          <p:cNvSpPr/>
          <p:nvPr/>
        </p:nvSpPr>
        <p:spPr>
          <a:xfrm>
            <a:off x="9710691" y="4467539"/>
            <a:ext cx="116608" cy="11660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FF9D13"/>
            </a:solidFill>
          </a:ln>
        </p:spPr>
        <p:txBody>
          <a:bodyPr/>
          <a:lstStyle/>
          <a:p/>
        </p:txBody>
      </p:sp>
      <p:sp>
        <p:nvSpPr>
          <p:cNvPr id="56" name="Ellipse 56"/>
          <p:cNvSpPr/>
          <p:nvPr/>
        </p:nvSpPr>
        <p:spPr>
          <a:xfrm>
            <a:off x="8653933" y="5298370"/>
            <a:ext cx="116608" cy="11660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00BF5C"/>
            </a:solidFill>
          </a:ln>
        </p:spPr>
        <p:txBody>
          <a:bodyPr/>
          <a:lstStyle/>
          <a:p/>
        </p:txBody>
      </p:sp>
      <p:sp>
        <p:nvSpPr>
          <p:cNvPr id="57" name="Ellipse 57"/>
          <p:cNvSpPr/>
          <p:nvPr/>
        </p:nvSpPr>
        <p:spPr>
          <a:xfrm>
            <a:off x="9710691" y="5298370"/>
            <a:ext cx="116608" cy="116608"/>
          </a:xfrm>
          <a:prstGeom prst="ellipse">
            <a:avLst/>
          </a:prstGeom>
          <a:solidFill>
            <a:srgbClr val="FFFFFF"/>
          </a:solidFill>
          <a:ln w="22860">
            <a:solidFill>
              <a:srgbClr val="9A32F5"/>
            </a:solidFill>
          </a:ln>
        </p:spPr>
        <p:txBody>
          <a:bodyPr/>
          <a:lstStyle/>
          <a:p/>
        </p:txBody>
      </p:sp>
      <p:sp>
        <p:nvSpPr>
          <p:cNvPr id="58" name="Path 58"/>
          <p:cNvSpPr/>
          <p:nvPr/>
        </p:nvSpPr>
        <p:spPr>
          <a:xfrm>
            <a:off x="4047922" y="2528933"/>
            <a:ext cx="1435734" cy="6850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4596"/>
                </a:moveTo>
                <a:cubicBezTo>
                  <a:pt x="0" y="2298"/>
                  <a:pt x="1754" y="2298"/>
                  <a:pt x="3509" y="1838"/>
                </a:cubicBezTo>
                <a:lnTo>
                  <a:pt x="16995" y="-230"/>
                </a:lnTo>
                <a:cubicBezTo>
                  <a:pt x="20284" y="-919"/>
                  <a:pt x="21600" y="1838"/>
                  <a:pt x="21600" y="5745"/>
                </a:cubicBezTo>
                <a:lnTo>
                  <a:pt x="21600" y="17004"/>
                </a:lnTo>
                <a:quadBezTo>
                  <a:pt x="21600" y="21370"/>
                  <a:pt x="19407" y="21370"/>
                </a:quadBezTo>
                <a:lnTo>
                  <a:pt x="2193" y="21370"/>
                </a:lnTo>
                <a:quadBezTo>
                  <a:pt x="0" y="21370"/>
                  <a:pt x="0" y="16774"/>
                </a:quadBezTo>
                <a:close/>
              </a:path>
            </a:pathLst>
          </a:custGeom>
          <a:solidFill>
            <a:srgbClr val="0084FF"/>
          </a:solidFill>
          <a:ln>
            <a:noFill/>
          </a:ln>
        </p:spPr>
        <p:txBody>
          <a:bodyPr/>
          <a:lstStyle/>
          <a:p/>
        </p:txBody>
      </p:sp>
      <p:sp>
        <p:nvSpPr>
          <p:cNvPr id="59" name="Path 59"/>
          <p:cNvSpPr/>
          <p:nvPr/>
        </p:nvSpPr>
        <p:spPr>
          <a:xfrm>
            <a:off x="5600264" y="2528933"/>
            <a:ext cx="1421158" cy="6850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4596"/>
                </a:moveTo>
                <a:cubicBezTo>
                  <a:pt x="0" y="2298"/>
                  <a:pt x="1772" y="2298"/>
                  <a:pt x="3545" y="1838"/>
                </a:cubicBezTo>
                <a:lnTo>
                  <a:pt x="16948" y="-230"/>
                </a:lnTo>
                <a:cubicBezTo>
                  <a:pt x="20271" y="-919"/>
                  <a:pt x="21600" y="1838"/>
                  <a:pt x="21600" y="5745"/>
                </a:cubicBezTo>
                <a:lnTo>
                  <a:pt x="21600" y="17004"/>
                </a:lnTo>
                <a:quadBezTo>
                  <a:pt x="21600" y="21370"/>
                  <a:pt x="19385" y="21370"/>
                </a:quadBezTo>
                <a:lnTo>
                  <a:pt x="2215" y="21370"/>
                </a:lnTo>
                <a:quadBezTo>
                  <a:pt x="0" y="21370"/>
                  <a:pt x="0" y="16774"/>
                </a:quadBezTo>
                <a:close/>
              </a:path>
            </a:pathLst>
          </a:custGeom>
          <a:solidFill>
            <a:srgbClr val="FF9900"/>
          </a:solidFill>
          <a:ln>
            <a:noFill/>
          </a:ln>
        </p:spPr>
        <p:txBody>
          <a:bodyPr/>
          <a:lstStyle/>
          <a:p/>
        </p:txBody>
      </p:sp>
      <p:sp>
        <p:nvSpPr>
          <p:cNvPr id="60" name="Path 60"/>
          <p:cNvSpPr/>
          <p:nvPr/>
        </p:nvSpPr>
        <p:spPr>
          <a:xfrm>
            <a:off x="7145318" y="2528933"/>
            <a:ext cx="1413870" cy="6850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4596"/>
                </a:moveTo>
                <a:cubicBezTo>
                  <a:pt x="0" y="2298"/>
                  <a:pt x="1781" y="2298"/>
                  <a:pt x="3563" y="1838"/>
                </a:cubicBezTo>
                <a:lnTo>
                  <a:pt x="16924" y="-230"/>
                </a:lnTo>
                <a:cubicBezTo>
                  <a:pt x="20264" y="-919"/>
                  <a:pt x="21600" y="1838"/>
                  <a:pt x="21600" y="5745"/>
                </a:cubicBezTo>
                <a:lnTo>
                  <a:pt x="21600" y="17004"/>
                </a:lnTo>
                <a:quadBezTo>
                  <a:pt x="21600" y="21370"/>
                  <a:pt x="19373" y="21370"/>
                </a:quadBezTo>
                <a:lnTo>
                  <a:pt x="2227" y="21370"/>
                </a:lnTo>
                <a:quadBezTo>
                  <a:pt x="0" y="21370"/>
                  <a:pt x="0" y="16774"/>
                </a:quadBezTo>
                <a:close/>
              </a:path>
            </a:pathLst>
          </a:custGeom>
          <a:solidFill>
            <a:srgbClr val="00B857"/>
          </a:solidFill>
          <a:ln>
            <a:noFill/>
          </a:ln>
        </p:spPr>
        <p:txBody>
          <a:bodyPr/>
          <a:lstStyle/>
          <a:p/>
        </p:txBody>
      </p:sp>
      <p:sp>
        <p:nvSpPr>
          <p:cNvPr id="61" name="Path 61"/>
          <p:cNvSpPr/>
          <p:nvPr/>
        </p:nvSpPr>
        <p:spPr>
          <a:xfrm>
            <a:off x="8683085" y="2528933"/>
            <a:ext cx="1515902" cy="6850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4596"/>
                </a:moveTo>
                <a:cubicBezTo>
                  <a:pt x="0" y="2298"/>
                  <a:pt x="1662" y="2298"/>
                  <a:pt x="3323" y="1838"/>
                </a:cubicBezTo>
                <a:lnTo>
                  <a:pt x="17238" y="-230"/>
                </a:lnTo>
                <a:cubicBezTo>
                  <a:pt x="20354" y="-919"/>
                  <a:pt x="21600" y="1838"/>
                  <a:pt x="21600" y="5745"/>
                </a:cubicBezTo>
                <a:lnTo>
                  <a:pt x="21600" y="17004"/>
                </a:lnTo>
                <a:quadBezTo>
                  <a:pt x="21600" y="21370"/>
                  <a:pt x="19523" y="21370"/>
                </a:quadBezTo>
                <a:lnTo>
                  <a:pt x="2077" y="21370"/>
                </a:lnTo>
                <a:quadBezTo>
                  <a:pt x="0" y="21370"/>
                  <a:pt x="0" y="16774"/>
                </a:quadBezTo>
                <a:close/>
              </a:path>
            </a:pathLst>
          </a:custGeom>
          <a:solidFill>
            <a:srgbClr val="9223F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" name="Path 62"/>
          <p:cNvSpPr/>
          <p:nvPr/>
        </p:nvSpPr>
        <p:spPr>
          <a:xfrm>
            <a:off x="10322883" y="2528933"/>
            <a:ext cx="1479462" cy="685071"/>
          </a:xfrm>
          <a:custGeom>
            <a:avLst/>
            <a:gdLst/>
            <a:ahLst/>
            <a:cxnLst/>
            <a:rect l="l" t="t" r="r" b="b"/>
            <a:pathLst>
              <a:path w="21600" h="21600" fill="norm">
                <a:moveTo>
                  <a:pt x="0" y="4596"/>
                </a:moveTo>
                <a:cubicBezTo>
                  <a:pt x="0" y="2298"/>
                  <a:pt x="1702" y="2298"/>
                  <a:pt x="3405" y="1838"/>
                </a:cubicBezTo>
                <a:lnTo>
                  <a:pt x="17131" y="-230"/>
                </a:lnTo>
                <a:cubicBezTo>
                  <a:pt x="20323" y="-919"/>
                  <a:pt x="21600" y="1838"/>
                  <a:pt x="21600" y="5745"/>
                </a:cubicBezTo>
                <a:lnTo>
                  <a:pt x="21600" y="17004"/>
                </a:lnTo>
                <a:quadBezTo>
                  <a:pt x="21600" y="21370"/>
                  <a:pt x="19472" y="21370"/>
                </a:quadBezTo>
                <a:lnTo>
                  <a:pt x="2128" y="21370"/>
                </a:lnTo>
                <a:quadBezTo>
                  <a:pt x="0" y="21370"/>
                  <a:pt x="0" y="16774"/>
                </a:quadBezTo>
                <a:close/>
              </a:path>
            </a:pathLst>
          </a:custGeom>
          <a:solidFill>
            <a:srgbClr val="00BDE9"/>
          </a:solidFill>
          <a:ln>
            <a:noFill/>
          </a:ln>
        </p:spPr>
        <p:txBody>
          <a:bodyPr/>
          <a:lstStyle/>
          <a:p/>
        </p:txBody>
      </p:sp>
      <p:pic>
        <p:nvPicPr>
          <p:cNvPr id="63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19"/>
          <a:stretch>
            <a:fillRect/>
          </a:stretch>
        </p:blipFill>
        <p:spPr>
          <a:xfrm>
            <a:off x="498670" y="1202519"/>
            <a:ext cx="626767" cy="634055"/>
          </a:xfrm>
          <a:prstGeom prst="rect">
            <a:avLst/>
          </a:prstGeom>
        </p:spPr>
      </p:pic>
      <p:pic>
        <p:nvPicPr>
          <p:cNvPr id="64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0"/>
          <a:stretch>
            <a:fillRect/>
          </a:stretch>
        </p:blipFill>
        <p:spPr>
          <a:xfrm>
            <a:off x="469518" y="3512812"/>
            <a:ext cx="532023" cy="371688"/>
          </a:xfrm>
          <a:prstGeom prst="rect">
            <a:avLst/>
          </a:prstGeom>
        </p:spPr>
      </p:pic>
      <p:pic>
        <p:nvPicPr>
          <p:cNvPr id="65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1"/>
          <a:stretch>
            <a:fillRect/>
          </a:stretch>
        </p:blipFill>
        <p:spPr>
          <a:xfrm>
            <a:off x="6897527" y="3512812"/>
            <a:ext cx="539311" cy="371688"/>
          </a:xfrm>
          <a:prstGeom prst="rect">
            <a:avLst/>
          </a:prstGeom>
        </p:spPr>
      </p:pic>
      <p:pic>
        <p:nvPicPr>
          <p:cNvPr id="66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2"/>
          <a:stretch>
            <a:fillRect/>
          </a:stretch>
        </p:blipFill>
        <p:spPr>
          <a:xfrm>
            <a:off x="4128090" y="2732997"/>
            <a:ext cx="306096" cy="306096"/>
          </a:xfrm>
          <a:prstGeom prst="rect">
            <a:avLst/>
          </a:prstGeom>
        </p:spPr>
      </p:pic>
      <p:pic>
        <p:nvPicPr>
          <p:cNvPr id="67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3"/>
          <a:stretch>
            <a:fillRect/>
          </a:stretch>
        </p:blipFill>
        <p:spPr>
          <a:xfrm>
            <a:off x="5695008" y="2732997"/>
            <a:ext cx="298808" cy="306096"/>
          </a:xfrm>
          <a:prstGeom prst="rect">
            <a:avLst/>
          </a:prstGeom>
        </p:spPr>
      </p:pic>
      <p:pic>
        <p:nvPicPr>
          <p:cNvPr id="68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4"/>
          <a:stretch>
            <a:fillRect/>
          </a:stretch>
        </p:blipFill>
        <p:spPr>
          <a:xfrm>
            <a:off x="7225486" y="2769437"/>
            <a:ext cx="335248" cy="247792"/>
          </a:xfrm>
          <a:prstGeom prst="rect">
            <a:avLst/>
          </a:prstGeom>
        </p:spPr>
      </p:pic>
      <p:pic>
        <p:nvPicPr>
          <p:cNvPr id="69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5"/>
          <a:stretch>
            <a:fillRect/>
          </a:stretch>
        </p:blipFill>
        <p:spPr>
          <a:xfrm>
            <a:off x="8785116" y="2754861"/>
            <a:ext cx="313384" cy="262368"/>
          </a:xfrm>
          <a:prstGeom prst="rect">
            <a:avLst/>
          </a:prstGeom>
        </p:spPr>
      </p:pic>
      <p:pic>
        <p:nvPicPr>
          <p:cNvPr id="70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6"/>
          <a:stretch>
            <a:fillRect/>
          </a:stretch>
        </p:blipFill>
        <p:spPr>
          <a:xfrm>
            <a:off x="10512370" y="2718421"/>
            <a:ext cx="313384" cy="313384"/>
          </a:xfrm>
          <a:prstGeom prst="rect">
            <a:avLst/>
          </a:prstGeom>
        </p:spPr>
      </p:pic>
      <p:pic>
        <p:nvPicPr>
          <p:cNvPr id="71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7"/>
          <a:stretch>
            <a:fillRect/>
          </a:stretch>
        </p:blipFill>
        <p:spPr>
          <a:xfrm>
            <a:off x="2685068" y="4234323"/>
            <a:ext cx="327960" cy="225928"/>
          </a:xfrm>
          <a:prstGeom prst="rect">
            <a:avLst/>
          </a:prstGeom>
        </p:spPr>
      </p:pic>
      <p:pic>
        <p:nvPicPr>
          <p:cNvPr id="72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8"/>
          <a:stretch>
            <a:fillRect/>
          </a:stretch>
        </p:blipFill>
        <p:spPr>
          <a:xfrm>
            <a:off x="2692356" y="4868378"/>
            <a:ext cx="313384" cy="233216"/>
          </a:xfrm>
          <a:prstGeom prst="rect">
            <a:avLst/>
          </a:prstGeom>
        </p:spPr>
      </p:pic>
      <p:pic>
        <p:nvPicPr>
          <p:cNvPr id="73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29"/>
          <a:stretch>
            <a:fillRect/>
          </a:stretch>
        </p:blipFill>
        <p:spPr>
          <a:xfrm>
            <a:off x="2692356" y="5458706"/>
            <a:ext cx="313384" cy="327960"/>
          </a:xfrm>
          <a:prstGeom prst="rect">
            <a:avLst/>
          </a:prstGeom>
        </p:spPr>
      </p:pic>
      <p:pic>
        <p:nvPicPr>
          <p:cNvPr id="74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0"/>
          <a:stretch>
            <a:fillRect/>
          </a:stretch>
        </p:blipFill>
        <p:spPr>
          <a:xfrm>
            <a:off x="4703841" y="4263475"/>
            <a:ext cx="174912" cy="174912"/>
          </a:xfrm>
          <a:prstGeom prst="rect">
            <a:avLst/>
          </a:prstGeom>
        </p:spPr>
      </p:pic>
      <p:pic>
        <p:nvPicPr>
          <p:cNvPr id="75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1"/>
          <a:stretch>
            <a:fillRect/>
          </a:stretch>
        </p:blipFill>
        <p:spPr>
          <a:xfrm>
            <a:off x="4966209" y="4992274"/>
            <a:ext cx="174912" cy="174912"/>
          </a:xfrm>
          <a:prstGeom prst="rect">
            <a:avLst/>
          </a:prstGeom>
        </p:spPr>
      </p:pic>
      <p:pic>
        <p:nvPicPr>
          <p:cNvPr id="76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2"/>
          <a:stretch>
            <a:fillRect/>
          </a:stretch>
        </p:blipFill>
        <p:spPr>
          <a:xfrm>
            <a:off x="4703841" y="5648193"/>
            <a:ext cx="174912" cy="174912"/>
          </a:xfrm>
          <a:prstGeom prst="rect">
            <a:avLst/>
          </a:prstGeom>
        </p:spPr>
      </p:pic>
      <p:pic>
        <p:nvPicPr>
          <p:cNvPr id="77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3"/>
          <a:stretch>
            <a:fillRect/>
          </a:stretch>
        </p:blipFill>
        <p:spPr>
          <a:xfrm>
            <a:off x="6890239" y="4146867"/>
            <a:ext cx="583039" cy="583039"/>
          </a:xfrm>
          <a:prstGeom prst="rect">
            <a:avLst/>
          </a:prstGeom>
        </p:spPr>
      </p:pic>
      <p:pic>
        <p:nvPicPr>
          <p:cNvPr id="78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4"/>
          <a:stretch>
            <a:fillRect/>
          </a:stretch>
        </p:blipFill>
        <p:spPr>
          <a:xfrm>
            <a:off x="10009499" y="4125003"/>
            <a:ext cx="583039" cy="583039"/>
          </a:xfrm>
          <a:prstGeom prst="rect">
            <a:avLst/>
          </a:prstGeom>
        </p:spPr>
      </p:pic>
      <p:pic>
        <p:nvPicPr>
          <p:cNvPr id="79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5"/>
          <a:stretch>
            <a:fillRect/>
          </a:stretch>
        </p:blipFill>
        <p:spPr>
          <a:xfrm>
            <a:off x="6890239" y="5094306"/>
            <a:ext cx="583039" cy="583039"/>
          </a:xfrm>
          <a:prstGeom prst="rect">
            <a:avLst/>
          </a:prstGeom>
        </p:spPr>
      </p:pic>
      <p:pic>
        <p:nvPicPr>
          <p:cNvPr id="80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6"/>
          <a:stretch>
            <a:fillRect/>
          </a:stretch>
        </p:blipFill>
        <p:spPr>
          <a:xfrm>
            <a:off x="10009499" y="5094306"/>
            <a:ext cx="590327" cy="590327"/>
          </a:xfrm>
          <a:prstGeom prst="rect">
            <a:avLst/>
          </a:prstGeom>
        </p:spPr>
      </p:pic>
      <p:pic>
        <p:nvPicPr>
          <p:cNvPr id="81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7"/>
          <a:stretch>
            <a:fillRect/>
          </a:stretch>
        </p:blipFill>
        <p:spPr>
          <a:xfrm>
            <a:off x="338334" y="6092761"/>
            <a:ext cx="845407" cy="553887"/>
          </a:xfrm>
          <a:prstGeom prst="rect">
            <a:avLst/>
          </a:prstGeom>
        </p:spPr>
      </p:pic>
      <p:pic>
        <p:nvPicPr>
          <p:cNvPr id="82" name="Individually current-source visually matched same original semantic identity. Original builtin image-edit sheet output SHA256/producer, split chain and current copied asset hash audited in analysis/reuse-provenance.json. No source crops/redraw."/>
          <p:cNvPicPr/>
          <p:nvPr/>
        </p:nvPicPr>
        <p:blipFill>
          <a:blip r:embed="rId38"/>
          <a:stretch>
            <a:fillRect/>
          </a:stretch>
        </p:blipFill>
        <p:spPr>
          <a:xfrm>
            <a:off x="10213563" y="6121913"/>
            <a:ext cx="1617934" cy="488295"/>
          </a:xfrm>
          <a:prstGeom prst="rect">
            <a:avLst/>
          </a:prstGeom>
        </p:spPr>
      </p:pic>
      <p:sp>
        <p:nvSpPr>
          <p:cNvPr id="83" name="TextBox 83"/>
          <p:cNvSpPr txBox="1"/>
          <p:nvPr/>
        </p:nvSpPr>
        <p:spPr>
          <a:xfrm>
            <a:off x="199862" y="306096"/>
            <a:ext cx="2040638" cy="55388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3700" b="1">
                <a:solidFill>
                  <a:srgbClr val="FFFFFF"/>
                </a:solidFill>
                <a:latin typeface="Noto Serif CJK SC"/>
                <a:ea typeface="Noto Serif CJK SC"/>
                <a:cs typeface="Noto Serif CJK SC"/>
              </a:rPr>
              <a:t>项目应用</a:t>
            </a:r>
            <a:endParaRPr lang="zh-CN" sz="3700"/>
          </a:p>
        </p:txBody>
      </p:sp>
      <p:sp>
        <p:nvSpPr>
          <p:cNvPr id="84" name="TextBox 84"/>
          <p:cNvSpPr txBox="1"/>
          <p:nvPr/>
        </p:nvSpPr>
        <p:spPr>
          <a:xfrm>
            <a:off x="1220181" y="1268111"/>
            <a:ext cx="2259277" cy="444567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2450" b="1">
                <a:solidFill>
                  <a:srgbClr val="0050C6"/>
                </a:solidFill>
                <a:latin typeface="Noto Sans CJK SC"/>
                <a:ea typeface="Noto Sans CJK SC"/>
                <a:cs typeface="Noto Sans CJK SC"/>
              </a:rPr>
              <a:t>牧场示范应用</a:t>
            </a:r>
            <a:endParaRPr lang="zh-CN" sz="2450"/>
          </a:p>
        </p:txBody>
      </p:sp>
      <p:sp>
        <p:nvSpPr>
          <p:cNvPr id="85" name="TextBox 85"/>
          <p:cNvSpPr txBox="1"/>
          <p:nvPr/>
        </p:nvSpPr>
        <p:spPr>
          <a:xfrm>
            <a:off x="1059845" y="1741830"/>
            <a:ext cx="2893333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40" b="1">
                <a:solidFill>
                  <a:srgbClr val="0044A7"/>
                </a:solidFill>
                <a:latin typeface="Noto Serif CJK SC"/>
                <a:ea typeface="Noto Serif CJK SC"/>
                <a:cs typeface="Noto Serif CJK SC"/>
              </a:rPr>
              <a:t>多场景落地验证，适配不同牧场规模与养殖模式</a:t>
            </a:r>
            <a:endParaRPr lang="zh-CN" sz="1040"/>
          </a:p>
        </p:txBody>
      </p:sp>
      <p:sp>
        <p:nvSpPr>
          <p:cNvPr id="86" name="TextBox 86"/>
          <p:cNvSpPr txBox="1"/>
          <p:nvPr/>
        </p:nvSpPr>
        <p:spPr>
          <a:xfrm>
            <a:off x="4492489" y="2674693"/>
            <a:ext cx="954727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宁夏玖倍尔农业</a:t>
            </a:r>
            <a:endParaRPr lang="zh-CN" sz="1060"/>
          </a:p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发展有限公司</a:t>
            </a:r>
            <a:endParaRPr lang="zh-CN" sz="1060"/>
          </a:p>
        </p:txBody>
      </p:sp>
      <p:sp>
        <p:nvSpPr>
          <p:cNvPr id="87" name="TextBox 87"/>
          <p:cNvSpPr txBox="1"/>
          <p:nvPr/>
        </p:nvSpPr>
        <p:spPr>
          <a:xfrm>
            <a:off x="6095848" y="2784013"/>
            <a:ext cx="889135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暖泉农场</a:t>
            </a:r>
            <a:endParaRPr lang="zh-CN" sz="1060"/>
          </a:p>
        </p:txBody>
      </p:sp>
      <p:sp>
        <p:nvSpPr>
          <p:cNvPr id="88" name="TextBox 88"/>
          <p:cNvSpPr txBox="1"/>
          <p:nvPr/>
        </p:nvSpPr>
        <p:spPr>
          <a:xfrm>
            <a:off x="7640902" y="2791301"/>
            <a:ext cx="889135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平台堡奶牛六场</a:t>
            </a:r>
            <a:endParaRPr lang="zh-CN" sz="1000"/>
          </a:p>
        </p:txBody>
      </p:sp>
      <p:sp>
        <p:nvSpPr>
          <p:cNvPr id="89" name="TextBox 89"/>
          <p:cNvSpPr txBox="1"/>
          <p:nvPr/>
        </p:nvSpPr>
        <p:spPr>
          <a:xfrm>
            <a:off x="9156804" y="2674693"/>
            <a:ext cx="1005743" cy="4227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天源良种羊繁育</a:t>
            </a:r>
            <a:endParaRPr lang="zh-CN" sz="1060"/>
          </a:p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养殖有限公司</a:t>
            </a:r>
            <a:endParaRPr lang="zh-CN" sz="1060"/>
          </a:p>
        </p:txBody>
      </p:sp>
      <p:sp>
        <p:nvSpPr>
          <p:cNvPr id="90" name="TextBox 90"/>
          <p:cNvSpPr txBox="1"/>
          <p:nvPr/>
        </p:nvSpPr>
        <p:spPr>
          <a:xfrm>
            <a:off x="10913210" y="2791301"/>
            <a:ext cx="874559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茂胜牧场</a:t>
            </a:r>
            <a:endParaRPr lang="zh-CN" sz="1060"/>
          </a:p>
        </p:txBody>
      </p:sp>
      <p:sp>
        <p:nvSpPr>
          <p:cNvPr id="91" name="TextBox 91"/>
          <p:cNvSpPr txBox="1"/>
          <p:nvPr/>
        </p:nvSpPr>
        <p:spPr>
          <a:xfrm>
            <a:off x="1147301" y="3520100"/>
            <a:ext cx="1698102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部署应用概览</a:t>
            </a:r>
            <a:endParaRPr lang="zh-CN" sz="1870"/>
          </a:p>
        </p:txBody>
      </p:sp>
      <p:sp>
        <p:nvSpPr>
          <p:cNvPr id="92" name="TextBox 92"/>
          <p:cNvSpPr txBox="1"/>
          <p:nvPr/>
        </p:nvSpPr>
        <p:spPr>
          <a:xfrm>
            <a:off x="3231667" y="3498236"/>
            <a:ext cx="2055214" cy="40084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0" b="1">
                <a:solidFill>
                  <a:srgbClr val="004BBB"/>
                </a:solidFill>
                <a:latin typeface="Noto Serif CJK SC"/>
                <a:ea typeface="Noto Serif CJK SC"/>
                <a:cs typeface="Noto Serif CJK SC"/>
              </a:rPr>
              <a:t>已在多家牧场完成部署</a:t>
            </a:r>
            <a:endParaRPr lang="zh-CN" sz="1160"/>
          </a:p>
          <a:p>
            <a:pPr algn="l"/>
            <a:r>
              <a:rPr lang="zh-CN" sz="1160" b="1">
                <a:solidFill>
                  <a:srgbClr val="004BBB"/>
                </a:solidFill>
                <a:latin typeface="Noto Serif CJK SC"/>
                <a:ea typeface="Noto Serif CJK SC"/>
                <a:cs typeface="Noto Serif CJK SC"/>
              </a:rPr>
              <a:t>覆盖不同区域与养殖类型</a:t>
            </a:r>
            <a:endParaRPr lang="zh-CN" sz="1160"/>
          </a:p>
        </p:txBody>
      </p:sp>
      <p:sp>
        <p:nvSpPr>
          <p:cNvPr id="93" name="TextBox 93"/>
          <p:cNvSpPr txBox="1"/>
          <p:nvPr/>
        </p:nvSpPr>
        <p:spPr>
          <a:xfrm>
            <a:off x="7553446" y="3520100"/>
            <a:ext cx="1238959" cy="31338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87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项目价值</a:t>
            </a:r>
            <a:endParaRPr lang="zh-CN" sz="1870"/>
          </a:p>
        </p:txBody>
      </p:sp>
      <p:sp>
        <p:nvSpPr>
          <p:cNvPr id="94" name="TextBox 94"/>
          <p:cNvSpPr txBox="1"/>
          <p:nvPr/>
        </p:nvSpPr>
        <p:spPr>
          <a:xfrm>
            <a:off x="9047484" y="3556540"/>
            <a:ext cx="2579949" cy="255080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60" b="1">
                <a:solidFill>
                  <a:srgbClr val="004BBB"/>
                </a:solidFill>
                <a:latin typeface="Noto Serif CJK SC"/>
                <a:ea typeface="Noto Serif CJK SC"/>
                <a:cs typeface="Noto Serif CJK SC"/>
              </a:rPr>
              <a:t>智能化管控，助力牧场降本增效</a:t>
            </a:r>
            <a:endParaRPr lang="zh-CN" sz="1160"/>
          </a:p>
        </p:txBody>
      </p:sp>
      <p:sp>
        <p:nvSpPr>
          <p:cNvPr id="95" name="TextBox 95"/>
          <p:cNvSpPr txBox="1"/>
          <p:nvPr/>
        </p:nvSpPr>
        <p:spPr>
          <a:xfrm>
            <a:off x="3209803" y="4103139"/>
            <a:ext cx="1384718" cy="24050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9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平台堡奶牛六场</a:t>
            </a:r>
            <a:endParaRPr lang="zh-CN" sz="1190"/>
          </a:p>
        </p:txBody>
      </p:sp>
      <p:sp>
        <p:nvSpPr>
          <p:cNvPr id="96" name="TextBox 96"/>
          <p:cNvSpPr txBox="1"/>
          <p:nvPr/>
        </p:nvSpPr>
        <p:spPr>
          <a:xfrm>
            <a:off x="3209803" y="4314491"/>
            <a:ext cx="1348278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2769C"/>
                </a:solidFill>
                <a:latin typeface="Noto Sans CJK SC"/>
                <a:ea typeface="Noto Sans CJK SC"/>
                <a:cs typeface="Noto Sans CJK SC"/>
              </a:rPr>
              <a:t>奶牛场(规模化)</a:t>
            </a:r>
            <a:endParaRPr lang="zh-CN" sz="1060"/>
          </a:p>
        </p:txBody>
      </p:sp>
      <p:sp>
        <p:nvSpPr>
          <p:cNvPr id="97" name="TextBox 97"/>
          <p:cNvSpPr txBox="1"/>
          <p:nvPr/>
        </p:nvSpPr>
        <p:spPr>
          <a:xfrm>
            <a:off x="4951633" y="4248899"/>
            <a:ext cx="1340990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2025年6月-2025年12月</a:t>
            </a:r>
            <a:endParaRPr lang="zh-CN" sz="910"/>
          </a:p>
        </p:txBody>
      </p:sp>
      <p:sp>
        <p:nvSpPr>
          <p:cNvPr id="98" name="TextBox 98"/>
          <p:cNvSpPr txBox="1"/>
          <p:nvPr/>
        </p:nvSpPr>
        <p:spPr>
          <a:xfrm>
            <a:off x="3209803" y="4773634"/>
            <a:ext cx="3024516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5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天源良种羊繁育养殖有限公司</a:t>
            </a:r>
            <a:endParaRPr lang="zh-CN" sz="1150"/>
          </a:p>
        </p:txBody>
      </p:sp>
      <p:sp>
        <p:nvSpPr>
          <p:cNvPr id="99" name="TextBox 99"/>
          <p:cNvSpPr txBox="1"/>
          <p:nvPr/>
        </p:nvSpPr>
        <p:spPr>
          <a:xfrm>
            <a:off x="3209803" y="4977698"/>
            <a:ext cx="160335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2769C"/>
                </a:solidFill>
                <a:latin typeface="Noto Sans CJK SC"/>
                <a:ea typeface="Noto Sans CJK SC"/>
                <a:cs typeface="Noto Sans CJK SC"/>
              </a:rPr>
              <a:t>肉羊场(生态养殖)</a:t>
            </a:r>
            <a:endParaRPr lang="zh-CN" sz="1060"/>
          </a:p>
        </p:txBody>
      </p:sp>
      <p:sp>
        <p:nvSpPr>
          <p:cNvPr id="100" name="TextBox 100"/>
          <p:cNvSpPr txBox="1"/>
          <p:nvPr/>
        </p:nvSpPr>
        <p:spPr>
          <a:xfrm>
            <a:off x="5184849" y="4984986"/>
            <a:ext cx="1078623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2026年1月-至今</a:t>
            </a:r>
            <a:endParaRPr lang="zh-CN" sz="910"/>
          </a:p>
        </p:txBody>
      </p:sp>
      <p:sp>
        <p:nvSpPr>
          <p:cNvPr id="101" name="TextBox 101"/>
          <p:cNvSpPr txBox="1"/>
          <p:nvPr/>
        </p:nvSpPr>
        <p:spPr>
          <a:xfrm>
            <a:off x="3209803" y="5451418"/>
            <a:ext cx="1384718" cy="23321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9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茂胜牧场</a:t>
            </a:r>
            <a:endParaRPr lang="zh-CN" sz="1190"/>
          </a:p>
        </p:txBody>
      </p:sp>
      <p:sp>
        <p:nvSpPr>
          <p:cNvPr id="102" name="TextBox 102"/>
          <p:cNvSpPr txBox="1"/>
          <p:nvPr/>
        </p:nvSpPr>
        <p:spPr>
          <a:xfrm>
            <a:off x="3209803" y="5655481"/>
            <a:ext cx="1384718" cy="211352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2769C"/>
                </a:solidFill>
                <a:latin typeface="Noto Sans CJK SC"/>
                <a:ea typeface="Noto Sans CJK SC"/>
                <a:cs typeface="Noto Sans CJK SC"/>
              </a:rPr>
              <a:t>奶牛场(标准化)</a:t>
            </a:r>
            <a:endParaRPr lang="zh-CN" sz="1060"/>
          </a:p>
        </p:txBody>
      </p:sp>
      <p:sp>
        <p:nvSpPr>
          <p:cNvPr id="103" name="TextBox 103"/>
          <p:cNvSpPr txBox="1"/>
          <p:nvPr/>
        </p:nvSpPr>
        <p:spPr>
          <a:xfrm>
            <a:off x="4951633" y="5640905"/>
            <a:ext cx="1340990" cy="204064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910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2026年2月27日-至今</a:t>
            </a:r>
            <a:endParaRPr lang="zh-CN" sz="910"/>
          </a:p>
        </p:txBody>
      </p:sp>
      <p:sp>
        <p:nvSpPr>
          <p:cNvPr id="104" name="TextBox 104"/>
          <p:cNvSpPr txBox="1"/>
          <p:nvPr/>
        </p:nvSpPr>
        <p:spPr>
          <a:xfrm>
            <a:off x="7560734" y="4168731"/>
            <a:ext cx="1078623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提升管理效率</a:t>
            </a:r>
            <a:endParaRPr lang="zh-CN" sz="1180"/>
          </a:p>
        </p:txBody>
      </p:sp>
      <p:sp>
        <p:nvSpPr>
          <p:cNvPr id="105" name="TextBox 105"/>
          <p:cNvSpPr txBox="1"/>
          <p:nvPr/>
        </p:nvSpPr>
        <p:spPr>
          <a:xfrm>
            <a:off x="7560734" y="4380083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智能巡检</a:t>
            </a:r>
            <a:endParaRPr lang="zh-CN" sz="1060"/>
          </a:p>
        </p:txBody>
      </p:sp>
      <p:sp>
        <p:nvSpPr>
          <p:cNvPr id="106" name="TextBox 106"/>
          <p:cNvSpPr txBox="1"/>
          <p:nvPr/>
        </p:nvSpPr>
        <p:spPr>
          <a:xfrm>
            <a:off x="7560734" y="4547707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降低人力成本</a:t>
            </a:r>
            <a:endParaRPr lang="zh-CN" sz="1060"/>
          </a:p>
        </p:txBody>
      </p:sp>
      <p:sp>
        <p:nvSpPr>
          <p:cNvPr id="107" name="TextBox 107"/>
          <p:cNvSpPr txBox="1"/>
          <p:nvPr/>
        </p:nvSpPr>
        <p:spPr>
          <a:xfrm>
            <a:off x="10716434" y="4168731"/>
            <a:ext cx="1078623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保障动物安全</a:t>
            </a:r>
            <a:endParaRPr lang="zh-CN" sz="1180"/>
          </a:p>
        </p:txBody>
      </p:sp>
      <p:sp>
        <p:nvSpPr>
          <p:cNvPr id="108" name="TextBox 108"/>
          <p:cNvSpPr txBox="1"/>
          <p:nvPr/>
        </p:nvSpPr>
        <p:spPr>
          <a:xfrm>
            <a:off x="10716434" y="4380083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实时监测</a:t>
            </a:r>
            <a:endParaRPr lang="zh-CN" sz="1060"/>
          </a:p>
        </p:txBody>
      </p:sp>
      <p:sp>
        <p:nvSpPr>
          <p:cNvPr id="109" name="TextBox 109"/>
          <p:cNvSpPr txBox="1"/>
          <p:nvPr/>
        </p:nvSpPr>
        <p:spPr>
          <a:xfrm>
            <a:off x="10716434" y="4547707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及时预警</a:t>
            </a:r>
            <a:endParaRPr lang="zh-CN" sz="1060"/>
          </a:p>
        </p:txBody>
      </p:sp>
      <p:sp>
        <p:nvSpPr>
          <p:cNvPr id="110" name="TextBox 110"/>
          <p:cNvSpPr txBox="1"/>
          <p:nvPr/>
        </p:nvSpPr>
        <p:spPr>
          <a:xfrm>
            <a:off x="7568022" y="5174474"/>
            <a:ext cx="1078623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改善养殖环境</a:t>
            </a:r>
            <a:endParaRPr lang="zh-CN" sz="1180"/>
          </a:p>
        </p:txBody>
      </p:sp>
      <p:sp>
        <p:nvSpPr>
          <p:cNvPr id="111" name="TextBox 111"/>
          <p:cNvSpPr txBox="1"/>
          <p:nvPr/>
        </p:nvSpPr>
        <p:spPr>
          <a:xfrm>
            <a:off x="7568022" y="5385826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精准作业</a:t>
            </a:r>
            <a:endParaRPr lang="zh-CN" sz="1060"/>
          </a:p>
        </p:txBody>
      </p:sp>
      <p:sp>
        <p:nvSpPr>
          <p:cNvPr id="112" name="TextBox 112"/>
          <p:cNvSpPr txBox="1"/>
          <p:nvPr/>
        </p:nvSpPr>
        <p:spPr>
          <a:xfrm>
            <a:off x="7568022" y="5553450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环境优化</a:t>
            </a:r>
            <a:endParaRPr lang="zh-CN" sz="1060"/>
          </a:p>
        </p:txBody>
      </p:sp>
      <p:sp>
        <p:nvSpPr>
          <p:cNvPr id="113" name="TextBox 113"/>
          <p:cNvSpPr txBox="1"/>
          <p:nvPr/>
        </p:nvSpPr>
        <p:spPr>
          <a:xfrm>
            <a:off x="10723722" y="5174474"/>
            <a:ext cx="1078623" cy="225928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180" b="1">
                <a:solidFill>
                  <a:srgbClr val="071A60"/>
                </a:solidFill>
                <a:latin typeface="Noto Sans CJK SC"/>
                <a:ea typeface="Noto Sans CJK SC"/>
                <a:cs typeface="Noto Sans CJK SC"/>
              </a:rPr>
              <a:t>数据驱动决策</a:t>
            </a:r>
            <a:endParaRPr lang="zh-CN" sz="1180"/>
          </a:p>
        </p:txBody>
      </p:sp>
      <p:sp>
        <p:nvSpPr>
          <p:cNvPr id="114" name="TextBox 114"/>
          <p:cNvSpPr txBox="1"/>
          <p:nvPr/>
        </p:nvSpPr>
        <p:spPr>
          <a:xfrm>
            <a:off x="10723722" y="5385826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数据沉淀</a:t>
            </a:r>
            <a:endParaRPr lang="zh-CN" sz="1060"/>
          </a:p>
        </p:txBody>
      </p:sp>
      <p:sp>
        <p:nvSpPr>
          <p:cNvPr id="115" name="TextBox 115"/>
          <p:cNvSpPr txBox="1"/>
          <p:nvPr/>
        </p:nvSpPr>
        <p:spPr>
          <a:xfrm>
            <a:off x="10723722" y="5553450"/>
            <a:ext cx="1056759" cy="196776"/>
          </a:xfrm>
          <a:prstGeom prst="rect">
            <a:avLst/>
          </a:prstGeom>
          <a:noFill/>
          <a:ln>
            <a:noFill/>
          </a:ln>
        </p:spPr>
        <p:txBody>
          <a:bodyPr wrap="none" anchor="ctr" lIns="0" tIns="0" rIns="0" bIns="0">
            <a:noAutofit/>
          </a:bodyPr>
          <a:lstStyle/>
          <a:p>
            <a:pPr algn="l"/>
            <a:r>
              <a:rPr lang="zh-CN" sz="1060">
                <a:solidFill>
                  <a:srgbClr val="63779D"/>
                </a:solidFill>
                <a:latin typeface="Noto Sans CJK SC"/>
                <a:ea typeface="Noto Sans CJK SC"/>
                <a:cs typeface="Noto Sans CJK SC"/>
              </a:rPr>
              <a:t>科学管理</a:t>
            </a:r>
            <a:endParaRPr lang="zh-CN" sz="106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ageToEditablePPT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8F8F8"/>
      </a:lt2>
      <a:accent1>
        <a:srgbClr val="0F766E"/>
      </a:accent1>
      <a:accent2>
        <a:srgbClr val="E66B00"/>
      </a:accent2>
      <a:accent3>
        <a:srgbClr val="F6D365"/>
      </a:accent3>
      <a:accent4>
        <a:srgbClr val="57C4B8"/>
      </a:accent4>
      <a:accent5>
        <a:srgbClr val="666666"/>
      </a:accent5>
      <a:accent6>
        <a:srgbClr val="111111"/>
      </a:accent6>
      <a:hlink>
        <a:srgbClr val="0563C1"/>
      </a:hlink>
      <a:folHlink>
        <a:srgbClr val="954F72"/>
      </a:folHlink>
    </a:clrScheme>
    <a:fontScheme name="PingFang">
      <a:majorFont>
        <a:latin typeface="PingFang SC"/>
        <a:ea typeface="PingFang SC"/>
        <a:cs typeface="PingFang SC"/>
      </a:majorFont>
      <a:minorFont>
        <a:latin typeface="PingFang SC"/>
        <a:ea typeface="PingFang SC"/>
        <a:cs typeface="PingFang SC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2</Slides>
</Properties>
</file>

<file path=docProps/core.xml><?xml version="1.0" encoding="utf-8"?>
<cp:coreProperties xmlns:cp="http://schemas.openxmlformats.org/package/2006/metadata/core-properties" xmlns:dc="http://purl.org/dc/elements/1.1/">
  <dc:title>Image to editable PPT</dc:title>
</cp:coreProperties>
</file>