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46.png"/><Relationship Id="rId32" Type="http://schemas.openxmlformats.org/officeDocument/2006/relationships/image" Target="../media/image47.png"/><Relationship Id="rId33" Type="http://schemas.openxmlformats.org/officeDocument/2006/relationships/image" Target="../media/image48.png"/><Relationship Id="rId34" Type="http://schemas.openxmlformats.org/officeDocument/2006/relationships/image" Target="../media/image49.png"/><Relationship Id="rId35" Type="http://schemas.openxmlformats.org/officeDocument/2006/relationships/image" Target="../media/image5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Relationship Id="rId18" Type="http://schemas.openxmlformats.org/officeDocument/2006/relationships/image" Target="../media/image67.png"/><Relationship Id="rId19" Type="http://schemas.openxmlformats.org/officeDocument/2006/relationships/image" Target="../media/image68.png"/><Relationship Id="rId20" Type="http://schemas.openxmlformats.org/officeDocument/2006/relationships/image" Target="../media/image6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Relationship Id="rId17" Type="http://schemas.openxmlformats.org/officeDocument/2006/relationships/image" Target="../media/image85.png"/><Relationship Id="rId18" Type="http://schemas.openxmlformats.org/officeDocument/2006/relationships/image" Target="../media/image86.png"/><Relationship Id="rId19" Type="http://schemas.openxmlformats.org/officeDocument/2006/relationships/image" Target="../media/image87.png"/><Relationship Id="rId20" Type="http://schemas.openxmlformats.org/officeDocument/2006/relationships/image" Target="../media/image88.png"/><Relationship Id="rId21" Type="http://schemas.openxmlformats.org/officeDocument/2006/relationships/image" Target="../media/image89.png"/><Relationship Id="rId22" Type="http://schemas.openxmlformats.org/officeDocument/2006/relationships/image" Target="../media/image90.png"/><Relationship Id="rId23" Type="http://schemas.openxmlformats.org/officeDocument/2006/relationships/image" Target="../media/image91.png"/><Relationship Id="rId24" Type="http://schemas.openxmlformats.org/officeDocument/2006/relationships/image" Target="../media/image92.png"/><Relationship Id="rId25" Type="http://schemas.openxmlformats.org/officeDocument/2006/relationships/image" Target="../media/image93.png"/><Relationship Id="rId26" Type="http://schemas.openxmlformats.org/officeDocument/2006/relationships/image" Target="../media/image94.png"/><Relationship Id="rId27" Type="http://schemas.openxmlformats.org/officeDocument/2006/relationships/image" Target="../media/image9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Relationship Id="rId13" Type="http://schemas.openxmlformats.org/officeDocument/2006/relationships/image" Target="../media/image107.png"/><Relationship Id="rId14" Type="http://schemas.openxmlformats.org/officeDocument/2006/relationships/image" Target="../media/image108.png"/><Relationship Id="rId15" Type="http://schemas.openxmlformats.org/officeDocument/2006/relationships/image" Target="../media/image109.png"/><Relationship Id="rId16" Type="http://schemas.openxmlformats.org/officeDocument/2006/relationships/image" Target="../media/image110.png"/><Relationship Id="rId17" Type="http://schemas.openxmlformats.org/officeDocument/2006/relationships/image" Target="../media/image111.png"/><Relationship Id="rId18" Type="http://schemas.openxmlformats.org/officeDocument/2006/relationships/image" Target="../media/image112.png"/><Relationship Id="rId19" Type="http://schemas.openxmlformats.org/officeDocument/2006/relationships/image" Target="../media/image11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9" Type="http://schemas.openxmlformats.org/officeDocument/2006/relationships/image" Target="../media/image121.png"/><Relationship Id="rId10" Type="http://schemas.openxmlformats.org/officeDocument/2006/relationships/image" Target="../media/image122.png"/><Relationship Id="rId11" Type="http://schemas.openxmlformats.org/officeDocument/2006/relationships/image" Target="../media/image123.png"/><Relationship Id="rId12" Type="http://schemas.openxmlformats.org/officeDocument/2006/relationships/image" Target="../media/image124.png"/><Relationship Id="rId13" Type="http://schemas.openxmlformats.org/officeDocument/2006/relationships/image" Target="../media/image125.png"/><Relationship Id="rId14" Type="http://schemas.openxmlformats.org/officeDocument/2006/relationships/image" Target="../media/image126.png"/><Relationship Id="rId15" Type="http://schemas.openxmlformats.org/officeDocument/2006/relationships/image" Target="../media/image127.png"/><Relationship Id="rId16" Type="http://schemas.openxmlformats.org/officeDocument/2006/relationships/image" Target="../media/image128.png"/><Relationship Id="rId17" Type="http://schemas.openxmlformats.org/officeDocument/2006/relationships/image" Target="../media/image129.png"/><Relationship Id="rId18" Type="http://schemas.openxmlformats.org/officeDocument/2006/relationships/image" Target="../media/image130.png"/><Relationship Id="rId19" Type="http://schemas.openxmlformats.org/officeDocument/2006/relationships/image" Target="../media/image131.png"/><Relationship Id="rId20" Type="http://schemas.openxmlformats.org/officeDocument/2006/relationships/image" Target="../media/image132.png"/><Relationship Id="rId21" Type="http://schemas.openxmlformats.org/officeDocument/2006/relationships/image" Target="../media/image133.png"/><Relationship Id="rId22" Type="http://schemas.openxmlformats.org/officeDocument/2006/relationships/image" Target="../media/image134.png"/><Relationship Id="rId23" Type="http://schemas.openxmlformats.org/officeDocument/2006/relationships/image" Target="../media/image135.png"/><Relationship Id="rId24" Type="http://schemas.openxmlformats.org/officeDocument/2006/relationships/image" Target="../media/image136.png"/><Relationship Id="rId25" Type="http://schemas.openxmlformats.org/officeDocument/2006/relationships/image" Target="../media/image137.png"/><Relationship Id="rId26" Type="http://schemas.openxmlformats.org/officeDocument/2006/relationships/image" Target="../media/image138.png"/><Relationship Id="rId27" Type="http://schemas.openxmlformats.org/officeDocument/2006/relationships/image" Target="../media/image139.png"/><Relationship Id="rId28" Type="http://schemas.openxmlformats.org/officeDocument/2006/relationships/image" Target="../media/image140.png"/><Relationship Id="rId29" Type="http://schemas.openxmlformats.org/officeDocument/2006/relationships/image" Target="../media/image141.png"/><Relationship Id="rId30" Type="http://schemas.openxmlformats.org/officeDocument/2006/relationships/image" Target="../media/image142.png"/><Relationship Id="rId31" Type="http://schemas.openxmlformats.org/officeDocument/2006/relationships/image" Target="../media/image14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Relationship Id="rId6" Type="http://schemas.openxmlformats.org/officeDocument/2006/relationships/image" Target="../media/image148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153.png"/><Relationship Id="rId12" Type="http://schemas.openxmlformats.org/officeDocument/2006/relationships/image" Target="../media/image154.png"/><Relationship Id="rId13" Type="http://schemas.openxmlformats.org/officeDocument/2006/relationships/image" Target="../media/image155.png"/><Relationship Id="rId14" Type="http://schemas.openxmlformats.org/officeDocument/2006/relationships/image" Target="../media/image156.png"/><Relationship Id="rId15" Type="http://schemas.openxmlformats.org/officeDocument/2006/relationships/image" Target="../media/image157.png"/><Relationship Id="rId16" Type="http://schemas.openxmlformats.org/officeDocument/2006/relationships/image" Target="../media/image15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165.png"/><Relationship Id="rId9" Type="http://schemas.openxmlformats.org/officeDocument/2006/relationships/image" Target="../media/image166.png"/><Relationship Id="rId10" Type="http://schemas.openxmlformats.org/officeDocument/2006/relationships/image" Target="../media/image167.png"/><Relationship Id="rId11" Type="http://schemas.openxmlformats.org/officeDocument/2006/relationships/image" Target="../media/image168.png"/><Relationship Id="rId12" Type="http://schemas.openxmlformats.org/officeDocument/2006/relationships/image" Target="../media/image169.png"/><Relationship Id="rId13" Type="http://schemas.openxmlformats.org/officeDocument/2006/relationships/image" Target="../media/image170.png"/><Relationship Id="rId14" Type="http://schemas.openxmlformats.org/officeDocument/2006/relationships/image" Target="../media/image171.png"/><Relationship Id="rId15" Type="http://schemas.openxmlformats.org/officeDocument/2006/relationships/image" Target="../media/image172.png"/><Relationship Id="rId16" Type="http://schemas.openxmlformats.org/officeDocument/2006/relationships/image" Target="../media/image173.png"/><Relationship Id="rId17" Type="http://schemas.openxmlformats.org/officeDocument/2006/relationships/image" Target="../media/image174.png"/><Relationship Id="rId18" Type="http://schemas.openxmlformats.org/officeDocument/2006/relationships/image" Target="../media/image175.png"/><Relationship Id="rId19" Type="http://schemas.openxmlformats.org/officeDocument/2006/relationships/image" Target="../media/image176.png"/><Relationship Id="rId20" Type="http://schemas.openxmlformats.org/officeDocument/2006/relationships/image" Target="../media/image177.png"/><Relationship Id="rId21" Type="http://schemas.openxmlformats.org/officeDocument/2006/relationships/image" Target="../media/image178.png"/><Relationship Id="rId22" Type="http://schemas.openxmlformats.org/officeDocument/2006/relationships/image" Target="../media/image179.png"/><Relationship Id="rId23" Type="http://schemas.openxmlformats.org/officeDocument/2006/relationships/image" Target="../media/image180.png"/><Relationship Id="rId24" Type="http://schemas.openxmlformats.org/officeDocument/2006/relationships/image" Target="../media/image181.png"/><Relationship Id="rId25" Type="http://schemas.openxmlformats.org/officeDocument/2006/relationships/image" Target="../media/image182.png"/><Relationship Id="rId26" Type="http://schemas.openxmlformats.org/officeDocument/2006/relationships/image" Target="../media/image183.png"/><Relationship Id="rId27" Type="http://schemas.openxmlformats.org/officeDocument/2006/relationships/image" Target="../media/image184.png"/><Relationship Id="rId28" Type="http://schemas.openxmlformats.org/officeDocument/2006/relationships/image" Target="../media/image185.png"/><Relationship Id="rId29" Type="http://schemas.openxmlformats.org/officeDocument/2006/relationships/image" Target="../media/image186.png"/><Relationship Id="rId30" Type="http://schemas.openxmlformats.org/officeDocument/2006/relationships/image" Target="../media/image187.png"/><Relationship Id="rId31" Type="http://schemas.openxmlformats.org/officeDocument/2006/relationships/image" Target="../media/image188.png"/><Relationship Id="rId32" Type="http://schemas.openxmlformats.org/officeDocument/2006/relationships/image" Target="../media/image189.png"/><Relationship Id="rId33" Type="http://schemas.openxmlformats.org/officeDocument/2006/relationships/image" Target="../media/image190.png"/><Relationship Id="rId34" Type="http://schemas.openxmlformats.org/officeDocument/2006/relationships/image" Target="../media/image191.png"/><Relationship Id="rId35" Type="http://schemas.openxmlformats.org/officeDocument/2006/relationships/image" Target="../media/image192.png"/><Relationship Id="rId36" Type="http://schemas.openxmlformats.org/officeDocument/2006/relationships/image" Target="../media/image193.png"/><Relationship Id="rId37" Type="http://schemas.openxmlformats.org/officeDocument/2006/relationships/image" Target="../media/image194.png"/><Relationship Id="rId38" Type="http://schemas.openxmlformats.org/officeDocument/2006/relationships/image" Target="../media/image195.png"/><Relationship Id="rId39" Type="http://schemas.openxmlformats.org/officeDocument/2006/relationships/image" Target="../media/image196.png"/><Relationship Id="rId40" Type="http://schemas.openxmlformats.org/officeDocument/2006/relationships/image" Target="../media/image197.png"/><Relationship Id="rId41" Type="http://schemas.openxmlformats.org/officeDocument/2006/relationships/image" Target="../media/image19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9.png"/><Relationship Id="rId3" Type="http://schemas.openxmlformats.org/officeDocument/2006/relationships/image" Target="../media/image200.png"/><Relationship Id="rId4" Type="http://schemas.openxmlformats.org/officeDocument/2006/relationships/image" Target="../media/image201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Relationship Id="rId7" Type="http://schemas.openxmlformats.org/officeDocument/2006/relationships/image" Target="../media/image204.png"/><Relationship Id="rId8" Type="http://schemas.openxmlformats.org/officeDocument/2006/relationships/image" Target="../media/image205.png"/><Relationship Id="rId9" Type="http://schemas.openxmlformats.org/officeDocument/2006/relationships/image" Target="../media/image206.png"/><Relationship Id="rId10" Type="http://schemas.openxmlformats.org/officeDocument/2006/relationships/image" Target="../media/image207.png"/><Relationship Id="rId11" Type="http://schemas.openxmlformats.org/officeDocument/2006/relationships/image" Target="../media/image208.png"/><Relationship Id="rId12" Type="http://schemas.openxmlformats.org/officeDocument/2006/relationships/image" Target="../media/image209.png"/><Relationship Id="rId13" Type="http://schemas.openxmlformats.org/officeDocument/2006/relationships/image" Target="../media/image210.png"/><Relationship Id="rId14" Type="http://schemas.openxmlformats.org/officeDocument/2006/relationships/image" Target="../media/image211.png"/><Relationship Id="rId15" Type="http://schemas.openxmlformats.org/officeDocument/2006/relationships/image" Target="../media/image212.png"/><Relationship Id="rId16" Type="http://schemas.openxmlformats.org/officeDocument/2006/relationships/image" Target="../media/image213.png"/><Relationship Id="rId17" Type="http://schemas.openxmlformats.org/officeDocument/2006/relationships/image" Target="../media/image214.png"/><Relationship Id="rId18" Type="http://schemas.openxmlformats.org/officeDocument/2006/relationships/image" Target="../media/image215.png"/><Relationship Id="rId19" Type="http://schemas.openxmlformats.org/officeDocument/2006/relationships/image" Target="../media/image216.png"/><Relationship Id="rId20" Type="http://schemas.openxmlformats.org/officeDocument/2006/relationships/image" Target="../media/image217.png"/><Relationship Id="rId21" Type="http://schemas.openxmlformats.org/officeDocument/2006/relationships/image" Target="../media/image218.png"/><Relationship Id="rId22" Type="http://schemas.openxmlformats.org/officeDocument/2006/relationships/image" Target="../media/image219.png"/><Relationship Id="rId23" Type="http://schemas.openxmlformats.org/officeDocument/2006/relationships/image" Target="../media/image220.png"/><Relationship Id="rId24" Type="http://schemas.openxmlformats.org/officeDocument/2006/relationships/image" Target="../media/image221.png"/><Relationship Id="rId25" Type="http://schemas.openxmlformats.org/officeDocument/2006/relationships/image" Target="../media/image222.png"/><Relationship Id="rId26" Type="http://schemas.openxmlformats.org/officeDocument/2006/relationships/image" Target="../media/image223.png"/><Relationship Id="rId27" Type="http://schemas.openxmlformats.org/officeDocument/2006/relationships/image" Target="../media/image224.png"/><Relationship Id="rId28" Type="http://schemas.openxmlformats.org/officeDocument/2006/relationships/image" Target="../media/image225.png"/><Relationship Id="rId29" Type="http://schemas.openxmlformats.org/officeDocument/2006/relationships/image" Target="../media/image226.png"/><Relationship Id="rId30" Type="http://schemas.openxmlformats.org/officeDocument/2006/relationships/image" Target="../media/image227.png"/><Relationship Id="rId31" Type="http://schemas.openxmlformats.org/officeDocument/2006/relationships/image" Target="../media/image228.png"/><Relationship Id="rId32" Type="http://schemas.openxmlformats.org/officeDocument/2006/relationships/image" Target="../media/image22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Relationship Id="rId8" Type="http://schemas.openxmlformats.org/officeDocument/2006/relationships/image" Target="../media/image236.png"/><Relationship Id="rId9" Type="http://schemas.openxmlformats.org/officeDocument/2006/relationships/image" Target="../media/image237.png"/><Relationship Id="rId10" Type="http://schemas.openxmlformats.org/officeDocument/2006/relationships/image" Target="../media/image238.png"/><Relationship Id="rId11" Type="http://schemas.openxmlformats.org/officeDocument/2006/relationships/image" Target="../media/image239.png"/><Relationship Id="rId12" Type="http://schemas.openxmlformats.org/officeDocument/2006/relationships/image" Target="../media/image240.png"/><Relationship Id="rId13" Type="http://schemas.openxmlformats.org/officeDocument/2006/relationships/image" Target="../media/image241.png"/><Relationship Id="rId14" Type="http://schemas.openxmlformats.org/officeDocument/2006/relationships/image" Target="../media/image242.png"/><Relationship Id="rId15" Type="http://schemas.openxmlformats.org/officeDocument/2006/relationships/image" Target="../media/image243.png"/><Relationship Id="rId16" Type="http://schemas.openxmlformats.org/officeDocument/2006/relationships/image" Target="../media/image244.png"/><Relationship Id="rId17" Type="http://schemas.openxmlformats.org/officeDocument/2006/relationships/image" Target="../media/image245.png"/><Relationship Id="rId18" Type="http://schemas.openxmlformats.org/officeDocument/2006/relationships/image" Target="../media/image24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Relationship Id="rId4" Type="http://schemas.openxmlformats.org/officeDocument/2006/relationships/image" Target="../media/image249.png"/><Relationship Id="rId5" Type="http://schemas.openxmlformats.org/officeDocument/2006/relationships/image" Target="../media/image250.png"/><Relationship Id="rId6" Type="http://schemas.openxmlformats.org/officeDocument/2006/relationships/image" Target="../media/image251.png"/><Relationship Id="rId7" Type="http://schemas.openxmlformats.org/officeDocument/2006/relationships/image" Target="../media/image252.png"/><Relationship Id="rId8" Type="http://schemas.openxmlformats.org/officeDocument/2006/relationships/image" Target="../media/image253.png"/><Relationship Id="rId9" Type="http://schemas.openxmlformats.org/officeDocument/2006/relationships/image" Target="../media/image254.png"/><Relationship Id="rId10" Type="http://schemas.openxmlformats.org/officeDocument/2006/relationships/image" Target="../media/image255.png"/><Relationship Id="rId11" Type="http://schemas.openxmlformats.org/officeDocument/2006/relationships/image" Target="../media/image256.png"/><Relationship Id="rId12" Type="http://schemas.openxmlformats.org/officeDocument/2006/relationships/image" Target="../media/image257.png"/><Relationship Id="rId13" Type="http://schemas.openxmlformats.org/officeDocument/2006/relationships/image" Target="../media/image258.png"/><Relationship Id="rId14" Type="http://schemas.openxmlformats.org/officeDocument/2006/relationships/image" Target="../media/image259.png"/><Relationship Id="rId15" Type="http://schemas.openxmlformats.org/officeDocument/2006/relationships/image" Target="../media/image260.png"/><Relationship Id="rId16" Type="http://schemas.openxmlformats.org/officeDocument/2006/relationships/image" Target="../media/image261.png"/><Relationship Id="rId17" Type="http://schemas.openxmlformats.org/officeDocument/2006/relationships/image" Target="../media/image262.png"/><Relationship Id="rId18" Type="http://schemas.openxmlformats.org/officeDocument/2006/relationships/image" Target="../media/image263.png"/><Relationship Id="rId19" Type="http://schemas.openxmlformats.org/officeDocument/2006/relationships/image" Target="../media/image264.png"/><Relationship Id="rId20" Type="http://schemas.openxmlformats.org/officeDocument/2006/relationships/image" Target="../media/image265.png"/><Relationship Id="rId21" Type="http://schemas.openxmlformats.org/officeDocument/2006/relationships/image" Target="../media/image266.png"/><Relationship Id="rId22" Type="http://schemas.openxmlformats.org/officeDocument/2006/relationships/image" Target="../media/image26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8.png"/><Relationship Id="rId3" Type="http://schemas.openxmlformats.org/officeDocument/2006/relationships/image" Target="../media/image269.png"/><Relationship Id="rId4" Type="http://schemas.openxmlformats.org/officeDocument/2006/relationships/image" Target="../media/image270.png"/><Relationship Id="rId5" Type="http://schemas.openxmlformats.org/officeDocument/2006/relationships/image" Target="../media/image271.png"/><Relationship Id="rId6" Type="http://schemas.openxmlformats.org/officeDocument/2006/relationships/image" Target="../media/image272.png"/><Relationship Id="rId7" Type="http://schemas.openxmlformats.org/officeDocument/2006/relationships/image" Target="../media/image273.png"/><Relationship Id="rId8" Type="http://schemas.openxmlformats.org/officeDocument/2006/relationships/image" Target="../media/image274.png"/><Relationship Id="rId9" Type="http://schemas.openxmlformats.org/officeDocument/2006/relationships/image" Target="../media/image275.png"/><Relationship Id="rId10" Type="http://schemas.openxmlformats.org/officeDocument/2006/relationships/image" Target="../media/image276.png"/><Relationship Id="rId11" Type="http://schemas.openxmlformats.org/officeDocument/2006/relationships/image" Target="../media/image277.png"/><Relationship Id="rId12" Type="http://schemas.openxmlformats.org/officeDocument/2006/relationships/image" Target="../media/image278.png"/><Relationship Id="rId13" Type="http://schemas.openxmlformats.org/officeDocument/2006/relationships/image" Target="../media/image279.png"/><Relationship Id="rId14" Type="http://schemas.openxmlformats.org/officeDocument/2006/relationships/image" Target="../media/image280.png"/><Relationship Id="rId15" Type="http://schemas.openxmlformats.org/officeDocument/2006/relationships/image" Target="../media/image281.png"/><Relationship Id="rId16" Type="http://schemas.openxmlformats.org/officeDocument/2006/relationships/image" Target="../media/image282.png"/><Relationship Id="rId17" Type="http://schemas.openxmlformats.org/officeDocument/2006/relationships/image" Target="../media/image283.png"/><Relationship Id="rId18" Type="http://schemas.openxmlformats.org/officeDocument/2006/relationships/image" Target="../media/image284.png"/><Relationship Id="rId19" Type="http://schemas.openxmlformats.org/officeDocument/2006/relationships/image" Target="../media/image285.png"/><Relationship Id="rId20" Type="http://schemas.openxmlformats.org/officeDocument/2006/relationships/image" Target="../media/image286.png"/><Relationship Id="rId21" Type="http://schemas.openxmlformats.org/officeDocument/2006/relationships/image" Target="../media/image287.png"/><Relationship Id="rId22" Type="http://schemas.openxmlformats.org/officeDocument/2006/relationships/image" Target="../media/image288.png"/><Relationship Id="rId23" Type="http://schemas.openxmlformats.org/officeDocument/2006/relationships/image" Target="../media/image289.png"/><Relationship Id="rId24" Type="http://schemas.openxmlformats.org/officeDocument/2006/relationships/image" Target="../media/image290.png"/><Relationship Id="rId25" Type="http://schemas.openxmlformats.org/officeDocument/2006/relationships/image" Target="../media/image291.png"/><Relationship Id="rId26" Type="http://schemas.openxmlformats.org/officeDocument/2006/relationships/image" Target="../media/image292.png"/><Relationship Id="rId27" Type="http://schemas.openxmlformats.org/officeDocument/2006/relationships/image" Target="../media/image293.png"/><Relationship Id="rId28" Type="http://schemas.openxmlformats.org/officeDocument/2006/relationships/image" Target="../media/image294.png"/><Relationship Id="rId29" Type="http://schemas.openxmlformats.org/officeDocument/2006/relationships/image" Target="../media/image295.png"/><Relationship Id="rId30" Type="http://schemas.openxmlformats.org/officeDocument/2006/relationships/image" Target="../media/image296.png"/><Relationship Id="rId31" Type="http://schemas.openxmlformats.org/officeDocument/2006/relationships/image" Target="../media/image297.png"/><Relationship Id="rId32" Type="http://schemas.openxmlformats.org/officeDocument/2006/relationships/image" Target="../media/image298.png"/><Relationship Id="rId33" Type="http://schemas.openxmlformats.org/officeDocument/2006/relationships/image" Target="../media/image299.png"/><Relationship Id="rId34" Type="http://schemas.openxmlformats.org/officeDocument/2006/relationships/image" Target="../media/image300.png"/><Relationship Id="rId35" Type="http://schemas.openxmlformats.org/officeDocument/2006/relationships/image" Target="../media/image301.png"/><Relationship Id="rId36" Type="http://schemas.openxmlformats.org/officeDocument/2006/relationships/image" Target="../media/image302.png"/><Relationship Id="rId37" Type="http://schemas.openxmlformats.org/officeDocument/2006/relationships/image" Target="../media/image30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4.png"/><Relationship Id="rId3" Type="http://schemas.openxmlformats.org/officeDocument/2006/relationships/image" Target="../media/image305.png"/><Relationship Id="rId4" Type="http://schemas.openxmlformats.org/officeDocument/2006/relationships/image" Target="../media/image306.png"/><Relationship Id="rId5" Type="http://schemas.openxmlformats.org/officeDocument/2006/relationships/image" Target="../media/image307.png"/><Relationship Id="rId6" Type="http://schemas.openxmlformats.org/officeDocument/2006/relationships/image" Target="../media/image308.png"/><Relationship Id="rId7" Type="http://schemas.openxmlformats.org/officeDocument/2006/relationships/image" Target="../media/image309.png"/><Relationship Id="rId8" Type="http://schemas.openxmlformats.org/officeDocument/2006/relationships/image" Target="../media/image310.png"/><Relationship Id="rId9" Type="http://schemas.openxmlformats.org/officeDocument/2006/relationships/image" Target="../media/image311.png"/><Relationship Id="rId10" Type="http://schemas.openxmlformats.org/officeDocument/2006/relationships/image" Target="../media/image312.png"/><Relationship Id="rId11" Type="http://schemas.openxmlformats.org/officeDocument/2006/relationships/image" Target="../media/image313.png"/><Relationship Id="rId12" Type="http://schemas.openxmlformats.org/officeDocument/2006/relationships/image" Target="../media/image314.png"/><Relationship Id="rId13" Type="http://schemas.openxmlformats.org/officeDocument/2006/relationships/image" Target="../media/image315.png"/><Relationship Id="rId14" Type="http://schemas.openxmlformats.org/officeDocument/2006/relationships/image" Target="../media/image316.png"/><Relationship Id="rId15" Type="http://schemas.openxmlformats.org/officeDocument/2006/relationships/image" Target="../media/image317.png"/><Relationship Id="rId16" Type="http://schemas.openxmlformats.org/officeDocument/2006/relationships/image" Target="../media/image318.png"/><Relationship Id="rId17" Type="http://schemas.openxmlformats.org/officeDocument/2006/relationships/image" Target="../media/image319.png"/><Relationship Id="rId18" Type="http://schemas.openxmlformats.org/officeDocument/2006/relationships/image" Target="../media/image320.png"/><Relationship Id="rId19" Type="http://schemas.openxmlformats.org/officeDocument/2006/relationships/image" Target="../media/image321.png"/><Relationship Id="rId20" Type="http://schemas.openxmlformats.org/officeDocument/2006/relationships/image" Target="../media/image322.png"/><Relationship Id="rId21" Type="http://schemas.openxmlformats.org/officeDocument/2006/relationships/image" Target="../media/image323.png"/><Relationship Id="rId22" Type="http://schemas.openxmlformats.org/officeDocument/2006/relationships/image" Target="../media/image324.png"/><Relationship Id="rId23" Type="http://schemas.openxmlformats.org/officeDocument/2006/relationships/image" Target="../media/image325.png"/><Relationship Id="rId24" Type="http://schemas.openxmlformats.org/officeDocument/2006/relationships/image" Target="../media/image326.png"/><Relationship Id="rId25" Type="http://schemas.openxmlformats.org/officeDocument/2006/relationships/image" Target="../media/image327.png"/><Relationship Id="rId26" Type="http://schemas.openxmlformats.org/officeDocument/2006/relationships/image" Target="../media/image328.png"/><Relationship Id="rId27" Type="http://schemas.openxmlformats.org/officeDocument/2006/relationships/image" Target="../media/image329.png"/><Relationship Id="rId28" Type="http://schemas.openxmlformats.org/officeDocument/2006/relationships/image" Target="../media/image330.png"/><Relationship Id="rId29" Type="http://schemas.openxmlformats.org/officeDocument/2006/relationships/image" Target="../media/image331.png"/><Relationship Id="rId30" Type="http://schemas.openxmlformats.org/officeDocument/2006/relationships/image" Target="../media/image332.png"/><Relationship Id="rId31" Type="http://schemas.openxmlformats.org/officeDocument/2006/relationships/image" Target="../media/image333.png"/><Relationship Id="rId32" Type="http://schemas.openxmlformats.org/officeDocument/2006/relationships/image" Target="../media/image334.png"/><Relationship Id="rId33" Type="http://schemas.openxmlformats.org/officeDocument/2006/relationships/image" Target="../media/image335.png"/><Relationship Id="rId34" Type="http://schemas.openxmlformats.org/officeDocument/2006/relationships/image" Target="../media/image336.png"/><Relationship Id="rId35" Type="http://schemas.openxmlformats.org/officeDocument/2006/relationships/image" Target="../media/image33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8.png"/><Relationship Id="rId3" Type="http://schemas.openxmlformats.org/officeDocument/2006/relationships/image" Target="../media/image339.png"/><Relationship Id="rId4" Type="http://schemas.openxmlformats.org/officeDocument/2006/relationships/image" Target="../media/image340.png"/><Relationship Id="rId5" Type="http://schemas.openxmlformats.org/officeDocument/2006/relationships/image" Target="../media/image341.png"/><Relationship Id="rId6" Type="http://schemas.openxmlformats.org/officeDocument/2006/relationships/image" Target="../media/image342.png"/><Relationship Id="rId7" Type="http://schemas.openxmlformats.org/officeDocument/2006/relationships/image" Target="../media/image343.png"/><Relationship Id="rId8" Type="http://schemas.openxmlformats.org/officeDocument/2006/relationships/image" Target="../media/image344.png"/><Relationship Id="rId9" Type="http://schemas.openxmlformats.org/officeDocument/2006/relationships/image" Target="../media/image345.png"/><Relationship Id="rId10" Type="http://schemas.openxmlformats.org/officeDocument/2006/relationships/image" Target="../media/image346.png"/><Relationship Id="rId11" Type="http://schemas.openxmlformats.org/officeDocument/2006/relationships/image" Target="../media/image347.png"/><Relationship Id="rId12" Type="http://schemas.openxmlformats.org/officeDocument/2006/relationships/image" Target="../media/image348.png"/><Relationship Id="rId13" Type="http://schemas.openxmlformats.org/officeDocument/2006/relationships/image" Target="../media/image349.png"/><Relationship Id="rId14" Type="http://schemas.openxmlformats.org/officeDocument/2006/relationships/image" Target="../media/image350.png"/><Relationship Id="rId15" Type="http://schemas.openxmlformats.org/officeDocument/2006/relationships/image" Target="../media/image351.png"/><Relationship Id="rId16" Type="http://schemas.openxmlformats.org/officeDocument/2006/relationships/image" Target="../media/image352.png"/><Relationship Id="rId17" Type="http://schemas.openxmlformats.org/officeDocument/2006/relationships/image" Target="../media/image353.png"/><Relationship Id="rId18" Type="http://schemas.openxmlformats.org/officeDocument/2006/relationships/image" Target="../media/image354.png"/><Relationship Id="rId19" Type="http://schemas.openxmlformats.org/officeDocument/2006/relationships/image" Target="../media/image355.png"/><Relationship Id="rId20" Type="http://schemas.openxmlformats.org/officeDocument/2006/relationships/image" Target="../media/image356.png"/><Relationship Id="rId21" Type="http://schemas.openxmlformats.org/officeDocument/2006/relationships/image" Target="../media/image357.png"/><Relationship Id="rId22" Type="http://schemas.openxmlformats.org/officeDocument/2006/relationships/image" Target="../media/image358.png"/><Relationship Id="rId23" Type="http://schemas.openxmlformats.org/officeDocument/2006/relationships/image" Target="../media/image359.png"/><Relationship Id="rId24" Type="http://schemas.openxmlformats.org/officeDocument/2006/relationships/image" Target="../media/image360.png"/><Relationship Id="rId25" Type="http://schemas.openxmlformats.org/officeDocument/2006/relationships/image" Target="../media/image361.png"/><Relationship Id="rId26" Type="http://schemas.openxmlformats.org/officeDocument/2006/relationships/image" Target="../media/image362.png"/><Relationship Id="rId27" Type="http://schemas.openxmlformats.org/officeDocument/2006/relationships/image" Target="../media/image363.png"/><Relationship Id="rId28" Type="http://schemas.openxmlformats.org/officeDocument/2006/relationships/image" Target="../media/image364.png"/><Relationship Id="rId29" Type="http://schemas.openxmlformats.org/officeDocument/2006/relationships/image" Target="../media/image365.png"/><Relationship Id="rId30" Type="http://schemas.openxmlformats.org/officeDocument/2006/relationships/image" Target="../media/image36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7.png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Relationship Id="rId10" Type="http://schemas.openxmlformats.org/officeDocument/2006/relationships/image" Target="../media/image375.png"/><Relationship Id="rId11" Type="http://schemas.openxmlformats.org/officeDocument/2006/relationships/image" Target="../media/image376.png"/><Relationship Id="rId12" Type="http://schemas.openxmlformats.org/officeDocument/2006/relationships/image" Target="../media/image377.png"/><Relationship Id="rId13" Type="http://schemas.openxmlformats.org/officeDocument/2006/relationships/image" Target="../media/image378.png"/><Relationship Id="rId14" Type="http://schemas.openxmlformats.org/officeDocument/2006/relationships/image" Target="../media/image379.png"/><Relationship Id="rId15" Type="http://schemas.openxmlformats.org/officeDocument/2006/relationships/image" Target="../media/image380.png"/><Relationship Id="rId16" Type="http://schemas.openxmlformats.org/officeDocument/2006/relationships/image" Target="../media/image381.png"/><Relationship Id="rId17" Type="http://schemas.openxmlformats.org/officeDocument/2006/relationships/image" Target="../media/image382.png"/><Relationship Id="rId18" Type="http://schemas.openxmlformats.org/officeDocument/2006/relationships/image" Target="../media/image383.png"/><Relationship Id="rId19" Type="http://schemas.openxmlformats.org/officeDocument/2006/relationships/image" Target="../media/image384.png"/><Relationship Id="rId20" Type="http://schemas.openxmlformats.org/officeDocument/2006/relationships/image" Target="../media/image385.png"/><Relationship Id="rId21" Type="http://schemas.openxmlformats.org/officeDocument/2006/relationships/image" Target="../media/image386.png"/><Relationship Id="rId22" Type="http://schemas.openxmlformats.org/officeDocument/2006/relationships/image" Target="../media/image387.png"/><Relationship Id="rId23" Type="http://schemas.openxmlformats.org/officeDocument/2006/relationships/image" Target="../media/image388.png"/><Relationship Id="rId24" Type="http://schemas.openxmlformats.org/officeDocument/2006/relationships/image" Target="../media/image389.png"/><Relationship Id="rId25" Type="http://schemas.openxmlformats.org/officeDocument/2006/relationships/image" Target="../media/image390.png"/><Relationship Id="rId26" Type="http://schemas.openxmlformats.org/officeDocument/2006/relationships/image" Target="../media/image391.png"/><Relationship Id="rId27" Type="http://schemas.openxmlformats.org/officeDocument/2006/relationships/image" Target="../media/image392.png"/><Relationship Id="rId28" Type="http://schemas.openxmlformats.org/officeDocument/2006/relationships/image" Target="../media/image393.png"/><Relationship Id="rId29" Type="http://schemas.openxmlformats.org/officeDocument/2006/relationships/image" Target="../media/image394.png"/><Relationship Id="rId30" Type="http://schemas.openxmlformats.org/officeDocument/2006/relationships/image" Target="../media/image395.png"/><Relationship Id="rId31" Type="http://schemas.openxmlformats.org/officeDocument/2006/relationships/image" Target="../media/image396.png"/><Relationship Id="rId32" Type="http://schemas.openxmlformats.org/officeDocument/2006/relationships/image" Target="../media/image397.png"/><Relationship Id="rId33" Type="http://schemas.openxmlformats.org/officeDocument/2006/relationships/image" Target="../media/image398.png"/><Relationship Id="rId34" Type="http://schemas.openxmlformats.org/officeDocument/2006/relationships/image" Target="../media/image399.png"/><Relationship Id="rId35" Type="http://schemas.openxmlformats.org/officeDocument/2006/relationships/image" Target="../media/image400.png"/><Relationship Id="rId36" Type="http://schemas.openxmlformats.org/officeDocument/2006/relationships/image" Target="../media/image401.png"/><Relationship Id="rId37" Type="http://schemas.openxmlformats.org/officeDocument/2006/relationships/image" Target="../media/image402.png"/><Relationship Id="rId38" Type="http://schemas.openxmlformats.org/officeDocument/2006/relationships/image" Target="../media/image403.png"/><Relationship Id="rId39" Type="http://schemas.openxmlformats.org/officeDocument/2006/relationships/image" Target="../media/image404.png"/><Relationship Id="rId40" Type="http://schemas.openxmlformats.org/officeDocument/2006/relationships/image" Target="../media/image405.png"/><Relationship Id="rId41" Type="http://schemas.openxmlformats.org/officeDocument/2006/relationships/image" Target="../media/image406.png"/><Relationship Id="rId42" Type="http://schemas.openxmlformats.org/officeDocument/2006/relationships/image" Target="../media/image407.png"/><Relationship Id="rId43" Type="http://schemas.openxmlformats.org/officeDocument/2006/relationships/image" Target="../media/image40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9.png"/><Relationship Id="rId3" Type="http://schemas.openxmlformats.org/officeDocument/2006/relationships/image" Target="../media/image410.png"/><Relationship Id="rId4" Type="http://schemas.openxmlformats.org/officeDocument/2006/relationships/image" Target="../media/image411.png"/><Relationship Id="rId5" Type="http://schemas.openxmlformats.org/officeDocument/2006/relationships/image" Target="../media/image412.png"/><Relationship Id="rId6" Type="http://schemas.openxmlformats.org/officeDocument/2006/relationships/image" Target="../media/image413.png"/><Relationship Id="rId7" Type="http://schemas.openxmlformats.org/officeDocument/2006/relationships/image" Target="../media/image414.png"/><Relationship Id="rId8" Type="http://schemas.openxmlformats.org/officeDocument/2006/relationships/image" Target="../media/image415.png"/><Relationship Id="rId9" Type="http://schemas.openxmlformats.org/officeDocument/2006/relationships/image" Target="../media/image416.png"/><Relationship Id="rId10" Type="http://schemas.openxmlformats.org/officeDocument/2006/relationships/image" Target="../media/image417.png"/><Relationship Id="rId11" Type="http://schemas.openxmlformats.org/officeDocument/2006/relationships/image" Target="../media/image418.png"/><Relationship Id="rId12" Type="http://schemas.openxmlformats.org/officeDocument/2006/relationships/image" Target="../media/image419.png"/><Relationship Id="rId13" Type="http://schemas.openxmlformats.org/officeDocument/2006/relationships/image" Target="../media/image420.png"/><Relationship Id="rId14" Type="http://schemas.openxmlformats.org/officeDocument/2006/relationships/image" Target="../media/image421.png"/><Relationship Id="rId15" Type="http://schemas.openxmlformats.org/officeDocument/2006/relationships/image" Target="../media/image422.png"/><Relationship Id="rId16" Type="http://schemas.openxmlformats.org/officeDocument/2006/relationships/image" Target="../media/image423.png"/><Relationship Id="rId17" Type="http://schemas.openxmlformats.org/officeDocument/2006/relationships/image" Target="../media/image424.png"/><Relationship Id="rId18" Type="http://schemas.openxmlformats.org/officeDocument/2006/relationships/image" Target="../media/image425.png"/><Relationship Id="rId19" Type="http://schemas.openxmlformats.org/officeDocument/2006/relationships/image" Target="../media/image426.png"/><Relationship Id="rId20" Type="http://schemas.openxmlformats.org/officeDocument/2006/relationships/image" Target="../media/image427.png"/><Relationship Id="rId21" Type="http://schemas.openxmlformats.org/officeDocument/2006/relationships/image" Target="../media/image428.png"/><Relationship Id="rId22" Type="http://schemas.openxmlformats.org/officeDocument/2006/relationships/image" Target="../media/image429.png"/><Relationship Id="rId23" Type="http://schemas.openxmlformats.org/officeDocument/2006/relationships/image" Target="../media/image430.png"/><Relationship Id="rId24" Type="http://schemas.openxmlformats.org/officeDocument/2006/relationships/image" Target="../media/image431.png"/><Relationship Id="rId25" Type="http://schemas.openxmlformats.org/officeDocument/2006/relationships/image" Target="../media/image432.png"/><Relationship Id="rId26" Type="http://schemas.openxmlformats.org/officeDocument/2006/relationships/image" Target="../media/image433.png"/><Relationship Id="rId27" Type="http://schemas.openxmlformats.org/officeDocument/2006/relationships/image" Target="../media/image434.png"/><Relationship Id="rId28" Type="http://schemas.openxmlformats.org/officeDocument/2006/relationships/image" Target="../media/image435.png"/><Relationship Id="rId29" Type="http://schemas.openxmlformats.org/officeDocument/2006/relationships/image" Target="../media/image436.png"/><Relationship Id="rId30" Type="http://schemas.openxmlformats.org/officeDocument/2006/relationships/image" Target="../media/image4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le mint paper/sky and lower farm-field background with foreground content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5471" y="0"/>
            <a:ext cx="12180753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486290" y="244627"/>
            <a:ext cx="2758384" cy="48925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23" y="0"/>
                </a:moveTo>
                <a:lnTo>
                  <a:pt x="21600" y="0"/>
                </a:lnTo>
                <a:lnTo>
                  <a:pt x="2054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E8A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3219368" y="261498"/>
            <a:ext cx="3264509" cy="46394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81" y="0"/>
                </a:moveTo>
                <a:lnTo>
                  <a:pt x="21600" y="0"/>
                </a:lnTo>
                <a:lnTo>
                  <a:pt x="2076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7F5EC"/>
          </a:solidFill>
          <a:ln w="7620">
            <a:solidFill>
              <a:srgbClr val="91CBAF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26017" y="911026"/>
            <a:ext cx="3863424" cy="3593491"/>
          </a:xfrm>
          <a:prstGeom prst="roundRect">
            <a:avLst>
              <a:gd name="adj" fmla="val 3756"/>
            </a:avLst>
          </a:prstGeom>
          <a:solidFill>
            <a:srgbClr val="FAFDFB"/>
          </a:solidFill>
          <a:ln w="6985">
            <a:solidFill>
              <a:srgbClr val="76C785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240054" y="911026"/>
            <a:ext cx="3745328" cy="3593491"/>
          </a:xfrm>
          <a:prstGeom prst="roundRect">
            <a:avLst>
              <a:gd name="adj" fmla="val 3756"/>
            </a:avLst>
          </a:prstGeom>
          <a:solidFill>
            <a:srgbClr val="FAFDFB"/>
          </a:solidFill>
          <a:ln w="6985">
            <a:solidFill>
              <a:srgbClr val="76C785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027560" y="911026"/>
            <a:ext cx="3854989" cy="3593491"/>
          </a:xfrm>
          <a:prstGeom prst="roundRect">
            <a:avLst>
              <a:gd name="adj" fmla="val 3756"/>
            </a:avLst>
          </a:prstGeom>
          <a:solidFill>
            <a:srgbClr val="EDF9F6"/>
          </a:solidFill>
          <a:ln w="6985">
            <a:solidFill>
              <a:srgbClr val="76C785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326017" y="4572000"/>
            <a:ext cx="11556531" cy="2277565"/>
          </a:xfrm>
          <a:prstGeom prst="roundRect">
            <a:avLst>
              <a:gd name="adj" fmla="val 5926"/>
            </a:avLst>
          </a:prstGeom>
          <a:solidFill>
            <a:srgbClr val="FAFDFB"/>
          </a:solidFill>
          <a:ln w="6985">
            <a:solidFill>
              <a:srgbClr val="76C785"/>
            </a:solidFill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587515" y="244627"/>
            <a:ext cx="2555934" cy="48925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41" y="0"/>
                </a:moveTo>
                <a:lnTo>
                  <a:pt x="21600" y="0"/>
                </a:lnTo>
                <a:lnTo>
                  <a:pt x="2053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5D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3379641" y="438642"/>
            <a:ext cx="118096" cy="118096"/>
          </a:xfrm>
          <a:prstGeom prst="ellipse">
            <a:avLst/>
          </a:prstGeom>
          <a:solidFill>
            <a:srgbClr val="0795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1152689" y="1003815"/>
            <a:ext cx="2598111" cy="37115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92" y="0"/>
                </a:moveTo>
                <a:lnTo>
                  <a:pt x="21039" y="0"/>
                </a:lnTo>
                <a:cubicBezTo>
                  <a:pt x="21460" y="0"/>
                  <a:pt x="21600" y="1473"/>
                  <a:pt x="21530" y="3927"/>
                </a:cubicBezTo>
                <a:lnTo>
                  <a:pt x="21109" y="18164"/>
                </a:lnTo>
                <a:cubicBezTo>
                  <a:pt x="21039" y="20618"/>
                  <a:pt x="20758" y="21600"/>
                  <a:pt x="20338" y="21600"/>
                </a:cubicBezTo>
                <a:lnTo>
                  <a:pt x="-631" y="21600"/>
                </a:lnTo>
                <a:lnTo>
                  <a:pt x="70" y="6382"/>
                </a:lnTo>
                <a:cubicBezTo>
                  <a:pt x="281" y="1964"/>
                  <a:pt x="561" y="0"/>
                  <a:pt x="1192" y="0"/>
                </a:cubicBezTo>
                <a:close/>
              </a:path>
            </a:pathLst>
          </a:custGeom>
          <a:solidFill>
            <a:srgbClr val="247F3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ath 12"/>
          <p:cNvSpPr/>
          <p:nvPr/>
        </p:nvSpPr>
        <p:spPr>
          <a:xfrm>
            <a:off x="5075161" y="1003815"/>
            <a:ext cx="2614982" cy="37115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85" y="0"/>
                </a:moveTo>
                <a:lnTo>
                  <a:pt x="21043" y="0"/>
                </a:lnTo>
                <a:cubicBezTo>
                  <a:pt x="21461" y="0"/>
                  <a:pt x="21600" y="1473"/>
                  <a:pt x="21530" y="3927"/>
                </a:cubicBezTo>
                <a:lnTo>
                  <a:pt x="21112" y="18164"/>
                </a:lnTo>
                <a:cubicBezTo>
                  <a:pt x="21043" y="20618"/>
                  <a:pt x="20764" y="21600"/>
                  <a:pt x="20346" y="21600"/>
                </a:cubicBezTo>
                <a:lnTo>
                  <a:pt x="-627" y="21600"/>
                </a:lnTo>
                <a:lnTo>
                  <a:pt x="70" y="6382"/>
                </a:lnTo>
                <a:cubicBezTo>
                  <a:pt x="279" y="1964"/>
                  <a:pt x="557" y="0"/>
                  <a:pt x="1185" y="0"/>
                </a:cubicBezTo>
                <a:close/>
              </a:path>
            </a:pathLst>
          </a:custGeom>
          <a:solidFill>
            <a:srgbClr val="247F3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th 13"/>
          <p:cNvSpPr/>
          <p:nvPr/>
        </p:nvSpPr>
        <p:spPr>
          <a:xfrm>
            <a:off x="8795183" y="1003815"/>
            <a:ext cx="2893351" cy="37115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71" y="0"/>
                </a:moveTo>
                <a:lnTo>
                  <a:pt x="21096" y="0"/>
                </a:lnTo>
                <a:cubicBezTo>
                  <a:pt x="21474" y="0"/>
                  <a:pt x="21600" y="1473"/>
                  <a:pt x="21537" y="3927"/>
                </a:cubicBezTo>
                <a:lnTo>
                  <a:pt x="21159" y="18164"/>
                </a:lnTo>
                <a:cubicBezTo>
                  <a:pt x="21096" y="20618"/>
                  <a:pt x="20844" y="21600"/>
                  <a:pt x="20466" y="21600"/>
                </a:cubicBezTo>
                <a:lnTo>
                  <a:pt x="-567" y="21600"/>
                </a:lnTo>
                <a:lnTo>
                  <a:pt x="63" y="6382"/>
                </a:lnTo>
                <a:cubicBezTo>
                  <a:pt x="252" y="1964"/>
                  <a:pt x="504" y="0"/>
                  <a:pt x="1071" y="0"/>
                </a:cubicBezTo>
                <a:close/>
              </a:path>
            </a:pathLst>
          </a:custGeom>
          <a:solidFill>
            <a:srgbClr val="247F3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th 14"/>
          <p:cNvSpPr/>
          <p:nvPr/>
        </p:nvSpPr>
        <p:spPr>
          <a:xfrm>
            <a:off x="1177995" y="4681661"/>
            <a:ext cx="4555129" cy="37115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80" y="0"/>
                </a:moveTo>
                <a:lnTo>
                  <a:pt x="21280" y="0"/>
                </a:lnTo>
                <a:cubicBezTo>
                  <a:pt x="21520" y="0"/>
                  <a:pt x="21600" y="1473"/>
                  <a:pt x="21560" y="3927"/>
                </a:cubicBezTo>
                <a:lnTo>
                  <a:pt x="21320" y="18164"/>
                </a:lnTo>
                <a:cubicBezTo>
                  <a:pt x="21280" y="20618"/>
                  <a:pt x="21120" y="21600"/>
                  <a:pt x="20880" y="21600"/>
                </a:cubicBezTo>
                <a:lnTo>
                  <a:pt x="-360" y="21600"/>
                </a:lnTo>
                <a:lnTo>
                  <a:pt x="40" y="6382"/>
                </a:lnTo>
                <a:cubicBezTo>
                  <a:pt x="160" y="1964"/>
                  <a:pt x="320" y="0"/>
                  <a:pt x="680" y="0"/>
                </a:cubicBezTo>
                <a:close/>
              </a:path>
            </a:pathLst>
          </a:custGeom>
          <a:solidFill>
            <a:srgbClr val="247F3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5" name="Repaired original right-panel agricultural backdrop, no independent foreground content"/>
          <p:cNvPicPr/>
          <p:nvPr/>
        </p:nvPicPr>
        <p:blipFill>
          <a:blip r:embed="rId11"/>
          <a:stretch>
            <a:fillRect/>
          </a:stretch>
        </p:blipFill>
        <p:spPr>
          <a:xfrm>
            <a:off x="8035995" y="2749948"/>
            <a:ext cx="3838118" cy="2193210"/>
          </a:xfrm>
          <a:prstGeom prst="rect">
            <a:avLst/>
          </a:prstGeom>
        </p:spPr>
      </p:pic>
      <p:sp>
        <p:nvSpPr>
          <p:cNvPr id="16" name="Line 16"/>
          <p:cNvSpPr/>
          <p:nvPr/>
        </p:nvSpPr>
        <p:spPr>
          <a:xfrm>
            <a:off x="882755" y="6124118"/>
            <a:ext cx="4352679" cy="0"/>
          </a:xfrm>
          <a:prstGeom prst="line">
            <a:avLst/>
          </a:prstGeom>
          <a:noFill/>
          <a:ln w="4445">
            <a:solidFill>
              <a:srgbClr val="E4E9E5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882755" y="5887926"/>
            <a:ext cx="4352679" cy="0"/>
          </a:xfrm>
          <a:prstGeom prst="line">
            <a:avLst/>
          </a:prstGeom>
          <a:noFill/>
          <a:ln w="4445">
            <a:solidFill>
              <a:srgbClr val="E4E9E5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882755" y="5660170"/>
            <a:ext cx="4352679" cy="0"/>
          </a:xfrm>
          <a:prstGeom prst="line">
            <a:avLst/>
          </a:prstGeom>
          <a:noFill/>
          <a:ln w="4445">
            <a:solidFill>
              <a:srgbClr val="E4E9E5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82755" y="5432413"/>
            <a:ext cx="4352679" cy="0"/>
          </a:xfrm>
          <a:prstGeom prst="line">
            <a:avLst/>
          </a:prstGeom>
          <a:noFill/>
          <a:ln w="4445">
            <a:solidFill>
              <a:srgbClr val="E4E9E5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545338" y="3787506"/>
            <a:ext cx="328982" cy="109661"/>
          </a:xfrm>
          <a:prstGeom prst="rect">
            <a:avLst/>
          </a:prstGeom>
          <a:solidFill>
            <a:srgbClr val="C1ED8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74320" y="3787506"/>
            <a:ext cx="328982" cy="109661"/>
          </a:xfrm>
          <a:prstGeom prst="rect">
            <a:avLst/>
          </a:prstGeom>
          <a:solidFill>
            <a:srgbClr val="9FDB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203301" y="3787506"/>
            <a:ext cx="328982" cy="109661"/>
          </a:xfrm>
          <a:prstGeom prst="rect">
            <a:avLst/>
          </a:prstGeom>
          <a:solidFill>
            <a:srgbClr val="72C0A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532283" y="3787506"/>
            <a:ext cx="328982" cy="109661"/>
          </a:xfrm>
          <a:prstGeom prst="rect">
            <a:avLst/>
          </a:prstGeom>
          <a:solidFill>
            <a:srgbClr val="4BA8A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861265" y="3787506"/>
            <a:ext cx="328982" cy="109661"/>
          </a:xfrm>
          <a:prstGeom prst="rect">
            <a:avLst/>
          </a:prstGeom>
          <a:solidFill>
            <a:srgbClr val="338B8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2190246" y="3787506"/>
            <a:ext cx="328982" cy="109661"/>
          </a:xfrm>
          <a:prstGeom prst="rect">
            <a:avLst/>
          </a:prstGeom>
          <a:solidFill>
            <a:srgbClr val="216E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2679501" y="3787506"/>
            <a:ext cx="328982" cy="109661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4670261" y="3770635"/>
            <a:ext cx="328982" cy="109661"/>
          </a:xfrm>
          <a:prstGeom prst="rect">
            <a:avLst/>
          </a:prstGeom>
          <a:solidFill>
            <a:srgbClr val="C5ED8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4999242" y="3770635"/>
            <a:ext cx="328982" cy="109661"/>
          </a:xfrm>
          <a:prstGeom prst="rect">
            <a:avLst/>
          </a:prstGeom>
          <a:solidFill>
            <a:srgbClr val="9BD8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5328224" y="3770635"/>
            <a:ext cx="328982" cy="109661"/>
          </a:xfrm>
          <a:prstGeom prst="rect">
            <a:avLst/>
          </a:prstGeom>
          <a:solidFill>
            <a:srgbClr val="70B9A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5657206" y="3770635"/>
            <a:ext cx="328982" cy="109661"/>
          </a:xfrm>
          <a:prstGeom prst="rect">
            <a:avLst/>
          </a:prstGeom>
          <a:solidFill>
            <a:srgbClr val="449D9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5986187" y="3770635"/>
            <a:ext cx="328982" cy="109661"/>
          </a:xfrm>
          <a:prstGeom prst="rect">
            <a:avLst/>
          </a:prstGeom>
          <a:solidFill>
            <a:srgbClr val="287D8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6315169" y="3770635"/>
            <a:ext cx="328982" cy="109661"/>
          </a:xfrm>
          <a:prstGeom prst="rect">
            <a:avLst/>
          </a:prstGeom>
          <a:solidFill>
            <a:srgbClr val="185E66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882755" y="5423978"/>
            <a:ext cx="0" cy="700140"/>
          </a:xfrm>
          <a:prstGeom prst="line">
            <a:avLst/>
          </a:prstGeom>
          <a:noFill/>
          <a:ln w="8890">
            <a:solidFill>
              <a:srgbClr val="A7ACA8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882755" y="6124118"/>
            <a:ext cx="4352679" cy="0"/>
          </a:xfrm>
          <a:prstGeom prst="line">
            <a:avLst/>
          </a:prstGeom>
          <a:noFill/>
          <a:ln w="8890">
            <a:solidFill>
              <a:srgbClr val="A7ACA8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760039" y="5229963"/>
            <a:ext cx="134967" cy="75919"/>
          </a:xfrm>
          <a:prstGeom prst="rect">
            <a:avLst/>
          </a:prstGeom>
          <a:solidFill>
            <a:srgbClr val="428F29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2704807" y="5229963"/>
            <a:ext cx="134967" cy="75919"/>
          </a:xfrm>
          <a:prstGeom prst="rect">
            <a:avLst/>
          </a:prstGeom>
          <a:solidFill>
            <a:srgbClr val="91D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3717058" y="5272140"/>
            <a:ext cx="253063" cy="0"/>
          </a:xfrm>
          <a:prstGeom prst="line">
            <a:avLst/>
          </a:prstGeom>
          <a:noFill/>
          <a:ln w="7620">
            <a:solidFill>
              <a:srgbClr val="729C72"/>
            </a:solidFill>
            <a:prstDash val="dash"/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6838165" y="5305882"/>
            <a:ext cx="0" cy="1147218"/>
          </a:xfrm>
          <a:prstGeom prst="line">
            <a:avLst/>
          </a:prstGeom>
          <a:noFill/>
          <a:ln w="5715">
            <a:solidFill>
              <a:srgbClr val="D0EAE0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7951641" y="5305882"/>
            <a:ext cx="0" cy="1147218"/>
          </a:xfrm>
          <a:prstGeom prst="line">
            <a:avLst/>
          </a:prstGeom>
          <a:noFill/>
          <a:ln w="5715">
            <a:solidFill>
              <a:srgbClr val="D0EAE0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9115730" y="5305882"/>
            <a:ext cx="0" cy="1147218"/>
          </a:xfrm>
          <a:prstGeom prst="line">
            <a:avLst/>
          </a:prstGeom>
          <a:noFill/>
          <a:ln w="5715">
            <a:solidFill>
              <a:srgbClr val="D0EAE0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0288254" y="5305882"/>
            <a:ext cx="0" cy="1147218"/>
          </a:xfrm>
          <a:prstGeom prst="line">
            <a:avLst/>
          </a:prstGeom>
          <a:noFill/>
          <a:ln w="5715">
            <a:solidFill>
              <a:srgbClr val="D0EAE0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1869700" y="5634863"/>
            <a:ext cx="2699336" cy="447077"/>
          </a:xfrm>
          <a:prstGeom prst="line">
            <a:avLst/>
          </a:prstGeom>
          <a:noFill/>
          <a:ln w="7620">
            <a:solidFill>
              <a:srgbClr val="7E9179"/>
            </a:solidFill>
            <a:prstDash val="dash"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1203301" y="5464693"/>
            <a:ext cx="320546" cy="659425"/>
          </a:xfrm>
          <a:prstGeom prst="rect">
            <a:avLst/>
          </a:prstGeom>
          <a:solidFill>
            <a:srgbClr val="438F2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608202" y="5635313"/>
            <a:ext cx="320546" cy="488805"/>
          </a:xfrm>
          <a:prstGeom prst="rect">
            <a:avLst/>
          </a:prstGeom>
          <a:solidFill>
            <a:srgbClr val="91D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2704807" y="5995000"/>
            <a:ext cx="320546" cy="129118"/>
          </a:xfrm>
          <a:prstGeom prst="rect">
            <a:avLst/>
          </a:prstGeom>
          <a:solidFill>
            <a:srgbClr val="438F29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3109707" y="5898161"/>
            <a:ext cx="320546" cy="225957"/>
          </a:xfrm>
          <a:prstGeom prst="rect">
            <a:avLst/>
          </a:prstGeom>
          <a:solidFill>
            <a:srgbClr val="91D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4206313" y="6073393"/>
            <a:ext cx="320546" cy="50725"/>
          </a:xfrm>
          <a:prstGeom prst="rect">
            <a:avLst/>
          </a:prstGeom>
          <a:solidFill>
            <a:srgbClr val="438F29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4611213" y="5981166"/>
            <a:ext cx="320546" cy="142952"/>
          </a:xfrm>
          <a:prstGeom prst="rect">
            <a:avLst/>
          </a:prstGeom>
          <a:solidFill>
            <a:srgbClr val="91D173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9" name="Original blank green-gold leaf ellipse flourish; no numeric strokes or numeric shadows remain."/>
          <p:cNvPicPr/>
          <p:nvPr/>
        </p:nvPicPr>
        <p:blipFill>
          <a:blip r:embed="rId3"/>
          <a:stretch>
            <a:fillRect/>
          </a:stretch>
        </p:blipFill>
        <p:spPr>
          <a:xfrm>
            <a:off x="381874" y="1147509"/>
            <a:ext cx="802505" cy="286223"/>
          </a:xfrm>
          <a:prstGeom prst="rect">
            <a:avLst/>
          </a:prstGeom>
        </p:spPr>
      </p:pic>
      <p:pic>
        <p:nvPicPr>
          <p:cNvPr id="50" name="Original blank green-gold leaf ellipse flourish; no numeric strokes or numeric shadows remain."/>
          <p:cNvPicPr/>
          <p:nvPr/>
        </p:nvPicPr>
        <p:blipFill>
          <a:blip r:embed="rId4"/>
          <a:stretch>
            <a:fillRect/>
          </a:stretch>
        </p:blipFill>
        <p:spPr>
          <a:xfrm>
            <a:off x="4304346" y="1147509"/>
            <a:ext cx="802505" cy="286223"/>
          </a:xfrm>
          <a:prstGeom prst="rect">
            <a:avLst/>
          </a:prstGeom>
        </p:spPr>
      </p:pic>
      <p:pic>
        <p:nvPicPr>
          <p:cNvPr id="51" name="Original blank green-gold leaf ellipse flourish; no numeric strokes or numeric shadows remain."/>
          <p:cNvPicPr/>
          <p:nvPr/>
        </p:nvPicPr>
        <p:blipFill>
          <a:blip r:embed="rId5"/>
          <a:stretch>
            <a:fillRect/>
          </a:stretch>
        </p:blipFill>
        <p:spPr>
          <a:xfrm>
            <a:off x="8041239" y="1147509"/>
            <a:ext cx="802505" cy="286223"/>
          </a:xfrm>
          <a:prstGeom prst="rect">
            <a:avLst/>
          </a:prstGeom>
        </p:spPr>
      </p:pic>
      <p:pic>
        <p:nvPicPr>
          <p:cNvPr id="52" name="Original blank green-gold leaf ellipse flourish; no numeric strokes or numeric shadows remain."/>
          <p:cNvPicPr/>
          <p:nvPr/>
        </p:nvPicPr>
        <p:blipFill>
          <a:blip r:embed="rId6"/>
          <a:stretch>
            <a:fillRect/>
          </a:stretch>
        </p:blipFill>
        <p:spPr>
          <a:xfrm>
            <a:off x="381874" y="4833789"/>
            <a:ext cx="802505" cy="286223"/>
          </a:xfrm>
          <a:prstGeom prst="rect">
            <a:avLst/>
          </a:prstGeom>
        </p:spPr>
      </p:pic>
      <p:pic>
        <p:nvPicPr>
          <p:cNvPr id="53" name="Original source globe-disc symbol and mint circular base, source identity retained."/>
          <p:cNvPicPr/>
          <p:nvPr/>
        </p:nvPicPr>
        <p:blipFill>
          <a:blip r:embed="rId7"/>
          <a:stretch>
            <a:fillRect/>
          </a:stretch>
        </p:blipFill>
        <p:spPr>
          <a:xfrm>
            <a:off x="467545" y="1456885"/>
            <a:ext cx="754502" cy="747204"/>
          </a:xfrm>
          <a:prstGeom prst="rect">
            <a:avLst/>
          </a:prstGeom>
        </p:spPr>
      </p:pic>
      <p:pic>
        <p:nvPicPr>
          <p:cNvPr id="54" name="Original source pe-disc symbol and mint circular base, source identity retained."/>
          <p:cNvPicPr/>
          <p:nvPr/>
        </p:nvPicPr>
        <p:blipFill>
          <a:blip r:embed="rId8"/>
          <a:stretch>
            <a:fillRect/>
          </a:stretch>
        </p:blipFill>
        <p:spPr>
          <a:xfrm>
            <a:off x="4376239" y="1494132"/>
            <a:ext cx="697705" cy="689581"/>
          </a:xfrm>
          <a:prstGeom prst="rect">
            <a:avLst/>
          </a:prstGeom>
        </p:spPr>
      </p:pic>
      <p:pic>
        <p:nvPicPr>
          <p:cNvPr id="55" name="Original first world map, pale land/boundary strokes and distinct source dot distribution. Legend and caption removed from bitmap and rebuilt natively."/>
          <p:cNvPicPr/>
          <p:nvPr/>
        </p:nvPicPr>
        <p:blipFill>
          <a:blip r:embed="rId9"/>
          <a:stretch>
            <a:fillRect/>
          </a:stretch>
        </p:blipFill>
        <p:spPr>
          <a:xfrm>
            <a:off x="552742" y="2186402"/>
            <a:ext cx="3426846" cy="1460766"/>
          </a:xfrm>
          <a:prstGeom prst="rect">
            <a:avLst/>
          </a:prstGeom>
        </p:spPr>
      </p:pic>
      <p:pic>
        <p:nvPicPr>
          <p:cNvPr id="56" name="Original second world map, pale land/boundary strokes and distinct source dot distribution. Legend and caption removed from bitmap and rebuilt natively."/>
          <p:cNvPicPr/>
          <p:nvPr/>
        </p:nvPicPr>
        <p:blipFill>
          <a:blip r:embed="rId10"/>
          <a:stretch>
            <a:fillRect/>
          </a:stretch>
        </p:blipFill>
        <p:spPr>
          <a:xfrm>
            <a:off x="4522419" y="2186402"/>
            <a:ext cx="3222776" cy="1460766"/>
          </a:xfrm>
          <a:prstGeom prst="rect">
            <a:avLst/>
          </a:prstGeom>
        </p:spPr>
      </p:pic>
      <p:pic>
        <p:nvPicPr>
          <p:cNvPr id="57" name="Original luminous green globe, orbital leaves/seedlings and black metallic plastic mulch film roll composite; original globe orientation and roll direction preserved. Targeted placement matches source globe upper edge below the body copy."/>
          <p:cNvPicPr/>
          <p:nvPr/>
        </p:nvPicPr>
        <p:blipFill>
          <a:blip r:embed="rId12"/>
          <a:stretch>
            <a:fillRect/>
          </a:stretch>
        </p:blipFill>
        <p:spPr>
          <a:xfrm>
            <a:off x="7918293" y="1992542"/>
            <a:ext cx="4115700" cy="3024178"/>
          </a:xfrm>
          <a:prstGeom prst="rect">
            <a:avLst/>
          </a:prstGeom>
        </p:spPr>
      </p:pic>
      <p:pic>
        <p:nvPicPr>
          <p:cNvPr id="58" name="Original source region-globe symbol and mint circular base, source identity retained."/>
          <p:cNvPicPr/>
          <p:nvPr/>
        </p:nvPicPr>
        <p:blipFill>
          <a:blip r:embed="rId13"/>
          <a:stretch>
            <a:fillRect/>
          </a:stretch>
        </p:blipFill>
        <p:spPr>
          <a:xfrm>
            <a:off x="5987729" y="5028613"/>
            <a:ext cx="553654" cy="554537"/>
          </a:xfrm>
          <a:prstGeom prst="rect">
            <a:avLst/>
          </a:prstGeom>
        </p:spPr>
      </p:pic>
      <p:pic>
        <p:nvPicPr>
          <p:cNvPr id="59" name="Original source china symbol and mint circular base, source identity retained."/>
          <p:cNvPicPr/>
          <p:nvPr/>
        </p:nvPicPr>
        <p:blipFill>
          <a:blip r:embed="rId14"/>
          <a:stretch>
            <a:fillRect/>
          </a:stretch>
        </p:blipFill>
        <p:spPr>
          <a:xfrm>
            <a:off x="7110773" y="5029770"/>
            <a:ext cx="551389" cy="552223"/>
          </a:xfrm>
          <a:prstGeom prst="rect">
            <a:avLst/>
          </a:prstGeom>
        </p:spPr>
      </p:pic>
      <p:pic>
        <p:nvPicPr>
          <p:cNvPr id="60" name="Original source europe symbol and mint circular base, source identity retain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8231552" y="5028009"/>
            <a:ext cx="553654" cy="555746"/>
          </a:xfrm>
          <a:prstGeom prst="rect">
            <a:avLst/>
          </a:prstGeom>
        </p:spPr>
      </p:pic>
      <p:pic>
        <p:nvPicPr>
          <p:cNvPr id="61" name="Original source north-america symbol and mint circular base, source identity retain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9396215" y="5028162"/>
            <a:ext cx="552505" cy="555440"/>
          </a:xfrm>
          <a:prstGeom prst="rect">
            <a:avLst/>
          </a:prstGeom>
        </p:spPr>
      </p:pic>
      <p:pic>
        <p:nvPicPr>
          <p:cNvPr id="62" name="Original source mideast-africa symbol and mint circular base, source identity retain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10753002" y="5028009"/>
            <a:ext cx="555137" cy="555746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739353" y="253063"/>
            <a:ext cx="2269129" cy="4555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50" b="1" i="1">
                <a:solidFill>
                  <a:srgbClr val="FBECA8"/>
                </a:solidFill>
                <a:latin typeface="Microsoft YaHei"/>
                <a:ea typeface="Microsoft YaHei"/>
                <a:cs typeface="Microsoft YaHei"/>
              </a:rPr>
              <a:t>全球贸易概览</a:t>
            </a:r>
            <a:endParaRPr lang="zh-CN" sz="2850"/>
          </a:p>
        </p:txBody>
      </p:sp>
      <p:sp>
        <p:nvSpPr>
          <p:cNvPr id="64" name="TextBox 64"/>
          <p:cNvSpPr txBox="1"/>
          <p:nvPr/>
        </p:nvSpPr>
        <p:spPr>
          <a:xfrm>
            <a:off x="3717058" y="286804"/>
            <a:ext cx="2530627" cy="4133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50">
                <a:solidFill>
                  <a:srgbClr val="00584D"/>
                </a:solidFill>
                <a:latin typeface="KaiTi"/>
                <a:ea typeface="KaiTi"/>
                <a:cs typeface="KaiTi"/>
              </a:rPr>
              <a:t>（一）世界贸易特点</a:t>
            </a:r>
            <a:endParaRPr lang="zh-CN" sz="2150"/>
          </a:p>
        </p:txBody>
      </p:sp>
      <p:sp>
        <p:nvSpPr>
          <p:cNvPr id="65" name="TextBox 65"/>
          <p:cNvSpPr txBox="1"/>
          <p:nvPr/>
        </p:nvSpPr>
        <p:spPr>
          <a:xfrm>
            <a:off x="452549" y="894155"/>
            <a:ext cx="674834" cy="5483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900" b="1" i="1">
                <a:solidFill>
                  <a:srgbClr val="8F8723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3900"/>
          </a:p>
        </p:txBody>
      </p:sp>
      <p:sp>
        <p:nvSpPr>
          <p:cNvPr id="66" name="TextBox 66"/>
          <p:cNvSpPr txBox="1"/>
          <p:nvPr/>
        </p:nvSpPr>
        <p:spPr>
          <a:xfrm>
            <a:off x="4358150" y="894155"/>
            <a:ext cx="674834" cy="5483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900" b="1" i="1">
                <a:solidFill>
                  <a:srgbClr val="8F8723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3900"/>
          </a:p>
        </p:txBody>
      </p:sp>
      <p:sp>
        <p:nvSpPr>
          <p:cNvPr id="67" name="TextBox 67"/>
          <p:cNvSpPr txBox="1"/>
          <p:nvPr/>
        </p:nvSpPr>
        <p:spPr>
          <a:xfrm>
            <a:off x="8111914" y="894155"/>
            <a:ext cx="674834" cy="5483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900" b="1" i="1">
                <a:solidFill>
                  <a:srgbClr val="8F8723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3900"/>
          </a:p>
        </p:txBody>
      </p:sp>
      <p:sp>
        <p:nvSpPr>
          <p:cNvPr id="68" name="TextBox 68"/>
          <p:cNvSpPr txBox="1"/>
          <p:nvPr/>
        </p:nvSpPr>
        <p:spPr>
          <a:xfrm>
            <a:off x="452549" y="4572000"/>
            <a:ext cx="674834" cy="5483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900" b="1" i="1">
                <a:solidFill>
                  <a:srgbClr val="8F8723"/>
                </a:solidFill>
                <a:latin typeface="Liberation Serif"/>
                <a:ea typeface="Liberation Serif"/>
                <a:cs typeface="Liberation Serif"/>
              </a:rPr>
              <a:t>04</a:t>
            </a:r>
            <a:endParaRPr lang="zh-CN" sz="3900"/>
          </a:p>
        </p:txBody>
      </p:sp>
      <p:sp>
        <p:nvSpPr>
          <p:cNvPr id="69" name="TextBox 69"/>
          <p:cNvSpPr txBox="1"/>
          <p:nvPr/>
        </p:nvSpPr>
        <p:spPr>
          <a:xfrm>
            <a:off x="1304527" y="1029122"/>
            <a:ext cx="2269129" cy="3205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全球贸易规模持续</a:t>
            </a:r>
            <a:r>
              <a:rPr lang="zh-CN" sz="1550" b="1">
                <a:solidFill>
                  <a:srgbClr val="ECDD85"/>
                </a:solidFill>
                <a:latin typeface="SimSun"/>
                <a:ea typeface="SimSun"/>
                <a:cs typeface="SimSun"/>
              </a:rPr>
              <a:t>增长</a:t>
            </a:r>
            <a:endParaRPr lang="zh-CN" sz="1550"/>
          </a:p>
        </p:txBody>
      </p:sp>
      <p:sp>
        <p:nvSpPr>
          <p:cNvPr id="70" name="TextBox 70"/>
          <p:cNvSpPr txBox="1"/>
          <p:nvPr/>
        </p:nvSpPr>
        <p:spPr>
          <a:xfrm>
            <a:off x="5176386" y="1029122"/>
            <a:ext cx="2420967" cy="3205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传统 PE 地膜增长近乎</a:t>
            </a:r>
            <a:r>
              <a:rPr lang="zh-CN" sz="1500" b="1">
                <a:solidFill>
                  <a:srgbClr val="ECDD85"/>
                </a:solidFill>
                <a:latin typeface="SimSun"/>
                <a:ea typeface="SimSun"/>
                <a:cs typeface="SimSun"/>
              </a:rPr>
              <a:t>停滞</a:t>
            </a:r>
            <a:endParaRPr lang="zh-CN" sz="1500"/>
          </a:p>
        </p:txBody>
      </p:sp>
      <p:sp>
        <p:nvSpPr>
          <p:cNvPr id="71" name="TextBox 71"/>
          <p:cNvSpPr txBox="1"/>
          <p:nvPr/>
        </p:nvSpPr>
        <p:spPr>
          <a:xfrm>
            <a:off x="9014504" y="1029122"/>
            <a:ext cx="2589675" cy="3205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生物降解地膜爆发式</a:t>
            </a:r>
            <a:r>
              <a:rPr lang="zh-CN" sz="1550" b="1">
                <a:solidFill>
                  <a:srgbClr val="ECDD85"/>
                </a:solidFill>
                <a:latin typeface="SimSun"/>
                <a:ea typeface="SimSun"/>
                <a:cs typeface="SimSun"/>
              </a:rPr>
              <a:t>增长</a:t>
            </a:r>
            <a:endParaRPr lang="zh-CN" sz="1550"/>
          </a:p>
        </p:txBody>
      </p:sp>
      <p:sp>
        <p:nvSpPr>
          <p:cNvPr id="72" name="TextBox 72"/>
          <p:cNvSpPr txBox="1"/>
          <p:nvPr/>
        </p:nvSpPr>
        <p:spPr>
          <a:xfrm>
            <a:off x="1372010" y="4715402"/>
            <a:ext cx="4200841" cy="2952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4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贸易区域格局：亚太成为产销与进出口</a:t>
            </a:r>
            <a:r>
              <a:rPr lang="zh-CN" sz="1540" b="1">
                <a:solidFill>
                  <a:srgbClr val="ECDD85"/>
                </a:solidFill>
                <a:latin typeface="SimSun"/>
                <a:ea typeface="SimSun"/>
                <a:cs typeface="SimSun"/>
              </a:rPr>
              <a:t>核心</a:t>
            </a:r>
            <a:endParaRPr lang="zh-CN" sz="1540"/>
          </a:p>
        </p:txBody>
      </p:sp>
      <p:sp>
        <p:nvSpPr>
          <p:cNvPr id="73" name="TextBox 73"/>
          <p:cNvSpPr txBox="1"/>
          <p:nvPr/>
        </p:nvSpPr>
        <p:spPr>
          <a:xfrm>
            <a:off x="1329833" y="1484635"/>
            <a:ext cx="2749948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全球 PLA+PBAT 生物降解农用地膜</a:t>
            </a:r>
            <a:endParaRPr lang="zh-CN" sz="1170"/>
          </a:p>
        </p:txBody>
      </p:sp>
      <p:sp>
        <p:nvSpPr>
          <p:cNvPr id="74" name="TextBox 74"/>
          <p:cNvSpPr txBox="1"/>
          <p:nvPr/>
        </p:nvSpPr>
        <p:spPr>
          <a:xfrm>
            <a:off x="1329833" y="1712391"/>
            <a:ext cx="2758384" cy="2361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贸易呈现</a:t>
            </a:r>
            <a:r>
              <a:rPr lang="zh-CN" sz="1310" b="1">
                <a:solidFill>
                  <a:srgbClr val="F26905"/>
                </a:solidFill>
                <a:latin typeface="SimSun"/>
                <a:ea typeface="SimSun"/>
                <a:cs typeface="SimSun"/>
              </a:rPr>
              <a:t>显著增长</a:t>
            </a:r>
            <a:r>
              <a:rPr lang="zh-CN" sz="117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趋势，传统 PE 地膜</a:t>
            </a:r>
            <a:endParaRPr lang="zh-CN" sz="1170"/>
          </a:p>
        </p:txBody>
      </p:sp>
      <p:sp>
        <p:nvSpPr>
          <p:cNvPr id="75" name="TextBox 75"/>
          <p:cNvSpPr txBox="1"/>
          <p:nvPr/>
        </p:nvSpPr>
        <p:spPr>
          <a:xfrm>
            <a:off x="1329833" y="1957018"/>
            <a:ext cx="2758384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市场逐步萎缩，生物降解农膜快速增长。</a:t>
            </a:r>
            <a:endParaRPr lang="zh-CN" sz="1170"/>
          </a:p>
        </p:txBody>
      </p:sp>
      <p:sp>
        <p:nvSpPr>
          <p:cNvPr id="76" name="TextBox 76"/>
          <p:cNvSpPr txBox="1"/>
          <p:nvPr/>
        </p:nvSpPr>
        <p:spPr>
          <a:xfrm>
            <a:off x="5142645" y="1518376"/>
            <a:ext cx="2741513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2019—2022 年保持低速增长，</a:t>
            </a:r>
            <a:endParaRPr lang="zh-CN" sz="1100"/>
          </a:p>
        </p:txBody>
      </p:sp>
      <p:sp>
        <p:nvSpPr>
          <p:cNvPr id="77" name="TextBox 77"/>
          <p:cNvSpPr txBox="1"/>
          <p:nvPr/>
        </p:nvSpPr>
        <p:spPr>
          <a:xfrm>
            <a:off x="5142645" y="1746133"/>
            <a:ext cx="2741513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2023 年后受多国政策影响，需求持续抑制，</a:t>
            </a:r>
            <a:endParaRPr lang="zh-CN" sz="1100"/>
          </a:p>
        </p:txBody>
      </p:sp>
      <p:sp>
        <p:nvSpPr>
          <p:cNvPr id="78" name="TextBox 78"/>
          <p:cNvSpPr txBox="1"/>
          <p:nvPr/>
        </p:nvSpPr>
        <p:spPr>
          <a:xfrm>
            <a:off x="5142645" y="1965454"/>
            <a:ext cx="1518376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2025 年同比仅小幅增长</a:t>
            </a:r>
            <a:endParaRPr lang="zh-CN" sz="1100"/>
          </a:p>
        </p:txBody>
      </p:sp>
      <p:sp>
        <p:nvSpPr>
          <p:cNvPr id="79" name="TextBox 79"/>
          <p:cNvSpPr txBox="1"/>
          <p:nvPr/>
        </p:nvSpPr>
        <p:spPr>
          <a:xfrm>
            <a:off x="6677892" y="1897970"/>
            <a:ext cx="565173" cy="3121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20" b="1">
                <a:solidFill>
                  <a:srgbClr val="F26905"/>
                </a:solidFill>
                <a:latin typeface="Microsoft YaHei"/>
                <a:ea typeface="Microsoft YaHei"/>
                <a:cs typeface="Microsoft YaHei"/>
              </a:rPr>
              <a:t>1.2%</a:t>
            </a:r>
            <a:endParaRPr lang="zh-CN" sz="1920"/>
          </a:p>
        </p:txBody>
      </p:sp>
      <p:sp>
        <p:nvSpPr>
          <p:cNvPr id="80" name="TextBox 80"/>
          <p:cNvSpPr txBox="1"/>
          <p:nvPr/>
        </p:nvSpPr>
        <p:spPr>
          <a:xfrm>
            <a:off x="7251501" y="1965454"/>
            <a:ext cx="168708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。</a:t>
            </a:r>
            <a:endParaRPr lang="zh-CN" sz="1170"/>
          </a:p>
        </p:txBody>
      </p:sp>
      <p:sp>
        <p:nvSpPr>
          <p:cNvPr id="81" name="TextBox 81"/>
          <p:cNvSpPr txBox="1"/>
          <p:nvPr/>
        </p:nvSpPr>
        <p:spPr>
          <a:xfrm>
            <a:off x="8255316" y="1518376"/>
            <a:ext cx="3331993" cy="2446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2020—2025 年全球全生物降解农用地膜</a:t>
            </a:r>
            <a:endParaRPr lang="zh-CN" sz="1200"/>
          </a:p>
        </p:txBody>
      </p:sp>
      <p:sp>
        <p:nvSpPr>
          <p:cNvPr id="82" name="TextBox 82"/>
          <p:cNvSpPr txBox="1"/>
          <p:nvPr/>
        </p:nvSpPr>
        <p:spPr>
          <a:xfrm>
            <a:off x="8255316" y="1822052"/>
            <a:ext cx="1729262" cy="2446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国际贸易年均复合增速达</a:t>
            </a:r>
            <a:endParaRPr lang="zh-CN" sz="1200"/>
          </a:p>
        </p:txBody>
      </p:sp>
      <p:sp>
        <p:nvSpPr>
          <p:cNvPr id="83" name="TextBox 83"/>
          <p:cNvSpPr txBox="1"/>
          <p:nvPr/>
        </p:nvSpPr>
        <p:spPr>
          <a:xfrm>
            <a:off x="9984578" y="1712391"/>
            <a:ext cx="843542" cy="379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00" b="1">
                <a:solidFill>
                  <a:srgbClr val="F26905"/>
                </a:solidFill>
                <a:latin typeface="Microsoft YaHei"/>
                <a:ea typeface="Microsoft YaHei"/>
                <a:cs typeface="Microsoft YaHei"/>
              </a:rPr>
              <a:t>27.4%</a:t>
            </a:r>
            <a:endParaRPr lang="zh-CN" sz="2300"/>
          </a:p>
        </p:txBody>
      </p:sp>
      <p:sp>
        <p:nvSpPr>
          <p:cNvPr id="84" name="TextBox 84"/>
          <p:cNvSpPr txBox="1"/>
          <p:nvPr/>
        </p:nvSpPr>
        <p:spPr>
          <a:xfrm>
            <a:off x="10912475" y="1838923"/>
            <a:ext cx="151838" cy="2361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，</a:t>
            </a:r>
            <a:endParaRPr lang="zh-CN" sz="1200"/>
          </a:p>
        </p:txBody>
      </p:sp>
      <p:sp>
        <p:nvSpPr>
          <p:cNvPr id="85" name="TextBox 85"/>
          <p:cNvSpPr txBox="1"/>
          <p:nvPr/>
        </p:nvSpPr>
        <p:spPr>
          <a:xfrm>
            <a:off x="8255316" y="2108856"/>
            <a:ext cx="1830487" cy="2446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增长速度为传统 PE 地膜的</a:t>
            </a:r>
            <a:endParaRPr lang="zh-CN" sz="1200"/>
          </a:p>
        </p:txBody>
      </p:sp>
      <p:sp>
        <p:nvSpPr>
          <p:cNvPr id="86" name="TextBox 86"/>
          <p:cNvSpPr txBox="1"/>
          <p:nvPr/>
        </p:nvSpPr>
        <p:spPr>
          <a:xfrm>
            <a:off x="10144851" y="1999196"/>
            <a:ext cx="396465" cy="379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00" b="1">
                <a:solidFill>
                  <a:srgbClr val="F26905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lang="zh-CN" sz="2300"/>
          </a:p>
        </p:txBody>
      </p:sp>
      <p:sp>
        <p:nvSpPr>
          <p:cNvPr id="87" name="TextBox 87"/>
          <p:cNvSpPr txBox="1"/>
          <p:nvPr/>
        </p:nvSpPr>
        <p:spPr>
          <a:xfrm>
            <a:off x="10541316" y="1999196"/>
            <a:ext cx="320546" cy="379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>
                <a:solidFill>
                  <a:srgbClr val="F26905"/>
                </a:solidFill>
                <a:latin typeface="Microsoft YaHei"/>
                <a:ea typeface="Microsoft YaHei"/>
                <a:cs typeface="Microsoft YaHei"/>
              </a:rPr>
              <a:t>倍</a:t>
            </a:r>
            <a:endParaRPr lang="zh-CN" sz="2100"/>
          </a:p>
        </p:txBody>
      </p:sp>
      <p:sp>
        <p:nvSpPr>
          <p:cNvPr id="88" name="TextBox 88"/>
          <p:cNvSpPr txBox="1"/>
          <p:nvPr/>
        </p:nvSpPr>
        <p:spPr>
          <a:xfrm>
            <a:off x="10887169" y="2134162"/>
            <a:ext cx="151838" cy="2361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，</a:t>
            </a:r>
            <a:endParaRPr lang="zh-CN" sz="1200"/>
          </a:p>
        </p:txBody>
      </p:sp>
      <p:sp>
        <p:nvSpPr>
          <p:cNvPr id="89" name="TextBox 89"/>
          <p:cNvSpPr txBox="1"/>
          <p:nvPr/>
        </p:nvSpPr>
        <p:spPr>
          <a:xfrm>
            <a:off x="8255316" y="2412531"/>
            <a:ext cx="1982325" cy="2446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绿色替代趋势明确。</a:t>
            </a:r>
            <a:endParaRPr lang="zh-CN" sz="1200"/>
          </a:p>
        </p:txBody>
      </p:sp>
      <p:sp>
        <p:nvSpPr>
          <p:cNvPr id="90" name="TextBox 90"/>
          <p:cNvSpPr txBox="1"/>
          <p:nvPr/>
        </p:nvSpPr>
        <p:spPr>
          <a:xfrm>
            <a:off x="545338" y="3585055"/>
            <a:ext cx="1265314" cy="185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出口额（千美元）</a:t>
            </a:r>
            <a:endParaRPr lang="zh-CN" sz="760"/>
          </a:p>
        </p:txBody>
      </p:sp>
      <p:sp>
        <p:nvSpPr>
          <p:cNvPr id="91" name="TextBox 91"/>
          <p:cNvSpPr txBox="1"/>
          <p:nvPr/>
        </p:nvSpPr>
        <p:spPr>
          <a:xfrm>
            <a:off x="520032" y="390560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52</a:t>
            </a:r>
            <a:endParaRPr lang="zh-CN" sz="620"/>
          </a:p>
        </p:txBody>
      </p:sp>
      <p:sp>
        <p:nvSpPr>
          <p:cNvPr id="92" name="TextBox 92"/>
          <p:cNvSpPr txBox="1"/>
          <p:nvPr/>
        </p:nvSpPr>
        <p:spPr>
          <a:xfrm>
            <a:off x="849014" y="390560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130</a:t>
            </a:r>
            <a:endParaRPr lang="zh-CN" sz="620"/>
          </a:p>
        </p:txBody>
      </p:sp>
      <p:sp>
        <p:nvSpPr>
          <p:cNvPr id="93" name="TextBox 93"/>
          <p:cNvSpPr txBox="1"/>
          <p:nvPr/>
        </p:nvSpPr>
        <p:spPr>
          <a:xfrm>
            <a:off x="1177995" y="390560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260</a:t>
            </a:r>
            <a:endParaRPr lang="zh-CN" sz="620"/>
          </a:p>
        </p:txBody>
      </p:sp>
      <p:sp>
        <p:nvSpPr>
          <p:cNvPr id="94" name="TextBox 94"/>
          <p:cNvSpPr txBox="1"/>
          <p:nvPr/>
        </p:nvSpPr>
        <p:spPr>
          <a:xfrm>
            <a:off x="1506977" y="390560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520</a:t>
            </a:r>
            <a:endParaRPr lang="zh-CN" sz="620"/>
          </a:p>
        </p:txBody>
      </p:sp>
      <p:sp>
        <p:nvSpPr>
          <p:cNvPr id="95" name="TextBox 95"/>
          <p:cNvSpPr txBox="1"/>
          <p:nvPr/>
        </p:nvSpPr>
        <p:spPr>
          <a:xfrm>
            <a:off x="1835958" y="390560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1,300</a:t>
            </a:r>
            <a:endParaRPr lang="zh-CN" sz="620"/>
          </a:p>
        </p:txBody>
      </p:sp>
      <p:sp>
        <p:nvSpPr>
          <p:cNvPr id="96" name="TextBox 96"/>
          <p:cNvSpPr txBox="1"/>
          <p:nvPr/>
        </p:nvSpPr>
        <p:spPr>
          <a:xfrm>
            <a:off x="2164940" y="390560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2,600</a:t>
            </a:r>
            <a:endParaRPr lang="zh-CN" sz="620"/>
          </a:p>
        </p:txBody>
      </p:sp>
      <p:sp>
        <p:nvSpPr>
          <p:cNvPr id="97" name="TextBox 97"/>
          <p:cNvSpPr txBox="1"/>
          <p:nvPr/>
        </p:nvSpPr>
        <p:spPr>
          <a:xfrm>
            <a:off x="2671065" y="3905601"/>
            <a:ext cx="354288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n/a</a:t>
            </a:r>
            <a:endParaRPr lang="zh-CN" sz="620"/>
          </a:p>
        </p:txBody>
      </p:sp>
      <p:sp>
        <p:nvSpPr>
          <p:cNvPr id="98" name="TextBox 98"/>
          <p:cNvSpPr txBox="1"/>
          <p:nvPr/>
        </p:nvSpPr>
        <p:spPr>
          <a:xfrm>
            <a:off x="4670261" y="3568185"/>
            <a:ext cx="1265314" cy="185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出口额（千美元）</a:t>
            </a:r>
            <a:endParaRPr lang="zh-CN" sz="760"/>
          </a:p>
        </p:txBody>
      </p:sp>
      <p:sp>
        <p:nvSpPr>
          <p:cNvPr id="99" name="TextBox 99"/>
          <p:cNvSpPr txBox="1"/>
          <p:nvPr/>
        </p:nvSpPr>
        <p:spPr>
          <a:xfrm>
            <a:off x="4644955" y="388873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70</a:t>
            </a:r>
            <a:endParaRPr lang="zh-CN" sz="620"/>
          </a:p>
        </p:txBody>
      </p:sp>
      <p:sp>
        <p:nvSpPr>
          <p:cNvPr id="100" name="TextBox 100"/>
          <p:cNvSpPr txBox="1"/>
          <p:nvPr/>
        </p:nvSpPr>
        <p:spPr>
          <a:xfrm>
            <a:off x="4973936" y="388873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180</a:t>
            </a:r>
            <a:endParaRPr lang="zh-CN" sz="620"/>
          </a:p>
        </p:txBody>
      </p:sp>
      <p:sp>
        <p:nvSpPr>
          <p:cNvPr id="101" name="TextBox 101"/>
          <p:cNvSpPr txBox="1"/>
          <p:nvPr/>
        </p:nvSpPr>
        <p:spPr>
          <a:xfrm>
            <a:off x="5302918" y="388873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350</a:t>
            </a:r>
            <a:endParaRPr lang="zh-CN" sz="620"/>
          </a:p>
        </p:txBody>
      </p:sp>
      <p:sp>
        <p:nvSpPr>
          <p:cNvPr id="102" name="TextBox 102"/>
          <p:cNvSpPr txBox="1"/>
          <p:nvPr/>
        </p:nvSpPr>
        <p:spPr>
          <a:xfrm>
            <a:off x="5631899" y="388873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700</a:t>
            </a:r>
            <a:endParaRPr lang="zh-CN" sz="620"/>
          </a:p>
        </p:txBody>
      </p:sp>
      <p:sp>
        <p:nvSpPr>
          <p:cNvPr id="103" name="TextBox 103"/>
          <p:cNvSpPr txBox="1"/>
          <p:nvPr/>
        </p:nvSpPr>
        <p:spPr>
          <a:xfrm>
            <a:off x="5960881" y="388873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1,800</a:t>
            </a:r>
            <a:endParaRPr lang="zh-CN" sz="620"/>
          </a:p>
        </p:txBody>
      </p:sp>
      <p:sp>
        <p:nvSpPr>
          <p:cNvPr id="104" name="TextBox 104"/>
          <p:cNvSpPr txBox="1"/>
          <p:nvPr/>
        </p:nvSpPr>
        <p:spPr>
          <a:xfrm>
            <a:off x="6289862" y="3888731"/>
            <a:ext cx="379594" cy="1265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>
                <a:solidFill>
                  <a:srgbClr val="444C4A"/>
                </a:solidFill>
                <a:latin typeface="Microsoft YaHei"/>
                <a:ea typeface="Microsoft YaHei"/>
                <a:cs typeface="Microsoft YaHei"/>
              </a:rPr>
              <a:t>3,500</a:t>
            </a:r>
            <a:endParaRPr lang="zh-CN" sz="620"/>
          </a:p>
        </p:txBody>
      </p:sp>
      <p:sp>
        <p:nvSpPr>
          <p:cNvPr id="105" name="TextBox 105"/>
          <p:cNvSpPr txBox="1"/>
          <p:nvPr/>
        </p:nvSpPr>
        <p:spPr>
          <a:xfrm>
            <a:off x="874320" y="4141793"/>
            <a:ext cx="3213897" cy="2614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2025年生物降解农膜出口概况（单位：千美元）</a:t>
            </a:r>
            <a:endParaRPr lang="zh-CN" sz="1060"/>
          </a:p>
        </p:txBody>
      </p:sp>
      <p:sp>
        <p:nvSpPr>
          <p:cNvPr id="106" name="TextBox 106"/>
          <p:cNvSpPr txBox="1"/>
          <p:nvPr/>
        </p:nvSpPr>
        <p:spPr>
          <a:xfrm>
            <a:off x="4881146" y="4141793"/>
            <a:ext cx="2935528" cy="2614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2025年 PE 农膜出口概况（单位：千美元）</a:t>
            </a:r>
            <a:endParaRPr lang="zh-CN" sz="1060"/>
          </a:p>
        </p:txBody>
      </p:sp>
      <p:sp>
        <p:nvSpPr>
          <p:cNvPr id="107" name="TextBox 107"/>
          <p:cNvSpPr txBox="1"/>
          <p:nvPr/>
        </p:nvSpPr>
        <p:spPr>
          <a:xfrm>
            <a:off x="570645" y="6048199"/>
            <a:ext cx="227756" cy="1687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0</a:t>
            </a:r>
            <a:endParaRPr lang="zh-CN" sz="810"/>
          </a:p>
        </p:txBody>
      </p:sp>
      <p:sp>
        <p:nvSpPr>
          <p:cNvPr id="108" name="TextBox 108"/>
          <p:cNvSpPr txBox="1"/>
          <p:nvPr/>
        </p:nvSpPr>
        <p:spPr>
          <a:xfrm>
            <a:off x="570645" y="5812007"/>
            <a:ext cx="227756" cy="1687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100</a:t>
            </a:r>
            <a:endParaRPr lang="zh-CN" sz="810"/>
          </a:p>
        </p:txBody>
      </p:sp>
      <p:sp>
        <p:nvSpPr>
          <p:cNvPr id="109" name="TextBox 109"/>
          <p:cNvSpPr txBox="1"/>
          <p:nvPr/>
        </p:nvSpPr>
        <p:spPr>
          <a:xfrm>
            <a:off x="570645" y="5584251"/>
            <a:ext cx="227756" cy="1687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200</a:t>
            </a:r>
            <a:endParaRPr lang="zh-CN" sz="810"/>
          </a:p>
        </p:txBody>
      </p:sp>
      <p:sp>
        <p:nvSpPr>
          <p:cNvPr id="110" name="TextBox 110"/>
          <p:cNvSpPr txBox="1"/>
          <p:nvPr/>
        </p:nvSpPr>
        <p:spPr>
          <a:xfrm>
            <a:off x="570645" y="5356494"/>
            <a:ext cx="227756" cy="1687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300</a:t>
            </a:r>
            <a:endParaRPr lang="zh-CN" sz="810"/>
          </a:p>
        </p:txBody>
      </p:sp>
      <p:sp>
        <p:nvSpPr>
          <p:cNvPr id="111" name="TextBox 111"/>
          <p:cNvSpPr txBox="1"/>
          <p:nvPr/>
        </p:nvSpPr>
        <p:spPr>
          <a:xfrm>
            <a:off x="1928748" y="5179351"/>
            <a:ext cx="750753" cy="185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产量（万吨）</a:t>
            </a:r>
            <a:endParaRPr lang="zh-CN" sz="760"/>
          </a:p>
        </p:txBody>
      </p:sp>
      <p:sp>
        <p:nvSpPr>
          <p:cNvPr id="112" name="TextBox 112"/>
          <p:cNvSpPr txBox="1"/>
          <p:nvPr/>
        </p:nvSpPr>
        <p:spPr>
          <a:xfrm>
            <a:off x="2873515" y="5179351"/>
            <a:ext cx="851978" cy="185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消费量（万吨）</a:t>
            </a:r>
            <a:endParaRPr lang="zh-CN" sz="760"/>
          </a:p>
        </p:txBody>
      </p:sp>
      <p:sp>
        <p:nvSpPr>
          <p:cNvPr id="113" name="TextBox 113"/>
          <p:cNvSpPr txBox="1"/>
          <p:nvPr/>
        </p:nvSpPr>
        <p:spPr>
          <a:xfrm>
            <a:off x="4012298" y="5179351"/>
            <a:ext cx="1172524" cy="1855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6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线性（产量（万吨））</a:t>
            </a:r>
            <a:endParaRPr lang="zh-CN" sz="760"/>
          </a:p>
        </p:txBody>
      </p:sp>
      <p:sp>
        <p:nvSpPr>
          <p:cNvPr id="114" name="TextBox 114"/>
          <p:cNvSpPr txBox="1"/>
          <p:nvPr/>
        </p:nvSpPr>
        <p:spPr>
          <a:xfrm>
            <a:off x="1186431" y="5279114"/>
            <a:ext cx="354288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286</a:t>
            </a:r>
            <a:endParaRPr lang="zh-CN" sz="900"/>
          </a:p>
        </p:txBody>
      </p:sp>
      <p:sp>
        <p:nvSpPr>
          <p:cNvPr id="115" name="TextBox 115"/>
          <p:cNvSpPr txBox="1"/>
          <p:nvPr/>
        </p:nvSpPr>
        <p:spPr>
          <a:xfrm>
            <a:off x="1591331" y="5449734"/>
            <a:ext cx="354288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212</a:t>
            </a:r>
            <a:endParaRPr lang="zh-CN" sz="900"/>
          </a:p>
        </p:txBody>
      </p:sp>
      <p:sp>
        <p:nvSpPr>
          <p:cNvPr id="116" name="TextBox 116"/>
          <p:cNvSpPr txBox="1"/>
          <p:nvPr/>
        </p:nvSpPr>
        <p:spPr>
          <a:xfrm>
            <a:off x="1270785" y="6157860"/>
            <a:ext cx="573609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亚太</a:t>
            </a:r>
            <a:endParaRPr lang="zh-CN" sz="900"/>
          </a:p>
        </p:txBody>
      </p:sp>
      <p:sp>
        <p:nvSpPr>
          <p:cNvPr id="117" name="TextBox 117"/>
          <p:cNvSpPr txBox="1"/>
          <p:nvPr/>
        </p:nvSpPr>
        <p:spPr>
          <a:xfrm>
            <a:off x="2687936" y="5809421"/>
            <a:ext cx="354288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56</a:t>
            </a:r>
            <a:endParaRPr lang="zh-CN" sz="900"/>
          </a:p>
        </p:txBody>
      </p:sp>
      <p:sp>
        <p:nvSpPr>
          <p:cNvPr id="118" name="TextBox 118"/>
          <p:cNvSpPr txBox="1"/>
          <p:nvPr/>
        </p:nvSpPr>
        <p:spPr>
          <a:xfrm>
            <a:off x="3092837" y="5712582"/>
            <a:ext cx="354288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98</a:t>
            </a:r>
            <a:endParaRPr lang="zh-CN" sz="900"/>
          </a:p>
        </p:txBody>
      </p:sp>
      <p:sp>
        <p:nvSpPr>
          <p:cNvPr id="119" name="TextBox 119"/>
          <p:cNvSpPr txBox="1"/>
          <p:nvPr/>
        </p:nvSpPr>
        <p:spPr>
          <a:xfrm>
            <a:off x="2772290" y="6157860"/>
            <a:ext cx="573609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欧洲</a:t>
            </a:r>
            <a:endParaRPr lang="zh-CN" sz="900"/>
          </a:p>
        </p:txBody>
      </p:sp>
      <p:sp>
        <p:nvSpPr>
          <p:cNvPr id="120" name="TextBox 120"/>
          <p:cNvSpPr txBox="1"/>
          <p:nvPr/>
        </p:nvSpPr>
        <p:spPr>
          <a:xfrm>
            <a:off x="4189442" y="5887814"/>
            <a:ext cx="354288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22</a:t>
            </a:r>
            <a:endParaRPr lang="zh-CN" sz="900"/>
          </a:p>
        </p:txBody>
      </p:sp>
      <p:sp>
        <p:nvSpPr>
          <p:cNvPr id="121" name="TextBox 121"/>
          <p:cNvSpPr txBox="1"/>
          <p:nvPr/>
        </p:nvSpPr>
        <p:spPr>
          <a:xfrm>
            <a:off x="4594342" y="5795586"/>
            <a:ext cx="354288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62</a:t>
            </a:r>
            <a:endParaRPr lang="zh-CN" sz="900"/>
          </a:p>
        </p:txBody>
      </p:sp>
      <p:sp>
        <p:nvSpPr>
          <p:cNvPr id="122" name="TextBox 122"/>
          <p:cNvSpPr txBox="1"/>
          <p:nvPr/>
        </p:nvSpPr>
        <p:spPr>
          <a:xfrm>
            <a:off x="4273796" y="6157860"/>
            <a:ext cx="573609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北美</a:t>
            </a:r>
            <a:endParaRPr lang="zh-CN" sz="900"/>
          </a:p>
        </p:txBody>
      </p:sp>
      <p:sp>
        <p:nvSpPr>
          <p:cNvPr id="123" name="TextBox 123"/>
          <p:cNvSpPr txBox="1"/>
          <p:nvPr/>
        </p:nvSpPr>
        <p:spPr>
          <a:xfrm>
            <a:off x="1760039" y="6360310"/>
            <a:ext cx="3812812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2025 年全球生物降解塑料主要区域产消对比图</a:t>
            </a:r>
            <a:endParaRPr lang="zh-CN" sz="1000"/>
          </a:p>
        </p:txBody>
      </p:sp>
      <p:sp>
        <p:nvSpPr>
          <p:cNvPr id="124" name="TextBox 124"/>
          <p:cNvSpPr txBox="1"/>
          <p:nvPr/>
        </p:nvSpPr>
        <p:spPr>
          <a:xfrm>
            <a:off x="5800608" y="5558945"/>
            <a:ext cx="944768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9" b="1">
                <a:solidFill>
                  <a:srgbClr val="102127"/>
                </a:solidFill>
                <a:latin typeface="Microsoft YaHei"/>
                <a:ea typeface="Microsoft YaHei"/>
                <a:cs typeface="Microsoft YaHei"/>
              </a:rPr>
              <a:t>亚太地区</a:t>
            </a:r>
            <a:endParaRPr lang="zh-CN" sz="1019"/>
          </a:p>
        </p:txBody>
      </p:sp>
      <p:sp>
        <p:nvSpPr>
          <p:cNvPr id="125" name="TextBox 125"/>
          <p:cNvSpPr txBox="1"/>
          <p:nvPr/>
        </p:nvSpPr>
        <p:spPr>
          <a:xfrm>
            <a:off x="6947825" y="5558945"/>
            <a:ext cx="902590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9" b="1">
                <a:solidFill>
                  <a:srgbClr val="102127"/>
                </a:solidFill>
                <a:latin typeface="Microsoft YaHei"/>
                <a:ea typeface="Microsoft YaHei"/>
                <a:cs typeface="Microsoft YaHei"/>
              </a:rPr>
              <a:t>中国产能</a:t>
            </a:r>
            <a:endParaRPr lang="zh-CN" sz="1019"/>
          </a:p>
        </p:txBody>
      </p:sp>
      <p:sp>
        <p:nvSpPr>
          <p:cNvPr id="126" name="TextBox 126"/>
          <p:cNvSpPr txBox="1"/>
          <p:nvPr/>
        </p:nvSpPr>
        <p:spPr>
          <a:xfrm>
            <a:off x="8095043" y="5558945"/>
            <a:ext cx="860413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9" b="1">
                <a:solidFill>
                  <a:srgbClr val="102127"/>
                </a:solidFill>
                <a:latin typeface="Microsoft YaHei"/>
                <a:ea typeface="Microsoft YaHei"/>
                <a:cs typeface="Microsoft YaHei"/>
              </a:rPr>
              <a:t>欧洲市场</a:t>
            </a:r>
            <a:endParaRPr lang="zh-CN" sz="1019"/>
          </a:p>
        </p:txBody>
      </p:sp>
      <p:sp>
        <p:nvSpPr>
          <p:cNvPr id="127" name="TextBox 127"/>
          <p:cNvSpPr txBox="1"/>
          <p:nvPr/>
        </p:nvSpPr>
        <p:spPr>
          <a:xfrm>
            <a:off x="9242261" y="5558945"/>
            <a:ext cx="919461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9" b="1">
                <a:solidFill>
                  <a:srgbClr val="102127"/>
                </a:solidFill>
                <a:latin typeface="Microsoft YaHei"/>
                <a:ea typeface="Microsoft YaHei"/>
                <a:cs typeface="Microsoft YaHei"/>
              </a:rPr>
              <a:t>北美市场</a:t>
            </a:r>
            <a:endParaRPr lang="zh-CN" sz="1019"/>
          </a:p>
        </p:txBody>
      </p:sp>
      <p:sp>
        <p:nvSpPr>
          <p:cNvPr id="128" name="TextBox 128"/>
          <p:cNvSpPr txBox="1"/>
          <p:nvPr/>
        </p:nvSpPr>
        <p:spPr>
          <a:xfrm>
            <a:off x="10440091" y="5558945"/>
            <a:ext cx="1172524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9" b="1">
                <a:solidFill>
                  <a:srgbClr val="102127"/>
                </a:solidFill>
                <a:latin typeface="Microsoft YaHei"/>
                <a:ea typeface="Microsoft YaHei"/>
                <a:cs typeface="Microsoft YaHei"/>
              </a:rPr>
              <a:t>中东和非洲</a:t>
            </a:r>
            <a:endParaRPr lang="zh-CN" sz="1019"/>
          </a:p>
        </p:txBody>
      </p:sp>
      <p:sp>
        <p:nvSpPr>
          <p:cNvPr id="129" name="TextBox 129"/>
          <p:cNvSpPr txBox="1"/>
          <p:nvPr/>
        </p:nvSpPr>
        <p:spPr>
          <a:xfrm>
            <a:off x="5766866" y="5769830"/>
            <a:ext cx="986945" cy="20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贡献全球 </a:t>
            </a:r>
            <a:r>
              <a:rPr lang="zh-CN" sz="1120" b="1">
                <a:solidFill>
                  <a:srgbClr val="F26905"/>
                </a:solidFill>
                <a:latin typeface="SimSun"/>
                <a:ea typeface="SimSun"/>
                <a:cs typeface="SimSun"/>
              </a:rPr>
              <a:t>58%</a:t>
            </a:r>
            <a:endParaRPr lang="zh-CN" sz="980"/>
          </a:p>
        </p:txBody>
      </p:sp>
      <p:sp>
        <p:nvSpPr>
          <p:cNvPr id="130" name="TextBox 130"/>
          <p:cNvSpPr txBox="1"/>
          <p:nvPr/>
        </p:nvSpPr>
        <p:spPr>
          <a:xfrm>
            <a:off x="5766866" y="5955410"/>
            <a:ext cx="986945" cy="20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的产量与 </a:t>
            </a:r>
            <a:r>
              <a:rPr lang="zh-CN" sz="1120" b="1">
                <a:solidFill>
                  <a:srgbClr val="F26905"/>
                </a:solidFill>
                <a:latin typeface="SimSun"/>
                <a:ea typeface="SimSun"/>
                <a:cs typeface="SimSun"/>
              </a:rPr>
              <a:t>52%</a:t>
            </a:r>
            <a:endParaRPr lang="zh-CN" sz="980"/>
          </a:p>
        </p:txBody>
      </p:sp>
      <p:sp>
        <p:nvSpPr>
          <p:cNvPr id="131" name="TextBox 131"/>
          <p:cNvSpPr txBox="1"/>
          <p:nvPr/>
        </p:nvSpPr>
        <p:spPr>
          <a:xfrm>
            <a:off x="5809043" y="6149424"/>
            <a:ext cx="902590" cy="20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的消费量</a:t>
            </a:r>
            <a:endParaRPr lang="zh-CN" sz="980"/>
          </a:p>
        </p:txBody>
      </p:sp>
      <p:sp>
        <p:nvSpPr>
          <p:cNvPr id="132" name="TextBox 132"/>
          <p:cNvSpPr txBox="1"/>
          <p:nvPr/>
        </p:nvSpPr>
        <p:spPr>
          <a:xfrm>
            <a:off x="6990003" y="5786701"/>
            <a:ext cx="809801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F26905"/>
                </a:solidFill>
                <a:latin typeface="Microsoft YaHei"/>
                <a:ea typeface="Microsoft YaHei"/>
                <a:cs typeface="Microsoft YaHei"/>
              </a:rPr>
              <a:t>286 万吨</a:t>
            </a:r>
            <a:endParaRPr lang="zh-CN" sz="1180"/>
          </a:p>
        </p:txBody>
      </p:sp>
      <p:sp>
        <p:nvSpPr>
          <p:cNvPr id="133" name="TextBox 133"/>
          <p:cNvSpPr txBox="1"/>
          <p:nvPr/>
        </p:nvSpPr>
        <p:spPr>
          <a:xfrm>
            <a:off x="6914084" y="5997587"/>
            <a:ext cx="978509" cy="20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占全球 </a:t>
            </a:r>
            <a:r>
              <a:rPr lang="zh-CN" sz="1080" b="1">
                <a:solidFill>
                  <a:srgbClr val="F26905"/>
                </a:solidFill>
                <a:latin typeface="SimSun"/>
                <a:ea typeface="SimSun"/>
                <a:cs typeface="SimSun"/>
              </a:rPr>
              <a:t>69.8%</a:t>
            </a:r>
            <a:endParaRPr lang="zh-CN" sz="980"/>
          </a:p>
        </p:txBody>
      </p:sp>
      <p:sp>
        <p:nvSpPr>
          <p:cNvPr id="134" name="TextBox 134"/>
          <p:cNvSpPr txBox="1"/>
          <p:nvPr/>
        </p:nvSpPr>
        <p:spPr>
          <a:xfrm>
            <a:off x="6981567" y="6183166"/>
            <a:ext cx="835107" cy="20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稳居第一</a:t>
            </a:r>
            <a:endParaRPr lang="zh-CN" sz="980"/>
          </a:p>
        </p:txBody>
      </p:sp>
      <p:sp>
        <p:nvSpPr>
          <p:cNvPr id="135" name="TextBox 135"/>
          <p:cNvSpPr txBox="1"/>
          <p:nvPr/>
        </p:nvSpPr>
        <p:spPr>
          <a:xfrm>
            <a:off x="8027560" y="5769830"/>
            <a:ext cx="1003815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消费量 </a:t>
            </a:r>
            <a:r>
              <a:rPr lang="zh-CN" sz="1060" b="1">
                <a:solidFill>
                  <a:srgbClr val="F26905"/>
                </a:solidFill>
                <a:latin typeface="SimSun"/>
                <a:ea typeface="SimSun"/>
                <a:cs typeface="SimSun"/>
              </a:rPr>
              <a:t>98 万吨</a:t>
            </a:r>
            <a:endParaRPr lang="zh-CN" sz="980"/>
          </a:p>
        </p:txBody>
      </p:sp>
      <p:sp>
        <p:nvSpPr>
          <p:cNvPr id="136" name="TextBox 136"/>
          <p:cNvSpPr txBox="1"/>
          <p:nvPr/>
        </p:nvSpPr>
        <p:spPr>
          <a:xfrm>
            <a:off x="8061301" y="5972280"/>
            <a:ext cx="944768" cy="2108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进口依赖度</a:t>
            </a:r>
            <a:endParaRPr lang="zh-CN" sz="980"/>
          </a:p>
        </p:txBody>
      </p:sp>
      <p:sp>
        <p:nvSpPr>
          <p:cNvPr id="137" name="TextBox 137"/>
          <p:cNvSpPr txBox="1"/>
          <p:nvPr/>
        </p:nvSpPr>
        <p:spPr>
          <a:xfrm>
            <a:off x="8179397" y="6149424"/>
            <a:ext cx="691705" cy="2614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40" b="1">
                <a:solidFill>
                  <a:srgbClr val="F26905"/>
                </a:solidFill>
                <a:latin typeface="Microsoft YaHei"/>
                <a:ea typeface="Microsoft YaHei"/>
                <a:cs typeface="Microsoft YaHei"/>
              </a:rPr>
              <a:t>43%</a:t>
            </a:r>
            <a:endParaRPr lang="zh-CN" sz="1340"/>
          </a:p>
        </p:txBody>
      </p:sp>
      <p:sp>
        <p:nvSpPr>
          <p:cNvPr id="138" name="TextBox 138"/>
          <p:cNvSpPr txBox="1"/>
          <p:nvPr/>
        </p:nvSpPr>
        <p:spPr>
          <a:xfrm>
            <a:off x="9174777" y="5769830"/>
            <a:ext cx="1020686" cy="2193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消费量 </a:t>
            </a:r>
            <a:r>
              <a:rPr lang="zh-CN" sz="1060" b="1">
                <a:solidFill>
                  <a:srgbClr val="F26905"/>
                </a:solidFill>
                <a:latin typeface="SimSun"/>
                <a:ea typeface="SimSun"/>
                <a:cs typeface="SimSun"/>
              </a:rPr>
              <a:t>62 万吨</a:t>
            </a:r>
            <a:endParaRPr lang="zh-CN" sz="980"/>
          </a:p>
        </p:txBody>
      </p:sp>
      <p:sp>
        <p:nvSpPr>
          <p:cNvPr id="139" name="TextBox 139"/>
          <p:cNvSpPr txBox="1"/>
          <p:nvPr/>
        </p:nvSpPr>
        <p:spPr>
          <a:xfrm>
            <a:off x="9157907" y="5963845"/>
            <a:ext cx="1062863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本土产能仅 </a:t>
            </a:r>
            <a:r>
              <a:rPr lang="zh-CN" sz="1060" b="1">
                <a:solidFill>
                  <a:srgbClr val="F26905"/>
                </a:solidFill>
                <a:latin typeface="SimSun"/>
                <a:ea typeface="SimSun"/>
                <a:cs typeface="SimSun"/>
              </a:rPr>
              <a:t>35%</a:t>
            </a:r>
            <a:endParaRPr lang="zh-CN" sz="980"/>
          </a:p>
        </p:txBody>
      </p:sp>
      <p:sp>
        <p:nvSpPr>
          <p:cNvPr id="140" name="TextBox 140"/>
          <p:cNvSpPr txBox="1"/>
          <p:nvPr/>
        </p:nvSpPr>
        <p:spPr>
          <a:xfrm>
            <a:off x="9183213" y="6132554"/>
            <a:ext cx="1012251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需求年均增长</a:t>
            </a:r>
            <a:endParaRPr lang="zh-CN" sz="980"/>
          </a:p>
        </p:txBody>
      </p:sp>
      <p:sp>
        <p:nvSpPr>
          <p:cNvPr id="141" name="TextBox 141"/>
          <p:cNvSpPr txBox="1"/>
          <p:nvPr/>
        </p:nvSpPr>
        <p:spPr>
          <a:xfrm>
            <a:off x="9343486" y="6292827"/>
            <a:ext cx="700140" cy="227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F26905"/>
                </a:solidFill>
                <a:latin typeface="Microsoft YaHei"/>
                <a:ea typeface="Microsoft YaHei"/>
                <a:cs typeface="Microsoft YaHei"/>
              </a:rPr>
              <a:t>12%</a:t>
            </a:r>
            <a:endParaRPr lang="zh-CN" sz="1180"/>
          </a:p>
        </p:txBody>
      </p:sp>
      <p:sp>
        <p:nvSpPr>
          <p:cNvPr id="142" name="TextBox 142"/>
          <p:cNvSpPr txBox="1"/>
          <p:nvPr/>
        </p:nvSpPr>
        <p:spPr>
          <a:xfrm>
            <a:off x="10440091" y="5769830"/>
            <a:ext cx="1180959" cy="2108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需求增速 </a:t>
            </a:r>
            <a:r>
              <a:rPr lang="zh-CN" sz="1100" b="1">
                <a:solidFill>
                  <a:srgbClr val="F26905"/>
                </a:solidFill>
                <a:latin typeface="SimSun"/>
                <a:ea typeface="SimSun"/>
                <a:cs typeface="SimSun"/>
              </a:rPr>
              <a:t>21%</a:t>
            </a:r>
            <a:endParaRPr lang="zh-CN" sz="980"/>
          </a:p>
        </p:txBody>
      </p:sp>
      <p:sp>
        <p:nvSpPr>
          <p:cNvPr id="143" name="TextBox 143"/>
          <p:cNvSpPr txBox="1"/>
          <p:nvPr/>
        </p:nvSpPr>
        <p:spPr>
          <a:xfrm>
            <a:off x="10423220" y="5963845"/>
            <a:ext cx="1206266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主要来自包装</a:t>
            </a:r>
            <a:endParaRPr lang="zh-CN" sz="980"/>
          </a:p>
        </p:txBody>
      </p:sp>
      <p:sp>
        <p:nvSpPr>
          <p:cNvPr id="144" name="TextBox 144"/>
          <p:cNvSpPr txBox="1"/>
          <p:nvPr/>
        </p:nvSpPr>
        <p:spPr>
          <a:xfrm>
            <a:off x="10389479" y="6132554"/>
            <a:ext cx="1299055" cy="194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102127"/>
                </a:solidFill>
                <a:latin typeface="SimSun"/>
                <a:ea typeface="SimSun"/>
                <a:cs typeface="SimSun"/>
              </a:rPr>
              <a:t>和农业地膜替换需求</a:t>
            </a:r>
            <a:endParaRPr lang="zh-CN" sz="980"/>
          </a:p>
        </p:txBody>
      </p:sp>
      <p:sp>
        <p:nvSpPr>
          <p:cNvPr id="145" name="Path 145"/>
          <p:cNvSpPr/>
          <p:nvPr/>
        </p:nvSpPr>
        <p:spPr>
          <a:xfrm>
            <a:off x="5471" y="6360310"/>
            <a:ext cx="12180753" cy="80980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188" y="5850"/>
                  <a:pt x="8242" y="13950"/>
                  <a:pt x="10830" y="14850"/>
                </a:cubicBezTo>
                <a:cubicBezTo>
                  <a:pt x="14016" y="13500"/>
                  <a:pt x="18130" y="5175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DFF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Path 146"/>
          <p:cNvSpPr/>
          <p:nvPr/>
        </p:nvSpPr>
        <p:spPr>
          <a:xfrm>
            <a:off x="5471" y="6453100"/>
            <a:ext cx="12180753" cy="71701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188" y="6607"/>
                  <a:pt x="8242" y="15501"/>
                  <a:pt x="10830" y="16518"/>
                </a:cubicBezTo>
                <a:cubicBezTo>
                  <a:pt x="14016" y="14993"/>
                  <a:pt x="18130" y="5845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78C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Path 147"/>
          <p:cNvSpPr/>
          <p:nvPr/>
        </p:nvSpPr>
        <p:spPr>
          <a:xfrm>
            <a:off x="5471" y="6697727"/>
            <a:ext cx="12180753" cy="47238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188" y="10029"/>
                  <a:pt x="8242" y="20057"/>
                  <a:pt x="10830" y="21600"/>
                </a:cubicBezTo>
                <a:cubicBezTo>
                  <a:pt x="14016" y="19286"/>
                  <a:pt x="18130" y="8871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BB54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>
            <a:off x="2114327" y="6638679"/>
            <a:ext cx="1695520" cy="219321"/>
          </a:xfrm>
          <a:prstGeom prst="line">
            <a:avLst/>
          </a:prstGeom>
          <a:noFill/>
          <a:ln w="12700">
            <a:solidFill>
              <a:srgbClr val="F7EF96"/>
            </a:solidFill>
            <a:prstDash val="solid"/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V="1">
            <a:off x="8314364" y="6621808"/>
            <a:ext cx="1864229" cy="236192"/>
          </a:xfrm>
          <a:prstGeom prst="line">
            <a:avLst/>
          </a:prstGeom>
          <a:noFill/>
          <a:ln w="12700">
            <a:solidFill>
              <a:srgbClr val="FFFEE4"/>
            </a:solidFill>
            <a:prstDash val="solid"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mint paper and sunlit film-covered agricultural background with curved footer"/>
          <p:cNvPicPr/>
          <p:nvPr/>
        </p:nvPicPr>
        <p:blipFill>
          <a:blip r:embed="rId2"/>
          <a:stretch>
            <a:fillRect/>
          </a:stretch>
        </p:blipFill>
        <p:spPr>
          <a:xfrm>
            <a:off x="4670" y="0"/>
            <a:ext cx="12182354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477303" y="241139"/>
            <a:ext cx="2585013" cy="47263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48" y="0"/>
                </a:moveTo>
                <a:lnTo>
                  <a:pt x="21600" y="0"/>
                </a:lnTo>
                <a:lnTo>
                  <a:pt x="2063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DF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3023734" y="260430"/>
            <a:ext cx="4234405" cy="45334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40" y="0"/>
                </a:moveTo>
                <a:lnTo>
                  <a:pt x="21600" y="0"/>
                </a:lnTo>
                <a:lnTo>
                  <a:pt x="2115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1F4E8"/>
          </a:solidFill>
          <a:ln w="6350">
            <a:solidFill>
              <a:srgbClr val="7CBDA2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03683" y="887392"/>
            <a:ext cx="5768051" cy="2758633"/>
          </a:xfrm>
          <a:prstGeom prst="roundRect">
            <a:avLst>
              <a:gd name="adj" fmla="val 4196"/>
            </a:avLst>
          </a:prstGeom>
          <a:solidFill>
            <a:srgbClr val="F6FDF6"/>
          </a:solidFill>
          <a:ln w="6350">
            <a:solidFill>
              <a:srgbClr val="BCE5C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187481" y="887392"/>
            <a:ext cx="5748759" cy="2758633"/>
          </a:xfrm>
          <a:prstGeom prst="roundRect">
            <a:avLst>
              <a:gd name="adj" fmla="val 4196"/>
            </a:avLst>
          </a:prstGeom>
          <a:solidFill>
            <a:srgbClr val="F6FDF6"/>
          </a:solidFill>
          <a:ln w="6350">
            <a:solidFill>
              <a:srgbClr val="BCE5C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303683" y="3819646"/>
            <a:ext cx="11632557" cy="2768278"/>
          </a:xfrm>
          <a:prstGeom prst="roundRect">
            <a:avLst>
              <a:gd name="adj" fmla="val 4181"/>
            </a:avLst>
          </a:prstGeom>
          <a:solidFill>
            <a:srgbClr val="F6FDF6"/>
          </a:solidFill>
          <a:ln w="6350">
            <a:solidFill>
              <a:srgbClr val="BCE5CF"/>
            </a:solidFill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583405" y="241139"/>
            <a:ext cx="2372810" cy="47263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54" y="0"/>
                </a:moveTo>
                <a:lnTo>
                  <a:pt x="21600" y="0"/>
                </a:lnTo>
                <a:lnTo>
                  <a:pt x="2054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5E3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48367" y="2228127"/>
            <a:ext cx="1408253" cy="598025"/>
          </a:xfrm>
          <a:prstGeom prst="roundRect">
            <a:avLst>
              <a:gd name="adj" fmla="val 19355"/>
            </a:avLst>
          </a:prstGeom>
          <a:solidFill>
            <a:srgbClr val="FBFEFA"/>
          </a:solidFill>
          <a:ln w="6350">
            <a:solidFill>
              <a:srgbClr val="B9E3CD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1875911" y="2228127"/>
            <a:ext cx="2170253" cy="598025"/>
          </a:xfrm>
          <a:prstGeom prst="roundRect">
            <a:avLst>
              <a:gd name="adj" fmla="val 19355"/>
            </a:avLst>
          </a:prstGeom>
          <a:solidFill>
            <a:srgbClr val="FBFEFA"/>
          </a:solidFill>
          <a:ln w="6350">
            <a:solidFill>
              <a:srgbClr val="B9E3CD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48367" y="2874380"/>
            <a:ext cx="1803722" cy="694481"/>
          </a:xfrm>
          <a:prstGeom prst="roundRect">
            <a:avLst>
              <a:gd name="adj" fmla="val 16667"/>
            </a:avLst>
          </a:prstGeom>
          <a:solidFill>
            <a:srgbClr val="F7FCF6"/>
          </a:solidFill>
          <a:ln w="6350">
            <a:solidFill>
              <a:srgbClr val="B9E3CD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252088" y="2874380"/>
            <a:ext cx="1794076" cy="694481"/>
          </a:xfrm>
          <a:prstGeom prst="roundRect">
            <a:avLst>
              <a:gd name="adj" fmla="val 16667"/>
            </a:avLst>
          </a:prstGeom>
          <a:solidFill>
            <a:srgbClr val="F7FCF6"/>
          </a:solidFill>
          <a:ln w="6350">
            <a:solidFill>
              <a:srgbClr val="B9E3CD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8849658" y="1630101"/>
            <a:ext cx="3009418" cy="1909823"/>
          </a:xfrm>
          <a:prstGeom prst="roundRect">
            <a:avLst>
              <a:gd name="adj" fmla="val 5051"/>
            </a:avLst>
          </a:prstGeom>
          <a:solidFill>
            <a:srgbClr val="FCFEFB"/>
          </a:solidFill>
          <a:ln w="6350">
            <a:solidFill>
              <a:srgbClr val="CDEADA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77303" y="4350152"/>
            <a:ext cx="3221620" cy="2131671"/>
          </a:xfrm>
          <a:prstGeom prst="roundRect">
            <a:avLst>
              <a:gd name="adj" fmla="val 5430"/>
            </a:avLst>
          </a:prstGeom>
          <a:solidFill>
            <a:srgbClr val="F4FCF1"/>
          </a:solidFill>
          <a:ln w="6350">
            <a:solidFill>
              <a:srgbClr val="BAE3CB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3795379" y="4350152"/>
            <a:ext cx="2498203" cy="2131671"/>
          </a:xfrm>
          <a:prstGeom prst="roundRect">
            <a:avLst>
              <a:gd name="adj" fmla="val 5430"/>
            </a:avLst>
          </a:prstGeom>
          <a:solidFill>
            <a:srgbClr val="F4FCF1"/>
          </a:solidFill>
          <a:ln w="6350">
            <a:solidFill>
              <a:srgbClr val="BAE3CB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8753202" y="4340506"/>
            <a:ext cx="3019063" cy="2122025"/>
          </a:xfrm>
          <a:prstGeom prst="roundRect">
            <a:avLst>
              <a:gd name="adj" fmla="val 5455"/>
            </a:avLst>
          </a:prstGeom>
          <a:solidFill>
            <a:srgbClr val="F4FCF1"/>
          </a:solidFill>
          <a:ln w="6350">
            <a:solidFill>
              <a:srgbClr val="BAE3CB"/>
            </a:solidFill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3168417" y="424405"/>
            <a:ext cx="125392" cy="125392"/>
          </a:xfrm>
          <a:prstGeom prst="ellipse">
            <a:avLst/>
          </a:prstGeom>
          <a:solidFill>
            <a:srgbClr val="00A6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84974" y="954911"/>
            <a:ext cx="2970835" cy="376177"/>
          </a:xfrm>
          <a:prstGeom prst="roundRect">
            <a:avLst>
              <a:gd name="adj" fmla="val 50000"/>
            </a:avLst>
          </a:prstGeom>
          <a:solidFill>
            <a:srgbClr val="007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7016999" y="954911"/>
            <a:ext cx="3385595" cy="376177"/>
          </a:xfrm>
          <a:prstGeom prst="roundRect">
            <a:avLst>
              <a:gd name="adj" fmla="val 50000"/>
            </a:avLst>
          </a:prstGeom>
          <a:solidFill>
            <a:srgbClr val="007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1084974" y="3887165"/>
            <a:ext cx="3385595" cy="376177"/>
          </a:xfrm>
          <a:prstGeom prst="roundRect">
            <a:avLst>
              <a:gd name="adj" fmla="val 50000"/>
            </a:avLst>
          </a:prstGeom>
          <a:solidFill>
            <a:srgbClr val="00734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9187253" y="3269848"/>
            <a:ext cx="2623595" cy="0"/>
          </a:xfrm>
          <a:prstGeom prst="line">
            <a:avLst/>
          </a:prstGeom>
          <a:noFill/>
          <a:ln w="4445">
            <a:solidFill>
              <a:srgbClr val="DAF0E3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9187253" y="3049929"/>
            <a:ext cx="2623595" cy="0"/>
          </a:xfrm>
          <a:prstGeom prst="line">
            <a:avLst/>
          </a:prstGeom>
          <a:noFill/>
          <a:ln w="4445">
            <a:solidFill>
              <a:srgbClr val="DAF0E3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9187253" y="2830010"/>
            <a:ext cx="2623595" cy="0"/>
          </a:xfrm>
          <a:prstGeom prst="line">
            <a:avLst/>
          </a:prstGeom>
          <a:noFill/>
          <a:ln w="4445">
            <a:solidFill>
              <a:srgbClr val="DAF0E3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9187253" y="2610091"/>
            <a:ext cx="2623595" cy="0"/>
          </a:xfrm>
          <a:prstGeom prst="line">
            <a:avLst/>
          </a:prstGeom>
          <a:noFill/>
          <a:ln w="4445">
            <a:solidFill>
              <a:srgbClr val="DAF0E3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9187253" y="2390172"/>
            <a:ext cx="2623595" cy="0"/>
          </a:xfrm>
          <a:prstGeom prst="line">
            <a:avLst/>
          </a:prstGeom>
          <a:noFill/>
          <a:ln w="4445">
            <a:solidFill>
              <a:srgbClr val="DAF0E3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9187253" y="2170253"/>
            <a:ext cx="2623595" cy="0"/>
          </a:xfrm>
          <a:prstGeom prst="line">
            <a:avLst/>
          </a:prstGeom>
          <a:noFill/>
          <a:ln w="4445">
            <a:solidFill>
              <a:srgbClr val="DAF0E3"/>
            </a:solidFill>
          </a:ln>
        </p:spPr>
        <p:txBody>
          <a:bodyPr/>
          <a:lstStyle/>
          <a:p/>
        </p:txBody>
      </p:sp>
      <p:sp>
        <p:nvSpPr>
          <p:cNvPr id="27" name="Path 27"/>
          <p:cNvSpPr/>
          <p:nvPr/>
        </p:nvSpPr>
        <p:spPr>
          <a:xfrm>
            <a:off x="882417" y="4369443"/>
            <a:ext cx="1408253" cy="29901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8937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6885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ath 28"/>
          <p:cNvSpPr/>
          <p:nvPr/>
        </p:nvSpPr>
        <p:spPr>
          <a:xfrm>
            <a:off x="4200493" y="4369443"/>
            <a:ext cx="1388962" cy="29901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89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6885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ath 29"/>
          <p:cNvSpPr/>
          <p:nvPr/>
        </p:nvSpPr>
        <p:spPr>
          <a:xfrm>
            <a:off x="9167962" y="4369443"/>
            <a:ext cx="1485418" cy="29901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9075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6885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8859303" y="4726329"/>
            <a:ext cx="2797215" cy="501570"/>
          </a:xfrm>
          <a:prstGeom prst="roundRect">
            <a:avLst>
              <a:gd name="adj" fmla="val 21154"/>
            </a:avLst>
          </a:prstGeom>
          <a:solidFill>
            <a:srgbClr val="FBFEF9"/>
          </a:solidFill>
          <a:ln w="6350">
            <a:solidFill>
              <a:srgbClr val="C4E8D3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8859303" y="5276127"/>
            <a:ext cx="2797215" cy="491924"/>
          </a:xfrm>
          <a:prstGeom prst="roundRect">
            <a:avLst>
              <a:gd name="adj" fmla="val 21569"/>
            </a:avLst>
          </a:prstGeom>
          <a:solidFill>
            <a:srgbClr val="FBFEF9"/>
          </a:solidFill>
          <a:ln w="6350">
            <a:solidFill>
              <a:srgbClr val="C4E8D3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8859303" y="5816278"/>
            <a:ext cx="2797215" cy="540152"/>
          </a:xfrm>
          <a:prstGeom prst="roundRect">
            <a:avLst>
              <a:gd name="adj" fmla="val 19643"/>
            </a:avLst>
          </a:prstGeom>
          <a:solidFill>
            <a:srgbClr val="FBFEF9"/>
          </a:solidFill>
          <a:ln w="6350">
            <a:solidFill>
              <a:srgbClr val="C4E8D3"/>
            </a:solidFill>
          </a:ln>
        </p:spPr>
        <p:txBody>
          <a:bodyPr/>
          <a:lstStyle/>
          <a:p/>
        </p:txBody>
      </p:sp>
      <p:sp>
        <p:nvSpPr>
          <p:cNvPr id="33" name="Path 33"/>
          <p:cNvSpPr/>
          <p:nvPr/>
        </p:nvSpPr>
        <p:spPr>
          <a:xfrm>
            <a:off x="1914493" y="4369443"/>
            <a:ext cx="376177" cy="29901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1631" y="0"/>
                </a:lnTo>
                <a:lnTo>
                  <a:pt x="21600" y="21600"/>
                </a:lnTo>
                <a:lnTo>
                  <a:pt x="9969" y="21600"/>
                </a:lnTo>
                <a:close/>
              </a:path>
            </a:pathLst>
          </a:custGeom>
          <a:solidFill>
            <a:srgbClr val="A8D0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ath 34"/>
          <p:cNvSpPr/>
          <p:nvPr/>
        </p:nvSpPr>
        <p:spPr>
          <a:xfrm>
            <a:off x="5213278" y="4369443"/>
            <a:ext cx="376177" cy="29901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1631" y="0"/>
                </a:lnTo>
                <a:lnTo>
                  <a:pt x="21600" y="21600"/>
                </a:lnTo>
                <a:lnTo>
                  <a:pt x="9969" y="21600"/>
                </a:lnTo>
                <a:close/>
              </a:path>
            </a:pathLst>
          </a:custGeom>
          <a:solidFill>
            <a:srgbClr val="A8D0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ath 35"/>
          <p:cNvSpPr/>
          <p:nvPr/>
        </p:nvSpPr>
        <p:spPr>
          <a:xfrm>
            <a:off x="10277202" y="4369443"/>
            <a:ext cx="376177" cy="29901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1631" y="0"/>
                </a:lnTo>
                <a:lnTo>
                  <a:pt x="21600" y="21600"/>
                </a:lnTo>
                <a:lnTo>
                  <a:pt x="9969" y="21600"/>
                </a:lnTo>
                <a:close/>
              </a:path>
            </a:pathLst>
          </a:custGeom>
          <a:solidFill>
            <a:srgbClr val="A8D075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6" name="Original source leaf/swoosh baseline decoration with ALL ordinal strokes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302001" y="1012785"/>
            <a:ext cx="948630" cy="453342"/>
          </a:xfrm>
          <a:prstGeom prst="rect">
            <a:avLst/>
          </a:prstGeom>
        </p:spPr>
      </p:pic>
      <p:pic>
        <p:nvPicPr>
          <p:cNvPr id="37" name="Original source leaf/swoosh baseline decoration with ALL ordinal strokes remo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6185799" y="1014409"/>
            <a:ext cx="948630" cy="450093"/>
          </a:xfrm>
          <a:prstGeom prst="rect">
            <a:avLst/>
          </a:prstGeom>
        </p:spPr>
      </p:pic>
      <p:pic>
        <p:nvPicPr>
          <p:cNvPr id="38" name="Original source leaf/swoosh baseline decoration with ALL ordinal strokes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301754" y="3945859"/>
            <a:ext cx="949124" cy="451700"/>
          </a:xfrm>
          <a:prstGeom prst="rect">
            <a:avLst/>
          </a:prstGeom>
        </p:spPr>
      </p:pic>
      <p:sp>
        <p:nvSpPr>
          <p:cNvPr id="39" name="Path 39"/>
          <p:cNvSpPr/>
          <p:nvPr/>
        </p:nvSpPr>
        <p:spPr>
          <a:xfrm>
            <a:off x="4026873" y="1292506"/>
            <a:ext cx="1871241" cy="187124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187" y="21279"/>
                </a:moveTo>
                <a:cubicBezTo>
                  <a:pt x="2894" y="19959"/>
                  <a:pt x="-584" y="14899"/>
                  <a:pt x="81" y="9484"/>
                </a:cubicBezTo>
                <a:cubicBezTo>
                  <a:pt x="745" y="4069"/>
                  <a:pt x="5344" y="0"/>
                  <a:pt x="10800" y="0"/>
                </a:cubicBezTo>
                <a:lnTo>
                  <a:pt x="10800" y="6012"/>
                </a:lnTo>
                <a:cubicBezTo>
                  <a:pt x="8382" y="6012"/>
                  <a:pt x="6343" y="7816"/>
                  <a:pt x="6048" y="10217"/>
                </a:cubicBezTo>
                <a:cubicBezTo>
                  <a:pt x="5753" y="12617"/>
                  <a:pt x="7295" y="14860"/>
                  <a:pt x="9642" y="15445"/>
                </a:cubicBezTo>
                <a:close/>
              </a:path>
            </a:pathLst>
          </a:custGeom>
          <a:solidFill>
            <a:srgbClr val="30A654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0" name="Path 40"/>
          <p:cNvSpPr/>
          <p:nvPr/>
        </p:nvSpPr>
        <p:spPr>
          <a:xfrm>
            <a:off x="4026873" y="1292506"/>
            <a:ext cx="1871241" cy="187124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cubicBezTo>
                  <a:pt x="14975" y="0"/>
                  <a:pt x="18775" y="2406"/>
                  <a:pt x="20561" y="6179"/>
                </a:cubicBezTo>
                <a:cubicBezTo>
                  <a:pt x="22348" y="9952"/>
                  <a:pt x="21799" y="14417"/>
                  <a:pt x="19153" y="17645"/>
                </a:cubicBezTo>
                <a:cubicBezTo>
                  <a:pt x="16508" y="20874"/>
                  <a:pt x="12238" y="22289"/>
                  <a:pt x="8187" y="21279"/>
                </a:cubicBezTo>
                <a:lnTo>
                  <a:pt x="9642" y="15445"/>
                </a:lnTo>
                <a:cubicBezTo>
                  <a:pt x="11437" y="15893"/>
                  <a:pt x="13330" y="15266"/>
                  <a:pt x="14503" y="13835"/>
                </a:cubicBezTo>
                <a:cubicBezTo>
                  <a:pt x="15676" y="12403"/>
                  <a:pt x="15919" y="10424"/>
                  <a:pt x="15127" y="8751"/>
                </a:cubicBezTo>
                <a:cubicBezTo>
                  <a:pt x="14335" y="7079"/>
                  <a:pt x="12651" y="6012"/>
                  <a:pt x="10800" y="6012"/>
                </a:cubicBezTo>
                <a:close/>
              </a:path>
            </a:pathLst>
          </a:custGeom>
          <a:solidFill>
            <a:srgbClr val="FFAF21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8772493" y="1466127"/>
            <a:ext cx="0" cy="2044861"/>
          </a:xfrm>
          <a:prstGeom prst="line">
            <a:avLst/>
          </a:prstGeom>
          <a:noFill/>
          <a:ln w="6350">
            <a:solidFill>
              <a:srgbClr val="CBE9DA"/>
            </a:solidFill>
          </a:ln>
        </p:spPr>
        <p:txBody>
          <a:bodyPr/>
          <a:lstStyle/>
          <a:p/>
        </p:txBody>
      </p:sp>
      <p:pic>
        <p:nvPicPr>
          <p:cNvPr id="42" name="Original source lower-left mulch and seedling photograph; same camera/seedling rows; native source-curved card-fill crop masks only the excess upper photo area."/>
          <p:cNvPicPr/>
          <p:nvPr/>
        </p:nvPicPr>
        <p:blipFill>
          <a:blip r:embed="rId20"/>
          <a:stretch>
            <a:fillRect/>
          </a:stretch>
        </p:blipFill>
        <p:spPr>
          <a:xfrm>
            <a:off x="264822" y="5028651"/>
            <a:ext cx="3544775" cy="1575255"/>
          </a:xfrm>
          <a:prstGeom prst="rect">
            <a:avLst/>
          </a:prstGeom>
        </p:spPr>
      </p:pic>
      <p:sp>
        <p:nvSpPr>
          <p:cNvPr id="43" name="Rect 43"/>
          <p:cNvSpPr/>
          <p:nvPr/>
        </p:nvSpPr>
        <p:spPr>
          <a:xfrm>
            <a:off x="9225835" y="2390172"/>
            <a:ext cx="173620" cy="879676"/>
          </a:xfrm>
          <a:prstGeom prst="rect">
            <a:avLst/>
          </a:prstGeom>
          <a:solidFill>
            <a:srgbClr val="86CB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9409101" y="3049929"/>
            <a:ext cx="173620" cy="219919"/>
          </a:xfrm>
          <a:prstGeom prst="rect">
            <a:avLst/>
          </a:prstGeom>
          <a:solidFill>
            <a:srgbClr val="FFAF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9756341" y="2610091"/>
            <a:ext cx="173620" cy="659757"/>
          </a:xfrm>
          <a:prstGeom prst="rect">
            <a:avLst/>
          </a:prstGeom>
          <a:solidFill>
            <a:srgbClr val="86CB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9939607" y="3049929"/>
            <a:ext cx="173620" cy="219919"/>
          </a:xfrm>
          <a:prstGeom prst="rect">
            <a:avLst/>
          </a:prstGeom>
          <a:solidFill>
            <a:srgbClr val="FFAF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10286848" y="2830010"/>
            <a:ext cx="173620" cy="439838"/>
          </a:xfrm>
          <a:prstGeom prst="rect">
            <a:avLst/>
          </a:prstGeom>
          <a:solidFill>
            <a:srgbClr val="86CB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10817354" y="2830010"/>
            <a:ext cx="173620" cy="439838"/>
          </a:xfrm>
          <a:prstGeom prst="rect">
            <a:avLst/>
          </a:prstGeom>
          <a:solidFill>
            <a:srgbClr val="86CB85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11000620" y="3049929"/>
            <a:ext cx="173620" cy="219919"/>
          </a:xfrm>
          <a:prstGeom prst="rect">
            <a:avLst/>
          </a:prstGeom>
          <a:solidFill>
            <a:srgbClr val="FFAF2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11347860" y="2830010"/>
            <a:ext cx="173620" cy="439838"/>
          </a:xfrm>
          <a:prstGeom prst="rect">
            <a:avLst/>
          </a:prstGeom>
          <a:solidFill>
            <a:srgbClr val="86CB85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11531126" y="3049929"/>
            <a:ext cx="173620" cy="219919"/>
          </a:xfrm>
          <a:prstGeom prst="rect">
            <a:avLst/>
          </a:prstGeom>
          <a:solidFill>
            <a:srgbClr val="FFAF2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Path 52"/>
          <p:cNvSpPr/>
          <p:nvPr/>
        </p:nvSpPr>
        <p:spPr>
          <a:xfrm>
            <a:off x="477303" y="5150734"/>
            <a:ext cx="3221620" cy="74270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21600" y="1964"/>
                </a:lnTo>
                <a:cubicBezTo>
                  <a:pt x="15262" y="4208"/>
                  <a:pt x="7372" y="18234"/>
                  <a:pt x="0" y="21600"/>
                </a:cubicBezTo>
                <a:close/>
              </a:path>
            </a:pathLst>
          </a:custGeom>
          <a:solidFill>
            <a:srgbClr val="F4FCF1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3" name="Exact source asymmetrical small leaf ornament and brush sweeps around donut; targeted source-crop edit removes all chart/text without enlarging leaves."/>
          <p:cNvPicPr/>
          <p:nvPr/>
        </p:nvPicPr>
        <p:blipFill>
          <a:blip r:embed="rId12"/>
          <a:stretch>
            <a:fillRect/>
          </a:stretch>
        </p:blipFill>
        <p:spPr>
          <a:xfrm>
            <a:off x="3448623" y="1167291"/>
            <a:ext cx="2699791" cy="2526784"/>
          </a:xfrm>
          <a:prstGeom prst="rect">
            <a:avLst/>
          </a:prstGeom>
        </p:spPr>
      </p:pic>
      <p:sp>
        <p:nvSpPr>
          <p:cNvPr id="54" name="Roundrect 54"/>
          <p:cNvSpPr/>
          <p:nvPr/>
        </p:nvSpPr>
        <p:spPr>
          <a:xfrm>
            <a:off x="8907531" y="1475772"/>
            <a:ext cx="2806861" cy="299013"/>
          </a:xfrm>
          <a:prstGeom prst="roundRect">
            <a:avLst>
              <a:gd name="adj" fmla="val 50000"/>
            </a:avLst>
          </a:prstGeom>
          <a:solidFill>
            <a:srgbClr val="008849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10074645" y="1938759"/>
            <a:ext cx="125392" cy="115747"/>
          </a:xfrm>
          <a:prstGeom prst="rect">
            <a:avLst/>
          </a:prstGeom>
          <a:solidFill>
            <a:srgbClr val="86CE8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10884873" y="1938759"/>
            <a:ext cx="125392" cy="115747"/>
          </a:xfrm>
          <a:prstGeom prst="rect">
            <a:avLst/>
          </a:prstGeom>
          <a:solidFill>
            <a:srgbClr val="FFA123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7" name="Original small circular rubber crop photograph with thin green rim."/>
          <p:cNvPicPr/>
          <p:nvPr/>
        </p:nvPicPr>
        <p:blipFill>
          <a:blip r:embed="rId29"/>
          <a:stretch>
            <a:fillRect/>
          </a:stretch>
        </p:blipFill>
        <p:spPr>
          <a:xfrm>
            <a:off x="4055810" y="5574676"/>
            <a:ext cx="723418" cy="724344"/>
          </a:xfrm>
          <a:prstGeom prst="rect">
            <a:avLst/>
          </a:prstGeom>
        </p:spPr>
      </p:pic>
      <p:pic>
        <p:nvPicPr>
          <p:cNvPr id="58" name="Original small circular rice crop photograph with thin green rim."/>
          <p:cNvPicPr/>
          <p:nvPr/>
        </p:nvPicPr>
        <p:blipFill>
          <a:blip r:embed="rId30"/>
          <a:stretch>
            <a:fillRect/>
          </a:stretch>
        </p:blipFill>
        <p:spPr>
          <a:xfrm>
            <a:off x="4801149" y="5576703"/>
            <a:ext cx="718157" cy="720289"/>
          </a:xfrm>
          <a:prstGeom prst="rect">
            <a:avLst/>
          </a:prstGeom>
        </p:spPr>
      </p:pic>
      <p:pic>
        <p:nvPicPr>
          <p:cNvPr id="59" name="Original small circular fruit crop photograph with thin green rim."/>
          <p:cNvPicPr/>
          <p:nvPr/>
        </p:nvPicPr>
        <p:blipFill>
          <a:blip r:embed="rId31"/>
          <a:stretch>
            <a:fillRect/>
          </a:stretch>
        </p:blipFill>
        <p:spPr>
          <a:xfrm>
            <a:off x="5541227" y="5573486"/>
            <a:ext cx="723418" cy="726725"/>
          </a:xfrm>
          <a:prstGeom prst="rect">
            <a:avLst/>
          </a:prstGeom>
        </p:spPr>
      </p:pic>
      <p:pic>
        <p:nvPicPr>
          <p:cNvPr id="60" name="Original circular photograph of film rolls on agricultural mulch, with its source leaf wreath and pale brush ring."/>
          <p:cNvPicPr/>
          <p:nvPr/>
        </p:nvPicPr>
        <p:blipFill>
          <a:blip r:embed="rId32"/>
          <a:stretch>
            <a:fillRect/>
          </a:stretch>
        </p:blipFill>
        <p:spPr>
          <a:xfrm>
            <a:off x="5951890" y="3874120"/>
            <a:ext cx="2956135" cy="2823304"/>
          </a:xfrm>
          <a:prstGeom prst="rect">
            <a:avLst/>
          </a:prstGeom>
        </p:spPr>
      </p:pic>
      <p:pic>
        <p:nvPicPr>
          <p:cNvPr id="61" name="Source top-right green leaf sprig."/>
          <p:cNvPicPr/>
          <p:nvPr/>
        </p:nvPicPr>
        <p:blipFill>
          <a:blip r:embed="rId13"/>
          <a:stretch>
            <a:fillRect/>
          </a:stretch>
        </p:blipFill>
        <p:spPr>
          <a:xfrm>
            <a:off x="11325338" y="931358"/>
            <a:ext cx="623779" cy="481157"/>
          </a:xfrm>
          <a:prstGeom prst="rect">
            <a:avLst/>
          </a:prstGeom>
        </p:spPr>
      </p:pic>
      <p:pic>
        <p:nvPicPr>
          <p:cNvPr id="62" name="Source small left leaf sprig beneath policy list."/>
          <p:cNvPicPr/>
          <p:nvPr/>
        </p:nvPicPr>
        <p:blipFill>
          <a:blip r:embed="rId14"/>
          <a:stretch>
            <a:fillRect/>
          </a:stretch>
        </p:blipFill>
        <p:spPr>
          <a:xfrm>
            <a:off x="6180466" y="3295984"/>
            <a:ext cx="403360" cy="410715"/>
          </a:xfrm>
          <a:prstGeom prst="rect">
            <a:avLst/>
          </a:prstGeom>
        </p:spPr>
      </p:pic>
      <p:pic>
        <p:nvPicPr>
          <p:cNvPr id="63" name="Source longer right leaf beneath policy list."/>
          <p:cNvPicPr/>
          <p:nvPr/>
        </p:nvPicPr>
        <p:blipFill>
          <a:blip r:embed="rId15"/>
          <a:stretch>
            <a:fillRect/>
          </a:stretch>
        </p:blipFill>
        <p:spPr>
          <a:xfrm>
            <a:off x="7836500" y="3290764"/>
            <a:ext cx="860260" cy="450093"/>
          </a:xfrm>
          <a:prstGeom prst="rect">
            <a:avLst/>
          </a:prstGeom>
        </p:spPr>
      </p:pic>
      <p:pic>
        <p:nvPicPr>
          <p:cNvPr id="64" name="Source bright green leafy branch above customer panel."/>
          <p:cNvPicPr/>
          <p:nvPr/>
        </p:nvPicPr>
        <p:blipFill>
          <a:blip r:embed="rId24"/>
          <a:stretch>
            <a:fillRect/>
          </a:stretch>
        </p:blipFill>
        <p:spPr>
          <a:xfrm>
            <a:off x="10756916" y="3743817"/>
            <a:ext cx="1087874" cy="865430"/>
          </a:xfrm>
          <a:prstGeom prst="rect">
            <a:avLst/>
          </a:prstGeom>
        </p:spPr>
      </p:pic>
      <p:pic>
        <p:nvPicPr>
          <p:cNvPr id="65" name="Original source growth circular pictogram; complete visual identity separated by source image editing."/>
          <p:cNvPicPr/>
          <p:nvPr/>
        </p:nvPicPr>
        <p:blipFill>
          <a:blip r:embed="rId6"/>
          <a:stretch>
            <a:fillRect/>
          </a:stretch>
        </p:blipFill>
        <p:spPr>
          <a:xfrm>
            <a:off x="447021" y="1488062"/>
            <a:ext cx="542844" cy="563801"/>
          </a:xfrm>
          <a:prstGeom prst="rect">
            <a:avLst/>
          </a:prstGeom>
        </p:spPr>
      </p:pic>
      <p:pic>
        <p:nvPicPr>
          <p:cNvPr id="66" name="Original source coin circular pictogram; complete visual identity separated by source image editing."/>
          <p:cNvPicPr/>
          <p:nvPr/>
        </p:nvPicPr>
        <p:blipFill>
          <a:blip r:embed="rId7"/>
          <a:stretch>
            <a:fillRect/>
          </a:stretch>
        </p:blipFill>
        <p:spPr>
          <a:xfrm>
            <a:off x="501084" y="2280186"/>
            <a:ext cx="482945" cy="493906"/>
          </a:xfrm>
          <a:prstGeom prst="rect">
            <a:avLst/>
          </a:prstGeom>
        </p:spPr>
      </p:pic>
      <p:pic>
        <p:nvPicPr>
          <p:cNvPr id="67" name="Original source pie circular pictogram; complete visual identity separated by source image editing."/>
          <p:cNvPicPr/>
          <p:nvPr/>
        </p:nvPicPr>
        <p:blipFill>
          <a:blip r:embed="rId8"/>
          <a:stretch>
            <a:fillRect/>
          </a:stretch>
        </p:blipFill>
        <p:spPr>
          <a:xfrm>
            <a:off x="1922696" y="2282590"/>
            <a:ext cx="436935" cy="460161"/>
          </a:xfrm>
          <a:prstGeom prst="rect">
            <a:avLst/>
          </a:prstGeom>
        </p:spPr>
      </p:pic>
      <p:pic>
        <p:nvPicPr>
          <p:cNvPr id="68" name="Original source factory circular pictogram; complete visual identity separated by source image editing."/>
          <p:cNvPicPr/>
          <p:nvPr/>
        </p:nvPicPr>
        <p:blipFill>
          <a:blip r:embed="rId9"/>
          <a:stretch>
            <a:fillRect/>
          </a:stretch>
        </p:blipFill>
        <p:spPr>
          <a:xfrm>
            <a:off x="2924635" y="2283168"/>
            <a:ext cx="458627" cy="459005"/>
          </a:xfrm>
          <a:prstGeom prst="rect">
            <a:avLst/>
          </a:prstGeom>
        </p:spPr>
      </p:pic>
      <p:pic>
        <p:nvPicPr>
          <p:cNvPr id="69" name="Original source pie circular pictogram; complete visual identity separated by source image editing."/>
          <p:cNvPicPr/>
          <p:nvPr/>
        </p:nvPicPr>
        <p:blipFill>
          <a:blip r:embed="rId10"/>
          <a:stretch>
            <a:fillRect/>
          </a:stretch>
        </p:blipFill>
        <p:spPr>
          <a:xfrm>
            <a:off x="499389" y="2906322"/>
            <a:ext cx="495981" cy="495558"/>
          </a:xfrm>
          <a:prstGeom prst="rect">
            <a:avLst/>
          </a:prstGeom>
        </p:spPr>
      </p:pic>
      <p:pic>
        <p:nvPicPr>
          <p:cNvPr id="70" name="Original source factory circular pictogram; complete visual identity separated by source image editing."/>
          <p:cNvPicPr/>
          <p:nvPr/>
        </p:nvPicPr>
        <p:blipFill>
          <a:blip r:embed="rId11"/>
          <a:stretch>
            <a:fillRect/>
          </a:stretch>
        </p:blipFill>
        <p:spPr>
          <a:xfrm>
            <a:off x="2323439" y="2916590"/>
            <a:ext cx="493906" cy="494313"/>
          </a:xfrm>
          <a:prstGeom prst="rect">
            <a:avLst/>
          </a:prstGeom>
        </p:spPr>
      </p:pic>
      <p:pic>
        <p:nvPicPr>
          <p:cNvPr id="71" name="Original source document circular pictogram; complete visual identity separated by source image editing."/>
          <p:cNvPicPr/>
          <p:nvPr/>
        </p:nvPicPr>
        <p:blipFill>
          <a:blip r:embed="rId16"/>
          <a:stretch>
            <a:fillRect/>
          </a:stretch>
        </p:blipFill>
        <p:spPr>
          <a:xfrm>
            <a:off x="6351280" y="1398651"/>
            <a:ext cx="540503" cy="540065"/>
          </a:xfrm>
          <a:prstGeom prst="rect">
            <a:avLst/>
          </a:prstGeom>
        </p:spPr>
      </p:pic>
      <p:pic>
        <p:nvPicPr>
          <p:cNvPr id="72" name="Original source sprout circular pictogram; complete visual identity separated by source image editing."/>
          <p:cNvPicPr/>
          <p:nvPr/>
        </p:nvPicPr>
        <p:blipFill>
          <a:blip r:embed="rId17"/>
          <a:stretch>
            <a:fillRect/>
          </a:stretch>
        </p:blipFill>
        <p:spPr>
          <a:xfrm>
            <a:off x="6351280" y="1939235"/>
            <a:ext cx="540503" cy="539200"/>
          </a:xfrm>
          <a:prstGeom prst="rect">
            <a:avLst/>
          </a:prstGeom>
        </p:spPr>
      </p:pic>
      <p:pic>
        <p:nvPicPr>
          <p:cNvPr id="73" name="Original source gear circular pictogram; complete visual identity separated by source image editing."/>
          <p:cNvPicPr/>
          <p:nvPr/>
        </p:nvPicPr>
        <p:blipFill>
          <a:blip r:embed="rId18"/>
          <a:stretch>
            <a:fillRect/>
          </a:stretch>
        </p:blipFill>
        <p:spPr>
          <a:xfrm>
            <a:off x="6351499" y="2460521"/>
            <a:ext cx="540065" cy="538351"/>
          </a:xfrm>
          <a:prstGeom prst="rect">
            <a:avLst/>
          </a:prstGeom>
        </p:spPr>
      </p:pic>
      <p:pic>
        <p:nvPicPr>
          <p:cNvPr id="74" name="Original source bars circular pictogram; complete visual identity separated by source image editing."/>
          <p:cNvPicPr/>
          <p:nvPr/>
        </p:nvPicPr>
        <p:blipFill>
          <a:blip r:embed="rId19"/>
          <a:stretch>
            <a:fillRect/>
          </a:stretch>
        </p:blipFill>
        <p:spPr>
          <a:xfrm>
            <a:off x="6351499" y="2980957"/>
            <a:ext cx="540065" cy="539200"/>
          </a:xfrm>
          <a:prstGeom prst="rect">
            <a:avLst/>
          </a:prstGeom>
        </p:spPr>
      </p:pic>
      <p:pic>
        <p:nvPicPr>
          <p:cNvPr id="75" name="Original source sun circular pictogram; complete visual identity separated by source image editing."/>
          <p:cNvPicPr/>
          <p:nvPr/>
        </p:nvPicPr>
        <p:blipFill>
          <a:blip r:embed="rId21"/>
          <a:stretch>
            <a:fillRect/>
          </a:stretch>
        </p:blipFill>
        <p:spPr>
          <a:xfrm>
            <a:off x="563110" y="4254385"/>
            <a:ext cx="551805" cy="538774"/>
          </a:xfrm>
          <a:prstGeom prst="rect">
            <a:avLst/>
          </a:prstGeom>
        </p:spPr>
      </p:pic>
      <p:pic>
        <p:nvPicPr>
          <p:cNvPr id="76" name="Original source clock circular pictogram; complete visual identity separated by source image editing."/>
          <p:cNvPicPr/>
          <p:nvPr/>
        </p:nvPicPr>
        <p:blipFill>
          <a:blip r:embed="rId22"/>
          <a:stretch>
            <a:fillRect/>
          </a:stretch>
        </p:blipFill>
        <p:spPr>
          <a:xfrm>
            <a:off x="3890831" y="4254385"/>
            <a:ext cx="551805" cy="538774"/>
          </a:xfrm>
          <a:prstGeom prst="rect">
            <a:avLst/>
          </a:prstGeom>
        </p:spPr>
      </p:pic>
      <p:pic>
        <p:nvPicPr>
          <p:cNvPr id="77" name="Original source group circular pictogram; complete visual identity separated by source image editing."/>
          <p:cNvPicPr/>
          <p:nvPr/>
        </p:nvPicPr>
        <p:blipFill>
          <a:blip r:embed="rId23"/>
          <a:stretch>
            <a:fillRect/>
          </a:stretch>
        </p:blipFill>
        <p:spPr>
          <a:xfrm>
            <a:off x="8848280" y="4276846"/>
            <a:ext cx="562199" cy="515073"/>
          </a:xfrm>
          <a:prstGeom prst="rect">
            <a:avLst/>
          </a:prstGeom>
        </p:spPr>
      </p:pic>
      <p:pic>
        <p:nvPicPr>
          <p:cNvPr id="78" name="Original source check circular pictogram; complete visual identity separated by source image editing."/>
          <p:cNvPicPr/>
          <p:nvPr/>
        </p:nvPicPr>
        <p:blipFill>
          <a:blip r:embed="rId25"/>
          <a:stretch>
            <a:fillRect/>
          </a:stretch>
        </p:blipFill>
        <p:spPr>
          <a:xfrm>
            <a:off x="639708" y="4792513"/>
            <a:ext cx="224989" cy="224519"/>
          </a:xfrm>
          <a:prstGeom prst="rect">
            <a:avLst/>
          </a:prstGeom>
        </p:spPr>
      </p:pic>
      <p:pic>
        <p:nvPicPr>
          <p:cNvPr id="79" name="Original source check circular pictogram; complete visual identity separated by source image editing."/>
          <p:cNvPicPr/>
          <p:nvPr/>
        </p:nvPicPr>
        <p:blipFill>
          <a:blip r:embed="rId26"/>
          <a:stretch>
            <a:fillRect/>
          </a:stretch>
        </p:blipFill>
        <p:spPr>
          <a:xfrm>
            <a:off x="639708" y="5255500"/>
            <a:ext cx="224989" cy="224519"/>
          </a:xfrm>
          <a:prstGeom prst="rect">
            <a:avLst/>
          </a:prstGeom>
        </p:spPr>
      </p:pic>
      <p:pic>
        <p:nvPicPr>
          <p:cNvPr id="80" name="Original source check circular pictogram; complete visual identity separated by source image editing."/>
          <p:cNvPicPr/>
          <p:nvPr/>
        </p:nvPicPr>
        <p:blipFill>
          <a:blip r:embed="rId27"/>
          <a:stretch>
            <a:fillRect/>
          </a:stretch>
        </p:blipFill>
        <p:spPr>
          <a:xfrm>
            <a:off x="3986720" y="4782867"/>
            <a:ext cx="224989" cy="224519"/>
          </a:xfrm>
          <a:prstGeom prst="rect">
            <a:avLst/>
          </a:prstGeom>
        </p:spPr>
      </p:pic>
      <p:pic>
        <p:nvPicPr>
          <p:cNvPr id="81" name="Original source check circular pictogram; complete visual identity separated by source image editing."/>
          <p:cNvPicPr/>
          <p:nvPr/>
        </p:nvPicPr>
        <p:blipFill>
          <a:blip r:embed="rId28"/>
          <a:stretch>
            <a:fillRect/>
          </a:stretch>
        </p:blipFill>
        <p:spPr>
          <a:xfrm>
            <a:off x="3986720" y="5207272"/>
            <a:ext cx="224989" cy="224519"/>
          </a:xfrm>
          <a:prstGeom prst="rect">
            <a:avLst/>
          </a:prstGeom>
        </p:spPr>
      </p:pic>
      <p:pic>
        <p:nvPicPr>
          <p:cNvPr id="82" name="Original source field circular pictogram; complete visual identity separated by source image editing."/>
          <p:cNvPicPr/>
          <p:nvPr/>
        </p:nvPicPr>
        <p:blipFill>
          <a:blip r:embed="rId33"/>
          <a:stretch>
            <a:fillRect/>
          </a:stretch>
        </p:blipFill>
        <p:spPr>
          <a:xfrm>
            <a:off x="8878032" y="4747905"/>
            <a:ext cx="550922" cy="506392"/>
          </a:xfrm>
          <a:prstGeom prst="rect">
            <a:avLst/>
          </a:prstGeom>
        </p:spPr>
      </p:pic>
      <p:pic>
        <p:nvPicPr>
          <p:cNvPr id="83" name="Original source person circular pictogram; complete visual identity separated by source image editing."/>
          <p:cNvPicPr/>
          <p:nvPr/>
        </p:nvPicPr>
        <p:blipFill>
          <a:blip r:embed="rId34"/>
          <a:stretch>
            <a:fillRect/>
          </a:stretch>
        </p:blipFill>
        <p:spPr>
          <a:xfrm>
            <a:off x="8889557" y="5270339"/>
            <a:ext cx="537517" cy="515073"/>
          </a:xfrm>
          <a:prstGeom prst="rect">
            <a:avLst/>
          </a:prstGeom>
        </p:spPr>
      </p:pic>
      <p:pic>
        <p:nvPicPr>
          <p:cNvPr id="84" name="Original source coins circular pictogram; complete visual identity separated by source image editing."/>
          <p:cNvPicPr/>
          <p:nvPr/>
        </p:nvPicPr>
        <p:blipFill>
          <a:blip r:embed="rId35"/>
          <a:stretch>
            <a:fillRect/>
          </a:stretch>
        </p:blipFill>
        <p:spPr>
          <a:xfrm>
            <a:off x="8877437" y="5839428"/>
            <a:ext cx="561758" cy="515073"/>
          </a:xfrm>
          <a:prstGeom prst="rect">
            <a:avLst/>
          </a:prstGeom>
        </p:spPr>
      </p:pic>
      <p:sp>
        <p:nvSpPr>
          <p:cNvPr id="85" name="Line 85"/>
          <p:cNvSpPr/>
          <p:nvPr/>
        </p:nvSpPr>
        <p:spPr>
          <a:xfrm>
            <a:off x="10055354" y="1620456"/>
            <a:ext cx="212203" cy="0"/>
          </a:xfrm>
          <a:prstGeom prst="line">
            <a:avLst/>
          </a:prstGeom>
          <a:noFill/>
          <a:ln w="50800">
            <a:solidFill>
              <a:srgbClr val="ACDEAD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6" name="TextBox 86"/>
          <p:cNvSpPr txBox="1"/>
          <p:nvPr/>
        </p:nvSpPr>
        <p:spPr>
          <a:xfrm>
            <a:off x="728088" y="260430"/>
            <a:ext cx="2141316" cy="4051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50" b="1" i="1">
                <a:solidFill>
                  <a:srgbClr val="FCEBAF"/>
                </a:solidFill>
                <a:latin typeface="Microsoft YaHei"/>
                <a:ea typeface="Microsoft YaHei"/>
                <a:cs typeface="Microsoft YaHei"/>
              </a:rPr>
              <a:t>全球贸易概览</a:t>
            </a:r>
            <a:endParaRPr lang="zh-CN" sz="2750"/>
          </a:p>
        </p:txBody>
      </p:sp>
      <p:sp>
        <p:nvSpPr>
          <p:cNvPr id="87" name="TextBox 87"/>
          <p:cNvSpPr txBox="1"/>
          <p:nvPr/>
        </p:nvSpPr>
        <p:spPr>
          <a:xfrm>
            <a:off x="3380620" y="299013"/>
            <a:ext cx="3829291" cy="3858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>
                <a:solidFill>
                  <a:srgbClr val="004D31"/>
                </a:solidFill>
                <a:latin typeface="KaiTi"/>
                <a:ea typeface="KaiTi"/>
                <a:cs typeface="KaiTi"/>
              </a:rPr>
              <a:t>（二）东南亚农用地膜贸易特点</a:t>
            </a:r>
            <a:endParaRPr lang="zh-CN" sz="2100"/>
          </a:p>
        </p:txBody>
      </p:sp>
      <p:sp>
        <p:nvSpPr>
          <p:cNvPr id="88" name="TextBox 88"/>
          <p:cNvSpPr txBox="1"/>
          <p:nvPr/>
        </p:nvSpPr>
        <p:spPr>
          <a:xfrm>
            <a:off x="467658" y="858456"/>
            <a:ext cx="655899" cy="5594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250" b="1" i="1">
                <a:solidFill>
                  <a:srgbClr val="486019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4250"/>
          </a:p>
        </p:txBody>
      </p:sp>
      <p:sp>
        <p:nvSpPr>
          <p:cNvPr id="89" name="TextBox 89"/>
          <p:cNvSpPr txBox="1"/>
          <p:nvPr/>
        </p:nvSpPr>
        <p:spPr>
          <a:xfrm>
            <a:off x="1316468" y="974203"/>
            <a:ext cx="2671823" cy="3279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净进口格局，本土产能不足</a:t>
            </a:r>
            <a:endParaRPr lang="zh-CN" sz="1750"/>
          </a:p>
        </p:txBody>
      </p:sp>
      <p:sp>
        <p:nvSpPr>
          <p:cNvPr id="90" name="TextBox 90"/>
          <p:cNvSpPr txBox="1"/>
          <p:nvPr/>
        </p:nvSpPr>
        <p:spPr>
          <a:xfrm>
            <a:off x="6341810" y="858456"/>
            <a:ext cx="655899" cy="5594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250" b="1" i="1">
                <a:solidFill>
                  <a:srgbClr val="486019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4250"/>
          </a:p>
        </p:txBody>
      </p:sp>
      <p:sp>
        <p:nvSpPr>
          <p:cNvPr id="91" name="TextBox 91"/>
          <p:cNvSpPr txBox="1"/>
          <p:nvPr/>
        </p:nvSpPr>
        <p:spPr>
          <a:xfrm>
            <a:off x="7248493" y="974203"/>
            <a:ext cx="3086582" cy="3279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政策驱动，RCEP 释放关税红利</a:t>
            </a:r>
            <a:endParaRPr lang="zh-CN" sz="1750"/>
          </a:p>
        </p:txBody>
      </p:sp>
      <p:sp>
        <p:nvSpPr>
          <p:cNvPr id="92" name="TextBox 92"/>
          <p:cNvSpPr txBox="1"/>
          <p:nvPr/>
        </p:nvSpPr>
        <p:spPr>
          <a:xfrm>
            <a:off x="467658" y="3790709"/>
            <a:ext cx="655899" cy="5594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250" b="1" i="1">
                <a:solidFill>
                  <a:srgbClr val="486019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4250"/>
          </a:p>
        </p:txBody>
      </p:sp>
      <p:sp>
        <p:nvSpPr>
          <p:cNvPr id="93" name="TextBox 93"/>
          <p:cNvSpPr txBox="1"/>
          <p:nvPr/>
        </p:nvSpPr>
        <p:spPr>
          <a:xfrm>
            <a:off x="1316468" y="3906456"/>
            <a:ext cx="3086582" cy="3279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产品偏好清晰，采购特征分层</a:t>
            </a:r>
            <a:endParaRPr lang="zh-CN" sz="1750"/>
          </a:p>
        </p:txBody>
      </p:sp>
      <p:sp>
        <p:nvSpPr>
          <p:cNvPr id="94" name="TextBox 94"/>
          <p:cNvSpPr txBox="1"/>
          <p:nvPr/>
        </p:nvSpPr>
        <p:spPr>
          <a:xfrm>
            <a:off x="1036746" y="1437190"/>
            <a:ext cx="2652532" cy="2314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东南亚农用地膜需求稳定增长，</a:t>
            </a:r>
            <a:endParaRPr lang="zh-CN" sz="1150"/>
          </a:p>
        </p:txBody>
      </p:sp>
      <p:sp>
        <p:nvSpPr>
          <p:cNvPr id="95" name="TextBox 95"/>
          <p:cNvSpPr txBox="1"/>
          <p:nvPr/>
        </p:nvSpPr>
        <p:spPr>
          <a:xfrm>
            <a:off x="1036746" y="1659038"/>
            <a:ext cx="1456481" cy="2122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可降解地膜需求增速</a:t>
            </a:r>
            <a:endParaRPr lang="zh-CN" sz="1150"/>
          </a:p>
        </p:txBody>
      </p:sp>
      <p:sp>
        <p:nvSpPr>
          <p:cNvPr id="96" name="TextBox 96"/>
          <p:cNvSpPr txBox="1"/>
          <p:nvPr/>
        </p:nvSpPr>
        <p:spPr>
          <a:xfrm>
            <a:off x="2522164" y="1591519"/>
            <a:ext cx="655899" cy="3279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5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18.7</a:t>
            </a:r>
            <a:endParaRPr lang="zh-CN" sz="2350"/>
          </a:p>
        </p:txBody>
      </p:sp>
      <p:sp>
        <p:nvSpPr>
          <p:cNvPr id="97" name="TextBox 97"/>
          <p:cNvSpPr txBox="1"/>
          <p:nvPr/>
        </p:nvSpPr>
        <p:spPr>
          <a:xfrm>
            <a:off x="3081607" y="1668684"/>
            <a:ext cx="173620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7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1370"/>
          </a:p>
        </p:txBody>
      </p:sp>
      <p:sp>
        <p:nvSpPr>
          <p:cNvPr id="98" name="TextBox 98"/>
          <p:cNvSpPr txBox="1"/>
          <p:nvPr/>
        </p:nvSpPr>
        <p:spPr>
          <a:xfrm>
            <a:off x="3255227" y="1668684"/>
            <a:ext cx="144684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4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，</a:t>
            </a:r>
            <a:endParaRPr lang="zh-CN" sz="1140"/>
          </a:p>
        </p:txBody>
      </p:sp>
      <p:sp>
        <p:nvSpPr>
          <p:cNvPr id="99" name="TextBox 99"/>
          <p:cNvSpPr txBox="1"/>
          <p:nvPr/>
        </p:nvSpPr>
        <p:spPr>
          <a:xfrm>
            <a:off x="1036746" y="1880886"/>
            <a:ext cx="1311797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高于传统 PE 地膜</a:t>
            </a:r>
            <a:endParaRPr lang="zh-CN" sz="1150"/>
          </a:p>
        </p:txBody>
      </p:sp>
      <p:sp>
        <p:nvSpPr>
          <p:cNvPr id="100" name="TextBox 100"/>
          <p:cNvSpPr txBox="1"/>
          <p:nvPr/>
        </p:nvSpPr>
        <p:spPr>
          <a:xfrm>
            <a:off x="2309962" y="1832658"/>
            <a:ext cx="491924" cy="2990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5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3.2</a:t>
            </a:r>
            <a:endParaRPr lang="zh-CN" sz="2350"/>
          </a:p>
        </p:txBody>
      </p:sp>
      <p:sp>
        <p:nvSpPr>
          <p:cNvPr id="101" name="TextBox 101"/>
          <p:cNvSpPr txBox="1"/>
          <p:nvPr/>
        </p:nvSpPr>
        <p:spPr>
          <a:xfrm>
            <a:off x="2763303" y="1909823"/>
            <a:ext cx="327949" cy="2122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%。</a:t>
            </a:r>
            <a:endParaRPr lang="zh-CN" sz="1500"/>
          </a:p>
        </p:txBody>
      </p:sp>
      <p:sp>
        <p:nvSpPr>
          <p:cNvPr id="102" name="TextBox 102"/>
          <p:cNvSpPr txBox="1"/>
          <p:nvPr/>
        </p:nvSpPr>
        <p:spPr>
          <a:xfrm>
            <a:off x="988518" y="2286000"/>
            <a:ext cx="877747" cy="2122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2025 年总供给</a:t>
            </a:r>
            <a:endParaRPr lang="zh-CN" sz="980"/>
          </a:p>
        </p:txBody>
      </p:sp>
      <p:sp>
        <p:nvSpPr>
          <p:cNvPr id="103" name="TextBox 103"/>
          <p:cNvSpPr txBox="1"/>
          <p:nvPr/>
        </p:nvSpPr>
        <p:spPr>
          <a:xfrm>
            <a:off x="1017455" y="2411392"/>
            <a:ext cx="491924" cy="4051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43</a:t>
            </a:r>
            <a:endParaRPr lang="zh-CN" sz="3000"/>
          </a:p>
        </p:txBody>
      </p:sp>
      <p:sp>
        <p:nvSpPr>
          <p:cNvPr id="104" name="TextBox 104"/>
          <p:cNvSpPr txBox="1"/>
          <p:nvPr/>
        </p:nvSpPr>
        <p:spPr>
          <a:xfrm>
            <a:off x="1490088" y="2623595"/>
            <a:ext cx="250785" cy="135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50" b="1">
                <a:solidFill>
                  <a:srgbClr val="F47C00"/>
                </a:solidFill>
                <a:latin typeface="SimSun"/>
                <a:ea typeface="SimSun"/>
                <a:cs typeface="SimSun"/>
              </a:rPr>
              <a:t>万吨</a:t>
            </a:r>
            <a:endParaRPr lang="zh-CN" sz="850"/>
          </a:p>
        </p:txBody>
      </p:sp>
      <p:sp>
        <p:nvSpPr>
          <p:cNvPr id="105" name="TextBox 105"/>
          <p:cNvSpPr txBox="1"/>
          <p:nvPr/>
        </p:nvSpPr>
        <p:spPr>
          <a:xfrm>
            <a:off x="2367835" y="2295646"/>
            <a:ext cx="607671" cy="2025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本土自产</a:t>
            </a:r>
            <a:endParaRPr lang="zh-CN" sz="980"/>
          </a:p>
        </p:txBody>
      </p:sp>
      <p:sp>
        <p:nvSpPr>
          <p:cNvPr id="106" name="TextBox 106"/>
          <p:cNvSpPr txBox="1"/>
          <p:nvPr/>
        </p:nvSpPr>
        <p:spPr>
          <a:xfrm>
            <a:off x="2338898" y="2488557"/>
            <a:ext cx="270076" cy="289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21</a:t>
            </a:r>
            <a:endParaRPr lang="zh-CN" sz="1930"/>
          </a:p>
        </p:txBody>
      </p:sp>
      <p:sp>
        <p:nvSpPr>
          <p:cNvPr id="107" name="TextBox 107"/>
          <p:cNvSpPr txBox="1"/>
          <p:nvPr/>
        </p:nvSpPr>
        <p:spPr>
          <a:xfrm>
            <a:off x="2608974" y="2585013"/>
            <a:ext cx="241139" cy="1446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万吨</a:t>
            </a:r>
            <a:endParaRPr lang="zh-CN" sz="800"/>
          </a:p>
        </p:txBody>
      </p:sp>
      <p:sp>
        <p:nvSpPr>
          <p:cNvPr id="108" name="TextBox 108"/>
          <p:cNvSpPr txBox="1"/>
          <p:nvPr/>
        </p:nvSpPr>
        <p:spPr>
          <a:xfrm>
            <a:off x="3428848" y="2295646"/>
            <a:ext cx="434051" cy="2025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进口</a:t>
            </a:r>
            <a:endParaRPr lang="zh-CN" sz="980"/>
          </a:p>
        </p:txBody>
      </p:sp>
      <p:sp>
        <p:nvSpPr>
          <p:cNvPr id="109" name="TextBox 109"/>
          <p:cNvSpPr txBox="1"/>
          <p:nvPr/>
        </p:nvSpPr>
        <p:spPr>
          <a:xfrm>
            <a:off x="3390265" y="2488557"/>
            <a:ext cx="270076" cy="289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3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22</a:t>
            </a:r>
            <a:endParaRPr lang="zh-CN" sz="1930"/>
          </a:p>
        </p:txBody>
      </p:sp>
      <p:sp>
        <p:nvSpPr>
          <p:cNvPr id="110" name="TextBox 110"/>
          <p:cNvSpPr txBox="1"/>
          <p:nvPr/>
        </p:nvSpPr>
        <p:spPr>
          <a:xfrm>
            <a:off x="3650696" y="2585013"/>
            <a:ext cx="241139" cy="1446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万吨</a:t>
            </a:r>
            <a:endParaRPr lang="zh-CN" sz="800"/>
          </a:p>
        </p:txBody>
      </p:sp>
      <p:sp>
        <p:nvSpPr>
          <p:cNvPr id="111" name="TextBox 111"/>
          <p:cNvSpPr txBox="1"/>
          <p:nvPr/>
        </p:nvSpPr>
        <p:spPr>
          <a:xfrm>
            <a:off x="1007810" y="2922608"/>
            <a:ext cx="1147823" cy="2122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整体自给率不足</a:t>
            </a:r>
            <a:endParaRPr lang="zh-CN" sz="1000"/>
          </a:p>
        </p:txBody>
      </p:sp>
      <p:sp>
        <p:nvSpPr>
          <p:cNvPr id="112" name="TextBox 112"/>
          <p:cNvSpPr txBox="1"/>
          <p:nvPr/>
        </p:nvSpPr>
        <p:spPr>
          <a:xfrm>
            <a:off x="1075329" y="3076937"/>
            <a:ext cx="462987" cy="414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50</a:t>
            </a:r>
            <a:endParaRPr lang="zh-CN" sz="3150"/>
          </a:p>
        </p:txBody>
      </p:sp>
      <p:sp>
        <p:nvSpPr>
          <p:cNvPr id="113" name="TextBox 113"/>
          <p:cNvSpPr txBox="1"/>
          <p:nvPr/>
        </p:nvSpPr>
        <p:spPr>
          <a:xfrm>
            <a:off x="1480443" y="3240911"/>
            <a:ext cx="260430" cy="2700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2050"/>
          </a:p>
        </p:txBody>
      </p:sp>
      <p:sp>
        <p:nvSpPr>
          <p:cNvPr id="114" name="TextBox 114"/>
          <p:cNvSpPr txBox="1"/>
          <p:nvPr/>
        </p:nvSpPr>
        <p:spPr>
          <a:xfrm>
            <a:off x="2898341" y="2874380"/>
            <a:ext cx="1051367" cy="3858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中国改性降解膜</a:t>
            </a:r>
            <a:endParaRPr lang="zh-CN" sz="980"/>
          </a:p>
          <a:p>
            <a:pPr algn="l"/>
            <a:r>
              <a:rPr lang="zh-CN" sz="98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占区域总进口量</a:t>
            </a:r>
            <a:endParaRPr lang="zh-CN" sz="980"/>
          </a:p>
        </p:txBody>
      </p:sp>
      <p:sp>
        <p:nvSpPr>
          <p:cNvPr id="115" name="TextBox 115"/>
          <p:cNvSpPr txBox="1"/>
          <p:nvPr/>
        </p:nvSpPr>
        <p:spPr>
          <a:xfrm>
            <a:off x="3014088" y="3183038"/>
            <a:ext cx="472633" cy="3761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6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61</a:t>
            </a:r>
            <a:endParaRPr lang="zh-CN" sz="2960"/>
          </a:p>
        </p:txBody>
      </p:sp>
      <p:sp>
        <p:nvSpPr>
          <p:cNvPr id="116" name="TextBox 116"/>
          <p:cNvSpPr txBox="1"/>
          <p:nvPr/>
        </p:nvSpPr>
        <p:spPr>
          <a:xfrm>
            <a:off x="3438493" y="3318076"/>
            <a:ext cx="260430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 i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1750"/>
          </a:p>
        </p:txBody>
      </p:sp>
      <p:sp>
        <p:nvSpPr>
          <p:cNvPr id="117" name="TextBox 117"/>
          <p:cNvSpPr txBox="1"/>
          <p:nvPr/>
        </p:nvSpPr>
        <p:spPr>
          <a:xfrm>
            <a:off x="4036518" y="1919468"/>
            <a:ext cx="598025" cy="5594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本土自产</a:t>
            </a:r>
            <a:endParaRPr lang="zh-CN" sz="1050"/>
          </a:p>
          <a:p>
            <a:pPr algn="ctr"/>
            <a:r>
              <a:rPr lang="zh-CN" sz="1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21万吨</a:t>
            </a:r>
            <a:endParaRPr lang="zh-CN" sz="1050"/>
          </a:p>
          <a:p>
            <a:pPr algn="ctr"/>
            <a:r>
              <a:rPr lang="zh-CN" sz="1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(49%)</a:t>
            </a:r>
            <a:endParaRPr lang="zh-CN" sz="1050"/>
          </a:p>
        </p:txBody>
      </p:sp>
      <p:sp>
        <p:nvSpPr>
          <p:cNvPr id="118" name="TextBox 118"/>
          <p:cNvSpPr txBox="1"/>
          <p:nvPr/>
        </p:nvSpPr>
        <p:spPr>
          <a:xfrm>
            <a:off x="5319379" y="2064152"/>
            <a:ext cx="559443" cy="5497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进口</a:t>
            </a:r>
            <a:endParaRPr lang="zh-CN" sz="1050"/>
          </a:p>
          <a:p>
            <a:pPr algn="ctr"/>
            <a:r>
              <a:rPr lang="zh-CN" sz="1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22万吨</a:t>
            </a:r>
            <a:endParaRPr lang="zh-CN" sz="1050"/>
          </a:p>
          <a:p>
            <a:pPr algn="ctr"/>
            <a:r>
              <a:rPr lang="zh-CN" sz="1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(51%)</a:t>
            </a:r>
            <a:endParaRPr lang="zh-CN" sz="1050"/>
          </a:p>
        </p:txBody>
      </p:sp>
      <p:sp>
        <p:nvSpPr>
          <p:cNvPr id="119" name="TextBox 119"/>
          <p:cNvSpPr txBox="1"/>
          <p:nvPr/>
        </p:nvSpPr>
        <p:spPr>
          <a:xfrm>
            <a:off x="4624898" y="1919468"/>
            <a:ext cx="665544" cy="3761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2025年</a:t>
            </a:r>
            <a:endParaRPr lang="zh-CN" sz="1050"/>
          </a:p>
          <a:p>
            <a:pPr algn="ctr"/>
            <a:r>
              <a:rPr lang="zh-CN" sz="105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总供给</a:t>
            </a:r>
            <a:endParaRPr lang="zh-CN" sz="1050"/>
          </a:p>
        </p:txBody>
      </p:sp>
      <p:sp>
        <p:nvSpPr>
          <p:cNvPr id="120" name="TextBox 120"/>
          <p:cNvSpPr txBox="1"/>
          <p:nvPr/>
        </p:nvSpPr>
        <p:spPr>
          <a:xfrm>
            <a:off x="4692417" y="2266709"/>
            <a:ext cx="270076" cy="2507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003B27"/>
                </a:solidFill>
                <a:latin typeface="Liberation Serif"/>
                <a:ea typeface="Liberation Serif"/>
                <a:cs typeface="Liberation Serif"/>
              </a:rPr>
              <a:t>43</a:t>
            </a:r>
            <a:endParaRPr lang="zh-CN" sz="1600"/>
          </a:p>
        </p:txBody>
      </p:sp>
      <p:sp>
        <p:nvSpPr>
          <p:cNvPr id="121" name="TextBox 121"/>
          <p:cNvSpPr txBox="1"/>
          <p:nvPr/>
        </p:nvSpPr>
        <p:spPr>
          <a:xfrm>
            <a:off x="4933556" y="2314937"/>
            <a:ext cx="289367" cy="1736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万吨</a:t>
            </a:r>
            <a:endParaRPr lang="zh-CN" sz="919"/>
          </a:p>
        </p:txBody>
      </p:sp>
      <p:sp>
        <p:nvSpPr>
          <p:cNvPr id="122" name="TextBox 122"/>
          <p:cNvSpPr txBox="1"/>
          <p:nvPr/>
        </p:nvSpPr>
        <p:spPr>
          <a:xfrm>
            <a:off x="6930189" y="1446835"/>
            <a:ext cx="1823013" cy="424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东南亚多国同步推进农业减塑</a:t>
            </a:r>
            <a:endParaRPr lang="zh-CN" sz="1000"/>
          </a:p>
          <a:p>
            <a:pPr algn="l"/>
            <a:r>
              <a:rPr lang="zh-CN" sz="10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与 BCG 绿色经济政策。</a:t>
            </a:r>
            <a:endParaRPr lang="zh-CN" sz="1000"/>
          </a:p>
        </p:txBody>
      </p:sp>
      <p:sp>
        <p:nvSpPr>
          <p:cNvPr id="123" name="TextBox 123"/>
          <p:cNvSpPr txBox="1"/>
          <p:nvPr/>
        </p:nvSpPr>
        <p:spPr>
          <a:xfrm>
            <a:off x="6930189" y="1986987"/>
            <a:ext cx="1823013" cy="424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泰国等国开展土壤生物降解</a:t>
            </a:r>
            <a:endParaRPr lang="zh-CN" sz="1000"/>
          </a:p>
          <a:p>
            <a:pPr algn="l"/>
            <a:r>
              <a:rPr lang="zh-CN" sz="10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地膜示范推广。</a:t>
            </a:r>
            <a:endParaRPr lang="zh-CN" sz="1000"/>
          </a:p>
        </p:txBody>
      </p:sp>
      <p:sp>
        <p:nvSpPr>
          <p:cNvPr id="124" name="TextBox 124"/>
          <p:cNvSpPr txBox="1"/>
          <p:nvPr/>
        </p:nvSpPr>
        <p:spPr>
          <a:xfrm>
            <a:off x="6930189" y="2507848"/>
            <a:ext cx="1823013" cy="424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HS3920 塑料薄膜品类</a:t>
            </a:r>
            <a:endParaRPr lang="zh-CN" sz="1000"/>
          </a:p>
          <a:p>
            <a:pPr algn="l"/>
            <a:r>
              <a:rPr lang="zh-CN" sz="10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实行分阶段降税。</a:t>
            </a:r>
            <a:endParaRPr lang="zh-CN" sz="1000"/>
          </a:p>
        </p:txBody>
      </p:sp>
      <p:sp>
        <p:nvSpPr>
          <p:cNvPr id="125" name="TextBox 125"/>
          <p:cNvSpPr txBox="1"/>
          <p:nvPr/>
        </p:nvSpPr>
        <p:spPr>
          <a:xfrm>
            <a:off x="6930189" y="3028709"/>
            <a:ext cx="1823013" cy="424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9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RCEP 原产地规则叠加协定税率，</a:t>
            </a:r>
            <a:endParaRPr lang="zh-CN" sz="990"/>
          </a:p>
          <a:p>
            <a:pPr algn="l"/>
            <a:r>
              <a:rPr lang="zh-CN" sz="99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进口成本持续优化。</a:t>
            </a:r>
            <a:endParaRPr lang="zh-CN" sz="990"/>
          </a:p>
        </p:txBody>
      </p:sp>
      <p:sp>
        <p:nvSpPr>
          <p:cNvPr id="126" name="TextBox 126"/>
          <p:cNvSpPr txBox="1"/>
          <p:nvPr/>
        </p:nvSpPr>
        <p:spPr>
          <a:xfrm>
            <a:off x="9148670" y="1495063"/>
            <a:ext cx="868101" cy="2604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最惠国税率</a:t>
            </a:r>
            <a:endParaRPr lang="zh-CN" sz="1250"/>
          </a:p>
        </p:txBody>
      </p:sp>
      <p:sp>
        <p:nvSpPr>
          <p:cNvPr id="127" name="TextBox 127"/>
          <p:cNvSpPr txBox="1"/>
          <p:nvPr/>
        </p:nvSpPr>
        <p:spPr>
          <a:xfrm>
            <a:off x="10373658" y="1495063"/>
            <a:ext cx="1282861" cy="2604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RCEP 协定税率</a:t>
            </a:r>
            <a:endParaRPr lang="zh-CN" sz="1250"/>
          </a:p>
        </p:txBody>
      </p:sp>
      <p:sp>
        <p:nvSpPr>
          <p:cNvPr id="128" name="TextBox 128"/>
          <p:cNvSpPr txBox="1"/>
          <p:nvPr/>
        </p:nvSpPr>
        <p:spPr>
          <a:xfrm>
            <a:off x="10228974" y="1900177"/>
            <a:ext cx="665544" cy="183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1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最惠国税率</a:t>
            </a:r>
            <a:endParaRPr lang="zh-CN" sz="810"/>
          </a:p>
        </p:txBody>
      </p:sp>
      <p:sp>
        <p:nvSpPr>
          <p:cNvPr id="129" name="TextBox 129"/>
          <p:cNvSpPr txBox="1"/>
          <p:nvPr/>
        </p:nvSpPr>
        <p:spPr>
          <a:xfrm>
            <a:off x="11048848" y="1900177"/>
            <a:ext cx="762000" cy="183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1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RCEP 协定税率</a:t>
            </a:r>
            <a:endParaRPr lang="zh-CN" sz="810"/>
          </a:p>
        </p:txBody>
      </p:sp>
      <p:sp>
        <p:nvSpPr>
          <p:cNvPr id="130" name="TextBox 130"/>
          <p:cNvSpPr txBox="1"/>
          <p:nvPr/>
        </p:nvSpPr>
        <p:spPr>
          <a:xfrm>
            <a:off x="8840012" y="3183038"/>
            <a:ext cx="279722" cy="1736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0%</a:t>
            </a:r>
            <a:endParaRPr lang="zh-CN" sz="810"/>
          </a:p>
        </p:txBody>
      </p:sp>
      <p:sp>
        <p:nvSpPr>
          <p:cNvPr id="131" name="TextBox 131"/>
          <p:cNvSpPr txBox="1"/>
          <p:nvPr/>
        </p:nvSpPr>
        <p:spPr>
          <a:xfrm>
            <a:off x="8840012" y="2963119"/>
            <a:ext cx="279722" cy="1736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5%</a:t>
            </a:r>
            <a:endParaRPr lang="zh-CN" sz="810"/>
          </a:p>
        </p:txBody>
      </p:sp>
      <p:sp>
        <p:nvSpPr>
          <p:cNvPr id="132" name="TextBox 132"/>
          <p:cNvSpPr txBox="1"/>
          <p:nvPr/>
        </p:nvSpPr>
        <p:spPr>
          <a:xfrm>
            <a:off x="8840012" y="2743200"/>
            <a:ext cx="279722" cy="1736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10%</a:t>
            </a:r>
            <a:endParaRPr lang="zh-CN" sz="810"/>
          </a:p>
        </p:txBody>
      </p:sp>
      <p:sp>
        <p:nvSpPr>
          <p:cNvPr id="133" name="TextBox 133"/>
          <p:cNvSpPr txBox="1"/>
          <p:nvPr/>
        </p:nvSpPr>
        <p:spPr>
          <a:xfrm>
            <a:off x="8840012" y="2523281"/>
            <a:ext cx="279722" cy="1736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15%</a:t>
            </a:r>
            <a:endParaRPr lang="zh-CN" sz="810"/>
          </a:p>
        </p:txBody>
      </p:sp>
      <p:sp>
        <p:nvSpPr>
          <p:cNvPr id="134" name="TextBox 134"/>
          <p:cNvSpPr txBox="1"/>
          <p:nvPr/>
        </p:nvSpPr>
        <p:spPr>
          <a:xfrm>
            <a:off x="8840012" y="2303362"/>
            <a:ext cx="279722" cy="1736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20%</a:t>
            </a:r>
            <a:endParaRPr lang="zh-CN" sz="810"/>
          </a:p>
        </p:txBody>
      </p:sp>
      <p:sp>
        <p:nvSpPr>
          <p:cNvPr id="135" name="TextBox 135"/>
          <p:cNvSpPr txBox="1"/>
          <p:nvPr/>
        </p:nvSpPr>
        <p:spPr>
          <a:xfrm>
            <a:off x="8840012" y="2083443"/>
            <a:ext cx="279722" cy="1736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81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25%</a:t>
            </a:r>
            <a:endParaRPr lang="zh-CN" sz="810"/>
          </a:p>
        </p:txBody>
      </p:sp>
      <p:sp>
        <p:nvSpPr>
          <p:cNvPr id="136" name="TextBox 136"/>
          <p:cNvSpPr txBox="1"/>
          <p:nvPr/>
        </p:nvSpPr>
        <p:spPr>
          <a:xfrm>
            <a:off x="9206544" y="2235843"/>
            <a:ext cx="270076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20%</a:t>
            </a:r>
            <a:endParaRPr lang="zh-CN" sz="850"/>
          </a:p>
        </p:txBody>
      </p:sp>
      <p:sp>
        <p:nvSpPr>
          <p:cNvPr id="137" name="TextBox 137"/>
          <p:cNvSpPr txBox="1"/>
          <p:nvPr/>
        </p:nvSpPr>
        <p:spPr>
          <a:xfrm>
            <a:off x="9389810" y="2895600"/>
            <a:ext cx="260430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5%</a:t>
            </a:r>
            <a:endParaRPr lang="zh-CN" sz="850"/>
          </a:p>
        </p:txBody>
      </p:sp>
      <p:sp>
        <p:nvSpPr>
          <p:cNvPr id="138" name="TextBox 138"/>
          <p:cNvSpPr txBox="1"/>
          <p:nvPr/>
        </p:nvSpPr>
        <p:spPr>
          <a:xfrm>
            <a:off x="9110088" y="3318076"/>
            <a:ext cx="578734" cy="1929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3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泰国</a:t>
            </a:r>
            <a:endParaRPr lang="zh-CN" sz="830"/>
          </a:p>
        </p:txBody>
      </p:sp>
      <p:sp>
        <p:nvSpPr>
          <p:cNvPr id="139" name="TextBox 139"/>
          <p:cNvSpPr txBox="1"/>
          <p:nvPr/>
        </p:nvSpPr>
        <p:spPr>
          <a:xfrm>
            <a:off x="9737050" y="2455762"/>
            <a:ext cx="270076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15%</a:t>
            </a:r>
            <a:endParaRPr lang="zh-CN" sz="850"/>
          </a:p>
        </p:txBody>
      </p:sp>
      <p:sp>
        <p:nvSpPr>
          <p:cNvPr id="140" name="TextBox 140"/>
          <p:cNvSpPr txBox="1"/>
          <p:nvPr/>
        </p:nvSpPr>
        <p:spPr>
          <a:xfrm>
            <a:off x="9920316" y="2895600"/>
            <a:ext cx="260430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5%</a:t>
            </a:r>
            <a:endParaRPr lang="zh-CN" sz="850"/>
          </a:p>
        </p:txBody>
      </p:sp>
      <p:sp>
        <p:nvSpPr>
          <p:cNvPr id="141" name="TextBox 141"/>
          <p:cNvSpPr txBox="1"/>
          <p:nvPr/>
        </p:nvSpPr>
        <p:spPr>
          <a:xfrm>
            <a:off x="9640594" y="3318076"/>
            <a:ext cx="578734" cy="1929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3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越南</a:t>
            </a:r>
            <a:endParaRPr lang="zh-CN" sz="830"/>
          </a:p>
        </p:txBody>
      </p:sp>
      <p:sp>
        <p:nvSpPr>
          <p:cNvPr id="142" name="TextBox 142"/>
          <p:cNvSpPr txBox="1"/>
          <p:nvPr/>
        </p:nvSpPr>
        <p:spPr>
          <a:xfrm>
            <a:off x="10267556" y="2675681"/>
            <a:ext cx="270076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10%</a:t>
            </a:r>
            <a:endParaRPr lang="zh-CN" sz="850"/>
          </a:p>
        </p:txBody>
      </p:sp>
      <p:sp>
        <p:nvSpPr>
          <p:cNvPr id="143" name="TextBox 143"/>
          <p:cNvSpPr txBox="1"/>
          <p:nvPr/>
        </p:nvSpPr>
        <p:spPr>
          <a:xfrm>
            <a:off x="10450822" y="3115519"/>
            <a:ext cx="260430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0%</a:t>
            </a:r>
            <a:endParaRPr lang="zh-CN" sz="850"/>
          </a:p>
        </p:txBody>
      </p:sp>
      <p:sp>
        <p:nvSpPr>
          <p:cNvPr id="144" name="TextBox 144"/>
          <p:cNvSpPr txBox="1"/>
          <p:nvPr/>
        </p:nvSpPr>
        <p:spPr>
          <a:xfrm>
            <a:off x="10171101" y="3318076"/>
            <a:ext cx="578734" cy="1929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3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马来西亚</a:t>
            </a:r>
            <a:endParaRPr lang="zh-CN" sz="830"/>
          </a:p>
        </p:txBody>
      </p:sp>
      <p:sp>
        <p:nvSpPr>
          <p:cNvPr id="145" name="TextBox 145"/>
          <p:cNvSpPr txBox="1"/>
          <p:nvPr/>
        </p:nvSpPr>
        <p:spPr>
          <a:xfrm>
            <a:off x="10798063" y="2675681"/>
            <a:ext cx="270076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10%</a:t>
            </a:r>
            <a:endParaRPr lang="zh-CN" sz="850"/>
          </a:p>
        </p:txBody>
      </p:sp>
      <p:sp>
        <p:nvSpPr>
          <p:cNvPr id="146" name="TextBox 146"/>
          <p:cNvSpPr txBox="1"/>
          <p:nvPr/>
        </p:nvSpPr>
        <p:spPr>
          <a:xfrm>
            <a:off x="10981329" y="2895600"/>
            <a:ext cx="260430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5%</a:t>
            </a:r>
            <a:endParaRPr lang="zh-CN" sz="850"/>
          </a:p>
        </p:txBody>
      </p:sp>
      <p:sp>
        <p:nvSpPr>
          <p:cNvPr id="147" name="TextBox 147"/>
          <p:cNvSpPr txBox="1"/>
          <p:nvPr/>
        </p:nvSpPr>
        <p:spPr>
          <a:xfrm>
            <a:off x="10701607" y="3318076"/>
            <a:ext cx="578734" cy="1929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3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印度尼西亚</a:t>
            </a:r>
            <a:endParaRPr lang="zh-CN" sz="830"/>
          </a:p>
        </p:txBody>
      </p:sp>
      <p:sp>
        <p:nvSpPr>
          <p:cNvPr id="148" name="TextBox 148"/>
          <p:cNvSpPr txBox="1"/>
          <p:nvPr/>
        </p:nvSpPr>
        <p:spPr>
          <a:xfrm>
            <a:off x="11328569" y="2675681"/>
            <a:ext cx="270076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17221C"/>
                </a:solidFill>
                <a:latin typeface="Liberation Serif"/>
                <a:ea typeface="Liberation Serif"/>
                <a:cs typeface="Liberation Serif"/>
              </a:rPr>
              <a:t>10%</a:t>
            </a:r>
            <a:endParaRPr lang="zh-CN" sz="850"/>
          </a:p>
        </p:txBody>
      </p:sp>
      <p:sp>
        <p:nvSpPr>
          <p:cNvPr id="149" name="TextBox 149"/>
          <p:cNvSpPr txBox="1"/>
          <p:nvPr/>
        </p:nvSpPr>
        <p:spPr>
          <a:xfrm>
            <a:off x="11511835" y="2895600"/>
            <a:ext cx="260430" cy="16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" b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5%</a:t>
            </a:r>
            <a:endParaRPr lang="zh-CN" sz="850"/>
          </a:p>
        </p:txBody>
      </p:sp>
      <p:sp>
        <p:nvSpPr>
          <p:cNvPr id="150" name="TextBox 150"/>
          <p:cNvSpPr txBox="1"/>
          <p:nvPr/>
        </p:nvSpPr>
        <p:spPr>
          <a:xfrm>
            <a:off x="11232113" y="3318076"/>
            <a:ext cx="578734" cy="1929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3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菲律宾</a:t>
            </a:r>
            <a:endParaRPr lang="zh-CN" sz="830"/>
          </a:p>
        </p:txBody>
      </p:sp>
      <p:sp>
        <p:nvSpPr>
          <p:cNvPr id="151" name="TextBox 151"/>
          <p:cNvSpPr txBox="1"/>
          <p:nvPr/>
        </p:nvSpPr>
        <p:spPr>
          <a:xfrm>
            <a:off x="1220012" y="4369443"/>
            <a:ext cx="906684" cy="2990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气候适配</a:t>
            </a:r>
            <a:endParaRPr lang="zh-CN" sz="1350"/>
          </a:p>
        </p:txBody>
      </p:sp>
      <p:sp>
        <p:nvSpPr>
          <p:cNvPr id="152" name="TextBox 152"/>
          <p:cNvSpPr txBox="1"/>
          <p:nvPr/>
        </p:nvSpPr>
        <p:spPr>
          <a:xfrm>
            <a:off x="4538088" y="4369443"/>
            <a:ext cx="954911" cy="2990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作物茬制</a:t>
            </a:r>
            <a:endParaRPr lang="zh-CN" sz="1350"/>
          </a:p>
        </p:txBody>
      </p:sp>
      <p:sp>
        <p:nvSpPr>
          <p:cNvPr id="153" name="TextBox 153"/>
          <p:cNvSpPr txBox="1"/>
          <p:nvPr/>
        </p:nvSpPr>
        <p:spPr>
          <a:xfrm>
            <a:off x="9563430" y="4369443"/>
            <a:ext cx="993494" cy="2990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采购分层</a:t>
            </a:r>
            <a:endParaRPr lang="zh-CN" sz="1350"/>
          </a:p>
        </p:txBody>
      </p:sp>
      <p:sp>
        <p:nvSpPr>
          <p:cNvPr id="154" name="TextBox 154"/>
          <p:cNvSpPr txBox="1"/>
          <p:nvPr/>
        </p:nvSpPr>
        <p:spPr>
          <a:xfrm>
            <a:off x="930645" y="4774557"/>
            <a:ext cx="2681468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东南亚全年高温高湿、雨季频繁，</a:t>
            </a:r>
            <a:endParaRPr lang="zh-CN" sz="1070"/>
          </a:p>
        </p:txBody>
      </p:sp>
      <p:sp>
        <p:nvSpPr>
          <p:cNvPr id="155" name="TextBox 155"/>
          <p:cNvSpPr txBox="1"/>
          <p:nvPr/>
        </p:nvSpPr>
        <p:spPr>
          <a:xfrm>
            <a:off x="930645" y="4977114"/>
            <a:ext cx="588380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优先选择</a:t>
            </a:r>
            <a:endParaRPr lang="zh-CN" sz="1070"/>
          </a:p>
        </p:txBody>
      </p:sp>
      <p:sp>
        <p:nvSpPr>
          <p:cNvPr id="156" name="TextBox 156"/>
          <p:cNvSpPr txBox="1"/>
          <p:nvPr/>
        </p:nvSpPr>
        <p:spPr>
          <a:xfrm>
            <a:off x="1509379" y="4977114"/>
            <a:ext cx="2035215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F47C00"/>
                </a:solidFill>
                <a:latin typeface="SimSun"/>
                <a:ea typeface="SimSun"/>
                <a:cs typeface="SimSun"/>
              </a:rPr>
              <a:t>PLA+PBAT 共混改性产品。</a:t>
            </a:r>
            <a:endParaRPr lang="zh-CN" sz="1070"/>
          </a:p>
        </p:txBody>
      </p:sp>
      <p:sp>
        <p:nvSpPr>
          <p:cNvPr id="157" name="TextBox 157"/>
          <p:cNvSpPr txBox="1"/>
          <p:nvPr/>
        </p:nvSpPr>
        <p:spPr>
          <a:xfrm>
            <a:off x="930645" y="5247190"/>
            <a:ext cx="2314937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纯 PLA 膜脆性较强，</a:t>
            </a:r>
            <a:endParaRPr lang="zh-CN" sz="1070"/>
          </a:p>
        </p:txBody>
      </p:sp>
      <p:sp>
        <p:nvSpPr>
          <p:cNvPr id="158" name="TextBox 158"/>
          <p:cNvSpPr txBox="1"/>
          <p:nvPr/>
        </p:nvSpPr>
        <p:spPr>
          <a:xfrm>
            <a:off x="930645" y="5449747"/>
            <a:ext cx="2314937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田间破损风险高。</a:t>
            </a:r>
            <a:endParaRPr lang="zh-CN" sz="1070"/>
          </a:p>
        </p:txBody>
      </p:sp>
      <p:sp>
        <p:nvSpPr>
          <p:cNvPr id="159" name="TextBox 159"/>
          <p:cNvSpPr txBox="1"/>
          <p:nvPr/>
        </p:nvSpPr>
        <p:spPr>
          <a:xfrm>
            <a:off x="4277658" y="4755266"/>
            <a:ext cx="588380" cy="2507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F47C00"/>
                </a:solidFill>
                <a:latin typeface="Liberation Serif"/>
                <a:ea typeface="Liberation Serif"/>
                <a:cs typeface="Liberation Serif"/>
              </a:rPr>
              <a:t>60-180</a:t>
            </a:r>
            <a:endParaRPr lang="zh-CN" sz="1400"/>
          </a:p>
        </p:txBody>
      </p:sp>
      <p:sp>
        <p:nvSpPr>
          <p:cNvPr id="160" name="TextBox 160"/>
          <p:cNvSpPr txBox="1"/>
          <p:nvPr/>
        </p:nvSpPr>
        <p:spPr>
          <a:xfrm>
            <a:off x="4856392" y="4774557"/>
            <a:ext cx="1331089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天可调降解周期，</a:t>
            </a:r>
            <a:endParaRPr lang="zh-CN" sz="1070"/>
          </a:p>
        </p:txBody>
      </p:sp>
      <p:sp>
        <p:nvSpPr>
          <p:cNvPr id="161" name="TextBox 161"/>
          <p:cNvSpPr txBox="1"/>
          <p:nvPr/>
        </p:nvSpPr>
        <p:spPr>
          <a:xfrm>
            <a:off x="4277658" y="4977114"/>
            <a:ext cx="1977342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更适配不同作物种植节奏。</a:t>
            </a:r>
            <a:endParaRPr lang="zh-CN" sz="1070"/>
          </a:p>
        </p:txBody>
      </p:sp>
      <p:sp>
        <p:nvSpPr>
          <p:cNvPr id="162" name="TextBox 162"/>
          <p:cNvSpPr txBox="1"/>
          <p:nvPr/>
        </p:nvSpPr>
        <p:spPr>
          <a:xfrm>
            <a:off x="4277658" y="5198962"/>
            <a:ext cx="1832658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适配作物：</a:t>
            </a:r>
            <a:endParaRPr lang="zh-CN" sz="1070"/>
          </a:p>
        </p:txBody>
      </p:sp>
      <p:sp>
        <p:nvSpPr>
          <p:cNvPr id="163" name="TextBox 163"/>
          <p:cNvSpPr txBox="1"/>
          <p:nvPr/>
        </p:nvSpPr>
        <p:spPr>
          <a:xfrm>
            <a:off x="4277658" y="5382228"/>
            <a:ext cx="1938759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橡胶、晚稻、热带水果。</a:t>
            </a:r>
            <a:endParaRPr lang="zh-CN" sz="1070"/>
          </a:p>
        </p:txBody>
      </p:sp>
      <p:sp>
        <p:nvSpPr>
          <p:cNvPr id="164" name="TextBox 164"/>
          <p:cNvSpPr txBox="1"/>
          <p:nvPr/>
        </p:nvSpPr>
        <p:spPr>
          <a:xfrm>
            <a:off x="4055810" y="6250329"/>
            <a:ext cx="723418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橡胶</a:t>
            </a:r>
            <a:endParaRPr lang="zh-CN" sz="1050"/>
          </a:p>
        </p:txBody>
      </p:sp>
      <p:sp>
        <p:nvSpPr>
          <p:cNvPr id="165" name="TextBox 165"/>
          <p:cNvSpPr txBox="1"/>
          <p:nvPr/>
        </p:nvSpPr>
        <p:spPr>
          <a:xfrm>
            <a:off x="4798518" y="6250329"/>
            <a:ext cx="723418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晚稻</a:t>
            </a:r>
            <a:endParaRPr lang="zh-CN" sz="1050"/>
          </a:p>
        </p:txBody>
      </p:sp>
      <p:sp>
        <p:nvSpPr>
          <p:cNvPr id="166" name="TextBox 166"/>
          <p:cNvSpPr txBox="1"/>
          <p:nvPr/>
        </p:nvSpPr>
        <p:spPr>
          <a:xfrm>
            <a:off x="5541227" y="6250329"/>
            <a:ext cx="723418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热带水果</a:t>
            </a:r>
            <a:endParaRPr lang="zh-CN" sz="1050"/>
          </a:p>
        </p:txBody>
      </p:sp>
      <p:sp>
        <p:nvSpPr>
          <p:cNvPr id="167" name="TextBox 167"/>
          <p:cNvSpPr txBox="1"/>
          <p:nvPr/>
        </p:nvSpPr>
        <p:spPr>
          <a:xfrm>
            <a:off x="9505556" y="4774557"/>
            <a:ext cx="2073797" cy="2122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规模化农场 / 合作社</a:t>
            </a:r>
            <a:endParaRPr lang="zh-CN" sz="1100"/>
          </a:p>
        </p:txBody>
      </p:sp>
      <p:sp>
        <p:nvSpPr>
          <p:cNvPr id="168" name="TextBox 168"/>
          <p:cNvSpPr txBox="1"/>
          <p:nvPr/>
        </p:nvSpPr>
        <p:spPr>
          <a:xfrm>
            <a:off x="9505556" y="4986759"/>
            <a:ext cx="2112380" cy="2122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愿意为高性能改性地膜支付溢价。</a:t>
            </a:r>
            <a:endParaRPr lang="zh-CN" sz="1070"/>
          </a:p>
        </p:txBody>
      </p:sp>
      <p:sp>
        <p:nvSpPr>
          <p:cNvPr id="169" name="TextBox 169"/>
          <p:cNvSpPr txBox="1"/>
          <p:nvPr/>
        </p:nvSpPr>
        <p:spPr>
          <a:xfrm>
            <a:off x="9505556" y="5305063"/>
            <a:ext cx="2073797" cy="2122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零散小农户</a:t>
            </a:r>
            <a:endParaRPr lang="zh-CN" sz="1100"/>
          </a:p>
        </p:txBody>
      </p:sp>
      <p:sp>
        <p:nvSpPr>
          <p:cNvPr id="170" name="TextBox 170"/>
          <p:cNvSpPr txBox="1"/>
          <p:nvPr/>
        </p:nvSpPr>
        <p:spPr>
          <a:xfrm>
            <a:off x="9505556" y="5526911"/>
            <a:ext cx="2073797" cy="2122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更关注性价比。</a:t>
            </a:r>
            <a:endParaRPr lang="zh-CN" sz="1070"/>
          </a:p>
        </p:txBody>
      </p:sp>
      <p:sp>
        <p:nvSpPr>
          <p:cNvPr id="171" name="TextBox 171"/>
          <p:cNvSpPr txBox="1"/>
          <p:nvPr/>
        </p:nvSpPr>
        <p:spPr>
          <a:xfrm>
            <a:off x="9505556" y="5854861"/>
            <a:ext cx="2073797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依托 RCEP 关税红利，</a:t>
            </a:r>
            <a:endParaRPr lang="zh-CN" sz="1100"/>
          </a:p>
        </p:txBody>
      </p:sp>
      <p:sp>
        <p:nvSpPr>
          <p:cNvPr id="172" name="TextBox 172"/>
          <p:cNvSpPr txBox="1"/>
          <p:nvPr/>
        </p:nvSpPr>
        <p:spPr>
          <a:xfrm>
            <a:off x="9505556" y="6076709"/>
            <a:ext cx="2112380" cy="2218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7221C"/>
                </a:solidFill>
                <a:latin typeface="SimSun"/>
                <a:ea typeface="SimSun"/>
                <a:cs typeface="SimSun"/>
              </a:rPr>
              <a:t>可压缩终端定价，实现更广覆盖。</a:t>
            </a:r>
            <a:endParaRPr lang="zh-CN" sz="107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mint fibrous paper and sunlit mulch-field scene with source lower-right film roll"/>
          <p:cNvPicPr/>
          <p:nvPr/>
        </p:nvPicPr>
        <p:blipFill>
          <a:blip r:embed="rId2"/>
          <a:stretch>
            <a:fillRect/>
          </a:stretch>
        </p:blipFill>
        <p:spPr>
          <a:xfrm>
            <a:off x="188" y="0"/>
            <a:ext cx="12191320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496168" y="208189"/>
            <a:ext cx="2694214" cy="47148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" y="0"/>
                </a:moveTo>
                <a:lnTo>
                  <a:pt x="21600" y="0"/>
                </a:lnTo>
                <a:lnTo>
                  <a:pt x="2056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5DE8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3135273" y="220436"/>
            <a:ext cx="5149623" cy="45311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39" y="0"/>
                </a:moveTo>
                <a:lnTo>
                  <a:pt x="21600" y="0"/>
                </a:lnTo>
                <a:lnTo>
                  <a:pt x="2100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3F1E7"/>
          </a:solidFill>
          <a:ln w="7620">
            <a:solidFill>
              <a:srgbClr val="8DC7A4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263486" y="845004"/>
            <a:ext cx="6202816" cy="3141209"/>
          </a:xfrm>
          <a:prstGeom prst="roundRect">
            <a:avLst>
              <a:gd name="adj" fmla="val 4483"/>
            </a:avLst>
          </a:prstGeom>
          <a:solidFill>
            <a:srgbClr val="FDFFFC"/>
          </a:solidFill>
          <a:ln w="8255">
            <a:solidFill>
              <a:srgbClr val="9CD9BB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570397" y="845004"/>
            <a:ext cx="5382305" cy="3141209"/>
          </a:xfrm>
          <a:prstGeom prst="roundRect">
            <a:avLst>
              <a:gd name="adj" fmla="val 4483"/>
            </a:avLst>
          </a:prstGeom>
          <a:solidFill>
            <a:srgbClr val="FDFFFC"/>
          </a:solidFill>
          <a:ln w="8255">
            <a:solidFill>
              <a:srgbClr val="9CD9BB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63486" y="4096430"/>
            <a:ext cx="8884784" cy="2424793"/>
          </a:xfrm>
          <a:prstGeom prst="roundRect">
            <a:avLst>
              <a:gd name="adj" fmla="val 5808"/>
            </a:avLst>
          </a:prstGeom>
          <a:solidFill>
            <a:srgbClr val="FDFFFC"/>
          </a:solidFill>
          <a:ln w="8255">
            <a:solidFill>
              <a:srgbClr val="9CD9BB"/>
            </a:solidFill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606386" y="208189"/>
            <a:ext cx="2467655" cy="47148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26" y="0"/>
                </a:moveTo>
                <a:lnTo>
                  <a:pt x="21600" y="0"/>
                </a:lnTo>
                <a:lnTo>
                  <a:pt x="2047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3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1047257" y="1806348"/>
            <a:ext cx="2945266" cy="94909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6017" y="17419"/>
                  <a:pt x="16436" y="15747"/>
                  <a:pt x="21600" y="0"/>
                </a:cubicBezTo>
              </a:path>
            </a:pathLst>
          </a:custGeom>
          <a:noFill/>
          <a:ln w="104139">
            <a:solidFill>
              <a:srgbClr val="EDF6E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6931666" y="1941059"/>
            <a:ext cx="2853418" cy="53272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6138"/>
                </a:moveTo>
                <a:cubicBezTo>
                  <a:pt x="9409" y="20855"/>
                  <a:pt x="16872" y="21600"/>
                  <a:pt x="21600" y="0"/>
                </a:cubicBezTo>
              </a:path>
            </a:pathLst>
          </a:custGeom>
          <a:noFill/>
          <a:ln w="88900">
            <a:solidFill>
              <a:srgbClr val="F0F7E9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7084747" y="1806348"/>
            <a:ext cx="2743200" cy="67355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5709"/>
                </a:moveTo>
                <a:cubicBezTo>
                  <a:pt x="10462" y="589"/>
                  <a:pt x="14030" y="0"/>
                  <a:pt x="21600" y="21600"/>
                </a:cubicBezTo>
              </a:path>
            </a:pathLst>
          </a:custGeom>
          <a:noFill/>
          <a:ln w="76200">
            <a:solidFill>
              <a:srgbClr val="ECF5E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63486" y="4929188"/>
            <a:ext cx="3765777" cy="1549173"/>
          </a:xfrm>
          <a:prstGeom prst="roundRect">
            <a:avLst>
              <a:gd name="adj" fmla="val 7905"/>
            </a:avLst>
          </a:prstGeom>
          <a:solidFill>
            <a:srgbClr val="FCFFFA"/>
          </a:solidFill>
          <a:ln w="6985">
            <a:solidFill>
              <a:srgbClr val="C1E7CC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096618" y="4592411"/>
            <a:ext cx="2296205" cy="1910443"/>
          </a:xfrm>
          <a:prstGeom prst="roundRect">
            <a:avLst>
              <a:gd name="adj" fmla="val 6410"/>
            </a:avLst>
          </a:prstGeom>
          <a:solidFill>
            <a:srgbClr val="FCFFFA"/>
          </a:solidFill>
          <a:ln w="6985">
            <a:solidFill>
              <a:srgbClr val="C1E7CC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460179" y="4592411"/>
            <a:ext cx="2688091" cy="1916566"/>
          </a:xfrm>
          <a:prstGeom prst="roundRect">
            <a:avLst>
              <a:gd name="adj" fmla="val 6390"/>
            </a:avLst>
          </a:prstGeom>
          <a:solidFill>
            <a:srgbClr val="FCFFFA"/>
          </a:solidFill>
          <a:ln w="6985">
            <a:solidFill>
              <a:srgbClr val="C1E7CC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4335423" y="1402216"/>
            <a:ext cx="2039030" cy="734786"/>
          </a:xfrm>
          <a:prstGeom prst="roundRect">
            <a:avLst>
              <a:gd name="adj" fmla="val 19167"/>
            </a:avLst>
          </a:prstGeom>
          <a:solidFill>
            <a:srgbClr val="EFF8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4335423" y="2192111"/>
            <a:ext cx="2039030" cy="728662"/>
          </a:xfrm>
          <a:prstGeom prst="roundRect">
            <a:avLst>
              <a:gd name="adj" fmla="val 19328"/>
            </a:avLst>
          </a:prstGeom>
          <a:solidFill>
            <a:srgbClr val="EFF8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4335423" y="2975882"/>
            <a:ext cx="2039030" cy="912359"/>
          </a:xfrm>
          <a:prstGeom prst="roundRect">
            <a:avLst>
              <a:gd name="adj" fmla="val 15436"/>
            </a:avLst>
          </a:prstGeom>
          <a:solidFill>
            <a:srgbClr val="EFF8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183093" y="1402216"/>
            <a:ext cx="1677761" cy="734786"/>
          </a:xfrm>
          <a:prstGeom prst="roundRect">
            <a:avLst>
              <a:gd name="adj" fmla="val 19167"/>
            </a:avLst>
          </a:prstGeom>
          <a:solidFill>
            <a:srgbClr val="EFF8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10183093" y="2192111"/>
            <a:ext cx="1677761" cy="710293"/>
          </a:xfrm>
          <a:prstGeom prst="roundRect">
            <a:avLst>
              <a:gd name="adj" fmla="val 19828"/>
            </a:avLst>
          </a:prstGeom>
          <a:solidFill>
            <a:srgbClr val="EFF8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10183093" y="2951389"/>
            <a:ext cx="1677761" cy="936852"/>
          </a:xfrm>
          <a:prstGeom prst="roundRect">
            <a:avLst>
              <a:gd name="adj" fmla="val 15033"/>
            </a:avLst>
          </a:prstGeom>
          <a:solidFill>
            <a:srgbClr val="EFF8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3306723" y="404132"/>
            <a:ext cx="110218" cy="110218"/>
          </a:xfrm>
          <a:prstGeom prst="ellipse">
            <a:avLst/>
          </a:prstGeom>
          <a:solidFill>
            <a:srgbClr val="0097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ath 22"/>
          <p:cNvSpPr/>
          <p:nvPr/>
        </p:nvSpPr>
        <p:spPr>
          <a:xfrm>
            <a:off x="581893" y="918482"/>
            <a:ext cx="4800600" cy="4041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0994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7E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6876557" y="918482"/>
            <a:ext cx="4506686" cy="4041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0954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7E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575770" y="4157662"/>
            <a:ext cx="5884409" cy="38576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106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7E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Path 25"/>
          <p:cNvSpPr/>
          <p:nvPr/>
        </p:nvSpPr>
        <p:spPr>
          <a:xfrm>
            <a:off x="710481" y="4641396"/>
            <a:ext cx="1836964" cy="28166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0016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7E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ath 26"/>
          <p:cNvSpPr/>
          <p:nvPr/>
        </p:nvSpPr>
        <p:spPr>
          <a:xfrm>
            <a:off x="4402779" y="4641396"/>
            <a:ext cx="1683884" cy="28166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9872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7E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Path 27"/>
          <p:cNvSpPr/>
          <p:nvPr/>
        </p:nvSpPr>
        <p:spPr>
          <a:xfrm>
            <a:off x="6723477" y="4641396"/>
            <a:ext cx="2357438" cy="28166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0366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87E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869684" y="5002666"/>
            <a:ext cx="1157288" cy="232682"/>
          </a:xfrm>
          <a:prstGeom prst="ellipse">
            <a:avLst/>
          </a:prstGeom>
          <a:solidFill>
            <a:srgbClr val="F3FA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2547445" y="5002666"/>
            <a:ext cx="1181780" cy="232682"/>
          </a:xfrm>
          <a:prstGeom prst="ellipse">
            <a:avLst/>
          </a:prstGeom>
          <a:solidFill>
            <a:srgbClr val="F3FA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Path 30"/>
          <p:cNvSpPr/>
          <p:nvPr/>
        </p:nvSpPr>
        <p:spPr>
          <a:xfrm>
            <a:off x="5057963" y="918482"/>
            <a:ext cx="324530" cy="4041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634" y="0"/>
                </a:lnTo>
                <a:lnTo>
                  <a:pt x="21600" y="21600"/>
                </a:lnTo>
                <a:lnTo>
                  <a:pt x="11819" y="21600"/>
                </a:lnTo>
                <a:close/>
              </a:path>
            </a:pathLst>
          </a:custGeom>
          <a:solidFill>
            <a:srgbClr val="7DBC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Path 31"/>
          <p:cNvSpPr/>
          <p:nvPr/>
        </p:nvSpPr>
        <p:spPr>
          <a:xfrm>
            <a:off x="11058713" y="918482"/>
            <a:ext cx="324530" cy="4041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634" y="0"/>
                </a:lnTo>
                <a:lnTo>
                  <a:pt x="21600" y="21600"/>
                </a:lnTo>
                <a:lnTo>
                  <a:pt x="11819" y="21600"/>
                </a:lnTo>
                <a:close/>
              </a:path>
            </a:pathLst>
          </a:custGeom>
          <a:solidFill>
            <a:srgbClr val="7DBC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Path 32"/>
          <p:cNvSpPr/>
          <p:nvPr/>
        </p:nvSpPr>
        <p:spPr>
          <a:xfrm>
            <a:off x="6135648" y="4157662"/>
            <a:ext cx="324530" cy="38576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634" y="0"/>
                </a:lnTo>
                <a:lnTo>
                  <a:pt x="21600" y="21600"/>
                </a:lnTo>
                <a:lnTo>
                  <a:pt x="11819" y="21600"/>
                </a:lnTo>
                <a:close/>
              </a:path>
            </a:pathLst>
          </a:custGeom>
          <a:solidFill>
            <a:srgbClr val="7DBC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ath 33"/>
          <p:cNvSpPr/>
          <p:nvPr/>
        </p:nvSpPr>
        <p:spPr>
          <a:xfrm>
            <a:off x="2222915" y="4641396"/>
            <a:ext cx="324530" cy="28166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634" y="0"/>
                </a:lnTo>
                <a:lnTo>
                  <a:pt x="21600" y="21600"/>
                </a:lnTo>
                <a:lnTo>
                  <a:pt x="11819" y="21600"/>
                </a:lnTo>
                <a:close/>
              </a:path>
            </a:pathLst>
          </a:custGeom>
          <a:solidFill>
            <a:srgbClr val="7DBC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ath 34"/>
          <p:cNvSpPr/>
          <p:nvPr/>
        </p:nvSpPr>
        <p:spPr>
          <a:xfrm>
            <a:off x="5762132" y="4641396"/>
            <a:ext cx="324530" cy="28166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634" y="0"/>
                </a:lnTo>
                <a:lnTo>
                  <a:pt x="21600" y="21600"/>
                </a:lnTo>
                <a:lnTo>
                  <a:pt x="11819" y="21600"/>
                </a:lnTo>
                <a:close/>
              </a:path>
            </a:pathLst>
          </a:custGeom>
          <a:solidFill>
            <a:srgbClr val="7DBC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ath 35"/>
          <p:cNvSpPr/>
          <p:nvPr/>
        </p:nvSpPr>
        <p:spPr>
          <a:xfrm>
            <a:off x="8756384" y="4641396"/>
            <a:ext cx="324530" cy="28166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634" y="0"/>
                </a:lnTo>
                <a:lnTo>
                  <a:pt x="21600" y="21600"/>
                </a:lnTo>
                <a:lnTo>
                  <a:pt x="11819" y="21600"/>
                </a:lnTo>
                <a:close/>
              </a:path>
            </a:pathLst>
          </a:custGeom>
          <a:solidFill>
            <a:srgbClr val="7DBC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661495" y="3135086"/>
            <a:ext cx="269421" cy="410255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1151352" y="3055484"/>
            <a:ext cx="269421" cy="489857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1647332" y="2841171"/>
            <a:ext cx="269421" cy="704170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2155559" y="2498271"/>
            <a:ext cx="269421" cy="1047070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2651540" y="2241096"/>
            <a:ext cx="269421" cy="1304245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3159766" y="2626859"/>
            <a:ext cx="269421" cy="918482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3674116" y="2565627"/>
            <a:ext cx="269421" cy="979714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6876557" y="2767693"/>
            <a:ext cx="269421" cy="777648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7329675" y="2669721"/>
            <a:ext cx="269421" cy="875620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7782793" y="2571750"/>
            <a:ext cx="269421" cy="973591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8223665" y="2351314"/>
            <a:ext cx="269421" cy="1194027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8670659" y="2351314"/>
            <a:ext cx="269421" cy="1194027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9129900" y="2767693"/>
            <a:ext cx="269421" cy="777648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9625881" y="2816679"/>
            <a:ext cx="269421" cy="728662"/>
          </a:xfrm>
          <a:prstGeom prst="roundRect">
            <a:avLst>
              <a:gd name="adj" fmla="val 6818"/>
            </a:avLst>
          </a:prstGeom>
          <a:solidFill>
            <a:srgbClr val="66AC5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4219082" y="5657850"/>
            <a:ext cx="2057400" cy="373516"/>
          </a:xfrm>
          <a:prstGeom prst="roundRect">
            <a:avLst>
              <a:gd name="adj" fmla="val 36066"/>
            </a:avLst>
          </a:prstGeom>
          <a:solidFill>
            <a:srgbClr val="F0FAF0"/>
          </a:solidFill>
          <a:ln w="7620">
            <a:solidFill>
              <a:srgbClr val="B2E6C2"/>
            </a:solidFill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4219082" y="6092598"/>
            <a:ext cx="2057400" cy="373516"/>
          </a:xfrm>
          <a:prstGeom prst="roundRect">
            <a:avLst>
              <a:gd name="adj" fmla="val 36066"/>
            </a:avLst>
          </a:prstGeom>
          <a:solidFill>
            <a:srgbClr val="F0FAF0"/>
          </a:solidFill>
          <a:ln w="7620">
            <a:solidFill>
              <a:srgbClr val="B2E6C2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783959" y="1530804"/>
            <a:ext cx="202066" cy="110218"/>
          </a:xfrm>
          <a:prstGeom prst="rect">
            <a:avLst/>
          </a:prstGeom>
          <a:solidFill>
            <a:srgbClr val="51A447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2339256" y="1592036"/>
            <a:ext cx="226559" cy="0"/>
          </a:xfrm>
          <a:prstGeom prst="line">
            <a:avLst/>
          </a:prstGeom>
          <a:noFill/>
          <a:ln w="16510">
            <a:solidFill>
              <a:srgbClr val="FF9700"/>
            </a:solidFill>
            <a:prstDash val="solid"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6956159" y="1543050"/>
            <a:ext cx="202066" cy="110218"/>
          </a:xfrm>
          <a:prstGeom prst="rect">
            <a:avLst/>
          </a:prstGeom>
          <a:solidFill>
            <a:srgbClr val="51A447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8646166" y="1598159"/>
            <a:ext cx="226559" cy="0"/>
          </a:xfrm>
          <a:prstGeom prst="line">
            <a:avLst/>
          </a:prstGeom>
          <a:noFill/>
          <a:ln w="16510">
            <a:solidFill>
              <a:srgbClr val="FF9700"/>
            </a:solidFill>
            <a:prstDash val="solid"/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569647" y="1934936"/>
            <a:ext cx="0" cy="1610405"/>
          </a:xfrm>
          <a:prstGeom prst="line">
            <a:avLst/>
          </a:prstGeom>
          <a:noFill/>
          <a:ln w="10160">
            <a:solidFill>
              <a:srgbClr val="C4E0CB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569647" y="3545341"/>
            <a:ext cx="3508602" cy="0"/>
          </a:xfrm>
          <a:prstGeom prst="line">
            <a:avLst/>
          </a:prstGeom>
          <a:noFill/>
          <a:ln w="10160">
            <a:solidFill>
              <a:srgbClr val="B7D6BF"/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6809202" y="1934936"/>
            <a:ext cx="0" cy="1610405"/>
          </a:xfrm>
          <a:prstGeom prst="line">
            <a:avLst/>
          </a:prstGeom>
          <a:noFill/>
          <a:ln w="10160">
            <a:solidFill>
              <a:srgbClr val="C4E0CB"/>
            </a:solidFill>
            <a:prstDash val="solid"/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6809202" y="3545341"/>
            <a:ext cx="3190195" cy="0"/>
          </a:xfrm>
          <a:prstGeom prst="line">
            <a:avLst/>
          </a:prstGeom>
          <a:noFill/>
          <a:ln w="10160">
            <a:solidFill>
              <a:srgbClr val="B7D6BF"/>
            </a:solidFill>
            <a:prstDash val="solid"/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2296393" y="5063898"/>
            <a:ext cx="0" cy="1291998"/>
          </a:xfrm>
          <a:prstGeom prst="line">
            <a:avLst/>
          </a:prstGeom>
          <a:noFill/>
          <a:ln w="7620">
            <a:solidFill>
              <a:srgbClr val="B8DAC3"/>
            </a:solidFill>
            <a:prstDash val="dot"/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6594890" y="5700712"/>
            <a:ext cx="2326821" cy="0"/>
          </a:xfrm>
          <a:prstGeom prst="line">
            <a:avLst/>
          </a:prstGeom>
          <a:noFill/>
          <a:ln w="6985">
            <a:solidFill>
              <a:srgbClr val="BFDDC5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2418857" y="1555296"/>
            <a:ext cx="73479" cy="73479"/>
          </a:xfrm>
          <a:prstGeom prst="ellipse">
            <a:avLst/>
          </a:prstGeom>
          <a:solidFill>
            <a:srgbClr val="FF9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8725768" y="1561420"/>
            <a:ext cx="73479" cy="73479"/>
          </a:xfrm>
          <a:prstGeom prst="ellipse">
            <a:avLst/>
          </a:prstGeom>
          <a:solidFill>
            <a:srgbClr val="FF9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Path 64"/>
          <p:cNvSpPr/>
          <p:nvPr/>
        </p:nvSpPr>
        <p:spPr>
          <a:xfrm>
            <a:off x="6992898" y="5780314"/>
            <a:ext cx="376171" cy="66534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9397" y="0"/>
                  <a:pt x="17532" y="3691"/>
                  <a:pt x="19566" y="8878"/>
                </a:cubicBezTo>
                <a:cubicBezTo>
                  <a:pt x="21600" y="14065"/>
                  <a:pt x="16986" y="19355"/>
                  <a:pt x="8470" y="21600"/>
                </a:cubicBezTo>
                <a:lnTo>
                  <a:pt x="4012" y="16195"/>
                </a:lnTo>
                <a:cubicBezTo>
                  <a:pt x="8046" y="15132"/>
                  <a:pt x="10232" y="12626"/>
                  <a:pt x="9268" y="10169"/>
                </a:cubicBezTo>
                <a:cubicBezTo>
                  <a:pt x="8305" y="7712"/>
                  <a:pt x="4451" y="5964"/>
                  <a:pt x="0" y="5964"/>
                </a:cubicBezTo>
                <a:close/>
              </a:path>
            </a:pathLst>
          </a:custGeom>
          <a:solidFill>
            <a:srgbClr val="2A9B47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5" name="Path 65"/>
          <p:cNvSpPr/>
          <p:nvPr/>
        </p:nvSpPr>
        <p:spPr>
          <a:xfrm>
            <a:off x="6729487" y="6237802"/>
            <a:ext cx="410915" cy="24869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1600" y="18054"/>
                </a:moveTo>
                <a:cubicBezTo>
                  <a:pt x="17989" y="20836"/>
                  <a:pt x="13929" y="21600"/>
                  <a:pt x="10032" y="20231"/>
                </a:cubicBezTo>
                <a:cubicBezTo>
                  <a:pt x="6135" y="18863"/>
                  <a:pt x="2614" y="15435"/>
                  <a:pt x="0" y="10467"/>
                </a:cubicBezTo>
                <a:lnTo>
                  <a:pt x="7288" y="0"/>
                </a:lnTo>
                <a:cubicBezTo>
                  <a:pt x="8526" y="2353"/>
                  <a:pt x="10194" y="3977"/>
                  <a:pt x="12040" y="4625"/>
                </a:cubicBezTo>
                <a:cubicBezTo>
                  <a:pt x="13885" y="5273"/>
                  <a:pt x="15809" y="4911"/>
                  <a:pt x="17519" y="3593"/>
                </a:cubicBezTo>
                <a:close/>
              </a:path>
            </a:pathLst>
          </a:custGeom>
          <a:solidFill>
            <a:srgbClr val="C7C344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6" name="Path 66"/>
          <p:cNvSpPr/>
          <p:nvPr/>
        </p:nvSpPr>
        <p:spPr>
          <a:xfrm>
            <a:off x="6618594" y="5780314"/>
            <a:ext cx="374304" cy="57800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399" y="21600"/>
                </a:moveTo>
                <a:cubicBezTo>
                  <a:pt x="1222" y="17743"/>
                  <a:pt x="0" y="12284"/>
                  <a:pt x="3272" y="7634"/>
                </a:cubicBezTo>
                <a:cubicBezTo>
                  <a:pt x="6545" y="2984"/>
                  <a:pt x="13709" y="0"/>
                  <a:pt x="21600" y="0"/>
                </a:cubicBezTo>
                <a:lnTo>
                  <a:pt x="21600" y="6865"/>
                </a:lnTo>
                <a:cubicBezTo>
                  <a:pt x="17862" y="6865"/>
                  <a:pt x="14469" y="8278"/>
                  <a:pt x="12918" y="10481"/>
                </a:cubicBezTo>
                <a:cubicBezTo>
                  <a:pt x="11368" y="12684"/>
                  <a:pt x="11947" y="15269"/>
                  <a:pt x="14400" y="17096"/>
                </a:cubicBezTo>
                <a:close/>
              </a:path>
            </a:pathLst>
          </a:custGeom>
          <a:solidFill>
            <a:srgbClr val="F8D56B"/>
          </a:solidFill>
          <a:ln w="889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7" name="Path 67"/>
          <p:cNvSpPr/>
          <p:nvPr/>
        </p:nvSpPr>
        <p:spPr>
          <a:xfrm>
            <a:off x="1053381" y="2130879"/>
            <a:ext cx="2761570" cy="118790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357"/>
                </a:moveTo>
                <a:lnTo>
                  <a:pt x="5699" y="4899"/>
                </a:lnTo>
                <a:lnTo>
                  <a:pt x="9675" y="0"/>
                </a:lnTo>
                <a:lnTo>
                  <a:pt x="13554" y="8351"/>
                </a:lnTo>
                <a:lnTo>
                  <a:pt x="17529" y="21600"/>
                </a:lnTo>
                <a:lnTo>
                  <a:pt x="21600" y="11802"/>
                </a:lnTo>
              </a:path>
            </a:pathLst>
          </a:custGeom>
          <a:noFill/>
          <a:ln w="19050">
            <a:solidFill>
              <a:srgbClr val="FF9700"/>
            </a:solidFill>
          </a:ln>
        </p:spPr>
        <p:txBody>
          <a:bodyPr/>
          <a:lstStyle/>
          <a:p/>
        </p:txBody>
      </p:sp>
      <p:sp>
        <p:nvSpPr>
          <p:cNvPr id="68" name="Path 68"/>
          <p:cNvSpPr/>
          <p:nvPr/>
        </p:nvSpPr>
        <p:spPr>
          <a:xfrm>
            <a:off x="7464386" y="2363561"/>
            <a:ext cx="2296205" cy="97971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6210"/>
                </a:moveTo>
                <a:lnTo>
                  <a:pt x="4262" y="4725"/>
                </a:lnTo>
                <a:lnTo>
                  <a:pt x="8410" y="0"/>
                </a:lnTo>
                <a:lnTo>
                  <a:pt x="12614" y="6480"/>
                </a:lnTo>
                <a:lnTo>
                  <a:pt x="16934" y="21600"/>
                </a:lnTo>
                <a:lnTo>
                  <a:pt x="21600" y="12690"/>
                </a:lnTo>
              </a:path>
            </a:pathLst>
          </a:custGeom>
          <a:noFill/>
          <a:ln w="19050">
            <a:solidFill>
              <a:srgbClr val="FF9700"/>
            </a:solidFill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1010518" y="2712584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1739181" y="2357438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2247407" y="2088016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2" name="Ellipse 72"/>
          <p:cNvSpPr/>
          <p:nvPr/>
        </p:nvSpPr>
        <p:spPr>
          <a:xfrm>
            <a:off x="2743388" y="2547257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3" name="Ellipse 73"/>
          <p:cNvSpPr/>
          <p:nvPr/>
        </p:nvSpPr>
        <p:spPr>
          <a:xfrm>
            <a:off x="3251615" y="3275920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3772088" y="2737077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7421523" y="2602366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7874641" y="2535011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8315513" y="2320698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8762507" y="2614612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9221748" y="3300412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9717729" y="2896280"/>
            <a:ext cx="85725" cy="85725"/>
          </a:xfrm>
          <a:prstGeom prst="ellipse">
            <a:avLst/>
          </a:prstGeom>
          <a:solidFill>
            <a:srgbClr val="FF9700"/>
          </a:solidFill>
          <a:ln w="1143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81" name="Source white leaf inside green/gold circular heading badge"/>
          <p:cNvPicPr/>
          <p:nvPr/>
        </p:nvPicPr>
        <p:blipFill>
          <a:blip r:embed="rId3"/>
          <a:stretch>
            <a:fillRect/>
          </a:stretch>
        </p:blipFill>
        <p:spPr>
          <a:xfrm>
            <a:off x="296463" y="835855"/>
            <a:ext cx="576984" cy="565950"/>
          </a:xfrm>
          <a:prstGeom prst="rect">
            <a:avLst/>
          </a:prstGeom>
        </p:spPr>
      </p:pic>
      <p:pic>
        <p:nvPicPr>
          <p:cNvPr id="82" name="Source white leaf inside green/gold circular heading badge"/>
          <p:cNvPicPr/>
          <p:nvPr/>
        </p:nvPicPr>
        <p:blipFill>
          <a:blip r:embed="rId4"/>
          <a:stretch>
            <a:fillRect/>
          </a:stretch>
        </p:blipFill>
        <p:spPr>
          <a:xfrm>
            <a:off x="6609497" y="835855"/>
            <a:ext cx="576984" cy="565950"/>
          </a:xfrm>
          <a:prstGeom prst="rect">
            <a:avLst/>
          </a:prstGeom>
        </p:spPr>
      </p:pic>
      <p:pic>
        <p:nvPicPr>
          <p:cNvPr id="83" name="Source white leaf inside green/gold circular heading badge"/>
          <p:cNvPicPr/>
          <p:nvPr/>
        </p:nvPicPr>
        <p:blipFill>
          <a:blip r:embed="rId5"/>
          <a:stretch>
            <a:fillRect/>
          </a:stretch>
        </p:blipFill>
        <p:spPr>
          <a:xfrm>
            <a:off x="291520" y="4076197"/>
            <a:ext cx="562377" cy="551622"/>
          </a:xfrm>
          <a:prstGeom prst="rect">
            <a:avLst/>
          </a:prstGeom>
        </p:spPr>
      </p:pic>
      <p:pic>
        <p:nvPicPr>
          <p:cNvPr id="84" name="rising-bars"/>
          <p:cNvPicPr/>
          <p:nvPr/>
        </p:nvPicPr>
        <p:blipFill>
          <a:blip r:embed="rId6"/>
          <a:stretch>
            <a:fillRect/>
          </a:stretch>
        </p:blipFill>
        <p:spPr>
          <a:xfrm>
            <a:off x="4450642" y="1484713"/>
            <a:ext cx="436994" cy="477944"/>
          </a:xfrm>
          <a:prstGeom prst="rect">
            <a:avLst/>
          </a:prstGeom>
        </p:spPr>
      </p:pic>
      <p:pic>
        <p:nvPicPr>
          <p:cNvPr id="85" name="coins"/>
          <p:cNvPicPr/>
          <p:nvPr/>
        </p:nvPicPr>
        <p:blipFill>
          <a:blip r:embed="rId7"/>
          <a:stretch>
            <a:fillRect/>
          </a:stretch>
        </p:blipFill>
        <p:spPr>
          <a:xfrm>
            <a:off x="4448731" y="2304299"/>
            <a:ext cx="440815" cy="473671"/>
          </a:xfrm>
          <a:prstGeom prst="rect">
            <a:avLst/>
          </a:prstGeom>
        </p:spPr>
      </p:pic>
      <p:pic>
        <p:nvPicPr>
          <p:cNvPr id="86" name="rising-bars"/>
          <p:cNvPicPr/>
          <p:nvPr/>
        </p:nvPicPr>
        <p:blipFill>
          <a:blip r:embed="rId8"/>
          <a:stretch>
            <a:fillRect/>
          </a:stretch>
        </p:blipFill>
        <p:spPr>
          <a:xfrm>
            <a:off x="4450642" y="3082872"/>
            <a:ext cx="436994" cy="477944"/>
          </a:xfrm>
          <a:prstGeom prst="rect">
            <a:avLst/>
          </a:prstGeom>
        </p:spPr>
      </p:pic>
      <p:pic>
        <p:nvPicPr>
          <p:cNvPr id="87" name="coins"/>
          <p:cNvPicPr/>
          <p:nvPr/>
        </p:nvPicPr>
        <p:blipFill>
          <a:blip r:embed="rId9"/>
          <a:stretch>
            <a:fillRect/>
          </a:stretch>
        </p:blipFill>
        <p:spPr>
          <a:xfrm>
            <a:off x="10254212" y="1521166"/>
            <a:ext cx="433344" cy="466269"/>
          </a:xfrm>
          <a:prstGeom prst="rect">
            <a:avLst/>
          </a:prstGeom>
        </p:spPr>
      </p:pic>
      <p:pic>
        <p:nvPicPr>
          <p:cNvPr id="88" name="falling-bars"/>
          <p:cNvPicPr/>
          <p:nvPr/>
        </p:nvPicPr>
        <p:blipFill>
          <a:blip r:embed="rId10"/>
          <a:stretch>
            <a:fillRect/>
          </a:stretch>
        </p:blipFill>
        <p:spPr>
          <a:xfrm>
            <a:off x="10268150" y="2263606"/>
            <a:ext cx="417715" cy="487701"/>
          </a:xfrm>
          <a:prstGeom prst="rect">
            <a:avLst/>
          </a:prstGeom>
        </p:spPr>
      </p:pic>
      <p:pic>
        <p:nvPicPr>
          <p:cNvPr id="89" name="yen"/>
          <p:cNvPicPr/>
          <p:nvPr/>
        </p:nvPicPr>
        <p:blipFill>
          <a:blip r:embed="rId11"/>
          <a:stretch>
            <a:fillRect/>
          </a:stretch>
        </p:blipFill>
        <p:spPr>
          <a:xfrm>
            <a:off x="10216807" y="3070671"/>
            <a:ext cx="502032" cy="495691"/>
          </a:xfrm>
          <a:prstGeom prst="rect">
            <a:avLst/>
          </a:prstGeom>
        </p:spPr>
      </p:pic>
      <p:pic>
        <p:nvPicPr>
          <p:cNvPr id="90" name="leaf-badge"/>
          <p:cNvPicPr/>
          <p:nvPr/>
        </p:nvPicPr>
        <p:blipFill>
          <a:blip r:embed="rId12"/>
          <a:stretch>
            <a:fillRect/>
          </a:stretch>
        </p:blipFill>
        <p:spPr>
          <a:xfrm>
            <a:off x="479717" y="4558140"/>
            <a:ext cx="430912" cy="422671"/>
          </a:xfrm>
          <a:prstGeom prst="rect">
            <a:avLst/>
          </a:prstGeom>
        </p:spPr>
      </p:pic>
      <p:pic>
        <p:nvPicPr>
          <p:cNvPr id="91" name="sprout-badge"/>
          <p:cNvPicPr/>
          <p:nvPr/>
        </p:nvPicPr>
        <p:blipFill>
          <a:blip r:embed="rId13"/>
          <a:stretch>
            <a:fillRect/>
          </a:stretch>
        </p:blipFill>
        <p:spPr>
          <a:xfrm>
            <a:off x="4185787" y="4565497"/>
            <a:ext cx="421736" cy="411584"/>
          </a:xfrm>
          <a:prstGeom prst="rect">
            <a:avLst/>
          </a:prstGeom>
        </p:spPr>
      </p:pic>
      <p:pic>
        <p:nvPicPr>
          <p:cNvPr id="92" name="leaf-badge"/>
          <p:cNvPicPr/>
          <p:nvPr/>
        </p:nvPicPr>
        <p:blipFill>
          <a:blip r:embed="rId14"/>
          <a:stretch>
            <a:fillRect/>
          </a:stretch>
        </p:blipFill>
        <p:spPr>
          <a:xfrm>
            <a:off x="6462097" y="4564263"/>
            <a:ext cx="430912" cy="422671"/>
          </a:xfrm>
          <a:prstGeom prst="rect">
            <a:avLst/>
          </a:prstGeom>
        </p:spPr>
      </p:pic>
      <p:pic>
        <p:nvPicPr>
          <p:cNvPr id="93" name="Original circular white PLA pellet photo with green rim"/>
          <p:cNvPicPr/>
          <p:nvPr/>
        </p:nvPicPr>
        <p:blipFill>
          <a:blip r:embed="rId15"/>
          <a:stretch>
            <a:fillRect/>
          </a:stretch>
        </p:blipFill>
        <p:spPr>
          <a:xfrm>
            <a:off x="493554" y="5248160"/>
            <a:ext cx="837986" cy="793081"/>
          </a:xfrm>
          <a:prstGeom prst="rect">
            <a:avLst/>
          </a:prstGeom>
        </p:spPr>
      </p:pic>
      <p:pic>
        <p:nvPicPr>
          <p:cNvPr id="94" name="Original circular tan PBAT pellet photo with green rim"/>
          <p:cNvPicPr/>
          <p:nvPr/>
        </p:nvPicPr>
        <p:blipFill>
          <a:blip r:embed="rId16"/>
          <a:stretch>
            <a:fillRect/>
          </a:stretch>
        </p:blipFill>
        <p:spPr>
          <a:xfrm>
            <a:off x="2306968" y="5266488"/>
            <a:ext cx="836101" cy="804304"/>
          </a:xfrm>
          <a:prstGeom prst="rect">
            <a:avLst/>
          </a:prstGeom>
        </p:spPr>
      </p:pic>
      <p:pic>
        <p:nvPicPr>
          <p:cNvPr id="95" name="Original small black plastic-film roll product photograph"/>
          <p:cNvPicPr/>
          <p:nvPr/>
        </p:nvPicPr>
        <p:blipFill>
          <a:blip r:embed="rId17"/>
          <a:stretch>
            <a:fillRect/>
          </a:stretch>
        </p:blipFill>
        <p:spPr>
          <a:xfrm>
            <a:off x="4158545" y="4981450"/>
            <a:ext cx="966079" cy="630260"/>
          </a:xfrm>
          <a:prstGeom prst="rect">
            <a:avLst/>
          </a:prstGeom>
        </p:spPr>
      </p:pic>
      <p:pic>
        <p:nvPicPr>
          <p:cNvPr id="96" name="leaf-medallion"/>
          <p:cNvPicPr/>
          <p:nvPr/>
        </p:nvPicPr>
        <p:blipFill>
          <a:blip r:embed="rId18"/>
          <a:stretch>
            <a:fillRect/>
          </a:stretch>
        </p:blipFill>
        <p:spPr>
          <a:xfrm>
            <a:off x="4286765" y="5656027"/>
            <a:ext cx="391231" cy="381135"/>
          </a:xfrm>
          <a:prstGeom prst="rect">
            <a:avLst/>
          </a:prstGeom>
        </p:spPr>
      </p:pic>
      <p:pic>
        <p:nvPicPr>
          <p:cNvPr id="97" name="sprout-medallion"/>
          <p:cNvPicPr/>
          <p:nvPr/>
        </p:nvPicPr>
        <p:blipFill>
          <a:blip r:embed="rId19"/>
          <a:stretch>
            <a:fillRect/>
          </a:stretch>
        </p:blipFill>
        <p:spPr>
          <a:xfrm>
            <a:off x="4286414" y="6083308"/>
            <a:ext cx="391933" cy="382595"/>
          </a:xfrm>
          <a:prstGeom prst="rect">
            <a:avLst/>
          </a:prstGeom>
        </p:spPr>
      </p:pic>
      <p:pic>
        <p:nvPicPr>
          <p:cNvPr id="98" name="Original green wireframe globe icon"/>
          <p:cNvPicPr/>
          <p:nvPr/>
        </p:nvPicPr>
        <p:blipFill>
          <a:blip r:embed="rId20"/>
          <a:stretch>
            <a:fillRect/>
          </a:stretch>
        </p:blipFill>
        <p:spPr>
          <a:xfrm>
            <a:off x="6639124" y="5004038"/>
            <a:ext cx="591209" cy="583273"/>
          </a:xfrm>
          <a:prstGeom prst="rect">
            <a:avLst/>
          </a:prstGeom>
        </p:spPr>
      </p:pic>
      <p:sp>
        <p:nvSpPr>
          <p:cNvPr id="99" name="TextBox 99"/>
          <p:cNvSpPr txBox="1"/>
          <p:nvPr/>
        </p:nvSpPr>
        <p:spPr>
          <a:xfrm>
            <a:off x="777836" y="220436"/>
            <a:ext cx="2161495" cy="4041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80" b="1" i="1">
                <a:solidFill>
                  <a:srgbClr val="FCE9AB"/>
                </a:solidFill>
                <a:latin typeface="Microsoft YaHei"/>
                <a:ea typeface="Microsoft YaHei"/>
                <a:cs typeface="Microsoft YaHei"/>
              </a:rPr>
              <a:t>全球贸易概览</a:t>
            </a:r>
            <a:endParaRPr lang="zh-CN" sz="2780"/>
          </a:p>
        </p:txBody>
      </p:sp>
      <p:sp>
        <p:nvSpPr>
          <p:cNvPr id="100" name="TextBox 100"/>
          <p:cNvSpPr txBox="1"/>
          <p:nvPr/>
        </p:nvSpPr>
        <p:spPr>
          <a:xfrm>
            <a:off x="3545529" y="257175"/>
            <a:ext cx="4616904" cy="3918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>
                <a:solidFill>
                  <a:srgbClr val="005240"/>
                </a:solidFill>
                <a:latin typeface="KaiTi"/>
                <a:ea typeface="KaiTi"/>
                <a:cs typeface="KaiTi"/>
              </a:rPr>
              <a:t>（二）中国降解农用地膜总体出口现状</a:t>
            </a:r>
            <a:endParaRPr lang="zh-CN" sz="2100"/>
          </a:p>
        </p:txBody>
      </p:sp>
      <p:sp>
        <p:nvSpPr>
          <p:cNvPr id="101" name="TextBox 101"/>
          <p:cNvSpPr txBox="1"/>
          <p:nvPr/>
        </p:nvSpPr>
        <p:spPr>
          <a:xfrm>
            <a:off x="845191" y="924605"/>
            <a:ext cx="385763" cy="3735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60" b="1" i="1">
                <a:solidFill>
                  <a:srgbClr val="FBE6A2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2760"/>
          </a:p>
        </p:txBody>
      </p:sp>
      <p:sp>
        <p:nvSpPr>
          <p:cNvPr id="102" name="TextBox 102"/>
          <p:cNvSpPr txBox="1"/>
          <p:nvPr/>
        </p:nvSpPr>
        <p:spPr>
          <a:xfrm>
            <a:off x="1384034" y="973591"/>
            <a:ext cx="3827009" cy="2877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出口规模稳步增长，2025年重回上升通道</a:t>
            </a:r>
            <a:endParaRPr lang="zh-CN" sz="1600"/>
          </a:p>
        </p:txBody>
      </p:sp>
      <p:sp>
        <p:nvSpPr>
          <p:cNvPr id="103" name="TextBox 103"/>
          <p:cNvSpPr txBox="1"/>
          <p:nvPr/>
        </p:nvSpPr>
        <p:spPr>
          <a:xfrm>
            <a:off x="7188841" y="924605"/>
            <a:ext cx="410255" cy="3735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40" b="1" i="1">
                <a:solidFill>
                  <a:srgbClr val="FBE6A2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2940"/>
          </a:p>
        </p:txBody>
      </p:sp>
      <p:sp>
        <p:nvSpPr>
          <p:cNvPr id="104" name="TextBox 104"/>
          <p:cNvSpPr txBox="1"/>
          <p:nvPr/>
        </p:nvSpPr>
        <p:spPr>
          <a:xfrm>
            <a:off x="7758300" y="973591"/>
            <a:ext cx="3422877" cy="2877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出口价格逐步回落，市场竞争力增强</a:t>
            </a:r>
            <a:endParaRPr lang="zh-CN" sz="1600"/>
          </a:p>
        </p:txBody>
      </p:sp>
      <p:sp>
        <p:nvSpPr>
          <p:cNvPr id="105" name="TextBox 105"/>
          <p:cNvSpPr txBox="1"/>
          <p:nvPr/>
        </p:nvSpPr>
        <p:spPr>
          <a:xfrm>
            <a:off x="832945" y="4163786"/>
            <a:ext cx="391886" cy="3612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10" b="1" i="1">
                <a:solidFill>
                  <a:srgbClr val="FBE6A2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2810"/>
          </a:p>
        </p:txBody>
      </p:sp>
      <p:sp>
        <p:nvSpPr>
          <p:cNvPr id="106" name="TextBox 106"/>
          <p:cNvSpPr txBox="1"/>
          <p:nvPr/>
        </p:nvSpPr>
        <p:spPr>
          <a:xfrm>
            <a:off x="1341172" y="4200525"/>
            <a:ext cx="4886325" cy="3000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PLA+PBAT农膜出口表现亮眼，东南亚成为核心市场</a:t>
            </a:r>
            <a:endParaRPr lang="zh-CN" sz="1600"/>
          </a:p>
        </p:txBody>
      </p:sp>
      <p:sp>
        <p:nvSpPr>
          <p:cNvPr id="107" name="TextBox 107"/>
          <p:cNvSpPr txBox="1"/>
          <p:nvPr/>
        </p:nvSpPr>
        <p:spPr>
          <a:xfrm>
            <a:off x="1047257" y="1487941"/>
            <a:ext cx="1236889" cy="1959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出口总额（亿美元）</a:t>
            </a:r>
            <a:endParaRPr lang="zh-CN" sz="1080"/>
          </a:p>
        </p:txBody>
      </p:sp>
      <p:sp>
        <p:nvSpPr>
          <p:cNvPr id="108" name="TextBox 108"/>
          <p:cNvSpPr txBox="1"/>
          <p:nvPr/>
        </p:nvSpPr>
        <p:spPr>
          <a:xfrm>
            <a:off x="2614800" y="1487941"/>
            <a:ext cx="967468" cy="1959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同比增速（%）</a:t>
            </a:r>
            <a:endParaRPr lang="zh-CN" sz="1080"/>
          </a:p>
        </p:txBody>
      </p:sp>
      <p:sp>
        <p:nvSpPr>
          <p:cNvPr id="109" name="TextBox 109"/>
          <p:cNvSpPr txBox="1"/>
          <p:nvPr/>
        </p:nvSpPr>
        <p:spPr>
          <a:xfrm>
            <a:off x="7225581" y="1500188"/>
            <a:ext cx="1408339" cy="1959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出口均价（美元/千克）</a:t>
            </a:r>
            <a:endParaRPr lang="zh-CN" sz="1050"/>
          </a:p>
        </p:txBody>
      </p:sp>
      <p:sp>
        <p:nvSpPr>
          <p:cNvPr id="110" name="TextBox 110"/>
          <p:cNvSpPr txBox="1"/>
          <p:nvPr/>
        </p:nvSpPr>
        <p:spPr>
          <a:xfrm>
            <a:off x="8915588" y="1500188"/>
            <a:ext cx="979714" cy="1959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同比增速（%）</a:t>
            </a:r>
            <a:endParaRPr lang="zh-CN" sz="1080"/>
          </a:p>
        </p:txBody>
      </p:sp>
      <p:sp>
        <p:nvSpPr>
          <p:cNvPr id="111" name="TextBox 111"/>
          <p:cNvSpPr txBox="1"/>
          <p:nvPr/>
        </p:nvSpPr>
        <p:spPr>
          <a:xfrm>
            <a:off x="563523" y="2920773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5.1</a:t>
            </a:r>
            <a:endParaRPr lang="zh-CN" sz="1180"/>
          </a:p>
        </p:txBody>
      </p:sp>
      <p:sp>
        <p:nvSpPr>
          <p:cNvPr id="112" name="TextBox 112"/>
          <p:cNvSpPr txBox="1"/>
          <p:nvPr/>
        </p:nvSpPr>
        <p:spPr>
          <a:xfrm>
            <a:off x="600263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2019</a:t>
            </a:r>
            <a:endParaRPr lang="zh-CN" sz="919"/>
          </a:p>
        </p:txBody>
      </p:sp>
      <p:sp>
        <p:nvSpPr>
          <p:cNvPr id="113" name="TextBox 113"/>
          <p:cNvSpPr txBox="1"/>
          <p:nvPr/>
        </p:nvSpPr>
        <p:spPr>
          <a:xfrm>
            <a:off x="1053381" y="2841171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5.47</a:t>
            </a:r>
            <a:endParaRPr lang="zh-CN" sz="1180"/>
          </a:p>
        </p:txBody>
      </p:sp>
      <p:sp>
        <p:nvSpPr>
          <p:cNvPr id="114" name="TextBox 114"/>
          <p:cNvSpPr txBox="1"/>
          <p:nvPr/>
        </p:nvSpPr>
        <p:spPr>
          <a:xfrm>
            <a:off x="1090120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2020</a:t>
            </a:r>
            <a:endParaRPr lang="zh-CN" sz="919"/>
          </a:p>
        </p:txBody>
      </p:sp>
      <p:sp>
        <p:nvSpPr>
          <p:cNvPr id="115" name="TextBox 115"/>
          <p:cNvSpPr txBox="1"/>
          <p:nvPr/>
        </p:nvSpPr>
        <p:spPr>
          <a:xfrm>
            <a:off x="1549361" y="2626859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7.03</a:t>
            </a:r>
            <a:endParaRPr lang="zh-CN" sz="1180"/>
          </a:p>
        </p:txBody>
      </p:sp>
      <p:sp>
        <p:nvSpPr>
          <p:cNvPr id="116" name="TextBox 116"/>
          <p:cNvSpPr txBox="1"/>
          <p:nvPr/>
        </p:nvSpPr>
        <p:spPr>
          <a:xfrm>
            <a:off x="1586100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2021</a:t>
            </a:r>
            <a:endParaRPr lang="zh-CN" sz="919"/>
          </a:p>
        </p:txBody>
      </p:sp>
      <p:sp>
        <p:nvSpPr>
          <p:cNvPr id="117" name="TextBox 117"/>
          <p:cNvSpPr txBox="1"/>
          <p:nvPr/>
        </p:nvSpPr>
        <p:spPr>
          <a:xfrm>
            <a:off x="2057588" y="2283959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10.23</a:t>
            </a:r>
            <a:endParaRPr lang="zh-CN" sz="1180"/>
          </a:p>
        </p:txBody>
      </p:sp>
      <p:sp>
        <p:nvSpPr>
          <p:cNvPr id="118" name="TextBox 118"/>
          <p:cNvSpPr txBox="1"/>
          <p:nvPr/>
        </p:nvSpPr>
        <p:spPr>
          <a:xfrm>
            <a:off x="2094327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2022</a:t>
            </a:r>
            <a:endParaRPr lang="zh-CN" sz="919"/>
          </a:p>
        </p:txBody>
      </p:sp>
      <p:sp>
        <p:nvSpPr>
          <p:cNvPr id="119" name="TextBox 119"/>
          <p:cNvSpPr txBox="1"/>
          <p:nvPr/>
        </p:nvSpPr>
        <p:spPr>
          <a:xfrm>
            <a:off x="2553568" y="2026784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11.43</a:t>
            </a:r>
            <a:endParaRPr lang="zh-CN" sz="1180"/>
          </a:p>
        </p:txBody>
      </p:sp>
      <p:sp>
        <p:nvSpPr>
          <p:cNvPr id="120" name="TextBox 120"/>
          <p:cNvSpPr txBox="1"/>
          <p:nvPr/>
        </p:nvSpPr>
        <p:spPr>
          <a:xfrm>
            <a:off x="2590307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2023</a:t>
            </a:r>
            <a:endParaRPr lang="zh-CN" sz="919"/>
          </a:p>
        </p:txBody>
      </p:sp>
      <p:sp>
        <p:nvSpPr>
          <p:cNvPr id="121" name="TextBox 121"/>
          <p:cNvSpPr txBox="1"/>
          <p:nvPr/>
        </p:nvSpPr>
        <p:spPr>
          <a:xfrm>
            <a:off x="3061795" y="2412546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7.96</a:t>
            </a:r>
            <a:endParaRPr lang="zh-CN" sz="1180"/>
          </a:p>
        </p:txBody>
      </p:sp>
      <p:sp>
        <p:nvSpPr>
          <p:cNvPr id="122" name="TextBox 122"/>
          <p:cNvSpPr txBox="1"/>
          <p:nvPr/>
        </p:nvSpPr>
        <p:spPr>
          <a:xfrm>
            <a:off x="3098534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2024</a:t>
            </a:r>
            <a:endParaRPr lang="zh-CN" sz="919"/>
          </a:p>
        </p:txBody>
      </p:sp>
      <p:sp>
        <p:nvSpPr>
          <p:cNvPr id="123" name="TextBox 123"/>
          <p:cNvSpPr txBox="1"/>
          <p:nvPr/>
        </p:nvSpPr>
        <p:spPr>
          <a:xfrm>
            <a:off x="3576145" y="2351314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8.47</a:t>
            </a:r>
            <a:endParaRPr lang="zh-CN" sz="1180"/>
          </a:p>
        </p:txBody>
      </p:sp>
      <p:sp>
        <p:nvSpPr>
          <p:cNvPr id="124" name="TextBox 124"/>
          <p:cNvSpPr txBox="1"/>
          <p:nvPr/>
        </p:nvSpPr>
        <p:spPr>
          <a:xfrm>
            <a:off x="3612884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2025</a:t>
            </a:r>
            <a:endParaRPr lang="zh-CN" sz="919"/>
          </a:p>
        </p:txBody>
      </p:sp>
      <p:sp>
        <p:nvSpPr>
          <p:cNvPr id="125" name="TextBox 125"/>
          <p:cNvSpPr txBox="1"/>
          <p:nvPr/>
        </p:nvSpPr>
        <p:spPr>
          <a:xfrm>
            <a:off x="6778586" y="2553380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4.2</a:t>
            </a:r>
            <a:endParaRPr lang="zh-CN" sz="1180"/>
          </a:p>
        </p:txBody>
      </p:sp>
      <p:sp>
        <p:nvSpPr>
          <p:cNvPr id="126" name="TextBox 126"/>
          <p:cNvSpPr txBox="1"/>
          <p:nvPr/>
        </p:nvSpPr>
        <p:spPr>
          <a:xfrm>
            <a:off x="6815325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2019</a:t>
            </a:r>
            <a:endParaRPr lang="zh-CN" sz="919"/>
          </a:p>
        </p:txBody>
      </p:sp>
      <p:sp>
        <p:nvSpPr>
          <p:cNvPr id="127" name="TextBox 127"/>
          <p:cNvSpPr txBox="1"/>
          <p:nvPr/>
        </p:nvSpPr>
        <p:spPr>
          <a:xfrm>
            <a:off x="7231704" y="2455409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4.9</a:t>
            </a:r>
            <a:endParaRPr lang="zh-CN" sz="1180"/>
          </a:p>
        </p:txBody>
      </p:sp>
      <p:sp>
        <p:nvSpPr>
          <p:cNvPr id="128" name="TextBox 128"/>
          <p:cNvSpPr txBox="1"/>
          <p:nvPr/>
        </p:nvSpPr>
        <p:spPr>
          <a:xfrm>
            <a:off x="7268443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2020</a:t>
            </a:r>
            <a:endParaRPr lang="zh-CN" sz="919"/>
          </a:p>
        </p:txBody>
      </p:sp>
      <p:sp>
        <p:nvSpPr>
          <p:cNvPr id="129" name="TextBox 129"/>
          <p:cNvSpPr txBox="1"/>
          <p:nvPr/>
        </p:nvSpPr>
        <p:spPr>
          <a:xfrm>
            <a:off x="7684822" y="2357438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5.1</a:t>
            </a:r>
            <a:endParaRPr lang="zh-CN" sz="1180"/>
          </a:p>
        </p:txBody>
      </p:sp>
      <p:sp>
        <p:nvSpPr>
          <p:cNvPr id="130" name="TextBox 130"/>
          <p:cNvSpPr txBox="1"/>
          <p:nvPr/>
        </p:nvSpPr>
        <p:spPr>
          <a:xfrm>
            <a:off x="7721561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2021</a:t>
            </a:r>
            <a:endParaRPr lang="zh-CN" sz="919"/>
          </a:p>
        </p:txBody>
      </p:sp>
      <p:sp>
        <p:nvSpPr>
          <p:cNvPr id="131" name="TextBox 131"/>
          <p:cNvSpPr txBox="1"/>
          <p:nvPr/>
        </p:nvSpPr>
        <p:spPr>
          <a:xfrm>
            <a:off x="8125693" y="2137002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5.8</a:t>
            </a:r>
            <a:endParaRPr lang="zh-CN" sz="1180"/>
          </a:p>
        </p:txBody>
      </p:sp>
      <p:sp>
        <p:nvSpPr>
          <p:cNvPr id="132" name="TextBox 132"/>
          <p:cNvSpPr txBox="1"/>
          <p:nvPr/>
        </p:nvSpPr>
        <p:spPr>
          <a:xfrm>
            <a:off x="8162432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2022</a:t>
            </a:r>
            <a:endParaRPr lang="zh-CN" sz="919"/>
          </a:p>
        </p:txBody>
      </p:sp>
      <p:sp>
        <p:nvSpPr>
          <p:cNvPr id="133" name="TextBox 133"/>
          <p:cNvSpPr txBox="1"/>
          <p:nvPr/>
        </p:nvSpPr>
        <p:spPr>
          <a:xfrm>
            <a:off x="8572688" y="2137002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5.72</a:t>
            </a:r>
            <a:endParaRPr lang="zh-CN" sz="1180"/>
          </a:p>
        </p:txBody>
      </p:sp>
      <p:sp>
        <p:nvSpPr>
          <p:cNvPr id="134" name="TextBox 134"/>
          <p:cNvSpPr txBox="1"/>
          <p:nvPr/>
        </p:nvSpPr>
        <p:spPr>
          <a:xfrm>
            <a:off x="8609427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2023</a:t>
            </a:r>
            <a:endParaRPr lang="zh-CN" sz="919"/>
          </a:p>
        </p:txBody>
      </p:sp>
      <p:sp>
        <p:nvSpPr>
          <p:cNvPr id="135" name="TextBox 135"/>
          <p:cNvSpPr txBox="1"/>
          <p:nvPr/>
        </p:nvSpPr>
        <p:spPr>
          <a:xfrm>
            <a:off x="9031929" y="2553380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4.05</a:t>
            </a:r>
            <a:endParaRPr lang="zh-CN" sz="1180"/>
          </a:p>
        </p:txBody>
      </p:sp>
      <p:sp>
        <p:nvSpPr>
          <p:cNvPr id="136" name="TextBox 136"/>
          <p:cNvSpPr txBox="1"/>
          <p:nvPr/>
        </p:nvSpPr>
        <p:spPr>
          <a:xfrm>
            <a:off x="9068668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2024</a:t>
            </a:r>
            <a:endParaRPr lang="zh-CN" sz="919"/>
          </a:p>
        </p:txBody>
      </p:sp>
      <p:sp>
        <p:nvSpPr>
          <p:cNvPr id="137" name="TextBox 137"/>
          <p:cNvSpPr txBox="1"/>
          <p:nvPr/>
        </p:nvSpPr>
        <p:spPr>
          <a:xfrm>
            <a:off x="9527909" y="2602366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80" b="1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3.92</a:t>
            </a:r>
            <a:endParaRPr lang="zh-CN" sz="1180"/>
          </a:p>
        </p:txBody>
      </p:sp>
      <p:sp>
        <p:nvSpPr>
          <p:cNvPr id="138" name="TextBox 138"/>
          <p:cNvSpPr txBox="1"/>
          <p:nvPr/>
        </p:nvSpPr>
        <p:spPr>
          <a:xfrm>
            <a:off x="9564648" y="3588204"/>
            <a:ext cx="391886" cy="153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142E28"/>
                </a:solidFill>
                <a:latin typeface="Liberation Serif"/>
                <a:ea typeface="Liberation Serif"/>
                <a:cs typeface="Liberation Serif"/>
              </a:rPr>
              <a:t>2025</a:t>
            </a:r>
            <a:endParaRPr lang="zh-CN" sz="919"/>
          </a:p>
        </p:txBody>
      </p:sp>
      <p:sp>
        <p:nvSpPr>
          <p:cNvPr id="139" name="TextBox 139"/>
          <p:cNvSpPr txBox="1"/>
          <p:nvPr/>
        </p:nvSpPr>
        <p:spPr>
          <a:xfrm>
            <a:off x="881931" y="2504395"/>
            <a:ext cx="428625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6.8%</a:t>
            </a:r>
            <a:endParaRPr lang="zh-CN" sz="1110"/>
          </a:p>
        </p:txBody>
      </p:sp>
      <p:sp>
        <p:nvSpPr>
          <p:cNvPr id="140" name="TextBox 140"/>
          <p:cNvSpPr txBox="1"/>
          <p:nvPr/>
        </p:nvSpPr>
        <p:spPr>
          <a:xfrm>
            <a:off x="1530991" y="2149248"/>
            <a:ext cx="465364" cy="1959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28.5%</a:t>
            </a:r>
            <a:endParaRPr lang="zh-CN" sz="1110"/>
          </a:p>
        </p:txBody>
      </p:sp>
      <p:sp>
        <p:nvSpPr>
          <p:cNvPr id="141" name="TextBox 141"/>
          <p:cNvSpPr txBox="1"/>
          <p:nvPr/>
        </p:nvSpPr>
        <p:spPr>
          <a:xfrm>
            <a:off x="2143313" y="1867580"/>
            <a:ext cx="459241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45.4%</a:t>
            </a:r>
            <a:endParaRPr lang="zh-CN" sz="1110"/>
          </a:p>
        </p:txBody>
      </p:sp>
      <p:sp>
        <p:nvSpPr>
          <p:cNvPr id="142" name="TextBox 142"/>
          <p:cNvSpPr txBox="1"/>
          <p:nvPr/>
        </p:nvSpPr>
        <p:spPr>
          <a:xfrm>
            <a:off x="2663786" y="2681968"/>
            <a:ext cx="495980" cy="2081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16.8%</a:t>
            </a:r>
            <a:endParaRPr lang="zh-CN" sz="1110"/>
          </a:p>
        </p:txBody>
      </p:sp>
      <p:sp>
        <p:nvSpPr>
          <p:cNvPr id="143" name="TextBox 143"/>
          <p:cNvSpPr txBox="1"/>
          <p:nvPr/>
        </p:nvSpPr>
        <p:spPr>
          <a:xfrm>
            <a:off x="3361832" y="3288166"/>
            <a:ext cx="532720" cy="2081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-30.4%</a:t>
            </a:r>
            <a:endParaRPr lang="zh-CN" sz="1110"/>
          </a:p>
        </p:txBody>
      </p:sp>
      <p:sp>
        <p:nvSpPr>
          <p:cNvPr id="144" name="TextBox 144"/>
          <p:cNvSpPr txBox="1"/>
          <p:nvPr/>
        </p:nvSpPr>
        <p:spPr>
          <a:xfrm>
            <a:off x="3900675" y="2620736"/>
            <a:ext cx="465364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12.3%</a:t>
            </a:r>
            <a:endParaRPr lang="zh-CN" sz="1110"/>
          </a:p>
        </p:txBody>
      </p:sp>
      <p:sp>
        <p:nvSpPr>
          <p:cNvPr id="145" name="TextBox 145"/>
          <p:cNvSpPr txBox="1"/>
          <p:nvPr/>
        </p:nvSpPr>
        <p:spPr>
          <a:xfrm>
            <a:off x="8548195" y="2718707"/>
            <a:ext cx="404132" cy="1959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0.3%</a:t>
            </a:r>
            <a:endParaRPr lang="zh-CN" sz="1110"/>
          </a:p>
        </p:txBody>
      </p:sp>
      <p:sp>
        <p:nvSpPr>
          <p:cNvPr id="146" name="TextBox 146"/>
          <p:cNvSpPr txBox="1"/>
          <p:nvPr/>
        </p:nvSpPr>
        <p:spPr>
          <a:xfrm>
            <a:off x="9350336" y="3294289"/>
            <a:ext cx="557213" cy="2081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-29.2%</a:t>
            </a:r>
            <a:endParaRPr lang="zh-CN" sz="1110"/>
          </a:p>
        </p:txBody>
      </p:sp>
      <p:sp>
        <p:nvSpPr>
          <p:cNvPr id="147" name="TextBox 147"/>
          <p:cNvSpPr txBox="1"/>
          <p:nvPr/>
        </p:nvSpPr>
        <p:spPr>
          <a:xfrm>
            <a:off x="9742222" y="2828925"/>
            <a:ext cx="416379" cy="1959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-3.2%</a:t>
            </a:r>
            <a:endParaRPr lang="zh-CN" sz="1110"/>
          </a:p>
        </p:txBody>
      </p:sp>
      <p:sp>
        <p:nvSpPr>
          <p:cNvPr id="148" name="TextBox 148"/>
          <p:cNvSpPr txBox="1"/>
          <p:nvPr/>
        </p:nvSpPr>
        <p:spPr>
          <a:xfrm>
            <a:off x="5070209" y="1451202"/>
            <a:ext cx="1194027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2023年出口总额</a:t>
            </a:r>
            <a:endParaRPr lang="zh-CN" sz="1040"/>
          </a:p>
        </p:txBody>
      </p:sp>
      <p:sp>
        <p:nvSpPr>
          <p:cNvPr id="149" name="TextBox 149"/>
          <p:cNvSpPr txBox="1"/>
          <p:nvPr/>
        </p:nvSpPr>
        <p:spPr>
          <a:xfrm>
            <a:off x="5057963" y="1622652"/>
            <a:ext cx="581705" cy="275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70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11.43</a:t>
            </a:r>
            <a:endParaRPr lang="zh-CN" sz="1670"/>
          </a:p>
        </p:txBody>
      </p:sp>
      <p:sp>
        <p:nvSpPr>
          <p:cNvPr id="150" name="TextBox 150"/>
          <p:cNvSpPr txBox="1"/>
          <p:nvPr/>
        </p:nvSpPr>
        <p:spPr>
          <a:xfrm>
            <a:off x="5651915" y="1677761"/>
            <a:ext cx="630691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005D36"/>
                </a:solidFill>
                <a:latin typeface="Microsoft YaHei"/>
                <a:ea typeface="Microsoft YaHei"/>
                <a:cs typeface="Microsoft YaHei"/>
              </a:rPr>
              <a:t>亿美元</a:t>
            </a:r>
            <a:endParaRPr lang="zh-CN" sz="1150"/>
          </a:p>
        </p:txBody>
      </p:sp>
      <p:sp>
        <p:nvSpPr>
          <p:cNvPr id="151" name="TextBox 151"/>
          <p:cNvSpPr txBox="1"/>
          <p:nvPr/>
        </p:nvSpPr>
        <p:spPr>
          <a:xfrm>
            <a:off x="5070209" y="2265589"/>
            <a:ext cx="1194027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2024年出口总额</a:t>
            </a:r>
            <a:endParaRPr lang="zh-CN" sz="1040"/>
          </a:p>
        </p:txBody>
      </p:sp>
      <p:sp>
        <p:nvSpPr>
          <p:cNvPr id="152" name="TextBox 152"/>
          <p:cNvSpPr txBox="1"/>
          <p:nvPr/>
        </p:nvSpPr>
        <p:spPr>
          <a:xfrm>
            <a:off x="5057963" y="2437039"/>
            <a:ext cx="483734" cy="275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0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7.96</a:t>
            </a:r>
            <a:endParaRPr lang="zh-CN" sz="1730"/>
          </a:p>
        </p:txBody>
      </p:sp>
      <p:sp>
        <p:nvSpPr>
          <p:cNvPr id="153" name="TextBox 153"/>
          <p:cNvSpPr txBox="1"/>
          <p:nvPr/>
        </p:nvSpPr>
        <p:spPr>
          <a:xfrm>
            <a:off x="5553943" y="2492148"/>
            <a:ext cx="630691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005D36"/>
                </a:solidFill>
                <a:latin typeface="Microsoft YaHei"/>
                <a:ea typeface="Microsoft YaHei"/>
                <a:cs typeface="Microsoft YaHei"/>
              </a:rPr>
              <a:t>亿美元</a:t>
            </a:r>
            <a:endParaRPr lang="zh-CN" sz="1150"/>
          </a:p>
        </p:txBody>
      </p:sp>
      <p:sp>
        <p:nvSpPr>
          <p:cNvPr id="154" name="TextBox 154"/>
          <p:cNvSpPr txBox="1"/>
          <p:nvPr/>
        </p:nvSpPr>
        <p:spPr>
          <a:xfrm>
            <a:off x="5070209" y="3043238"/>
            <a:ext cx="1194027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2025年出口总额</a:t>
            </a:r>
            <a:endParaRPr lang="zh-CN" sz="1040"/>
          </a:p>
        </p:txBody>
      </p:sp>
      <p:sp>
        <p:nvSpPr>
          <p:cNvPr id="155" name="TextBox 155"/>
          <p:cNvSpPr txBox="1"/>
          <p:nvPr/>
        </p:nvSpPr>
        <p:spPr>
          <a:xfrm>
            <a:off x="5057963" y="3214688"/>
            <a:ext cx="483734" cy="275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0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8.47</a:t>
            </a:r>
            <a:endParaRPr lang="zh-CN" sz="1730"/>
          </a:p>
        </p:txBody>
      </p:sp>
      <p:sp>
        <p:nvSpPr>
          <p:cNvPr id="156" name="TextBox 156"/>
          <p:cNvSpPr txBox="1"/>
          <p:nvPr/>
        </p:nvSpPr>
        <p:spPr>
          <a:xfrm>
            <a:off x="5553943" y="3269796"/>
            <a:ext cx="630691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005D36"/>
                </a:solidFill>
                <a:latin typeface="Microsoft YaHei"/>
                <a:ea typeface="Microsoft YaHei"/>
                <a:cs typeface="Microsoft YaHei"/>
              </a:rPr>
              <a:t>亿美元</a:t>
            </a:r>
            <a:endParaRPr lang="zh-CN" sz="1150"/>
          </a:p>
        </p:txBody>
      </p:sp>
      <p:sp>
        <p:nvSpPr>
          <p:cNvPr id="157" name="TextBox 157"/>
          <p:cNvSpPr txBox="1"/>
          <p:nvPr/>
        </p:nvSpPr>
        <p:spPr>
          <a:xfrm>
            <a:off x="5070209" y="1879827"/>
            <a:ext cx="538843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同比增长</a:t>
            </a:r>
            <a:endParaRPr lang="zh-CN" sz="1040"/>
          </a:p>
        </p:txBody>
      </p:sp>
      <p:sp>
        <p:nvSpPr>
          <p:cNvPr id="158" name="TextBox 158"/>
          <p:cNvSpPr txBox="1"/>
          <p:nvPr/>
        </p:nvSpPr>
        <p:spPr>
          <a:xfrm>
            <a:off x="5602929" y="1830841"/>
            <a:ext cx="704170" cy="2694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2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16.8%</a:t>
            </a:r>
            <a:endParaRPr lang="zh-CN" sz="1820"/>
          </a:p>
        </p:txBody>
      </p:sp>
      <p:sp>
        <p:nvSpPr>
          <p:cNvPr id="159" name="TextBox 159"/>
          <p:cNvSpPr txBox="1"/>
          <p:nvPr/>
        </p:nvSpPr>
        <p:spPr>
          <a:xfrm>
            <a:off x="5070209" y="2669721"/>
            <a:ext cx="1218520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受价格下行影响回落</a:t>
            </a:r>
            <a:endParaRPr lang="zh-CN" sz="1019"/>
          </a:p>
        </p:txBody>
      </p:sp>
      <p:sp>
        <p:nvSpPr>
          <p:cNvPr id="160" name="TextBox 160"/>
          <p:cNvSpPr txBox="1"/>
          <p:nvPr/>
        </p:nvSpPr>
        <p:spPr>
          <a:xfrm>
            <a:off x="5070209" y="3477986"/>
            <a:ext cx="538843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同比增长</a:t>
            </a:r>
            <a:endParaRPr lang="zh-CN" sz="1040"/>
          </a:p>
        </p:txBody>
      </p:sp>
      <p:sp>
        <p:nvSpPr>
          <p:cNvPr id="161" name="TextBox 161"/>
          <p:cNvSpPr txBox="1"/>
          <p:nvPr/>
        </p:nvSpPr>
        <p:spPr>
          <a:xfrm>
            <a:off x="5602929" y="3422877"/>
            <a:ext cx="704170" cy="2694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2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12.3%</a:t>
            </a:r>
            <a:endParaRPr lang="zh-CN" sz="1820"/>
          </a:p>
        </p:txBody>
      </p:sp>
      <p:sp>
        <p:nvSpPr>
          <p:cNvPr id="162" name="TextBox 162"/>
          <p:cNvSpPr txBox="1"/>
          <p:nvPr/>
        </p:nvSpPr>
        <p:spPr>
          <a:xfrm>
            <a:off x="5070209" y="3655559"/>
            <a:ext cx="1120548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重回增长趋势</a:t>
            </a:r>
            <a:endParaRPr lang="zh-CN" sz="1019"/>
          </a:p>
        </p:txBody>
      </p:sp>
      <p:sp>
        <p:nvSpPr>
          <p:cNvPr id="163" name="TextBox 163"/>
          <p:cNvSpPr txBox="1"/>
          <p:nvPr/>
        </p:nvSpPr>
        <p:spPr>
          <a:xfrm>
            <a:off x="10770922" y="1451202"/>
            <a:ext cx="1004207" cy="38576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2022年达到</a:t>
            </a:r>
            <a:endParaRPr lang="zh-CN" sz="1060"/>
          </a:p>
          <a:p>
            <a:pPr algn="l"/>
            <a:r>
              <a:rPr lang="zh-CN" sz="106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阶段峰值</a:t>
            </a:r>
            <a:endParaRPr lang="zh-CN" sz="1060"/>
          </a:p>
        </p:txBody>
      </p:sp>
      <p:sp>
        <p:nvSpPr>
          <p:cNvPr id="164" name="TextBox 164"/>
          <p:cNvSpPr txBox="1"/>
          <p:nvPr/>
        </p:nvSpPr>
        <p:spPr>
          <a:xfrm>
            <a:off x="10777045" y="1812471"/>
            <a:ext cx="391886" cy="2877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70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5.8</a:t>
            </a:r>
            <a:endParaRPr lang="zh-CN" sz="1870"/>
          </a:p>
        </p:txBody>
      </p:sp>
      <p:sp>
        <p:nvSpPr>
          <p:cNvPr id="165" name="TextBox 165"/>
          <p:cNvSpPr txBox="1"/>
          <p:nvPr/>
        </p:nvSpPr>
        <p:spPr>
          <a:xfrm>
            <a:off x="11150561" y="1879827"/>
            <a:ext cx="655184" cy="2081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 b="1">
                <a:solidFill>
                  <a:srgbClr val="005D36"/>
                </a:solidFill>
                <a:latin typeface="Microsoft YaHei"/>
                <a:ea typeface="Microsoft YaHei"/>
                <a:cs typeface="Microsoft YaHei"/>
              </a:rPr>
              <a:t>美元/千克</a:t>
            </a:r>
            <a:endParaRPr lang="zh-CN" sz="1080"/>
          </a:p>
        </p:txBody>
      </p:sp>
      <p:sp>
        <p:nvSpPr>
          <p:cNvPr id="166" name="TextBox 166"/>
          <p:cNvSpPr txBox="1"/>
          <p:nvPr/>
        </p:nvSpPr>
        <p:spPr>
          <a:xfrm>
            <a:off x="10777045" y="2314575"/>
            <a:ext cx="1010330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2023年起</a:t>
            </a:r>
            <a:endParaRPr lang="zh-CN" sz="1060"/>
          </a:p>
        </p:txBody>
      </p:sp>
      <p:sp>
        <p:nvSpPr>
          <p:cNvPr id="167" name="TextBox 167"/>
          <p:cNvSpPr txBox="1"/>
          <p:nvPr/>
        </p:nvSpPr>
        <p:spPr>
          <a:xfrm>
            <a:off x="10777045" y="2516641"/>
            <a:ext cx="1010330" cy="2143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05D36"/>
                </a:solidFill>
                <a:latin typeface="SimSun"/>
                <a:ea typeface="SimSun"/>
                <a:cs typeface="SimSun"/>
              </a:rPr>
              <a:t>价格逐步回落</a:t>
            </a:r>
            <a:endParaRPr lang="zh-CN" sz="1200"/>
          </a:p>
        </p:txBody>
      </p:sp>
      <p:sp>
        <p:nvSpPr>
          <p:cNvPr id="168" name="TextBox 168"/>
          <p:cNvSpPr txBox="1"/>
          <p:nvPr/>
        </p:nvSpPr>
        <p:spPr>
          <a:xfrm>
            <a:off x="10777045" y="3006498"/>
            <a:ext cx="1010330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2025年降至</a:t>
            </a:r>
            <a:endParaRPr lang="zh-CN" sz="1060"/>
          </a:p>
        </p:txBody>
      </p:sp>
      <p:sp>
        <p:nvSpPr>
          <p:cNvPr id="169" name="TextBox 169"/>
          <p:cNvSpPr txBox="1"/>
          <p:nvPr/>
        </p:nvSpPr>
        <p:spPr>
          <a:xfrm>
            <a:off x="10777045" y="3202441"/>
            <a:ext cx="471488" cy="2816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89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3.92</a:t>
            </a:r>
            <a:endParaRPr lang="zh-CN" sz="1689"/>
          </a:p>
        </p:txBody>
      </p:sp>
      <p:sp>
        <p:nvSpPr>
          <p:cNvPr id="170" name="TextBox 170"/>
          <p:cNvSpPr txBox="1"/>
          <p:nvPr/>
        </p:nvSpPr>
        <p:spPr>
          <a:xfrm>
            <a:off x="11248532" y="3257550"/>
            <a:ext cx="557213" cy="2081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60" b="1">
                <a:solidFill>
                  <a:srgbClr val="005D36"/>
                </a:solidFill>
                <a:latin typeface="Microsoft YaHei"/>
                <a:ea typeface="Microsoft YaHei"/>
                <a:cs typeface="Microsoft YaHei"/>
              </a:rPr>
              <a:t>美元/千克</a:t>
            </a:r>
            <a:endParaRPr lang="zh-CN" sz="960"/>
          </a:p>
        </p:txBody>
      </p:sp>
      <p:sp>
        <p:nvSpPr>
          <p:cNvPr id="171" name="TextBox 171"/>
          <p:cNvSpPr txBox="1"/>
          <p:nvPr/>
        </p:nvSpPr>
        <p:spPr>
          <a:xfrm>
            <a:off x="10777045" y="3471862"/>
            <a:ext cx="1053193" cy="3490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在东南亚等新兴市场</a:t>
            </a:r>
            <a:endParaRPr lang="zh-CN" sz="919"/>
          </a:p>
          <a:p>
            <a:pPr algn="l"/>
            <a:r>
              <a:rPr lang="zh-CN" sz="91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价格竞争力持续增强</a:t>
            </a:r>
            <a:endParaRPr lang="zh-CN" sz="919"/>
          </a:p>
        </p:txBody>
      </p:sp>
      <p:sp>
        <p:nvSpPr>
          <p:cNvPr id="172" name="TextBox 172"/>
          <p:cNvSpPr txBox="1"/>
          <p:nvPr/>
        </p:nvSpPr>
        <p:spPr>
          <a:xfrm>
            <a:off x="992148" y="4653643"/>
            <a:ext cx="1432832" cy="2510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原料出口快速增长</a:t>
            </a:r>
            <a:endParaRPr lang="zh-CN" sz="1200"/>
          </a:p>
        </p:txBody>
      </p:sp>
      <p:sp>
        <p:nvSpPr>
          <p:cNvPr id="173" name="TextBox 173"/>
          <p:cNvSpPr txBox="1"/>
          <p:nvPr/>
        </p:nvSpPr>
        <p:spPr>
          <a:xfrm>
            <a:off x="4715063" y="4659766"/>
            <a:ext cx="1285875" cy="2449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成品出口持续增长</a:t>
            </a:r>
            <a:endParaRPr lang="zh-CN" sz="1200"/>
          </a:p>
        </p:txBody>
      </p:sp>
      <p:sp>
        <p:nvSpPr>
          <p:cNvPr id="174" name="TextBox 174"/>
          <p:cNvSpPr txBox="1"/>
          <p:nvPr/>
        </p:nvSpPr>
        <p:spPr>
          <a:xfrm>
            <a:off x="6937790" y="4659766"/>
            <a:ext cx="2051277" cy="2449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RCEP红利推动对东南亚出口</a:t>
            </a:r>
            <a:endParaRPr lang="zh-CN" sz="1200"/>
          </a:p>
        </p:txBody>
      </p:sp>
      <p:sp>
        <p:nvSpPr>
          <p:cNvPr id="175" name="TextBox 175"/>
          <p:cNvSpPr txBox="1"/>
          <p:nvPr/>
        </p:nvSpPr>
        <p:spPr>
          <a:xfrm>
            <a:off x="1108490" y="5002666"/>
            <a:ext cx="722539" cy="2204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PLA</a:t>
            </a:r>
            <a:endParaRPr lang="zh-CN" sz="1300"/>
          </a:p>
        </p:txBody>
      </p:sp>
      <p:sp>
        <p:nvSpPr>
          <p:cNvPr id="176" name="TextBox 176"/>
          <p:cNvSpPr txBox="1"/>
          <p:nvPr/>
        </p:nvSpPr>
        <p:spPr>
          <a:xfrm>
            <a:off x="2737265" y="5002666"/>
            <a:ext cx="765402" cy="2204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00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PBAT</a:t>
            </a:r>
            <a:endParaRPr lang="zh-CN" sz="1300"/>
          </a:p>
        </p:txBody>
      </p:sp>
      <p:sp>
        <p:nvSpPr>
          <p:cNvPr id="177" name="TextBox 177"/>
          <p:cNvSpPr txBox="1"/>
          <p:nvPr/>
        </p:nvSpPr>
        <p:spPr>
          <a:xfrm>
            <a:off x="1328925" y="5327196"/>
            <a:ext cx="900113" cy="1836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2025年1-5月出口</a:t>
            </a:r>
            <a:endParaRPr lang="zh-CN" sz="900"/>
          </a:p>
        </p:txBody>
      </p:sp>
      <p:sp>
        <p:nvSpPr>
          <p:cNvPr id="178" name="TextBox 178"/>
          <p:cNvSpPr txBox="1"/>
          <p:nvPr/>
        </p:nvSpPr>
        <p:spPr>
          <a:xfrm>
            <a:off x="1328925" y="5492523"/>
            <a:ext cx="685800" cy="275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39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10,862</a:t>
            </a:r>
            <a:endParaRPr lang="zh-CN" sz="1639"/>
          </a:p>
        </p:txBody>
      </p:sp>
      <p:sp>
        <p:nvSpPr>
          <p:cNvPr id="179" name="TextBox 179"/>
          <p:cNvSpPr txBox="1"/>
          <p:nvPr/>
        </p:nvSpPr>
        <p:spPr>
          <a:xfrm>
            <a:off x="2014725" y="5566002"/>
            <a:ext cx="146957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5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吨</a:t>
            </a:r>
            <a:endParaRPr lang="zh-CN" sz="850"/>
          </a:p>
        </p:txBody>
      </p:sp>
      <p:sp>
        <p:nvSpPr>
          <p:cNvPr id="180" name="TextBox 180"/>
          <p:cNvSpPr txBox="1"/>
          <p:nvPr/>
        </p:nvSpPr>
        <p:spPr>
          <a:xfrm>
            <a:off x="1328925" y="5798684"/>
            <a:ext cx="440871" cy="1775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同比增长</a:t>
            </a:r>
            <a:endParaRPr lang="zh-CN" sz="869"/>
          </a:p>
        </p:txBody>
      </p:sp>
      <p:sp>
        <p:nvSpPr>
          <p:cNvPr id="181" name="TextBox 181"/>
          <p:cNvSpPr txBox="1"/>
          <p:nvPr/>
        </p:nvSpPr>
        <p:spPr>
          <a:xfrm>
            <a:off x="1757550" y="5761945"/>
            <a:ext cx="538843" cy="23268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4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30.1%</a:t>
            </a:r>
            <a:endParaRPr lang="zh-CN" sz="1540"/>
          </a:p>
        </p:txBody>
      </p:sp>
      <p:sp>
        <p:nvSpPr>
          <p:cNvPr id="182" name="TextBox 182"/>
          <p:cNvSpPr txBox="1"/>
          <p:nvPr/>
        </p:nvSpPr>
        <p:spPr>
          <a:xfrm>
            <a:off x="1328925" y="6086475"/>
            <a:ext cx="544966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东南亚占比</a:t>
            </a:r>
            <a:endParaRPr lang="zh-CN" sz="860"/>
          </a:p>
        </p:txBody>
      </p:sp>
      <p:sp>
        <p:nvSpPr>
          <p:cNvPr id="183" name="TextBox 183"/>
          <p:cNvSpPr txBox="1"/>
          <p:nvPr/>
        </p:nvSpPr>
        <p:spPr>
          <a:xfrm>
            <a:off x="1855522" y="6031366"/>
            <a:ext cx="544966" cy="2632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32%</a:t>
            </a:r>
            <a:endParaRPr lang="zh-CN" sz="1700"/>
          </a:p>
        </p:txBody>
      </p:sp>
      <p:sp>
        <p:nvSpPr>
          <p:cNvPr id="184" name="TextBox 184"/>
          <p:cNvSpPr txBox="1"/>
          <p:nvPr/>
        </p:nvSpPr>
        <p:spPr>
          <a:xfrm>
            <a:off x="3110781" y="5327196"/>
            <a:ext cx="900113" cy="1836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2025年1-5月出口</a:t>
            </a:r>
            <a:endParaRPr lang="zh-CN" sz="900"/>
          </a:p>
        </p:txBody>
      </p:sp>
      <p:sp>
        <p:nvSpPr>
          <p:cNvPr id="185" name="TextBox 185"/>
          <p:cNvSpPr txBox="1"/>
          <p:nvPr/>
        </p:nvSpPr>
        <p:spPr>
          <a:xfrm>
            <a:off x="3110781" y="5492523"/>
            <a:ext cx="685800" cy="275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39" b="1">
                <a:solidFill>
                  <a:srgbClr val="005D36"/>
                </a:solidFill>
                <a:latin typeface="Liberation Serif"/>
                <a:ea typeface="Liberation Serif"/>
                <a:cs typeface="Liberation Serif"/>
              </a:rPr>
              <a:t>57,680</a:t>
            </a:r>
            <a:endParaRPr lang="zh-CN" sz="1639"/>
          </a:p>
        </p:txBody>
      </p:sp>
      <p:sp>
        <p:nvSpPr>
          <p:cNvPr id="186" name="TextBox 186"/>
          <p:cNvSpPr txBox="1"/>
          <p:nvPr/>
        </p:nvSpPr>
        <p:spPr>
          <a:xfrm>
            <a:off x="3796581" y="5566002"/>
            <a:ext cx="146957" cy="17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5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吨</a:t>
            </a:r>
            <a:endParaRPr lang="zh-CN" sz="850"/>
          </a:p>
        </p:txBody>
      </p:sp>
      <p:sp>
        <p:nvSpPr>
          <p:cNvPr id="187" name="TextBox 187"/>
          <p:cNvSpPr txBox="1"/>
          <p:nvPr/>
        </p:nvSpPr>
        <p:spPr>
          <a:xfrm>
            <a:off x="3110781" y="5798684"/>
            <a:ext cx="440871" cy="1775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同比增长</a:t>
            </a:r>
            <a:endParaRPr lang="zh-CN" sz="869"/>
          </a:p>
        </p:txBody>
      </p:sp>
      <p:sp>
        <p:nvSpPr>
          <p:cNvPr id="188" name="TextBox 188"/>
          <p:cNvSpPr txBox="1"/>
          <p:nvPr/>
        </p:nvSpPr>
        <p:spPr>
          <a:xfrm>
            <a:off x="3539406" y="5761945"/>
            <a:ext cx="538843" cy="23268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4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53.7%</a:t>
            </a:r>
            <a:endParaRPr lang="zh-CN" sz="1540"/>
          </a:p>
        </p:txBody>
      </p:sp>
      <p:sp>
        <p:nvSpPr>
          <p:cNvPr id="189" name="TextBox 189"/>
          <p:cNvSpPr txBox="1"/>
          <p:nvPr/>
        </p:nvSpPr>
        <p:spPr>
          <a:xfrm>
            <a:off x="2914838" y="6086475"/>
            <a:ext cx="544966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东南亚占比</a:t>
            </a:r>
            <a:endParaRPr lang="zh-CN" sz="860"/>
          </a:p>
        </p:txBody>
      </p:sp>
      <p:sp>
        <p:nvSpPr>
          <p:cNvPr id="190" name="TextBox 190"/>
          <p:cNvSpPr txBox="1"/>
          <p:nvPr/>
        </p:nvSpPr>
        <p:spPr>
          <a:xfrm>
            <a:off x="3447557" y="6031366"/>
            <a:ext cx="544966" cy="2632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6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41.3%</a:t>
            </a:r>
            <a:endParaRPr lang="zh-CN" sz="1560"/>
          </a:p>
        </p:txBody>
      </p:sp>
      <p:sp>
        <p:nvSpPr>
          <p:cNvPr id="191" name="TextBox 191"/>
          <p:cNvSpPr txBox="1"/>
          <p:nvPr/>
        </p:nvSpPr>
        <p:spPr>
          <a:xfrm>
            <a:off x="5217166" y="4965927"/>
            <a:ext cx="1096055" cy="3612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PLA+PBAT农膜</a:t>
            </a:r>
            <a:endParaRPr lang="zh-CN" sz="1060"/>
          </a:p>
          <a:p>
            <a:pPr algn="l"/>
            <a:r>
              <a:rPr lang="zh-CN" sz="106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占降解农膜出口量</a:t>
            </a:r>
            <a:endParaRPr lang="zh-CN" sz="1060"/>
          </a:p>
        </p:txBody>
      </p:sp>
      <p:sp>
        <p:nvSpPr>
          <p:cNvPr id="192" name="TextBox 192"/>
          <p:cNvSpPr txBox="1"/>
          <p:nvPr/>
        </p:nvSpPr>
        <p:spPr>
          <a:xfrm>
            <a:off x="5217166" y="5290457"/>
            <a:ext cx="949098" cy="3306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 i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54%</a:t>
            </a:r>
            <a:endParaRPr lang="zh-CN" sz="2500"/>
          </a:p>
        </p:txBody>
      </p:sp>
      <p:sp>
        <p:nvSpPr>
          <p:cNvPr id="193" name="TextBox 193"/>
          <p:cNvSpPr txBox="1"/>
          <p:nvPr/>
        </p:nvSpPr>
        <p:spPr>
          <a:xfrm>
            <a:off x="4800788" y="5676220"/>
            <a:ext cx="1451202" cy="1836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出口增速高于行业平均</a:t>
            </a:r>
            <a:endParaRPr lang="zh-CN" sz="1010"/>
          </a:p>
        </p:txBody>
      </p:sp>
      <p:sp>
        <p:nvSpPr>
          <p:cNvPr id="194" name="TextBox 194"/>
          <p:cNvSpPr txBox="1"/>
          <p:nvPr/>
        </p:nvSpPr>
        <p:spPr>
          <a:xfrm>
            <a:off x="4800788" y="5829300"/>
            <a:ext cx="1426709" cy="2143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80" b="1">
                <a:solidFill>
                  <a:srgbClr val="FF9700"/>
                </a:solidFill>
                <a:latin typeface="SimSun"/>
                <a:ea typeface="SimSun"/>
                <a:cs typeface="SimSun"/>
              </a:rPr>
              <a:t>12 个百分点</a:t>
            </a:r>
            <a:endParaRPr lang="zh-CN" sz="1580"/>
          </a:p>
        </p:txBody>
      </p:sp>
      <p:sp>
        <p:nvSpPr>
          <p:cNvPr id="195" name="TextBox 195"/>
          <p:cNvSpPr txBox="1"/>
          <p:nvPr/>
        </p:nvSpPr>
        <p:spPr>
          <a:xfrm>
            <a:off x="4800788" y="6110968"/>
            <a:ext cx="404132" cy="1836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可实现</a:t>
            </a:r>
            <a:endParaRPr lang="zh-CN" sz="1019"/>
          </a:p>
        </p:txBody>
      </p:sp>
      <p:sp>
        <p:nvSpPr>
          <p:cNvPr id="196" name="TextBox 196"/>
          <p:cNvSpPr txBox="1"/>
          <p:nvPr/>
        </p:nvSpPr>
        <p:spPr>
          <a:xfrm>
            <a:off x="5204920" y="6074229"/>
            <a:ext cx="704170" cy="2449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60-180</a:t>
            </a:r>
            <a:endParaRPr lang="zh-CN" sz="1600"/>
          </a:p>
        </p:txBody>
      </p:sp>
      <p:sp>
        <p:nvSpPr>
          <p:cNvPr id="197" name="TextBox 197"/>
          <p:cNvSpPr txBox="1"/>
          <p:nvPr/>
        </p:nvSpPr>
        <p:spPr>
          <a:xfrm>
            <a:off x="5829488" y="6110968"/>
            <a:ext cx="208189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FF9700"/>
                </a:solidFill>
                <a:latin typeface="SimSun"/>
                <a:ea typeface="SimSun"/>
                <a:cs typeface="SimSun"/>
              </a:rPr>
              <a:t>天</a:t>
            </a:r>
            <a:endParaRPr lang="zh-CN" sz="1150"/>
          </a:p>
        </p:txBody>
      </p:sp>
      <p:sp>
        <p:nvSpPr>
          <p:cNvPr id="198" name="TextBox 198"/>
          <p:cNvSpPr txBox="1"/>
          <p:nvPr/>
        </p:nvSpPr>
        <p:spPr>
          <a:xfrm>
            <a:off x="4800788" y="6288541"/>
            <a:ext cx="1230766" cy="1775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降解周期调控</a:t>
            </a:r>
            <a:endParaRPr lang="zh-CN" sz="1019"/>
          </a:p>
        </p:txBody>
      </p:sp>
      <p:sp>
        <p:nvSpPr>
          <p:cNvPr id="199" name="TextBox 199"/>
          <p:cNvSpPr txBox="1"/>
          <p:nvPr/>
        </p:nvSpPr>
        <p:spPr>
          <a:xfrm>
            <a:off x="7311306" y="4984296"/>
            <a:ext cx="1769609" cy="2020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2025年中国可降解农膜出口额</a:t>
            </a:r>
            <a:endParaRPr lang="zh-CN" sz="1019"/>
          </a:p>
        </p:txBody>
      </p:sp>
      <p:sp>
        <p:nvSpPr>
          <p:cNvPr id="200" name="TextBox 200"/>
          <p:cNvSpPr txBox="1"/>
          <p:nvPr/>
        </p:nvSpPr>
        <p:spPr>
          <a:xfrm>
            <a:off x="7311306" y="5143500"/>
            <a:ext cx="575582" cy="3306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60" b="1" i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14.2</a:t>
            </a:r>
            <a:endParaRPr lang="zh-CN" sz="2060"/>
          </a:p>
        </p:txBody>
      </p:sp>
      <p:sp>
        <p:nvSpPr>
          <p:cNvPr id="201" name="TextBox 201"/>
          <p:cNvSpPr txBox="1"/>
          <p:nvPr/>
        </p:nvSpPr>
        <p:spPr>
          <a:xfrm>
            <a:off x="7893011" y="5198609"/>
            <a:ext cx="422502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05D36"/>
                </a:solidFill>
                <a:latin typeface="SimSun"/>
                <a:ea typeface="SimSun"/>
                <a:cs typeface="SimSun"/>
              </a:rPr>
              <a:t>亿元</a:t>
            </a:r>
            <a:endParaRPr lang="zh-CN" sz="1400"/>
          </a:p>
        </p:txBody>
      </p:sp>
      <p:sp>
        <p:nvSpPr>
          <p:cNvPr id="202" name="TextBox 202"/>
          <p:cNvSpPr txBox="1"/>
          <p:nvPr/>
        </p:nvSpPr>
        <p:spPr>
          <a:xfrm>
            <a:off x="7556234" y="5455784"/>
            <a:ext cx="538843" cy="1898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同比增长</a:t>
            </a:r>
            <a:endParaRPr lang="zh-CN" sz="1019"/>
          </a:p>
        </p:txBody>
      </p:sp>
      <p:sp>
        <p:nvSpPr>
          <p:cNvPr id="203" name="TextBox 203"/>
          <p:cNvSpPr txBox="1"/>
          <p:nvPr/>
        </p:nvSpPr>
        <p:spPr>
          <a:xfrm>
            <a:off x="8082831" y="5394552"/>
            <a:ext cx="912359" cy="2939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50" b="1" i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41.7%</a:t>
            </a:r>
            <a:endParaRPr lang="zh-CN" sz="2150"/>
          </a:p>
        </p:txBody>
      </p:sp>
      <p:sp>
        <p:nvSpPr>
          <p:cNvPr id="204" name="TextBox 204"/>
          <p:cNvSpPr txBox="1"/>
          <p:nvPr/>
        </p:nvSpPr>
        <p:spPr>
          <a:xfrm>
            <a:off x="7519495" y="5847670"/>
            <a:ext cx="1396093" cy="2388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40">
                <a:solidFill>
                  <a:srgbClr val="142E28"/>
                </a:solidFill>
                <a:latin typeface="Microsoft YaHei"/>
                <a:ea typeface="Microsoft YaHei"/>
                <a:cs typeface="Microsoft YaHei"/>
              </a:rPr>
              <a:t>东南亚市场占比</a:t>
            </a:r>
            <a:endParaRPr lang="zh-CN" sz="1140"/>
          </a:p>
        </p:txBody>
      </p:sp>
      <p:sp>
        <p:nvSpPr>
          <p:cNvPr id="205" name="TextBox 205"/>
          <p:cNvSpPr txBox="1"/>
          <p:nvPr/>
        </p:nvSpPr>
        <p:spPr>
          <a:xfrm>
            <a:off x="7519495" y="6025243"/>
            <a:ext cx="1432832" cy="3796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 i="1">
                <a:solidFill>
                  <a:srgbClr val="FF9700"/>
                </a:solidFill>
                <a:latin typeface="Liberation Serif"/>
                <a:ea typeface="Liberation Serif"/>
                <a:cs typeface="Liberation Serif"/>
              </a:rPr>
              <a:t>46.3%</a:t>
            </a:r>
            <a:endParaRPr lang="zh-CN" sz="2700"/>
          </a:p>
        </p:txBody>
      </p:sp>
      <p:sp>
        <p:nvSpPr>
          <p:cNvPr id="206" name="Path 206"/>
          <p:cNvSpPr/>
          <p:nvPr/>
        </p:nvSpPr>
        <p:spPr>
          <a:xfrm>
            <a:off x="188" y="6319157"/>
            <a:ext cx="12191320" cy="72253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5240" y="6224"/>
                  <a:pt x="8538" y="17024"/>
                  <a:pt x="11728" y="21600"/>
                </a:cubicBezTo>
                <a:cubicBezTo>
                  <a:pt x="15221" y="16292"/>
                  <a:pt x="19105" y="5308"/>
                  <a:pt x="21600" y="915"/>
                </a:cubicBezTo>
                <a:lnTo>
                  <a:pt x="21600" y="19769"/>
                </a:lnTo>
                <a:lnTo>
                  <a:pt x="0" y="19769"/>
                </a:lnTo>
                <a:close/>
              </a:path>
            </a:pathLst>
          </a:custGeom>
          <a:solidFill>
            <a:srgbClr val="FEFF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Path 207"/>
          <p:cNvSpPr/>
          <p:nvPr/>
        </p:nvSpPr>
        <p:spPr>
          <a:xfrm>
            <a:off x="188" y="6362020"/>
            <a:ext cx="12191320" cy="72253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5240" y="6224"/>
                  <a:pt x="8538" y="17024"/>
                  <a:pt x="11728" y="21600"/>
                </a:cubicBezTo>
                <a:cubicBezTo>
                  <a:pt x="15221" y="16292"/>
                  <a:pt x="19105" y="5308"/>
                  <a:pt x="21600" y="915"/>
                </a:cubicBezTo>
                <a:lnTo>
                  <a:pt x="21600" y="18488"/>
                </a:lnTo>
                <a:lnTo>
                  <a:pt x="0" y="18488"/>
                </a:lnTo>
                <a:close/>
              </a:path>
            </a:pathLst>
          </a:custGeom>
          <a:solidFill>
            <a:srgbClr val="2A8B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Path 208"/>
          <p:cNvSpPr/>
          <p:nvPr/>
        </p:nvSpPr>
        <p:spPr>
          <a:xfrm>
            <a:off x="188" y="6827384"/>
            <a:ext cx="12191320" cy="71641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5240" y="6277"/>
                  <a:pt x="8538" y="16985"/>
                  <a:pt x="11728" y="21600"/>
                </a:cubicBezTo>
                <a:cubicBezTo>
                  <a:pt x="15221" y="16246"/>
                  <a:pt x="19105" y="4800"/>
                  <a:pt x="21600" y="369"/>
                </a:cubicBezTo>
                <a:lnTo>
                  <a:pt x="21600" y="4615"/>
                </a:lnTo>
                <a:lnTo>
                  <a:pt x="0" y="4615"/>
                </a:lnTo>
                <a:close/>
              </a:path>
            </a:pathLst>
          </a:custGeom>
          <a:solidFill>
            <a:srgbClr val="B1C95C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 mint textured paper and original lower agricultural panorama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277"/>
            <a:ext cx="12191695" cy="6857446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99491" y="336726"/>
            <a:ext cx="2856759" cy="5016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71" y="0"/>
                </a:moveTo>
                <a:lnTo>
                  <a:pt x="21600" y="0"/>
                </a:lnTo>
                <a:lnTo>
                  <a:pt x="205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5DF8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3407313" y="355078"/>
            <a:ext cx="4740875" cy="5016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57" y="0"/>
                </a:moveTo>
                <a:lnTo>
                  <a:pt x="21600" y="0"/>
                </a:lnTo>
                <a:lnTo>
                  <a:pt x="2104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FF1E6"/>
          </a:solidFill>
          <a:ln w="8890">
            <a:solidFill>
              <a:srgbClr val="77B99C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238573" y="1034093"/>
            <a:ext cx="6086672" cy="3609182"/>
          </a:xfrm>
          <a:prstGeom prst="roundRect">
            <a:avLst>
              <a:gd name="adj" fmla="val 4068"/>
            </a:avLst>
          </a:prstGeom>
          <a:solidFill>
            <a:srgbClr val="F6FCF7"/>
          </a:solidFill>
          <a:ln w="7620">
            <a:solidFill>
              <a:srgbClr val="7DC7A0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410886" y="1064680"/>
            <a:ext cx="5554470" cy="3590830"/>
          </a:xfrm>
          <a:prstGeom prst="roundRect">
            <a:avLst>
              <a:gd name="adj" fmla="val 4089"/>
            </a:avLst>
          </a:prstGeom>
          <a:solidFill>
            <a:srgbClr val="F7FDF8"/>
          </a:solidFill>
          <a:ln w="7620">
            <a:solidFill>
              <a:srgbClr val="7BC9A7"/>
            </a:solidFill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715719" y="336726"/>
            <a:ext cx="2612069" cy="5016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62" y="0"/>
                </a:moveTo>
                <a:lnTo>
                  <a:pt x="21600" y="0"/>
                </a:lnTo>
                <a:lnTo>
                  <a:pt x="205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330332" y="1590764"/>
            <a:ext cx="5903154" cy="2972987"/>
          </a:xfrm>
          <a:prstGeom prst="roundRect">
            <a:avLst>
              <a:gd name="adj" fmla="val 5761"/>
            </a:avLst>
          </a:prstGeom>
          <a:solidFill>
            <a:srgbClr val="FCFFFB"/>
          </a:solidFill>
          <a:ln w="7620">
            <a:solidFill>
              <a:srgbClr val="98D8B0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44690" y="4808442"/>
            <a:ext cx="11720666" cy="1847412"/>
          </a:xfrm>
          <a:prstGeom prst="roundRect">
            <a:avLst>
              <a:gd name="adj" fmla="val 9272"/>
            </a:avLst>
          </a:prstGeom>
          <a:noFill/>
          <a:ln w="7620">
            <a:solidFill>
              <a:srgbClr val="77C8AA"/>
            </a:solidFill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256925" y="4820676"/>
            <a:ext cx="7083785" cy="135803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22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2724"/>
                </a:lnTo>
                <a:cubicBezTo>
                  <a:pt x="0" y="1168"/>
                  <a:pt x="224" y="0"/>
                  <a:pt x="522" y="0"/>
                </a:cubicBezTo>
                <a:close/>
              </a:path>
            </a:pathLst>
          </a:custGeom>
          <a:solidFill>
            <a:srgbClr val="F4FCF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721836" y="3285244"/>
            <a:ext cx="4061859" cy="0"/>
          </a:xfrm>
          <a:prstGeom prst="line">
            <a:avLst/>
          </a:prstGeom>
          <a:noFill/>
          <a:ln w="5715">
            <a:solidFill>
              <a:srgbClr val="E0EEE2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721836" y="3016085"/>
            <a:ext cx="4061859" cy="0"/>
          </a:xfrm>
          <a:prstGeom prst="line">
            <a:avLst/>
          </a:prstGeom>
          <a:noFill/>
          <a:ln w="5715">
            <a:solidFill>
              <a:srgbClr val="E0EEE2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721836" y="2746926"/>
            <a:ext cx="4061859" cy="0"/>
          </a:xfrm>
          <a:prstGeom prst="line">
            <a:avLst/>
          </a:prstGeom>
          <a:noFill/>
          <a:ln w="5715">
            <a:solidFill>
              <a:srgbClr val="E0EEE2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721836" y="2477766"/>
            <a:ext cx="4061859" cy="0"/>
          </a:xfrm>
          <a:prstGeom prst="line">
            <a:avLst/>
          </a:prstGeom>
          <a:noFill/>
          <a:ln w="5715">
            <a:solidFill>
              <a:srgbClr val="E0EEE2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721836" y="2208607"/>
            <a:ext cx="4061859" cy="0"/>
          </a:xfrm>
          <a:prstGeom prst="line">
            <a:avLst/>
          </a:prstGeom>
          <a:noFill/>
          <a:ln w="5715">
            <a:solidFill>
              <a:srgbClr val="E0EEE2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6514880" y="1621350"/>
            <a:ext cx="1688363" cy="2948518"/>
          </a:xfrm>
          <a:prstGeom prst="roundRect">
            <a:avLst>
              <a:gd name="adj" fmla="val 6522"/>
            </a:avLst>
          </a:prstGeom>
          <a:solidFill>
            <a:srgbClr val="FBFDF4"/>
          </a:solidFill>
          <a:ln w="7620">
            <a:solidFill>
              <a:srgbClr val="7CCCA1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8264416" y="1621350"/>
            <a:ext cx="1718949" cy="2948518"/>
          </a:xfrm>
          <a:prstGeom prst="roundRect">
            <a:avLst>
              <a:gd name="adj" fmla="val 6406"/>
            </a:avLst>
          </a:prstGeom>
          <a:solidFill>
            <a:srgbClr val="FBFDF4"/>
          </a:solidFill>
          <a:ln w="7620">
            <a:solidFill>
              <a:srgbClr val="7CCCA1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044538" y="1621350"/>
            <a:ext cx="1822943" cy="2948518"/>
          </a:xfrm>
          <a:prstGeom prst="roundRect">
            <a:avLst>
              <a:gd name="adj" fmla="val 6040"/>
            </a:avLst>
          </a:prstGeom>
          <a:solidFill>
            <a:srgbClr val="FBFDF4"/>
          </a:solidFill>
          <a:ln w="7620">
            <a:solidFill>
              <a:srgbClr val="7CCCA1"/>
            </a:solidFill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452677" y="1688640"/>
            <a:ext cx="3003574" cy="29362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68" y="0"/>
                </a:moveTo>
                <a:lnTo>
                  <a:pt x="21600" y="0"/>
                </a:lnTo>
                <a:lnTo>
                  <a:pt x="2102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C93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6612756" y="1963917"/>
            <a:ext cx="1492611" cy="2385731"/>
          </a:xfrm>
          <a:prstGeom prst="roundRect">
            <a:avLst>
              <a:gd name="adj" fmla="val 14754"/>
            </a:avLst>
          </a:prstGeom>
          <a:solidFill>
            <a:srgbClr val="F2F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8362292" y="1963917"/>
            <a:ext cx="1523197" cy="2385731"/>
          </a:xfrm>
          <a:prstGeom prst="roundRect">
            <a:avLst>
              <a:gd name="adj" fmla="val 14458"/>
            </a:avLst>
          </a:prstGeom>
          <a:solidFill>
            <a:srgbClr val="F2F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10142414" y="1963917"/>
            <a:ext cx="1627191" cy="2385731"/>
          </a:xfrm>
          <a:prstGeom prst="roundRect">
            <a:avLst>
              <a:gd name="adj" fmla="val 13534"/>
            </a:avLst>
          </a:prstGeom>
          <a:solidFill>
            <a:srgbClr val="F2F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526084" y="3860267"/>
            <a:ext cx="5554470" cy="550553"/>
          </a:xfrm>
          <a:prstGeom prst="roundRect">
            <a:avLst>
              <a:gd name="adj" fmla="val 50000"/>
            </a:avLst>
          </a:prstGeom>
          <a:solidFill>
            <a:srgbClr val="F2F8D7"/>
          </a:solidFill>
          <a:ln w="7620">
            <a:solidFill>
              <a:srgbClr val="ADE0AF"/>
            </a:solidFill>
          </a:ln>
        </p:spPr>
        <p:txBody>
          <a:bodyPr/>
          <a:lstStyle/>
          <a:p/>
        </p:txBody>
      </p:sp>
      <p:pic>
        <p:nvPicPr>
          <p:cNvPr id="24" name="Source trade-scene foreground photograph/illustration; ordinary main copy removed; no entire source card or chart retain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6267529" y="4758345"/>
            <a:ext cx="5841185" cy="1986241"/>
          </a:xfrm>
          <a:prstGeom prst="rect">
            <a:avLst/>
          </a:prstGeom>
        </p:spPr>
      </p:pic>
      <p:sp>
        <p:nvSpPr>
          <p:cNvPr id="25" name="Ellipse 25"/>
          <p:cNvSpPr/>
          <p:nvPr/>
        </p:nvSpPr>
        <p:spPr>
          <a:xfrm>
            <a:off x="3560244" y="544713"/>
            <a:ext cx="122345" cy="122345"/>
          </a:xfrm>
          <a:prstGeom prst="ellipse">
            <a:avLst/>
          </a:prstGeom>
          <a:solidFill>
            <a:srgbClr val="00964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3817169" y="1804868"/>
            <a:ext cx="110111" cy="103993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4502302" y="1804868"/>
            <a:ext cx="110111" cy="103993"/>
          </a:xfrm>
          <a:prstGeom prst="rect">
            <a:avLst/>
          </a:prstGeom>
          <a:solidFill>
            <a:srgbClr val="2D9C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721836" y="2208607"/>
            <a:ext cx="0" cy="1076637"/>
          </a:xfrm>
          <a:prstGeom prst="line">
            <a:avLst/>
          </a:prstGeom>
          <a:noFill/>
          <a:ln w="8255">
            <a:solidFill>
              <a:srgbClr val="90C59D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721836" y="3285244"/>
            <a:ext cx="4061859" cy="0"/>
          </a:xfrm>
          <a:prstGeom prst="line">
            <a:avLst/>
          </a:prstGeom>
          <a:noFill/>
          <a:ln w="8255">
            <a:solidFill>
              <a:srgbClr val="90C59D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939171" y="3285244"/>
            <a:ext cx="250808" cy="0"/>
          </a:xfrm>
          <a:prstGeom prst="line">
            <a:avLst/>
          </a:prstGeom>
          <a:noFill/>
          <a:ln w="7620">
            <a:solidFill>
              <a:srgbClr val="65B968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2740532" y="3285244"/>
            <a:ext cx="250808" cy="0"/>
          </a:xfrm>
          <a:prstGeom prst="line">
            <a:avLst/>
          </a:prstGeom>
          <a:noFill/>
          <a:ln w="7620">
            <a:solidFill>
              <a:srgbClr val="65B968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8478520" y="3529935"/>
            <a:ext cx="1364149" cy="0"/>
          </a:xfrm>
          <a:prstGeom prst="line">
            <a:avLst/>
          </a:prstGeom>
          <a:noFill/>
          <a:ln w="7620">
            <a:solidFill>
              <a:srgbClr val="A6CB9F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868651" y="2746926"/>
            <a:ext cx="220221" cy="538319"/>
          </a:xfrm>
          <a:prstGeom prst="rect">
            <a:avLst/>
          </a:prstGeom>
          <a:solidFill>
            <a:srgbClr val="B8B9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125575" y="3107599"/>
            <a:ext cx="250808" cy="177645"/>
          </a:xfrm>
          <a:prstGeom prst="rect">
            <a:avLst/>
          </a:prstGeom>
          <a:solidFill>
            <a:srgbClr val="2C9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682246" y="3016085"/>
            <a:ext cx="220221" cy="269159"/>
          </a:xfrm>
          <a:prstGeom prst="rect">
            <a:avLst/>
          </a:prstGeom>
          <a:solidFill>
            <a:srgbClr val="B8B9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2483607" y="3016085"/>
            <a:ext cx="220221" cy="269159"/>
          </a:xfrm>
          <a:prstGeom prst="rect">
            <a:avLst/>
          </a:prstGeom>
          <a:solidFill>
            <a:srgbClr val="B8B9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3297202" y="2746926"/>
            <a:ext cx="220221" cy="538319"/>
          </a:xfrm>
          <a:prstGeom prst="rect">
            <a:avLst/>
          </a:prstGeom>
          <a:solidFill>
            <a:srgbClr val="B8B9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3554127" y="3107599"/>
            <a:ext cx="250808" cy="177645"/>
          </a:xfrm>
          <a:prstGeom prst="rect">
            <a:avLst/>
          </a:prstGeom>
          <a:solidFill>
            <a:srgbClr val="2C9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4123032" y="2477766"/>
            <a:ext cx="220221" cy="807478"/>
          </a:xfrm>
          <a:prstGeom prst="rect">
            <a:avLst/>
          </a:prstGeom>
          <a:solidFill>
            <a:srgbClr val="B8B9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4379957" y="3107599"/>
            <a:ext cx="250808" cy="177645"/>
          </a:xfrm>
          <a:prstGeom prst="rect">
            <a:avLst/>
          </a:prstGeom>
          <a:solidFill>
            <a:srgbClr val="2C9D3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1" name="Source cert-photo foreground photograph/illustration; ordinary main copy removed; no entire source card or chart retain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6447431" y="3564534"/>
            <a:ext cx="1823261" cy="1048253"/>
          </a:xfrm>
          <a:prstGeom prst="rect">
            <a:avLst/>
          </a:prstGeom>
        </p:spPr>
      </p:pic>
      <p:pic>
        <p:nvPicPr>
          <p:cNvPr id="42" name="Source seed-photo foreground photograph/illustration; ordinary main copy removed; no entire source card or chart retain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8203603" y="3933600"/>
            <a:ext cx="1840575" cy="660369"/>
          </a:xfrm>
          <a:prstGeom prst="rect">
            <a:avLst/>
          </a:prstGeom>
        </p:spPr>
      </p:pic>
      <p:pic>
        <p:nvPicPr>
          <p:cNvPr id="43" name="Source mulch-photo foreground photograph/illustration; ordinary main copy removed; no entire source card or chart retain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9984085" y="3717442"/>
            <a:ext cx="1943849" cy="902163"/>
          </a:xfrm>
          <a:prstGeom prst="rect">
            <a:avLst/>
          </a:prstGeom>
        </p:spPr>
      </p:pic>
      <p:pic>
        <p:nvPicPr>
          <p:cNvPr id="44" name="Original source header separated complete with source pattern/color identity and circular rim."/>
          <p:cNvPicPr/>
          <p:nvPr/>
        </p:nvPicPr>
        <p:blipFill>
          <a:blip r:embed="rId3"/>
          <a:stretch>
            <a:fillRect/>
          </a:stretch>
        </p:blipFill>
        <p:spPr>
          <a:xfrm>
            <a:off x="184074" y="1037152"/>
            <a:ext cx="3644310" cy="611726"/>
          </a:xfrm>
          <a:prstGeom prst="rect">
            <a:avLst/>
          </a:prstGeom>
        </p:spPr>
      </p:pic>
      <p:pic>
        <p:nvPicPr>
          <p:cNvPr id="45" name="Original source header separated complete with source pattern/color identity and circular rim."/>
          <p:cNvPicPr/>
          <p:nvPr/>
        </p:nvPicPr>
        <p:blipFill>
          <a:blip r:embed="rId4"/>
          <a:stretch>
            <a:fillRect/>
          </a:stretch>
        </p:blipFill>
        <p:spPr>
          <a:xfrm>
            <a:off x="6369178" y="1037152"/>
            <a:ext cx="3631010" cy="611726"/>
          </a:xfrm>
          <a:prstGeom prst="rect">
            <a:avLst/>
          </a:prstGeom>
        </p:spPr>
      </p:pic>
      <p:pic>
        <p:nvPicPr>
          <p:cNvPr id="46" name="Original source header separated complete with source pattern/color identity and circular rim."/>
          <p:cNvPicPr/>
          <p:nvPr/>
        </p:nvPicPr>
        <p:blipFill>
          <a:blip r:embed="rId5"/>
          <a:stretch>
            <a:fillRect/>
          </a:stretch>
        </p:blipFill>
        <p:spPr>
          <a:xfrm>
            <a:off x="222446" y="4786012"/>
            <a:ext cx="3897018" cy="619882"/>
          </a:xfrm>
          <a:prstGeom prst="rect">
            <a:avLst/>
          </a:prstGeom>
        </p:spPr>
      </p:pic>
      <p:pic>
        <p:nvPicPr>
          <p:cNvPr id="47" name="Source temple foreground photograph/illustration; ordinary main copy removed; no entire source card or chart retained."/>
          <p:cNvPicPr/>
          <p:nvPr/>
        </p:nvPicPr>
        <p:blipFill>
          <a:blip r:embed="rId12"/>
          <a:stretch>
            <a:fillRect/>
          </a:stretch>
        </p:blipFill>
        <p:spPr>
          <a:xfrm>
            <a:off x="4796533" y="1680607"/>
            <a:ext cx="1454702" cy="1322242"/>
          </a:xfrm>
          <a:prstGeom prst="rect">
            <a:avLst/>
          </a:prstGeom>
        </p:spPr>
      </p:pic>
      <p:pic>
        <p:nvPicPr>
          <p:cNvPr id="48" name="Original source thailand separated complete with source pattern/color identity and circular rim."/>
          <p:cNvPicPr/>
          <p:nvPr/>
        </p:nvPicPr>
        <p:blipFill>
          <a:blip r:embed="rId7"/>
          <a:stretch>
            <a:fillRect/>
          </a:stretch>
        </p:blipFill>
        <p:spPr>
          <a:xfrm>
            <a:off x="824665" y="3373961"/>
            <a:ext cx="253138" cy="234605"/>
          </a:xfrm>
          <a:prstGeom prst="rect">
            <a:avLst/>
          </a:prstGeom>
        </p:spPr>
      </p:pic>
      <p:pic>
        <p:nvPicPr>
          <p:cNvPr id="49" name="Original source vietnam separated complete with source pattern/color identity and circular rim."/>
          <p:cNvPicPr/>
          <p:nvPr/>
        </p:nvPicPr>
        <p:blipFill>
          <a:blip r:embed="rId8"/>
          <a:stretch>
            <a:fillRect/>
          </a:stretch>
        </p:blipFill>
        <p:spPr>
          <a:xfrm>
            <a:off x="1656475" y="3373961"/>
            <a:ext cx="253411" cy="234605"/>
          </a:xfrm>
          <a:prstGeom prst="rect">
            <a:avLst/>
          </a:prstGeom>
        </p:spPr>
      </p:pic>
      <p:pic>
        <p:nvPicPr>
          <p:cNvPr id="50" name="Original source malaysia separated complete with source pattern/color identity and circular rim."/>
          <p:cNvPicPr/>
          <p:nvPr/>
        </p:nvPicPr>
        <p:blipFill>
          <a:blip r:embed="rId9"/>
          <a:stretch>
            <a:fillRect/>
          </a:stretch>
        </p:blipFill>
        <p:spPr>
          <a:xfrm>
            <a:off x="2366214" y="3373961"/>
            <a:ext cx="253138" cy="234605"/>
          </a:xfrm>
          <a:prstGeom prst="rect">
            <a:avLst/>
          </a:prstGeom>
        </p:spPr>
      </p:pic>
      <p:pic>
        <p:nvPicPr>
          <p:cNvPr id="51" name="Original source indonesia separated complete with source pattern/color identity and circular rim."/>
          <p:cNvPicPr/>
          <p:nvPr/>
        </p:nvPicPr>
        <p:blipFill>
          <a:blip r:embed="rId10"/>
          <a:stretch>
            <a:fillRect/>
          </a:stretch>
        </p:blipFill>
        <p:spPr>
          <a:xfrm>
            <a:off x="3191769" y="3373961"/>
            <a:ext cx="253686" cy="234605"/>
          </a:xfrm>
          <a:prstGeom prst="rect">
            <a:avLst/>
          </a:prstGeom>
        </p:spPr>
      </p:pic>
      <p:pic>
        <p:nvPicPr>
          <p:cNvPr id="52" name="Original source philippines separated complete with source pattern/color identity and circular rim."/>
          <p:cNvPicPr/>
          <p:nvPr/>
        </p:nvPicPr>
        <p:blipFill>
          <a:blip r:embed="rId11"/>
          <a:stretch>
            <a:fillRect/>
          </a:stretch>
        </p:blipFill>
        <p:spPr>
          <a:xfrm>
            <a:off x="4128645" y="3377551"/>
            <a:ext cx="251817" cy="239056"/>
          </a:xfrm>
          <a:prstGeom prst="rect">
            <a:avLst/>
          </a:prstGeom>
        </p:spPr>
      </p:pic>
      <p:pic>
        <p:nvPicPr>
          <p:cNvPr id="53" name="Source coins-arrow foreground photograph/illustration; ordinary main copy removed; no entire source card or chart retained."/>
          <p:cNvPicPr/>
          <p:nvPr/>
        </p:nvPicPr>
        <p:blipFill>
          <a:blip r:embed="rId14"/>
          <a:stretch>
            <a:fillRect/>
          </a:stretch>
        </p:blipFill>
        <p:spPr>
          <a:xfrm>
            <a:off x="590867" y="3637943"/>
            <a:ext cx="1203997" cy="878974"/>
          </a:xfrm>
          <a:prstGeom prst="rect">
            <a:avLst/>
          </a:prstGeom>
        </p:spPr>
      </p:pic>
      <p:pic>
        <p:nvPicPr>
          <p:cNvPr id="54" name="Original source tax separated complete with source pattern/color identity and circular rim."/>
          <p:cNvPicPr/>
          <p:nvPr/>
        </p:nvPicPr>
        <p:blipFill>
          <a:blip r:embed="rId19"/>
          <a:stretch>
            <a:fillRect/>
          </a:stretch>
        </p:blipFill>
        <p:spPr>
          <a:xfrm>
            <a:off x="6969781" y="1639702"/>
            <a:ext cx="827498" cy="731012"/>
          </a:xfrm>
          <a:prstGeom prst="rect">
            <a:avLst/>
          </a:prstGeom>
        </p:spPr>
      </p:pic>
      <p:pic>
        <p:nvPicPr>
          <p:cNvPr id="55" name="Original source sprout separated complete with source pattern/color identity and circular rim."/>
          <p:cNvPicPr/>
          <p:nvPr/>
        </p:nvPicPr>
        <p:blipFill>
          <a:blip r:embed="rId20"/>
          <a:stretch>
            <a:fillRect/>
          </a:stretch>
        </p:blipFill>
        <p:spPr>
          <a:xfrm>
            <a:off x="8725426" y="1645819"/>
            <a:ext cx="821397" cy="731012"/>
          </a:xfrm>
          <a:prstGeom prst="rect">
            <a:avLst/>
          </a:prstGeom>
        </p:spPr>
      </p:pic>
      <p:pic>
        <p:nvPicPr>
          <p:cNvPr id="56" name="Original source tractor separated complete with source pattern/color identity and circular rim."/>
          <p:cNvPicPr/>
          <p:nvPr/>
        </p:nvPicPr>
        <p:blipFill>
          <a:blip r:embed="rId21"/>
          <a:stretch>
            <a:fillRect/>
          </a:stretch>
        </p:blipFill>
        <p:spPr>
          <a:xfrm>
            <a:off x="10539362" y="1646915"/>
            <a:ext cx="821059" cy="726128"/>
          </a:xfrm>
          <a:prstGeom prst="rect">
            <a:avLst/>
          </a:prstGeom>
        </p:spPr>
      </p:pic>
      <p:pic>
        <p:nvPicPr>
          <p:cNvPr id="57" name="Original source building separated complete with source pattern/color identity and circular rim."/>
          <p:cNvPicPr/>
          <p:nvPr/>
        </p:nvPicPr>
        <p:blipFill>
          <a:blip r:embed="rId24"/>
          <a:stretch>
            <a:fillRect/>
          </a:stretch>
        </p:blipFill>
        <p:spPr>
          <a:xfrm>
            <a:off x="553422" y="5392735"/>
            <a:ext cx="624341" cy="594999"/>
          </a:xfrm>
          <a:prstGeom prst="rect">
            <a:avLst/>
          </a:prstGeom>
        </p:spPr>
      </p:pic>
      <p:pic>
        <p:nvPicPr>
          <p:cNvPr id="58" name="Original source link separated complete with source pattern/color identity and circular rim."/>
          <p:cNvPicPr/>
          <p:nvPr/>
        </p:nvPicPr>
        <p:blipFill>
          <a:blip r:embed="rId25"/>
          <a:stretch>
            <a:fillRect/>
          </a:stretch>
        </p:blipFill>
        <p:spPr>
          <a:xfrm>
            <a:off x="2808541" y="5392735"/>
            <a:ext cx="634755" cy="594999"/>
          </a:xfrm>
          <a:prstGeom prst="rect">
            <a:avLst/>
          </a:prstGeom>
        </p:spPr>
      </p:pic>
      <p:pic>
        <p:nvPicPr>
          <p:cNvPr id="59" name="Original source bars separated complete with source pattern/color identity and circular rim."/>
          <p:cNvPicPr/>
          <p:nvPr/>
        </p:nvPicPr>
        <p:blipFill>
          <a:blip r:embed="rId26"/>
          <a:stretch>
            <a:fillRect/>
          </a:stretch>
        </p:blipFill>
        <p:spPr>
          <a:xfrm>
            <a:off x="5188449" y="5392735"/>
            <a:ext cx="634166" cy="594999"/>
          </a:xfrm>
          <a:prstGeom prst="rect">
            <a:avLst/>
          </a:prstGeom>
        </p:spPr>
      </p:pic>
      <p:sp>
        <p:nvSpPr>
          <p:cNvPr id="60" name="Line 60"/>
          <p:cNvSpPr/>
          <p:nvPr/>
        </p:nvSpPr>
        <p:spPr>
          <a:xfrm>
            <a:off x="2599835" y="5499692"/>
            <a:ext cx="0" cy="379270"/>
          </a:xfrm>
          <a:prstGeom prst="line">
            <a:avLst/>
          </a:prstGeom>
          <a:noFill/>
          <a:ln w="11430">
            <a:solidFill>
              <a:srgbClr val="7FC69A"/>
            </a:solidFill>
            <a:prstDash val="dot"/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4973331" y="5499692"/>
            <a:ext cx="0" cy="379270"/>
          </a:xfrm>
          <a:prstGeom prst="line">
            <a:avLst/>
          </a:prstGeom>
          <a:noFill/>
          <a:ln w="11430">
            <a:solidFill>
              <a:srgbClr val="7FC69A"/>
            </a:solidFill>
            <a:prstDash val="dot"/>
          </a:ln>
        </p:spPr>
        <p:txBody>
          <a:bodyPr/>
          <a:lstStyle/>
          <a:p/>
        </p:txBody>
      </p:sp>
      <p:pic>
        <p:nvPicPr>
          <p:cNvPr id="62" name="Original source thailand separated complete with source pattern/color identity and circular rim."/>
          <p:cNvPicPr/>
          <p:nvPr/>
        </p:nvPicPr>
        <p:blipFill>
          <a:blip r:embed="rId13"/>
          <a:stretch>
            <a:fillRect/>
          </a:stretch>
        </p:blipFill>
        <p:spPr>
          <a:xfrm>
            <a:off x="4967311" y="1920567"/>
            <a:ext cx="421897" cy="383899"/>
          </a:xfrm>
          <a:prstGeom prst="rect">
            <a:avLst/>
          </a:prstGeom>
        </p:spPr>
      </p:pic>
      <p:sp>
        <p:nvSpPr>
          <p:cNvPr id="63" name="Roundrect 63"/>
          <p:cNvSpPr/>
          <p:nvPr/>
        </p:nvSpPr>
        <p:spPr>
          <a:xfrm>
            <a:off x="10252524" y="3517700"/>
            <a:ext cx="1535432" cy="263042"/>
          </a:xfrm>
          <a:prstGeom prst="roundRect">
            <a:avLst>
              <a:gd name="adj" fmla="val 23256"/>
            </a:avLst>
          </a:prstGeom>
          <a:solidFill>
            <a:srgbClr val="FBFDF2"/>
          </a:solidFill>
          <a:ln w="7620">
            <a:solidFill>
              <a:srgbClr val="A6CEA0"/>
            </a:solidFill>
          </a:ln>
        </p:spPr>
        <p:txBody>
          <a:bodyPr/>
          <a:lstStyle/>
          <a:p/>
        </p:txBody>
      </p:sp>
      <p:sp>
        <p:nvSpPr>
          <p:cNvPr id="64" name="Roundrect 64"/>
          <p:cNvSpPr/>
          <p:nvPr/>
        </p:nvSpPr>
        <p:spPr>
          <a:xfrm>
            <a:off x="4899924" y="2783629"/>
            <a:ext cx="1266272" cy="697367"/>
          </a:xfrm>
          <a:prstGeom prst="roundRect">
            <a:avLst>
              <a:gd name="adj" fmla="val 11404"/>
            </a:avLst>
          </a:prstGeom>
          <a:solidFill>
            <a:srgbClr val="087437"/>
          </a:solidFill>
          <a:ln w="7620">
            <a:solidFill>
              <a:srgbClr val="B6DA96"/>
            </a:solidFill>
          </a:ln>
        </p:spPr>
        <p:txBody>
          <a:bodyPr/>
          <a:lstStyle/>
          <a:p/>
        </p:txBody>
      </p:sp>
      <p:pic>
        <p:nvPicPr>
          <p:cNvPr id="65" name="Original source blurred-leaves separated complete with source pattern/color identity and circular rim."/>
          <p:cNvPicPr/>
          <p:nvPr/>
        </p:nvPicPr>
        <p:blipFill>
          <a:blip r:embed="rId6"/>
          <a:stretch>
            <a:fillRect/>
          </a:stretch>
        </p:blipFill>
        <p:spPr>
          <a:xfrm>
            <a:off x="11066438" y="850783"/>
            <a:ext cx="849663" cy="800946"/>
          </a:xfrm>
          <a:prstGeom prst="rect">
            <a:avLst/>
          </a:prstGeom>
        </p:spPr>
      </p:pic>
      <p:pic>
        <p:nvPicPr>
          <p:cNvPr id="66" name="Original source single-leaf separated complete with source pattern/color identity and circular rim."/>
          <p:cNvPicPr/>
          <p:nvPr/>
        </p:nvPicPr>
        <p:blipFill>
          <a:blip r:embed="rId15"/>
          <a:stretch>
            <a:fillRect/>
          </a:stretch>
        </p:blipFill>
        <p:spPr>
          <a:xfrm>
            <a:off x="5554000" y="3963648"/>
            <a:ext cx="612667" cy="535668"/>
          </a:xfrm>
          <a:prstGeom prst="rect">
            <a:avLst/>
          </a:prstGeom>
        </p:spPr>
      </p:pic>
      <p:pic>
        <p:nvPicPr>
          <p:cNvPr id="67" name="Original source rice separated complete with source pattern/color identity and circular rim."/>
          <p:cNvPicPr/>
          <p:nvPr/>
        </p:nvPicPr>
        <p:blipFill>
          <a:blip r:embed="rId22"/>
          <a:stretch>
            <a:fillRect/>
          </a:stretch>
        </p:blipFill>
        <p:spPr>
          <a:xfrm>
            <a:off x="10093446" y="3437220"/>
            <a:ext cx="458853" cy="473132"/>
          </a:xfrm>
          <a:prstGeom prst="rect">
            <a:avLst/>
          </a:prstGeom>
        </p:spPr>
      </p:pic>
      <p:sp>
        <p:nvSpPr>
          <p:cNvPr id="68" name="Roundrect 68"/>
          <p:cNvSpPr/>
          <p:nvPr/>
        </p:nvSpPr>
        <p:spPr>
          <a:xfrm>
            <a:off x="6514880" y="1621350"/>
            <a:ext cx="1688363" cy="2948518"/>
          </a:xfrm>
          <a:prstGeom prst="roundRect">
            <a:avLst>
              <a:gd name="adj" fmla="val 6522"/>
            </a:avLst>
          </a:prstGeom>
          <a:noFill/>
          <a:ln w="7620">
            <a:solidFill>
              <a:srgbClr val="7CCCA1"/>
            </a:solidFill>
          </a:ln>
        </p:spPr>
        <p:txBody>
          <a:bodyPr/>
          <a:lstStyle/>
          <a:p/>
        </p:txBody>
      </p:sp>
      <p:sp>
        <p:nvSpPr>
          <p:cNvPr id="69" name="Roundrect 69"/>
          <p:cNvSpPr/>
          <p:nvPr/>
        </p:nvSpPr>
        <p:spPr>
          <a:xfrm>
            <a:off x="8264416" y="1621350"/>
            <a:ext cx="1718949" cy="2948518"/>
          </a:xfrm>
          <a:prstGeom prst="roundRect">
            <a:avLst>
              <a:gd name="adj" fmla="val 6406"/>
            </a:avLst>
          </a:prstGeom>
          <a:noFill/>
          <a:ln w="7620">
            <a:solidFill>
              <a:srgbClr val="7CCCA1"/>
            </a:solidFill>
          </a:ln>
        </p:spPr>
        <p:txBody>
          <a:bodyPr/>
          <a:lstStyle/>
          <a:p/>
        </p:txBody>
      </p:sp>
      <p:sp>
        <p:nvSpPr>
          <p:cNvPr id="70" name="Roundrect 70"/>
          <p:cNvSpPr/>
          <p:nvPr/>
        </p:nvSpPr>
        <p:spPr>
          <a:xfrm>
            <a:off x="10044538" y="1621350"/>
            <a:ext cx="1822943" cy="2948518"/>
          </a:xfrm>
          <a:prstGeom prst="roundRect">
            <a:avLst>
              <a:gd name="adj" fmla="val 6040"/>
            </a:avLst>
          </a:prstGeom>
          <a:noFill/>
          <a:ln w="7620">
            <a:solidFill>
              <a:srgbClr val="7CCCA1"/>
            </a:solidFill>
          </a:ln>
        </p:spPr>
        <p:txBody>
          <a:bodyPr/>
          <a:lstStyle/>
          <a:p/>
        </p:txBody>
      </p:sp>
      <p:sp>
        <p:nvSpPr>
          <p:cNvPr id="71" name="Roundrect 71"/>
          <p:cNvSpPr/>
          <p:nvPr/>
        </p:nvSpPr>
        <p:spPr>
          <a:xfrm>
            <a:off x="2391848" y="6019659"/>
            <a:ext cx="7401882" cy="477146"/>
          </a:xfrm>
          <a:prstGeom prst="roundRect">
            <a:avLst>
              <a:gd name="adj" fmla="val 50000"/>
            </a:avLst>
          </a:prstGeom>
          <a:solidFill>
            <a:srgbClr val="E3C0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oundrect 72"/>
          <p:cNvSpPr/>
          <p:nvPr/>
        </p:nvSpPr>
        <p:spPr>
          <a:xfrm>
            <a:off x="2385731" y="6007424"/>
            <a:ext cx="7395765" cy="464912"/>
          </a:xfrm>
          <a:prstGeom prst="roundRect">
            <a:avLst>
              <a:gd name="adj" fmla="val 50000"/>
            </a:avLst>
          </a:prstGeom>
          <a:solidFill>
            <a:srgbClr val="FFF7CC"/>
          </a:solidFill>
          <a:ln w="11430">
            <a:solidFill>
              <a:srgbClr val="D4A92F"/>
            </a:solidFill>
          </a:ln>
        </p:spPr>
        <p:txBody>
          <a:bodyPr/>
          <a:lstStyle/>
          <a:p/>
        </p:txBody>
      </p:sp>
      <p:pic>
        <p:nvPicPr>
          <p:cNvPr id="73" name="Original source leaf-sprig separated complete with source pattern/color identity and circular rim."/>
          <p:cNvPicPr/>
          <p:nvPr/>
        </p:nvPicPr>
        <p:blipFill>
          <a:blip r:embed="rId27"/>
          <a:stretch>
            <a:fillRect/>
          </a:stretch>
        </p:blipFill>
        <p:spPr>
          <a:xfrm>
            <a:off x="1981700" y="5882922"/>
            <a:ext cx="667364" cy="643196"/>
          </a:xfrm>
          <a:prstGeom prst="rect">
            <a:avLst/>
          </a:prstGeom>
        </p:spPr>
      </p:pic>
      <p:sp>
        <p:nvSpPr>
          <p:cNvPr id="74" name="TextBox 74"/>
          <p:cNvSpPr txBox="1"/>
          <p:nvPr/>
        </p:nvSpPr>
        <p:spPr>
          <a:xfrm>
            <a:off x="868651" y="342843"/>
            <a:ext cx="2361262" cy="46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00" b="1" i="1">
                <a:solidFill>
                  <a:srgbClr val="F9E6A3"/>
                </a:solidFill>
                <a:latin typeface="Microsoft YaHei"/>
                <a:ea typeface="Microsoft YaHei"/>
                <a:cs typeface="Microsoft YaHei"/>
              </a:rPr>
              <a:t>国家出口业绩</a:t>
            </a:r>
            <a:endParaRPr lang="zh-CN" sz="3100"/>
          </a:p>
        </p:txBody>
      </p:sp>
      <p:sp>
        <p:nvSpPr>
          <p:cNvPr id="75" name="TextBox 75"/>
          <p:cNvSpPr txBox="1"/>
          <p:nvPr/>
        </p:nvSpPr>
        <p:spPr>
          <a:xfrm>
            <a:off x="3915045" y="391781"/>
            <a:ext cx="4019039" cy="4220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004B3A"/>
                </a:solidFill>
                <a:latin typeface="KaiTi"/>
                <a:ea typeface="KaiTi"/>
                <a:cs typeface="KaiTi"/>
              </a:rPr>
              <a:t>东南亚地区关税与涉农补贴</a:t>
            </a:r>
            <a:endParaRPr lang="zh-CN" sz="2500"/>
          </a:p>
        </p:txBody>
      </p:sp>
      <p:sp>
        <p:nvSpPr>
          <p:cNvPr id="76" name="TextBox 76"/>
          <p:cNvSpPr txBox="1"/>
          <p:nvPr/>
        </p:nvSpPr>
        <p:spPr>
          <a:xfrm>
            <a:off x="770775" y="1040211"/>
            <a:ext cx="776892" cy="5566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400" b="1" i="1">
                <a:solidFill>
                  <a:srgbClr val="997616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5400"/>
          </a:p>
        </p:txBody>
      </p:sp>
      <p:sp>
        <p:nvSpPr>
          <p:cNvPr id="77" name="TextBox 77"/>
          <p:cNvSpPr txBox="1"/>
          <p:nvPr/>
        </p:nvSpPr>
        <p:spPr>
          <a:xfrm>
            <a:off x="6961440" y="1046328"/>
            <a:ext cx="770775" cy="5566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400" b="1" i="1">
                <a:solidFill>
                  <a:srgbClr val="997616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5400"/>
          </a:p>
        </p:txBody>
      </p:sp>
      <p:sp>
        <p:nvSpPr>
          <p:cNvPr id="78" name="TextBox 78"/>
          <p:cNvSpPr txBox="1"/>
          <p:nvPr/>
        </p:nvSpPr>
        <p:spPr>
          <a:xfrm>
            <a:off x="862533" y="4802324"/>
            <a:ext cx="770775" cy="562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400" b="1" i="1">
                <a:solidFill>
                  <a:srgbClr val="997616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5400"/>
          </a:p>
        </p:txBody>
      </p:sp>
      <p:sp>
        <p:nvSpPr>
          <p:cNvPr id="79" name="TextBox 79"/>
          <p:cNvSpPr txBox="1"/>
          <p:nvPr/>
        </p:nvSpPr>
        <p:spPr>
          <a:xfrm>
            <a:off x="1621073" y="1199259"/>
            <a:ext cx="1780122" cy="3242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 i="1">
                <a:solidFill>
                  <a:srgbClr val="FFFFEA"/>
                </a:solidFill>
                <a:latin typeface="Microsoft YaHei"/>
                <a:ea typeface="Microsoft YaHei"/>
                <a:cs typeface="Microsoft YaHei"/>
              </a:rPr>
              <a:t>关税红利释放</a:t>
            </a:r>
            <a:endParaRPr lang="zh-CN" sz="2100"/>
          </a:p>
        </p:txBody>
      </p:sp>
      <p:sp>
        <p:nvSpPr>
          <p:cNvPr id="80" name="TextBox 80"/>
          <p:cNvSpPr txBox="1"/>
          <p:nvPr/>
        </p:nvSpPr>
        <p:spPr>
          <a:xfrm>
            <a:off x="7775035" y="1199259"/>
            <a:ext cx="1810708" cy="3242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 i="1">
                <a:solidFill>
                  <a:srgbClr val="FFFFEA"/>
                </a:solidFill>
                <a:latin typeface="Microsoft YaHei"/>
                <a:ea typeface="Microsoft YaHei"/>
                <a:cs typeface="Microsoft YaHei"/>
              </a:rPr>
              <a:t>涉农补贴支撑</a:t>
            </a:r>
            <a:endParaRPr lang="zh-CN" sz="2100"/>
          </a:p>
        </p:txBody>
      </p:sp>
      <p:sp>
        <p:nvSpPr>
          <p:cNvPr id="81" name="TextBox 81"/>
          <p:cNvSpPr txBox="1"/>
          <p:nvPr/>
        </p:nvSpPr>
        <p:spPr>
          <a:xfrm>
            <a:off x="1798474" y="4936904"/>
            <a:ext cx="1914702" cy="3364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 b="1" i="1">
                <a:solidFill>
                  <a:srgbClr val="FFFFEA"/>
                </a:solidFill>
                <a:latin typeface="Microsoft YaHei"/>
                <a:ea typeface="Microsoft YaHei"/>
                <a:cs typeface="Microsoft YaHei"/>
              </a:rPr>
              <a:t>政策机会判断</a:t>
            </a:r>
            <a:endParaRPr lang="zh-CN" sz="2100"/>
          </a:p>
        </p:txBody>
      </p:sp>
      <p:sp>
        <p:nvSpPr>
          <p:cNvPr id="82" name="TextBox 82"/>
          <p:cNvSpPr txBox="1"/>
          <p:nvPr/>
        </p:nvSpPr>
        <p:spPr>
          <a:xfrm>
            <a:off x="679016" y="1694757"/>
            <a:ext cx="2716063" cy="269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HS3920主要东南亚市场关税变化</a:t>
            </a:r>
            <a:endParaRPr lang="zh-CN" sz="1400"/>
          </a:p>
        </p:txBody>
      </p:sp>
      <p:sp>
        <p:nvSpPr>
          <p:cNvPr id="83" name="TextBox 83"/>
          <p:cNvSpPr txBox="1"/>
          <p:nvPr/>
        </p:nvSpPr>
        <p:spPr>
          <a:xfrm>
            <a:off x="3976218" y="1768164"/>
            <a:ext cx="477146" cy="1712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降税前</a:t>
            </a:r>
            <a:endParaRPr lang="zh-CN" sz="1050"/>
          </a:p>
        </p:txBody>
      </p:sp>
      <p:sp>
        <p:nvSpPr>
          <p:cNvPr id="84" name="TextBox 84"/>
          <p:cNvSpPr txBox="1"/>
          <p:nvPr/>
        </p:nvSpPr>
        <p:spPr>
          <a:xfrm>
            <a:off x="4661351" y="1768164"/>
            <a:ext cx="471029" cy="1712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降税后</a:t>
            </a:r>
            <a:endParaRPr lang="zh-CN" sz="1050"/>
          </a:p>
        </p:txBody>
      </p:sp>
      <p:sp>
        <p:nvSpPr>
          <p:cNvPr id="85" name="TextBox 85"/>
          <p:cNvSpPr txBox="1"/>
          <p:nvPr/>
        </p:nvSpPr>
        <p:spPr>
          <a:xfrm>
            <a:off x="397622" y="3199603"/>
            <a:ext cx="281394" cy="1651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000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0%</a:t>
            </a:r>
            <a:endParaRPr lang="zh-CN" sz="1000"/>
          </a:p>
        </p:txBody>
      </p:sp>
      <p:sp>
        <p:nvSpPr>
          <p:cNvPr id="86" name="TextBox 86"/>
          <p:cNvSpPr txBox="1"/>
          <p:nvPr/>
        </p:nvSpPr>
        <p:spPr>
          <a:xfrm>
            <a:off x="397622" y="2930443"/>
            <a:ext cx="281394" cy="1651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000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5%</a:t>
            </a:r>
            <a:endParaRPr lang="zh-CN" sz="1000"/>
          </a:p>
        </p:txBody>
      </p:sp>
      <p:sp>
        <p:nvSpPr>
          <p:cNvPr id="87" name="TextBox 87"/>
          <p:cNvSpPr txBox="1"/>
          <p:nvPr/>
        </p:nvSpPr>
        <p:spPr>
          <a:xfrm>
            <a:off x="397622" y="2661284"/>
            <a:ext cx="281394" cy="1651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000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lang="zh-CN" sz="1000"/>
          </a:p>
        </p:txBody>
      </p:sp>
      <p:sp>
        <p:nvSpPr>
          <p:cNvPr id="88" name="TextBox 88"/>
          <p:cNvSpPr txBox="1"/>
          <p:nvPr/>
        </p:nvSpPr>
        <p:spPr>
          <a:xfrm>
            <a:off x="397622" y="2392125"/>
            <a:ext cx="281394" cy="1651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000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15%</a:t>
            </a:r>
            <a:endParaRPr lang="zh-CN" sz="1000"/>
          </a:p>
        </p:txBody>
      </p:sp>
      <p:sp>
        <p:nvSpPr>
          <p:cNvPr id="89" name="TextBox 89"/>
          <p:cNvSpPr txBox="1"/>
          <p:nvPr/>
        </p:nvSpPr>
        <p:spPr>
          <a:xfrm>
            <a:off x="397622" y="2122965"/>
            <a:ext cx="281394" cy="1651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000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20%</a:t>
            </a:r>
            <a:endParaRPr lang="zh-CN" sz="1000"/>
          </a:p>
        </p:txBody>
      </p:sp>
      <p:sp>
        <p:nvSpPr>
          <p:cNvPr id="90" name="TextBox 90"/>
          <p:cNvSpPr txBox="1"/>
          <p:nvPr/>
        </p:nvSpPr>
        <p:spPr>
          <a:xfrm>
            <a:off x="813595" y="2557291"/>
            <a:ext cx="336449" cy="177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lang="zh-CN" sz="1050"/>
          </a:p>
        </p:txBody>
      </p:sp>
      <p:sp>
        <p:nvSpPr>
          <p:cNvPr id="91" name="TextBox 91"/>
          <p:cNvSpPr txBox="1"/>
          <p:nvPr/>
        </p:nvSpPr>
        <p:spPr>
          <a:xfrm>
            <a:off x="1094989" y="2905730"/>
            <a:ext cx="428208" cy="1896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A30"/>
                </a:solidFill>
                <a:latin typeface="Microsoft YaHei"/>
                <a:ea typeface="Microsoft YaHei"/>
                <a:cs typeface="Microsoft YaHei"/>
              </a:rPr>
              <a:t>3.3%</a:t>
            </a:r>
            <a:endParaRPr lang="zh-CN" sz="1150"/>
          </a:p>
        </p:txBody>
      </p:sp>
      <p:sp>
        <p:nvSpPr>
          <p:cNvPr id="92" name="TextBox 92"/>
          <p:cNvSpPr txBox="1"/>
          <p:nvPr/>
        </p:nvSpPr>
        <p:spPr>
          <a:xfrm>
            <a:off x="1119458" y="3383121"/>
            <a:ext cx="367035" cy="2079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93132"/>
                </a:solidFill>
                <a:latin typeface="Microsoft YaHei"/>
                <a:ea typeface="Microsoft YaHei"/>
                <a:cs typeface="Microsoft YaHei"/>
              </a:rPr>
              <a:t>泰国</a:t>
            </a:r>
            <a:endParaRPr lang="zh-CN" sz="1000"/>
          </a:p>
        </p:txBody>
      </p:sp>
      <p:sp>
        <p:nvSpPr>
          <p:cNvPr id="93" name="TextBox 93"/>
          <p:cNvSpPr txBox="1"/>
          <p:nvPr/>
        </p:nvSpPr>
        <p:spPr>
          <a:xfrm>
            <a:off x="1627191" y="2826450"/>
            <a:ext cx="336449" cy="177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5%</a:t>
            </a:r>
            <a:endParaRPr lang="zh-CN" sz="1050"/>
          </a:p>
        </p:txBody>
      </p:sp>
      <p:sp>
        <p:nvSpPr>
          <p:cNvPr id="94" name="TextBox 94"/>
          <p:cNvSpPr txBox="1"/>
          <p:nvPr/>
        </p:nvSpPr>
        <p:spPr>
          <a:xfrm>
            <a:off x="1908584" y="3083375"/>
            <a:ext cx="428208" cy="1896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A30"/>
                </a:solidFill>
                <a:latin typeface="Microsoft YaHei"/>
                <a:ea typeface="Microsoft YaHei"/>
                <a:cs typeface="Microsoft YaHei"/>
              </a:rPr>
              <a:t>0%</a:t>
            </a:r>
            <a:endParaRPr lang="zh-CN" sz="1150"/>
          </a:p>
        </p:txBody>
      </p:sp>
      <p:sp>
        <p:nvSpPr>
          <p:cNvPr id="95" name="TextBox 95"/>
          <p:cNvSpPr txBox="1"/>
          <p:nvPr/>
        </p:nvSpPr>
        <p:spPr>
          <a:xfrm>
            <a:off x="1939171" y="3383121"/>
            <a:ext cx="367035" cy="2079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93132"/>
                </a:solidFill>
                <a:latin typeface="Microsoft YaHei"/>
                <a:ea typeface="Microsoft YaHei"/>
                <a:cs typeface="Microsoft YaHei"/>
              </a:rPr>
              <a:t>越南</a:t>
            </a:r>
            <a:endParaRPr lang="zh-CN" sz="1000"/>
          </a:p>
        </p:txBody>
      </p:sp>
      <p:sp>
        <p:nvSpPr>
          <p:cNvPr id="96" name="TextBox 96"/>
          <p:cNvSpPr txBox="1"/>
          <p:nvPr/>
        </p:nvSpPr>
        <p:spPr>
          <a:xfrm>
            <a:off x="2428551" y="2826450"/>
            <a:ext cx="336449" cy="177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5%</a:t>
            </a:r>
            <a:endParaRPr lang="zh-CN" sz="1050"/>
          </a:p>
        </p:txBody>
      </p:sp>
      <p:sp>
        <p:nvSpPr>
          <p:cNvPr id="97" name="TextBox 97"/>
          <p:cNvSpPr txBox="1"/>
          <p:nvPr/>
        </p:nvSpPr>
        <p:spPr>
          <a:xfrm>
            <a:off x="2709945" y="3083375"/>
            <a:ext cx="428208" cy="1896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A30"/>
                </a:solidFill>
                <a:latin typeface="Microsoft YaHei"/>
                <a:ea typeface="Microsoft YaHei"/>
                <a:cs typeface="Microsoft YaHei"/>
              </a:rPr>
              <a:t>0%</a:t>
            </a:r>
            <a:endParaRPr lang="zh-CN" sz="1150"/>
          </a:p>
        </p:txBody>
      </p:sp>
      <p:sp>
        <p:nvSpPr>
          <p:cNvPr id="98" name="TextBox 98"/>
          <p:cNvSpPr txBox="1"/>
          <p:nvPr/>
        </p:nvSpPr>
        <p:spPr>
          <a:xfrm>
            <a:off x="2648773" y="3383121"/>
            <a:ext cx="501615" cy="2079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90" b="1">
                <a:solidFill>
                  <a:srgbClr val="193132"/>
                </a:solidFill>
                <a:latin typeface="Microsoft YaHei"/>
                <a:ea typeface="Microsoft YaHei"/>
                <a:cs typeface="Microsoft YaHei"/>
              </a:rPr>
              <a:t>马来西亚</a:t>
            </a:r>
            <a:endParaRPr lang="zh-CN" sz="990"/>
          </a:p>
        </p:txBody>
      </p:sp>
      <p:sp>
        <p:nvSpPr>
          <p:cNvPr id="99" name="TextBox 99"/>
          <p:cNvSpPr txBox="1"/>
          <p:nvPr/>
        </p:nvSpPr>
        <p:spPr>
          <a:xfrm>
            <a:off x="3242147" y="2557291"/>
            <a:ext cx="336449" cy="177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lang="zh-CN" sz="1050"/>
          </a:p>
        </p:txBody>
      </p:sp>
      <p:sp>
        <p:nvSpPr>
          <p:cNvPr id="100" name="TextBox 100"/>
          <p:cNvSpPr txBox="1"/>
          <p:nvPr/>
        </p:nvSpPr>
        <p:spPr>
          <a:xfrm>
            <a:off x="3523541" y="2905730"/>
            <a:ext cx="428208" cy="1896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A30"/>
                </a:solidFill>
                <a:latin typeface="Microsoft YaHei"/>
                <a:ea typeface="Microsoft YaHei"/>
                <a:cs typeface="Microsoft YaHei"/>
              </a:rPr>
              <a:t>3.3%</a:t>
            </a:r>
            <a:endParaRPr lang="zh-CN" sz="1150"/>
          </a:p>
        </p:txBody>
      </p:sp>
      <p:sp>
        <p:nvSpPr>
          <p:cNvPr id="101" name="TextBox 101"/>
          <p:cNvSpPr txBox="1"/>
          <p:nvPr/>
        </p:nvSpPr>
        <p:spPr>
          <a:xfrm>
            <a:off x="3468485" y="3383121"/>
            <a:ext cx="630078" cy="2079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90" b="1">
                <a:solidFill>
                  <a:srgbClr val="193132"/>
                </a:solidFill>
                <a:latin typeface="Microsoft YaHei"/>
                <a:ea typeface="Microsoft YaHei"/>
                <a:cs typeface="Microsoft YaHei"/>
              </a:rPr>
              <a:t>印度尼西亚</a:t>
            </a:r>
            <a:endParaRPr lang="zh-CN" sz="990"/>
          </a:p>
        </p:txBody>
      </p:sp>
      <p:sp>
        <p:nvSpPr>
          <p:cNvPr id="102" name="TextBox 102"/>
          <p:cNvSpPr txBox="1"/>
          <p:nvPr/>
        </p:nvSpPr>
        <p:spPr>
          <a:xfrm>
            <a:off x="4067977" y="2288131"/>
            <a:ext cx="336449" cy="177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15%</a:t>
            </a:r>
            <a:endParaRPr lang="zh-CN" sz="1050"/>
          </a:p>
        </p:txBody>
      </p:sp>
      <p:sp>
        <p:nvSpPr>
          <p:cNvPr id="103" name="TextBox 103"/>
          <p:cNvSpPr txBox="1"/>
          <p:nvPr/>
        </p:nvSpPr>
        <p:spPr>
          <a:xfrm>
            <a:off x="4349370" y="2905730"/>
            <a:ext cx="428208" cy="1896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A30"/>
                </a:solidFill>
                <a:latin typeface="Microsoft YaHei"/>
                <a:ea typeface="Microsoft YaHei"/>
                <a:cs typeface="Microsoft YaHei"/>
              </a:rPr>
              <a:t>3.3%</a:t>
            </a:r>
            <a:endParaRPr lang="zh-CN" sz="1150"/>
          </a:p>
        </p:txBody>
      </p:sp>
      <p:sp>
        <p:nvSpPr>
          <p:cNvPr id="104" name="TextBox 104"/>
          <p:cNvSpPr txBox="1"/>
          <p:nvPr/>
        </p:nvSpPr>
        <p:spPr>
          <a:xfrm>
            <a:off x="4410543" y="3383121"/>
            <a:ext cx="446560" cy="2079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93132"/>
                </a:solidFill>
                <a:latin typeface="Microsoft YaHei"/>
                <a:ea typeface="Microsoft YaHei"/>
                <a:cs typeface="Microsoft YaHei"/>
              </a:rPr>
              <a:t>菲律宾</a:t>
            </a:r>
            <a:endParaRPr lang="zh-CN" sz="1000"/>
          </a:p>
        </p:txBody>
      </p:sp>
      <p:sp>
        <p:nvSpPr>
          <p:cNvPr id="105" name="TextBox 105"/>
          <p:cNvSpPr txBox="1"/>
          <p:nvPr/>
        </p:nvSpPr>
        <p:spPr>
          <a:xfrm>
            <a:off x="5022269" y="2838685"/>
            <a:ext cx="1052168" cy="2385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FFFE7"/>
                </a:solidFill>
                <a:latin typeface="Microsoft YaHei"/>
                <a:ea typeface="Microsoft YaHei"/>
                <a:cs typeface="Microsoft YaHei"/>
              </a:rPr>
              <a:t>泰国未来趋向</a:t>
            </a:r>
            <a:endParaRPr lang="zh-CN" sz="1300"/>
          </a:p>
        </p:txBody>
      </p:sp>
      <p:sp>
        <p:nvSpPr>
          <p:cNvPr id="106" name="TextBox 106"/>
          <p:cNvSpPr txBox="1"/>
          <p:nvPr/>
        </p:nvSpPr>
        <p:spPr>
          <a:xfrm>
            <a:off x="5058972" y="3089492"/>
            <a:ext cx="1003230" cy="3364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>
                <a:solidFill>
                  <a:srgbClr val="FFE188"/>
                </a:solidFill>
                <a:latin typeface="KaiTi"/>
                <a:ea typeface="KaiTi"/>
                <a:cs typeface="KaiTi"/>
              </a:rPr>
              <a:t>零关税</a:t>
            </a:r>
            <a:endParaRPr lang="zh-CN" sz="2500"/>
          </a:p>
        </p:txBody>
      </p:sp>
      <p:sp>
        <p:nvSpPr>
          <p:cNvPr id="107" name="TextBox 107"/>
          <p:cNvSpPr txBox="1"/>
          <p:nvPr/>
        </p:nvSpPr>
        <p:spPr>
          <a:xfrm>
            <a:off x="1908584" y="3945908"/>
            <a:ext cx="691250" cy="3486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00" b="1" i="1">
                <a:solidFill>
                  <a:srgbClr val="003C24"/>
                </a:solidFill>
                <a:latin typeface="Liberation Serif"/>
                <a:ea typeface="Liberation Serif"/>
                <a:cs typeface="Liberation Serif"/>
              </a:rPr>
              <a:t>RCEP</a:t>
            </a:r>
            <a:endParaRPr lang="zh-CN" sz="2300"/>
          </a:p>
        </p:txBody>
      </p:sp>
      <p:sp>
        <p:nvSpPr>
          <p:cNvPr id="108" name="TextBox 108"/>
          <p:cNvSpPr txBox="1"/>
          <p:nvPr/>
        </p:nvSpPr>
        <p:spPr>
          <a:xfrm>
            <a:off x="2605952" y="3945908"/>
            <a:ext cx="2930167" cy="3486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70" b="1" i="1">
                <a:solidFill>
                  <a:srgbClr val="003C24"/>
                </a:solidFill>
                <a:latin typeface="SimSun"/>
                <a:ea typeface="SimSun"/>
                <a:cs typeface="SimSun"/>
              </a:rPr>
              <a:t>阶梯降税，准入成本持续下降</a:t>
            </a:r>
            <a:endParaRPr lang="zh-CN" sz="1770"/>
          </a:p>
        </p:txBody>
      </p:sp>
      <p:sp>
        <p:nvSpPr>
          <p:cNvPr id="109" name="TextBox 109"/>
          <p:cNvSpPr txBox="1"/>
          <p:nvPr/>
        </p:nvSpPr>
        <p:spPr>
          <a:xfrm>
            <a:off x="6961440" y="2343187"/>
            <a:ext cx="1064403" cy="2813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005A30"/>
                </a:solidFill>
                <a:latin typeface="Microsoft YaHei"/>
                <a:ea typeface="Microsoft YaHei"/>
                <a:cs typeface="Microsoft YaHei"/>
              </a:rPr>
              <a:t>税收优惠</a:t>
            </a:r>
            <a:endParaRPr lang="zh-CN" sz="1600"/>
          </a:p>
        </p:txBody>
      </p:sp>
      <p:sp>
        <p:nvSpPr>
          <p:cNvPr id="110" name="TextBox 110"/>
          <p:cNvSpPr txBox="1"/>
          <p:nvPr/>
        </p:nvSpPr>
        <p:spPr>
          <a:xfrm>
            <a:off x="8558044" y="2343187"/>
            <a:ext cx="1211217" cy="2813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90" b="1">
                <a:solidFill>
                  <a:srgbClr val="005A30"/>
                </a:solidFill>
                <a:latin typeface="Microsoft YaHei"/>
                <a:ea typeface="Microsoft YaHei"/>
                <a:cs typeface="Microsoft YaHei"/>
              </a:rPr>
              <a:t>绿色农资补贴</a:t>
            </a:r>
            <a:endParaRPr lang="zh-CN" sz="1590"/>
          </a:p>
        </p:txBody>
      </p:sp>
      <p:sp>
        <p:nvSpPr>
          <p:cNvPr id="111" name="TextBox 111"/>
          <p:cNvSpPr txBox="1"/>
          <p:nvPr/>
        </p:nvSpPr>
        <p:spPr>
          <a:xfrm>
            <a:off x="10393221" y="2343187"/>
            <a:ext cx="1211217" cy="2813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90" b="1">
                <a:solidFill>
                  <a:srgbClr val="005A30"/>
                </a:solidFill>
                <a:latin typeface="Microsoft YaHei"/>
                <a:ea typeface="Microsoft YaHei"/>
                <a:cs typeface="Microsoft YaHei"/>
              </a:rPr>
              <a:t>智慧农场支持</a:t>
            </a:r>
            <a:endParaRPr lang="zh-CN" sz="1590"/>
          </a:p>
        </p:txBody>
      </p:sp>
      <p:sp>
        <p:nvSpPr>
          <p:cNvPr id="112" name="TextBox 112"/>
          <p:cNvSpPr txBox="1"/>
          <p:nvPr/>
        </p:nvSpPr>
        <p:spPr>
          <a:xfrm>
            <a:off x="6643342" y="2704105"/>
            <a:ext cx="1443673" cy="232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认证生物降解产品可享</a:t>
            </a:r>
            <a:endParaRPr lang="zh-CN" sz="1100"/>
          </a:p>
        </p:txBody>
      </p:sp>
      <p:sp>
        <p:nvSpPr>
          <p:cNvPr id="113" name="TextBox 113"/>
          <p:cNvSpPr txBox="1"/>
          <p:nvPr/>
        </p:nvSpPr>
        <p:spPr>
          <a:xfrm>
            <a:off x="6814625" y="2887623"/>
            <a:ext cx="923706" cy="4893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00" b="1" i="1">
                <a:solidFill>
                  <a:srgbClr val="A87105"/>
                </a:solidFill>
                <a:latin typeface="Liberation Serif"/>
                <a:ea typeface="Liberation Serif"/>
                <a:cs typeface="Liberation Serif"/>
              </a:rPr>
              <a:t>1.25</a:t>
            </a:r>
            <a:endParaRPr lang="zh-CN" sz="3700"/>
          </a:p>
        </p:txBody>
      </p:sp>
      <p:sp>
        <p:nvSpPr>
          <p:cNvPr id="114" name="TextBox 114"/>
          <p:cNvSpPr txBox="1"/>
          <p:nvPr/>
        </p:nvSpPr>
        <p:spPr>
          <a:xfrm>
            <a:off x="7646573" y="3016085"/>
            <a:ext cx="318097" cy="3486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 i="1">
                <a:solidFill>
                  <a:srgbClr val="A87105"/>
                </a:solidFill>
                <a:latin typeface="SimSun"/>
                <a:ea typeface="SimSun"/>
                <a:cs typeface="SimSun"/>
              </a:rPr>
              <a:t>倍</a:t>
            </a:r>
            <a:endParaRPr lang="zh-CN" sz="2000"/>
          </a:p>
        </p:txBody>
      </p:sp>
      <p:sp>
        <p:nvSpPr>
          <p:cNvPr id="115" name="TextBox 115"/>
          <p:cNvSpPr txBox="1"/>
          <p:nvPr/>
        </p:nvSpPr>
        <p:spPr>
          <a:xfrm>
            <a:off x="7016495" y="3364769"/>
            <a:ext cx="874768" cy="2446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税前扣除</a:t>
            </a:r>
            <a:endParaRPr lang="zh-CN" sz="1350"/>
          </a:p>
        </p:txBody>
      </p:sp>
      <p:sp>
        <p:nvSpPr>
          <p:cNvPr id="116" name="TextBox 116"/>
          <p:cNvSpPr txBox="1"/>
          <p:nvPr/>
        </p:nvSpPr>
        <p:spPr>
          <a:xfrm>
            <a:off x="8735444" y="2661284"/>
            <a:ext cx="905354" cy="232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可申请最高</a:t>
            </a:r>
            <a:endParaRPr lang="zh-CN" sz="1150"/>
          </a:p>
        </p:txBody>
      </p:sp>
      <p:sp>
        <p:nvSpPr>
          <p:cNvPr id="117" name="TextBox 117"/>
          <p:cNvSpPr txBox="1"/>
          <p:nvPr/>
        </p:nvSpPr>
        <p:spPr>
          <a:xfrm>
            <a:off x="8747679" y="2850919"/>
            <a:ext cx="489381" cy="4465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00" b="1" i="1">
                <a:solidFill>
                  <a:srgbClr val="A87105"/>
                </a:solidFill>
                <a:latin typeface="Liberation Serif"/>
                <a:ea typeface="Liberation Serif"/>
                <a:cs typeface="Liberation Serif"/>
              </a:rPr>
              <a:t>25</a:t>
            </a:r>
            <a:endParaRPr lang="zh-CN" sz="3500"/>
          </a:p>
        </p:txBody>
      </p:sp>
      <p:sp>
        <p:nvSpPr>
          <p:cNvPr id="118" name="TextBox 118"/>
          <p:cNvSpPr txBox="1"/>
          <p:nvPr/>
        </p:nvSpPr>
        <p:spPr>
          <a:xfrm>
            <a:off x="9194239" y="2942678"/>
            <a:ext cx="342566" cy="35480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A87105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2400"/>
          </a:p>
        </p:txBody>
      </p:sp>
      <p:sp>
        <p:nvSpPr>
          <p:cNvPr id="119" name="TextBox 119"/>
          <p:cNvSpPr txBox="1"/>
          <p:nvPr/>
        </p:nvSpPr>
        <p:spPr>
          <a:xfrm>
            <a:off x="8747679" y="3248541"/>
            <a:ext cx="905354" cy="232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采购补贴</a:t>
            </a:r>
            <a:endParaRPr lang="zh-CN" sz="1350"/>
          </a:p>
        </p:txBody>
      </p:sp>
      <p:sp>
        <p:nvSpPr>
          <p:cNvPr id="120" name="TextBox 120"/>
          <p:cNvSpPr txBox="1"/>
          <p:nvPr/>
        </p:nvSpPr>
        <p:spPr>
          <a:xfrm>
            <a:off x="8686506" y="3578873"/>
            <a:ext cx="1064403" cy="2079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合作社统一采购</a:t>
            </a:r>
            <a:endParaRPr lang="zh-CN" sz="1050"/>
          </a:p>
        </p:txBody>
      </p:sp>
      <p:sp>
        <p:nvSpPr>
          <p:cNvPr id="121" name="TextBox 121"/>
          <p:cNvSpPr txBox="1"/>
          <p:nvPr/>
        </p:nvSpPr>
        <p:spPr>
          <a:xfrm>
            <a:off x="8686506" y="3786860"/>
            <a:ext cx="281394" cy="2141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再享</a:t>
            </a:r>
            <a:endParaRPr lang="zh-CN" sz="1110"/>
          </a:p>
        </p:txBody>
      </p:sp>
      <p:sp>
        <p:nvSpPr>
          <p:cNvPr id="122" name="TextBox 122"/>
          <p:cNvSpPr txBox="1"/>
          <p:nvPr/>
        </p:nvSpPr>
        <p:spPr>
          <a:xfrm>
            <a:off x="8967900" y="3731804"/>
            <a:ext cx="373153" cy="2875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 b="1" i="1">
                <a:solidFill>
                  <a:srgbClr val="A87105"/>
                </a:solidFill>
                <a:latin typeface="Liberation Serif"/>
                <a:ea typeface="Liberation Serif"/>
                <a:cs typeface="Liberation Serif"/>
              </a:rPr>
              <a:t>5%</a:t>
            </a:r>
            <a:endParaRPr lang="zh-CN" sz="2200"/>
          </a:p>
        </p:txBody>
      </p:sp>
      <p:sp>
        <p:nvSpPr>
          <p:cNvPr id="123" name="TextBox 123"/>
          <p:cNvSpPr txBox="1"/>
          <p:nvPr/>
        </p:nvSpPr>
        <p:spPr>
          <a:xfrm>
            <a:off x="9322701" y="3786860"/>
            <a:ext cx="293628" cy="2141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优惠</a:t>
            </a:r>
            <a:endParaRPr lang="zh-CN" sz="1150"/>
          </a:p>
        </p:txBody>
      </p:sp>
      <p:sp>
        <p:nvSpPr>
          <p:cNvPr id="124" name="TextBox 124"/>
          <p:cNvSpPr txBox="1"/>
          <p:nvPr/>
        </p:nvSpPr>
        <p:spPr>
          <a:xfrm>
            <a:off x="10497215" y="2661284"/>
            <a:ext cx="1076637" cy="232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现代农场最高</a:t>
            </a:r>
            <a:endParaRPr lang="zh-CN" sz="1150"/>
          </a:p>
        </p:txBody>
      </p:sp>
      <p:sp>
        <p:nvSpPr>
          <p:cNvPr id="125" name="TextBox 125"/>
          <p:cNvSpPr txBox="1"/>
          <p:nvPr/>
        </p:nvSpPr>
        <p:spPr>
          <a:xfrm>
            <a:off x="10301462" y="2844802"/>
            <a:ext cx="287511" cy="43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00" b="1" i="1">
                <a:solidFill>
                  <a:srgbClr val="A87105"/>
                </a:solidFill>
                <a:latin typeface="Liberation Serif"/>
                <a:ea typeface="Liberation Serif"/>
                <a:cs typeface="Liberation Serif"/>
              </a:rPr>
              <a:t>1</a:t>
            </a:r>
            <a:endParaRPr lang="zh-CN" sz="3500"/>
          </a:p>
        </p:txBody>
      </p:sp>
      <p:sp>
        <p:nvSpPr>
          <p:cNvPr id="126" name="TextBox 126"/>
          <p:cNvSpPr txBox="1"/>
          <p:nvPr/>
        </p:nvSpPr>
        <p:spPr>
          <a:xfrm>
            <a:off x="10521684" y="2942678"/>
            <a:ext cx="727954" cy="3242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 i="1">
                <a:solidFill>
                  <a:srgbClr val="A87105"/>
                </a:solidFill>
                <a:latin typeface="SimSun"/>
                <a:ea typeface="SimSun"/>
                <a:cs typeface="SimSun"/>
              </a:rPr>
              <a:t>万泰铢</a:t>
            </a:r>
            <a:endParaRPr lang="zh-CN" sz="1800"/>
          </a:p>
        </p:txBody>
      </p:sp>
      <p:sp>
        <p:nvSpPr>
          <p:cNvPr id="127" name="TextBox 127"/>
          <p:cNvSpPr txBox="1"/>
          <p:nvPr/>
        </p:nvSpPr>
        <p:spPr>
          <a:xfrm>
            <a:off x="11243520" y="2954913"/>
            <a:ext cx="526084" cy="31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20" b="1" i="1">
                <a:solidFill>
                  <a:srgbClr val="A87105"/>
                </a:solidFill>
                <a:latin typeface="SimSun"/>
                <a:ea typeface="SimSun"/>
                <a:cs typeface="SimSun"/>
              </a:rPr>
              <a:t>/公顷</a:t>
            </a:r>
            <a:endParaRPr lang="zh-CN" sz="1620"/>
          </a:p>
        </p:txBody>
      </p:sp>
      <p:sp>
        <p:nvSpPr>
          <p:cNvPr id="128" name="TextBox 128"/>
          <p:cNvSpPr txBox="1"/>
          <p:nvPr/>
        </p:nvSpPr>
        <p:spPr>
          <a:xfrm>
            <a:off x="10839781" y="3224072"/>
            <a:ext cx="403739" cy="2263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补贴</a:t>
            </a:r>
            <a:endParaRPr lang="zh-CN" sz="1350"/>
          </a:p>
        </p:txBody>
      </p:sp>
      <p:sp>
        <p:nvSpPr>
          <p:cNvPr id="129" name="TextBox 129"/>
          <p:cNvSpPr txBox="1"/>
          <p:nvPr/>
        </p:nvSpPr>
        <p:spPr>
          <a:xfrm>
            <a:off x="10540036" y="3542169"/>
            <a:ext cx="1229569" cy="1957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 b="1">
                <a:solidFill>
                  <a:srgbClr val="005A30"/>
                </a:solidFill>
                <a:latin typeface="SimSun"/>
                <a:ea typeface="SimSun"/>
                <a:cs typeface="SimSun"/>
              </a:rPr>
              <a:t>水稻补贴：1000泰铢/莱</a:t>
            </a:r>
            <a:endParaRPr lang="zh-CN" sz="900"/>
          </a:p>
        </p:txBody>
      </p:sp>
      <p:sp>
        <p:nvSpPr>
          <p:cNvPr id="130" name="TextBox 130"/>
          <p:cNvSpPr txBox="1"/>
          <p:nvPr/>
        </p:nvSpPr>
        <p:spPr>
          <a:xfrm>
            <a:off x="1284624" y="5426285"/>
            <a:ext cx="1150045" cy="5016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泰国政策体系</a:t>
            </a:r>
            <a:endParaRPr lang="zh-CN" sz="1250"/>
          </a:p>
          <a:p>
            <a:pPr algn="l"/>
            <a:r>
              <a:rPr lang="zh-CN" sz="1250" b="1">
                <a:solidFill>
                  <a:srgbClr val="133B35"/>
                </a:solidFill>
                <a:latin typeface="Microsoft YaHei"/>
                <a:ea typeface="Microsoft YaHei"/>
                <a:cs typeface="Microsoft YaHei"/>
              </a:rPr>
              <a:t>最完善</a:t>
            </a:r>
            <a:endParaRPr lang="zh-CN" sz="1250"/>
          </a:p>
        </p:txBody>
      </p:sp>
      <p:sp>
        <p:nvSpPr>
          <p:cNvPr id="131" name="TextBox 131"/>
          <p:cNvSpPr txBox="1"/>
          <p:nvPr/>
        </p:nvSpPr>
        <p:spPr>
          <a:xfrm>
            <a:off x="3529658" y="5426285"/>
            <a:ext cx="1388618" cy="5016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163B38"/>
                </a:solidFill>
                <a:latin typeface="Microsoft YaHei"/>
                <a:ea typeface="Microsoft YaHei"/>
                <a:cs typeface="Microsoft YaHei"/>
              </a:rPr>
              <a:t>覆盖进口、采购、</a:t>
            </a:r>
            <a:endParaRPr lang="zh-CN" sz="1250"/>
          </a:p>
          <a:p>
            <a:pPr algn="l"/>
            <a:r>
              <a:rPr lang="zh-CN" sz="1250" b="1">
                <a:solidFill>
                  <a:srgbClr val="163B38"/>
                </a:solidFill>
                <a:latin typeface="Microsoft YaHei"/>
                <a:ea typeface="Microsoft YaHei"/>
                <a:cs typeface="Microsoft YaHei"/>
              </a:rPr>
              <a:t>生产全环节</a:t>
            </a:r>
            <a:endParaRPr lang="zh-CN" sz="1250"/>
          </a:p>
        </p:txBody>
      </p:sp>
      <p:sp>
        <p:nvSpPr>
          <p:cNvPr id="132" name="TextBox 132"/>
          <p:cNvSpPr txBox="1"/>
          <p:nvPr/>
        </p:nvSpPr>
        <p:spPr>
          <a:xfrm>
            <a:off x="5909271" y="5426285"/>
            <a:ext cx="1370266" cy="5016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1B3834"/>
                </a:solidFill>
                <a:latin typeface="Microsoft YaHei"/>
                <a:ea typeface="Microsoft YaHei"/>
                <a:cs typeface="Microsoft YaHei"/>
              </a:rPr>
              <a:t>补贴可对冲</a:t>
            </a:r>
            <a:endParaRPr lang="zh-CN" sz="1250"/>
          </a:p>
          <a:p>
            <a:pPr algn="l"/>
            <a:r>
              <a:rPr lang="zh-CN" sz="1250" b="1">
                <a:solidFill>
                  <a:srgbClr val="1B3834"/>
                </a:solidFill>
                <a:latin typeface="Microsoft YaHei"/>
                <a:ea typeface="Microsoft YaHei"/>
                <a:cs typeface="Microsoft YaHei"/>
              </a:rPr>
              <a:t>降解农膜溢价</a:t>
            </a:r>
            <a:endParaRPr lang="zh-CN" sz="1250"/>
          </a:p>
        </p:txBody>
      </p:sp>
      <p:sp>
        <p:nvSpPr>
          <p:cNvPr id="133" name="TextBox 133"/>
          <p:cNvSpPr txBox="1"/>
          <p:nvPr/>
        </p:nvSpPr>
        <p:spPr>
          <a:xfrm>
            <a:off x="2783352" y="6031893"/>
            <a:ext cx="1400852" cy="3792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>
                <a:solidFill>
                  <a:srgbClr val="052F1D"/>
                </a:solidFill>
                <a:latin typeface="KaiTi"/>
                <a:ea typeface="KaiTi"/>
                <a:cs typeface="KaiTi"/>
              </a:rPr>
              <a:t>关税下降</a:t>
            </a:r>
            <a:endParaRPr lang="zh-CN" sz="2500"/>
          </a:p>
        </p:txBody>
      </p:sp>
      <p:sp>
        <p:nvSpPr>
          <p:cNvPr id="134" name="TextBox 134"/>
          <p:cNvSpPr txBox="1"/>
          <p:nvPr/>
        </p:nvSpPr>
        <p:spPr>
          <a:xfrm>
            <a:off x="4196439" y="6099183"/>
            <a:ext cx="220221" cy="2752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30" b="1" i="1">
                <a:solidFill>
                  <a:srgbClr val="052F1D"/>
                </a:solidFill>
                <a:latin typeface="Liberation Serif"/>
                <a:ea typeface="Liberation Serif"/>
                <a:cs typeface="Liberation Serif"/>
              </a:rPr>
              <a:t>+</a:t>
            </a:r>
            <a:endParaRPr lang="zh-CN" sz="1730"/>
          </a:p>
        </p:txBody>
      </p:sp>
      <p:sp>
        <p:nvSpPr>
          <p:cNvPr id="135" name="TextBox 135"/>
          <p:cNvSpPr txBox="1"/>
          <p:nvPr/>
        </p:nvSpPr>
        <p:spPr>
          <a:xfrm>
            <a:off x="4453364" y="6099183"/>
            <a:ext cx="5034503" cy="2936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20" b="1">
                <a:solidFill>
                  <a:srgbClr val="052F1D"/>
                </a:solidFill>
                <a:latin typeface="KaiTi"/>
                <a:ea typeface="KaiTi"/>
                <a:cs typeface="KaiTi"/>
              </a:rPr>
              <a:t>补贴托底，显著提升中国降解农膜在东南亚推广空间</a:t>
            </a:r>
            <a:endParaRPr lang="zh-CN" sz="1720"/>
          </a:p>
        </p:txBody>
      </p:sp>
      <p:sp>
        <p:nvSpPr>
          <p:cNvPr id="136" name="Path 136"/>
          <p:cNvSpPr/>
          <p:nvPr/>
        </p:nvSpPr>
        <p:spPr>
          <a:xfrm>
            <a:off x="0" y="6239880"/>
            <a:ext cx="12191695" cy="82583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60"/>
                </a:moveTo>
                <a:cubicBezTo>
                  <a:pt x="3793" y="3360"/>
                  <a:pt x="7175" y="15200"/>
                  <a:pt x="10784" y="18400"/>
                </a:cubicBezTo>
                <a:cubicBezTo>
                  <a:pt x="14306" y="17280"/>
                  <a:pt x="18229" y="3840"/>
                  <a:pt x="21600" y="64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Path 137"/>
          <p:cNvSpPr/>
          <p:nvPr/>
        </p:nvSpPr>
        <p:spPr>
          <a:xfrm>
            <a:off x="0" y="6239880"/>
            <a:ext cx="12191695" cy="82583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560"/>
                </a:moveTo>
                <a:cubicBezTo>
                  <a:pt x="3793" y="5760"/>
                  <a:pt x="7175" y="17440"/>
                  <a:pt x="10784" y="20640"/>
                </a:cubicBezTo>
                <a:cubicBezTo>
                  <a:pt x="14306" y="19520"/>
                  <a:pt x="18229" y="6080"/>
                  <a:pt x="21600" y="288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18F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Path 138"/>
          <p:cNvSpPr/>
          <p:nvPr/>
        </p:nvSpPr>
        <p:spPr>
          <a:xfrm>
            <a:off x="0" y="6239880"/>
            <a:ext cx="12191695" cy="82583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4080"/>
                </a:moveTo>
                <a:cubicBezTo>
                  <a:pt x="3793" y="17280"/>
                  <a:pt x="7175" y="24800"/>
                  <a:pt x="10784" y="28000"/>
                </a:cubicBezTo>
                <a:cubicBezTo>
                  <a:pt x="14306" y="26880"/>
                  <a:pt x="18229" y="18560"/>
                  <a:pt x="21600" y="1536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CAB4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preserved mint paper and silver-mulched farm background; roll and all infographic foreground removed"/>
          <p:cNvPicPr/>
          <p:nvPr/>
        </p:nvPicPr>
        <p:blipFill>
          <a:blip r:embed="rId2"/>
          <a:stretch>
            <a:fillRect/>
          </a:stretch>
        </p:blipFill>
        <p:spPr>
          <a:xfrm>
            <a:off x="5677" y="0"/>
            <a:ext cx="12180342" cy="6858000"/>
          </a:xfrm>
          <a:prstGeom prst="rect">
            <a:avLst/>
          </a:prstGeom>
        </p:spPr>
      </p:pic>
      <p:pic>
        <p:nvPicPr>
          <p:cNvPr id="3" name="Original Thai temple landscape vignette with trees/water and sunset, isolated from the infographic."/>
          <p:cNvPicPr/>
          <p:nvPr/>
        </p:nvPicPr>
        <p:blipFill>
          <a:blip r:embed="rId3"/>
          <a:stretch>
            <a:fillRect/>
          </a:stretch>
        </p:blipFill>
        <p:spPr>
          <a:xfrm>
            <a:off x="2583813" y="4797640"/>
            <a:ext cx="3714298" cy="1907846"/>
          </a:xfrm>
          <a:prstGeom prst="rect">
            <a:avLst/>
          </a:prstGeom>
        </p:spPr>
      </p:pic>
      <p:sp>
        <p:nvSpPr>
          <p:cNvPr id="4" name="Path 4"/>
          <p:cNvSpPr/>
          <p:nvPr/>
        </p:nvSpPr>
        <p:spPr>
          <a:xfrm>
            <a:off x="577971" y="247994"/>
            <a:ext cx="2184259" cy="47691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15" y="0"/>
                </a:moveTo>
                <a:lnTo>
                  <a:pt x="21600" y="0"/>
                </a:lnTo>
                <a:lnTo>
                  <a:pt x="2027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4DE8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2781307" y="247994"/>
            <a:ext cx="1898111" cy="48645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520" y="0"/>
                </a:moveTo>
                <a:lnTo>
                  <a:pt x="21600" y="0"/>
                </a:lnTo>
                <a:lnTo>
                  <a:pt x="200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FF0E2"/>
          </a:solidFill>
          <a:ln w="7620">
            <a:solidFill>
              <a:srgbClr val="67AE87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91824" y="934748"/>
            <a:ext cx="3967911" cy="2069800"/>
          </a:xfrm>
          <a:prstGeom prst="roundRect">
            <a:avLst>
              <a:gd name="adj" fmla="val 16129"/>
            </a:avLst>
          </a:prstGeom>
          <a:solidFill>
            <a:srgbClr val="F7FCF5"/>
          </a:solidFill>
          <a:ln w="7620">
            <a:solidFill>
              <a:srgbClr val="B1D8BD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7941499" y="953825"/>
            <a:ext cx="4034679" cy="2050723"/>
          </a:xfrm>
          <a:prstGeom prst="roundRect">
            <a:avLst>
              <a:gd name="adj" fmla="val 13023"/>
            </a:avLst>
          </a:prstGeom>
          <a:solidFill>
            <a:srgbClr val="F9FDF7"/>
          </a:solidFill>
          <a:ln w="7620">
            <a:solidFill>
              <a:srgbClr val="A9D4B5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301362" y="3138083"/>
            <a:ext cx="4425747" cy="2479944"/>
          </a:xfrm>
          <a:prstGeom prst="roundRect">
            <a:avLst>
              <a:gd name="adj" fmla="val 11538"/>
            </a:avLst>
          </a:prstGeom>
          <a:solidFill>
            <a:srgbClr val="F8FCF4"/>
          </a:solidFill>
          <a:ln w="7620">
            <a:solidFill>
              <a:srgbClr val="BCDCC1"/>
            </a:solidFill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4631727" y="4444823"/>
            <a:ext cx="7535216" cy="195534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84" y="0"/>
                </a:moveTo>
                <a:lnTo>
                  <a:pt x="20643" y="0"/>
                </a:lnTo>
                <a:cubicBezTo>
                  <a:pt x="21245" y="0"/>
                  <a:pt x="21600" y="1370"/>
                  <a:pt x="21600" y="3688"/>
                </a:cubicBezTo>
                <a:lnTo>
                  <a:pt x="21600" y="17912"/>
                </a:lnTo>
                <a:cubicBezTo>
                  <a:pt x="21600" y="20230"/>
                  <a:pt x="21245" y="21600"/>
                  <a:pt x="20643" y="21600"/>
                </a:cubicBezTo>
                <a:lnTo>
                  <a:pt x="4511" y="21600"/>
                </a:lnTo>
                <a:cubicBezTo>
                  <a:pt x="3910" y="21600"/>
                  <a:pt x="3609" y="19914"/>
                  <a:pt x="3609" y="17596"/>
                </a:cubicBezTo>
                <a:lnTo>
                  <a:pt x="3609" y="8113"/>
                </a:lnTo>
                <a:lnTo>
                  <a:pt x="957" y="8113"/>
                </a:lnTo>
                <a:cubicBezTo>
                  <a:pt x="383" y="8113"/>
                  <a:pt x="0" y="6533"/>
                  <a:pt x="0" y="4320"/>
                </a:cubicBezTo>
                <a:lnTo>
                  <a:pt x="0" y="3688"/>
                </a:lnTo>
                <a:cubicBezTo>
                  <a:pt x="0" y="1370"/>
                  <a:pt x="383" y="0"/>
                  <a:pt x="984" y="0"/>
                </a:cubicBezTo>
                <a:close/>
              </a:path>
            </a:pathLst>
          </a:custGeom>
          <a:solidFill>
            <a:srgbClr val="F4FAEE"/>
          </a:solidFill>
          <a:ln w="7620">
            <a:solidFill>
              <a:srgbClr val="BBD8AA"/>
            </a:solidFill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663816" y="247994"/>
            <a:ext cx="2003032" cy="47691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40" y="0"/>
                </a:moveTo>
                <a:lnTo>
                  <a:pt x="21600" y="0"/>
                </a:lnTo>
                <a:lnTo>
                  <a:pt x="2026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5C3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lipse 11"/>
          <p:cNvSpPr/>
          <p:nvPr/>
        </p:nvSpPr>
        <p:spPr>
          <a:xfrm>
            <a:off x="2943457" y="419683"/>
            <a:ext cx="114459" cy="114459"/>
          </a:xfrm>
          <a:prstGeom prst="ellipse">
            <a:avLst/>
          </a:prstGeom>
          <a:solidFill>
            <a:srgbClr val="0094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902272" y="2613480"/>
            <a:ext cx="2928242" cy="200303"/>
          </a:xfrm>
          <a:prstGeom prst="ellipse">
            <a:avLst/>
          </a:prstGeom>
          <a:solidFill>
            <a:srgbClr val="DCF1D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8294414" y="2661171"/>
            <a:ext cx="1821805" cy="152612"/>
          </a:xfrm>
          <a:prstGeom prst="ellipse">
            <a:avLst/>
          </a:prstGeom>
          <a:solidFill>
            <a:srgbClr val="E0F0D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73051" y="3805761"/>
            <a:ext cx="2260565" cy="391068"/>
          </a:xfrm>
          <a:prstGeom prst="rect">
            <a:avLst/>
          </a:prstGeom>
          <a:solidFill>
            <a:srgbClr val="EDF7D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453974" y="4206367"/>
            <a:ext cx="1106437" cy="610448"/>
          </a:xfrm>
          <a:prstGeom prst="roundRect">
            <a:avLst>
              <a:gd name="adj" fmla="val 31250"/>
            </a:avLst>
          </a:prstGeom>
          <a:solidFill>
            <a:srgbClr val="FCFFF6"/>
          </a:solidFill>
          <a:ln w="7620">
            <a:solidFill>
              <a:srgbClr val="DBEBD0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646255" y="4206367"/>
            <a:ext cx="1268587" cy="610448"/>
          </a:xfrm>
          <a:prstGeom prst="roundRect">
            <a:avLst>
              <a:gd name="adj" fmla="val 31250"/>
            </a:avLst>
          </a:prstGeom>
          <a:solidFill>
            <a:srgbClr val="FCFFF6"/>
          </a:solidFill>
          <a:ln w="7620">
            <a:solidFill>
              <a:srgbClr val="DBEBD0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3134222" y="3977449"/>
            <a:ext cx="1335355" cy="658139"/>
          </a:xfrm>
          <a:prstGeom prst="roundRect">
            <a:avLst>
              <a:gd name="adj" fmla="val 33333"/>
            </a:avLst>
          </a:prstGeom>
          <a:solidFill>
            <a:srgbClr val="FBFFF6"/>
          </a:solidFill>
          <a:ln w="7620">
            <a:solidFill>
              <a:srgbClr val="DAECCD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3134222" y="4683280"/>
            <a:ext cx="1335355" cy="677216"/>
          </a:xfrm>
          <a:prstGeom prst="roundRect">
            <a:avLst>
              <a:gd name="adj" fmla="val 32394"/>
            </a:avLst>
          </a:prstGeom>
          <a:solidFill>
            <a:srgbClr val="FBFFF6"/>
          </a:solidFill>
          <a:ln w="7620">
            <a:solidFill>
              <a:srgbClr val="DAECCD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5976620" y="5169730"/>
            <a:ext cx="1220896" cy="1106437"/>
          </a:xfrm>
          <a:prstGeom prst="roundRect">
            <a:avLst>
              <a:gd name="adj" fmla="val 13793"/>
            </a:avLst>
          </a:prstGeom>
          <a:solidFill>
            <a:srgbClr val="FBFFF5"/>
          </a:solidFill>
          <a:ln w="7620">
            <a:solidFill>
              <a:srgbClr val="D8E8CC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7283359" y="5169730"/>
            <a:ext cx="1135051" cy="1106437"/>
          </a:xfrm>
          <a:prstGeom prst="roundRect">
            <a:avLst>
              <a:gd name="adj" fmla="val 13793"/>
            </a:avLst>
          </a:prstGeom>
          <a:solidFill>
            <a:srgbClr val="FBFFF5"/>
          </a:solidFill>
          <a:ln w="7620">
            <a:solidFill>
              <a:srgbClr val="D8E8CC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8523332" y="5169730"/>
            <a:ext cx="2136567" cy="1106437"/>
          </a:xfrm>
          <a:prstGeom prst="roundRect">
            <a:avLst>
              <a:gd name="adj" fmla="val 13793"/>
            </a:avLst>
          </a:prstGeom>
          <a:solidFill>
            <a:srgbClr val="FBFFF5"/>
          </a:solidFill>
          <a:ln w="7620">
            <a:solidFill>
              <a:srgbClr val="D8E8CC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10755282" y="5169730"/>
            <a:ext cx="1106437" cy="1106437"/>
          </a:xfrm>
          <a:prstGeom prst="roundRect">
            <a:avLst>
              <a:gd name="adj" fmla="val 13793"/>
            </a:avLst>
          </a:prstGeom>
          <a:solidFill>
            <a:srgbClr val="FBFFF5"/>
          </a:solidFill>
          <a:ln w="7620">
            <a:solidFill>
              <a:srgbClr val="D8E8CC"/>
            </a:solidFill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1846558" y="2012570"/>
            <a:ext cx="1011054" cy="51506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200"/>
                </a:moveTo>
                <a:cubicBezTo>
                  <a:pt x="9170" y="20400"/>
                  <a:pt x="15894" y="12800"/>
                  <a:pt x="20174" y="2800"/>
                </a:cubicBezTo>
              </a:path>
            </a:pathLst>
          </a:custGeom>
          <a:noFill/>
          <a:ln w="50800">
            <a:solidFill>
              <a:srgbClr val="D1B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9000244" y="2184259"/>
            <a:ext cx="467374" cy="371992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10139" y="18277"/>
                  <a:pt x="16310" y="9969"/>
                  <a:pt x="19396" y="2769"/>
                </a:cubicBezTo>
              </a:path>
            </a:pathLst>
          </a:custGeom>
          <a:noFill/>
          <a:ln w="38100">
            <a:solidFill>
              <a:srgbClr val="D7B332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121651" y="2298718"/>
            <a:ext cx="333839" cy="410145"/>
          </a:xfrm>
          <a:prstGeom prst="rect">
            <a:avLst/>
          </a:prstGeom>
          <a:solidFill>
            <a:srgbClr val="56B8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3057916" y="1993494"/>
            <a:ext cx="333839" cy="734445"/>
          </a:xfrm>
          <a:prstGeom prst="rect">
            <a:avLst/>
          </a:prstGeom>
          <a:solidFill>
            <a:srgbClr val="56B8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8504255" y="2470406"/>
            <a:ext cx="276609" cy="267071"/>
          </a:xfrm>
          <a:prstGeom prst="rect">
            <a:avLst/>
          </a:prstGeom>
          <a:solidFill>
            <a:srgbClr val="56B8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9543924" y="2193797"/>
            <a:ext cx="257533" cy="543680"/>
          </a:xfrm>
          <a:prstGeom prst="rect">
            <a:avLst/>
          </a:prstGeom>
          <a:solidFill>
            <a:srgbClr val="56B8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10278369" y="1812267"/>
            <a:ext cx="972901" cy="972901"/>
          </a:xfrm>
          <a:prstGeom prst="ellipse">
            <a:avLst/>
          </a:prstGeom>
          <a:solidFill>
            <a:srgbClr val="C7EAC2"/>
          </a:solidFill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463512" y="4998042"/>
            <a:ext cx="476912" cy="476912"/>
          </a:xfrm>
          <a:prstGeom prst="ellipse">
            <a:avLst/>
          </a:prstGeom>
          <a:solidFill>
            <a:srgbClr val="C7EAC2"/>
          </a:solidFill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150266" y="1354431"/>
            <a:ext cx="2346409" cy="0"/>
          </a:xfrm>
          <a:prstGeom prst="line">
            <a:avLst/>
          </a:prstGeom>
          <a:noFill/>
          <a:ln w="8890">
            <a:solidFill>
              <a:srgbClr val="A7CFA5"/>
            </a:solidFill>
          </a:ln>
        </p:spPr>
        <p:txBody>
          <a:bodyPr/>
          <a:lstStyle/>
          <a:p/>
        </p:txBody>
      </p:sp>
      <p:sp>
        <p:nvSpPr>
          <p:cNvPr id="32" name="Path 32"/>
          <p:cNvSpPr/>
          <p:nvPr/>
        </p:nvSpPr>
        <p:spPr>
          <a:xfrm>
            <a:off x="1455490" y="2270103"/>
            <a:ext cx="95382" cy="43875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409"/>
                </a:moveTo>
                <a:lnTo>
                  <a:pt x="21600" y="0"/>
                </a:lnTo>
                <a:lnTo>
                  <a:pt x="21600" y="20191"/>
                </a:lnTo>
                <a:lnTo>
                  <a:pt x="0" y="21600"/>
                </a:lnTo>
                <a:close/>
              </a:path>
            </a:pathLst>
          </a:custGeom>
          <a:solidFill>
            <a:srgbClr val="2592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ath 33"/>
          <p:cNvSpPr/>
          <p:nvPr/>
        </p:nvSpPr>
        <p:spPr>
          <a:xfrm>
            <a:off x="3391754" y="1964879"/>
            <a:ext cx="95382" cy="76306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810"/>
                </a:moveTo>
                <a:lnTo>
                  <a:pt x="21600" y="0"/>
                </a:lnTo>
                <a:lnTo>
                  <a:pt x="21600" y="20790"/>
                </a:lnTo>
                <a:lnTo>
                  <a:pt x="0" y="21600"/>
                </a:lnTo>
                <a:close/>
              </a:path>
            </a:pathLst>
          </a:custGeom>
          <a:solidFill>
            <a:srgbClr val="2592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8723635" y="1402122"/>
            <a:ext cx="3061777" cy="0"/>
          </a:xfrm>
          <a:prstGeom prst="line">
            <a:avLst/>
          </a:prstGeom>
          <a:noFill/>
          <a:ln w="8890">
            <a:solidFill>
              <a:srgbClr val="A7CFA5"/>
            </a:solidFill>
          </a:ln>
        </p:spPr>
        <p:txBody>
          <a:bodyPr/>
          <a:lstStyle/>
          <a:p/>
        </p:txBody>
      </p:sp>
      <p:sp>
        <p:nvSpPr>
          <p:cNvPr id="35" name="Path 35"/>
          <p:cNvSpPr/>
          <p:nvPr/>
        </p:nvSpPr>
        <p:spPr>
          <a:xfrm>
            <a:off x="8780864" y="2441791"/>
            <a:ext cx="95382" cy="29568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090"/>
                </a:moveTo>
                <a:lnTo>
                  <a:pt x="21600" y="0"/>
                </a:lnTo>
                <a:lnTo>
                  <a:pt x="21600" y="19510"/>
                </a:lnTo>
                <a:lnTo>
                  <a:pt x="0" y="21600"/>
                </a:lnTo>
                <a:close/>
              </a:path>
            </a:pathLst>
          </a:custGeom>
          <a:solidFill>
            <a:srgbClr val="2592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ath 36"/>
          <p:cNvSpPr/>
          <p:nvPr/>
        </p:nvSpPr>
        <p:spPr>
          <a:xfrm>
            <a:off x="9801457" y="2165182"/>
            <a:ext cx="95382" cy="57229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080"/>
                </a:moveTo>
                <a:lnTo>
                  <a:pt x="21600" y="0"/>
                </a:lnTo>
                <a:lnTo>
                  <a:pt x="21600" y="20520"/>
                </a:lnTo>
                <a:lnTo>
                  <a:pt x="0" y="21600"/>
                </a:lnTo>
                <a:close/>
              </a:path>
            </a:pathLst>
          </a:custGeom>
          <a:solidFill>
            <a:srgbClr val="2592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ath 37"/>
          <p:cNvSpPr/>
          <p:nvPr/>
        </p:nvSpPr>
        <p:spPr>
          <a:xfrm>
            <a:off x="10278369" y="1812267"/>
            <a:ext cx="972901" cy="97290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cubicBezTo>
                  <a:pt x="16241" y="0"/>
                  <a:pt x="20833" y="4048"/>
                  <a:pt x="21515" y="9446"/>
                </a:cubicBezTo>
                <a:cubicBezTo>
                  <a:pt x="22197" y="14845"/>
                  <a:pt x="18756" y="19908"/>
                  <a:pt x="13486" y="21261"/>
                </a:cubicBezTo>
                <a:lnTo>
                  <a:pt x="12591" y="17774"/>
                </a:lnTo>
                <a:cubicBezTo>
                  <a:pt x="16104" y="16872"/>
                  <a:pt x="18398" y="13497"/>
                  <a:pt x="17943" y="9898"/>
                </a:cubicBezTo>
                <a:cubicBezTo>
                  <a:pt x="17489" y="6299"/>
                  <a:pt x="14428" y="3600"/>
                  <a:pt x="10800" y="3600"/>
                </a:cubicBezTo>
                <a:close/>
              </a:path>
            </a:pathLst>
          </a:custGeom>
          <a:solidFill>
            <a:srgbClr val="1593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10182987" y="1774114"/>
            <a:ext cx="0" cy="982439"/>
          </a:xfrm>
          <a:prstGeom prst="line">
            <a:avLst/>
          </a:prstGeom>
          <a:noFill/>
          <a:ln w="7620">
            <a:solidFill>
              <a:srgbClr val="D8EDDC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150266" y="3576843"/>
            <a:ext cx="2432253" cy="0"/>
          </a:xfrm>
          <a:prstGeom prst="line">
            <a:avLst/>
          </a:prstGeom>
          <a:noFill/>
          <a:ln w="8890">
            <a:solidFill>
              <a:srgbClr val="A7CFA5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473051" y="4893121"/>
            <a:ext cx="2422715" cy="0"/>
          </a:xfrm>
          <a:prstGeom prst="line">
            <a:avLst/>
          </a:prstGeom>
          <a:noFill/>
          <a:ln w="8890">
            <a:solidFill>
              <a:srgbClr val="BEDFC2"/>
            </a:solidFill>
          </a:ln>
        </p:spPr>
        <p:txBody>
          <a:bodyPr/>
          <a:lstStyle/>
          <a:p/>
        </p:txBody>
      </p:sp>
      <p:sp>
        <p:nvSpPr>
          <p:cNvPr id="41" name="Path 41"/>
          <p:cNvSpPr/>
          <p:nvPr/>
        </p:nvSpPr>
        <p:spPr>
          <a:xfrm>
            <a:off x="463512" y="4998042"/>
            <a:ext cx="476912" cy="47691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cubicBezTo>
                  <a:pt x="16414" y="0"/>
                  <a:pt x="21092" y="4302"/>
                  <a:pt x="21562" y="9896"/>
                </a:cubicBezTo>
                <a:cubicBezTo>
                  <a:pt x="22032" y="15491"/>
                  <a:pt x="18137" y="20512"/>
                  <a:pt x="12601" y="21449"/>
                </a:cubicBezTo>
                <a:cubicBezTo>
                  <a:pt x="7065" y="22385"/>
                  <a:pt x="1736" y="18924"/>
                  <a:pt x="339" y="13486"/>
                </a:cubicBezTo>
                <a:lnTo>
                  <a:pt x="6616" y="11874"/>
                </a:lnTo>
                <a:cubicBezTo>
                  <a:pt x="7174" y="14050"/>
                  <a:pt x="9306" y="15434"/>
                  <a:pt x="11520" y="15060"/>
                </a:cubicBezTo>
                <a:cubicBezTo>
                  <a:pt x="13735" y="14685"/>
                  <a:pt x="15293" y="12676"/>
                  <a:pt x="15105" y="10439"/>
                </a:cubicBezTo>
                <a:cubicBezTo>
                  <a:pt x="14917" y="8201"/>
                  <a:pt x="13046" y="6480"/>
                  <a:pt x="10800" y="6480"/>
                </a:cubicBezTo>
                <a:close/>
              </a:path>
            </a:pathLst>
          </a:custGeom>
          <a:solidFill>
            <a:srgbClr val="1593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3038839" y="3815299"/>
            <a:ext cx="0" cy="1554734"/>
          </a:xfrm>
          <a:prstGeom prst="line">
            <a:avLst/>
          </a:prstGeom>
          <a:noFill/>
          <a:ln w="8890">
            <a:solidFill>
              <a:srgbClr val="BDDCC0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5461554" y="5017118"/>
            <a:ext cx="1230434" cy="0"/>
          </a:xfrm>
          <a:prstGeom prst="line">
            <a:avLst/>
          </a:prstGeom>
          <a:noFill/>
          <a:ln w="8890">
            <a:solidFill>
              <a:srgbClr val="B7D4AD"/>
            </a:solidFill>
          </a:ln>
        </p:spPr>
        <p:txBody>
          <a:bodyPr/>
          <a:lstStyle/>
          <a:p/>
        </p:txBody>
      </p:sp>
      <p:sp>
        <p:nvSpPr>
          <p:cNvPr id="44" name="Path 44"/>
          <p:cNvSpPr/>
          <p:nvPr/>
        </p:nvSpPr>
        <p:spPr>
          <a:xfrm>
            <a:off x="1121651" y="2260565"/>
            <a:ext cx="429221" cy="4769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7280"/>
                </a:moveTo>
                <a:lnTo>
                  <a:pt x="4320" y="0"/>
                </a:lnTo>
                <a:lnTo>
                  <a:pt x="21600" y="4320"/>
                </a:lnTo>
                <a:lnTo>
                  <a:pt x="16800" y="21600"/>
                </a:lnTo>
                <a:close/>
              </a:path>
            </a:pathLst>
          </a:custGeom>
          <a:solidFill>
            <a:srgbClr val="96D4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Path 45"/>
          <p:cNvSpPr/>
          <p:nvPr/>
        </p:nvSpPr>
        <p:spPr>
          <a:xfrm>
            <a:off x="3057916" y="1955341"/>
            <a:ext cx="429221" cy="4769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7280"/>
                </a:moveTo>
                <a:lnTo>
                  <a:pt x="4320" y="0"/>
                </a:lnTo>
                <a:lnTo>
                  <a:pt x="21600" y="4320"/>
                </a:lnTo>
                <a:lnTo>
                  <a:pt x="16800" y="21600"/>
                </a:lnTo>
                <a:close/>
              </a:path>
            </a:pathLst>
          </a:custGeom>
          <a:solidFill>
            <a:srgbClr val="96D4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Path 46"/>
          <p:cNvSpPr/>
          <p:nvPr/>
        </p:nvSpPr>
        <p:spPr>
          <a:xfrm>
            <a:off x="8504255" y="2432253"/>
            <a:ext cx="371992" cy="4769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7280"/>
                </a:moveTo>
                <a:lnTo>
                  <a:pt x="4985" y="0"/>
                </a:lnTo>
                <a:lnTo>
                  <a:pt x="21600" y="4320"/>
                </a:lnTo>
                <a:lnTo>
                  <a:pt x="16062" y="21600"/>
                </a:lnTo>
                <a:close/>
              </a:path>
            </a:pathLst>
          </a:custGeom>
          <a:solidFill>
            <a:srgbClr val="96D4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Path 47"/>
          <p:cNvSpPr/>
          <p:nvPr/>
        </p:nvSpPr>
        <p:spPr>
          <a:xfrm>
            <a:off x="9543924" y="2155644"/>
            <a:ext cx="352915" cy="4769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7280"/>
                </a:moveTo>
                <a:lnTo>
                  <a:pt x="5254" y="0"/>
                </a:lnTo>
                <a:lnTo>
                  <a:pt x="21600" y="4320"/>
                </a:lnTo>
                <a:lnTo>
                  <a:pt x="15762" y="21600"/>
                </a:lnTo>
                <a:close/>
              </a:path>
            </a:pathLst>
          </a:custGeom>
          <a:solidFill>
            <a:srgbClr val="96D45E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10440519" y="1974417"/>
            <a:ext cx="648601" cy="648601"/>
          </a:xfrm>
          <a:prstGeom prst="ellipse">
            <a:avLst/>
          </a:prstGeom>
          <a:solidFill>
            <a:srgbClr val="F8F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Ellipse 49"/>
          <p:cNvSpPr/>
          <p:nvPr/>
        </p:nvSpPr>
        <p:spPr>
          <a:xfrm>
            <a:off x="606586" y="5141115"/>
            <a:ext cx="190765" cy="190765"/>
          </a:xfrm>
          <a:prstGeom prst="ellipse">
            <a:avLst/>
          </a:prstGeom>
          <a:solidFill>
            <a:srgbClr val="F8F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Ellipse 50"/>
          <p:cNvSpPr/>
          <p:nvPr/>
        </p:nvSpPr>
        <p:spPr>
          <a:xfrm>
            <a:off x="1989632" y="1697808"/>
            <a:ext cx="600910" cy="600910"/>
          </a:xfrm>
          <a:prstGeom prst="ellipse">
            <a:avLst/>
          </a:prstGeom>
          <a:solidFill>
            <a:srgbClr val="F5F8D9"/>
          </a:solidFill>
          <a:ln w="12700">
            <a:solidFill>
              <a:srgbClr val="A5D69B"/>
            </a:solidFill>
          </a:ln>
        </p:spPr>
        <p:txBody>
          <a:bodyPr/>
          <a:lstStyle/>
          <a:p/>
        </p:txBody>
      </p:sp>
      <p:pic>
        <p:nvPicPr>
          <p:cNvPr id="51" name="Original illuminated green-blue Asia globe, leaf ornaments and golden orbital curves; label removed for native editable text."/>
          <p:cNvPicPr/>
          <p:nvPr/>
        </p:nvPicPr>
        <p:blipFill>
          <a:blip r:embed="rId4"/>
          <a:stretch>
            <a:fillRect/>
          </a:stretch>
        </p:blipFill>
        <p:spPr>
          <a:xfrm>
            <a:off x="3971376" y="213945"/>
            <a:ext cx="4315711" cy="4001097"/>
          </a:xfrm>
          <a:prstGeom prst="rect">
            <a:avLst/>
          </a:prstGeom>
        </p:spPr>
      </p:pic>
      <p:sp>
        <p:nvSpPr>
          <p:cNvPr id="52" name="Path 52"/>
          <p:cNvSpPr/>
          <p:nvPr/>
        </p:nvSpPr>
        <p:spPr>
          <a:xfrm>
            <a:off x="6777832" y="4568821"/>
            <a:ext cx="2928242" cy="45783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78" y="0"/>
                </a:moveTo>
                <a:lnTo>
                  <a:pt x="21600" y="0"/>
                </a:lnTo>
                <a:lnTo>
                  <a:pt x="2054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137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9734689" y="4778662"/>
            <a:ext cx="2174720" cy="247994"/>
          </a:xfrm>
          <a:prstGeom prst="roundRect">
            <a:avLst>
              <a:gd name="adj" fmla="val 50000"/>
            </a:avLst>
          </a:prstGeom>
          <a:solidFill>
            <a:srgbClr val="0A6B37"/>
          </a:solidFill>
          <a:ln w="7620">
            <a:solidFill>
              <a:srgbClr val="D4E0A2"/>
            </a:solidFill>
          </a:ln>
        </p:spPr>
        <p:txBody>
          <a:bodyPr/>
          <a:lstStyle/>
          <a:p/>
        </p:txBody>
      </p:sp>
      <p:pic>
        <p:nvPicPr>
          <p:cNvPr id="54" name="Original black/silver agricultural mulch-film roll, source perspective and reflective material, removed from clean base and independently separated."/>
          <p:cNvPicPr/>
          <p:nvPr/>
        </p:nvPicPr>
        <p:blipFill>
          <a:blip r:embed="rId5"/>
          <a:stretch>
            <a:fillRect/>
          </a:stretch>
        </p:blipFill>
        <p:spPr>
          <a:xfrm>
            <a:off x="6956836" y="3630651"/>
            <a:ext cx="2312702" cy="855748"/>
          </a:xfrm>
          <a:prstGeom prst="rect">
            <a:avLst/>
          </a:prstGeom>
        </p:spPr>
      </p:pic>
      <p:pic>
        <p:nvPicPr>
          <p:cNvPr id="55" name="Original source header-globe pictogram/ornament; no ordinary label strokes inside extracted image."/>
          <p:cNvPicPr/>
          <p:nvPr/>
        </p:nvPicPr>
        <p:blipFill>
          <a:blip r:embed="rId6"/>
          <a:stretch>
            <a:fillRect/>
          </a:stretch>
        </p:blipFill>
        <p:spPr>
          <a:xfrm>
            <a:off x="470607" y="904489"/>
            <a:ext cx="605797" cy="575584"/>
          </a:xfrm>
          <a:prstGeom prst="rect">
            <a:avLst/>
          </a:prstGeom>
        </p:spPr>
      </p:pic>
      <p:pic>
        <p:nvPicPr>
          <p:cNvPr id="56" name="Original source header-leaf pictogram/ornament; no ordinary label strokes inside extracted image."/>
          <p:cNvPicPr/>
          <p:nvPr/>
        </p:nvPicPr>
        <p:blipFill>
          <a:blip r:embed="rId7"/>
          <a:stretch>
            <a:fillRect/>
          </a:stretch>
        </p:blipFill>
        <p:spPr>
          <a:xfrm>
            <a:off x="7986952" y="923565"/>
            <a:ext cx="605384" cy="575584"/>
          </a:xfrm>
          <a:prstGeom prst="rect">
            <a:avLst/>
          </a:prstGeom>
        </p:spPr>
      </p:pic>
      <p:pic>
        <p:nvPicPr>
          <p:cNvPr id="57" name="Original source header-chart pictogram/ornament; no ordinary label strokes inside extracted image."/>
          <p:cNvPicPr/>
          <p:nvPr/>
        </p:nvPicPr>
        <p:blipFill>
          <a:blip r:embed="rId8"/>
          <a:stretch>
            <a:fillRect/>
          </a:stretch>
        </p:blipFill>
        <p:spPr>
          <a:xfrm>
            <a:off x="470813" y="3117784"/>
            <a:ext cx="605384" cy="574741"/>
          </a:xfrm>
          <a:prstGeom prst="rect">
            <a:avLst/>
          </a:prstGeom>
        </p:spPr>
      </p:pic>
      <p:pic>
        <p:nvPicPr>
          <p:cNvPr id="58" name="Original source rice pictogram/ornament; no ordinary label strokes inside extracted image."/>
          <p:cNvPicPr/>
          <p:nvPr/>
        </p:nvPicPr>
        <p:blipFill>
          <a:blip r:embed="rId9"/>
          <a:stretch>
            <a:fillRect/>
          </a:stretch>
        </p:blipFill>
        <p:spPr>
          <a:xfrm>
            <a:off x="408569" y="4227351"/>
            <a:ext cx="548646" cy="539865"/>
          </a:xfrm>
          <a:prstGeom prst="rect">
            <a:avLst/>
          </a:prstGeom>
        </p:spPr>
      </p:pic>
      <p:pic>
        <p:nvPicPr>
          <p:cNvPr id="59" name="Original source vegetables pictogram/ornament; no ordinary label strokes inside extracted image."/>
          <p:cNvPicPr/>
          <p:nvPr/>
        </p:nvPicPr>
        <p:blipFill>
          <a:blip r:embed="rId10"/>
          <a:stretch>
            <a:fillRect/>
          </a:stretch>
        </p:blipFill>
        <p:spPr>
          <a:xfrm>
            <a:off x="1611334" y="4241772"/>
            <a:ext cx="537216" cy="524280"/>
          </a:xfrm>
          <a:prstGeom prst="rect">
            <a:avLst/>
          </a:prstGeom>
        </p:spPr>
      </p:pic>
      <p:pic>
        <p:nvPicPr>
          <p:cNvPr id="60" name="Original circular white PLA pellet material photo with pale green rim, all editable material label/value remov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3112901" y="4030242"/>
            <a:ext cx="595860" cy="569348"/>
          </a:xfrm>
          <a:prstGeom prst="rect">
            <a:avLst/>
          </a:prstGeom>
        </p:spPr>
      </p:pic>
      <p:pic>
        <p:nvPicPr>
          <p:cNvPr id="61" name="Original circular beige PBAT pellet material photo with pale green rim, all editable material label/value removed."/>
          <p:cNvPicPr/>
          <p:nvPr/>
        </p:nvPicPr>
        <p:blipFill>
          <a:blip r:embed="rId12"/>
          <a:stretch>
            <a:fillRect/>
          </a:stretch>
        </p:blipFill>
        <p:spPr>
          <a:xfrm>
            <a:off x="3112901" y="4745611"/>
            <a:ext cx="595860" cy="569348"/>
          </a:xfrm>
          <a:prstGeom prst="rect">
            <a:avLst/>
          </a:prstGeom>
        </p:spPr>
      </p:pic>
      <p:pic>
        <p:nvPicPr>
          <p:cNvPr id="62" name="Original source header-target pictogram/ornament; no ordinary label strokes inside extracted image."/>
          <p:cNvPicPr/>
          <p:nvPr/>
        </p:nvPicPr>
        <p:blipFill>
          <a:blip r:embed="rId13"/>
          <a:stretch>
            <a:fillRect/>
          </a:stretch>
        </p:blipFill>
        <p:spPr>
          <a:xfrm>
            <a:off x="4829586" y="4519697"/>
            <a:ext cx="605797" cy="575160"/>
          </a:xfrm>
          <a:prstGeom prst="rect">
            <a:avLst/>
          </a:prstGeom>
        </p:spPr>
      </p:pic>
      <p:pic>
        <p:nvPicPr>
          <p:cNvPr id="63" name="Original source crown pictogram/ornament; no ordinary label strokes inside extracted image."/>
          <p:cNvPicPr/>
          <p:nvPr/>
        </p:nvPicPr>
        <p:blipFill>
          <a:blip r:embed="rId14"/>
          <a:stretch>
            <a:fillRect/>
          </a:stretch>
        </p:blipFill>
        <p:spPr>
          <a:xfrm>
            <a:off x="9253689" y="4609908"/>
            <a:ext cx="332476" cy="318431"/>
          </a:xfrm>
          <a:prstGeom prst="rect">
            <a:avLst/>
          </a:prstGeom>
        </p:spPr>
      </p:pic>
      <p:pic>
        <p:nvPicPr>
          <p:cNvPr id="64" name="Original source tag-leaf pictogram/ornament; no ordinary label strokes inside extracted image."/>
          <p:cNvPicPr/>
          <p:nvPr/>
        </p:nvPicPr>
        <p:blipFill>
          <a:blip r:embed="rId15"/>
          <a:stretch>
            <a:fillRect/>
          </a:stretch>
        </p:blipFill>
        <p:spPr>
          <a:xfrm>
            <a:off x="11690364" y="4808221"/>
            <a:ext cx="171019" cy="188876"/>
          </a:xfrm>
          <a:prstGeom prst="rect">
            <a:avLst/>
          </a:prstGeom>
        </p:spPr>
      </p:pic>
      <p:pic>
        <p:nvPicPr>
          <p:cNvPr id="65" name="Original source film pictogram/ornament; no ordinary label strokes inside extracted image."/>
          <p:cNvPicPr/>
          <p:nvPr/>
        </p:nvPicPr>
        <p:blipFill>
          <a:blip r:embed="rId16"/>
          <a:stretch>
            <a:fillRect/>
          </a:stretch>
        </p:blipFill>
        <p:spPr>
          <a:xfrm>
            <a:off x="6167072" y="5229845"/>
            <a:ext cx="468000" cy="455271"/>
          </a:xfrm>
          <a:prstGeom prst="rect">
            <a:avLst/>
          </a:prstGeom>
        </p:spPr>
      </p:pic>
      <p:pic>
        <p:nvPicPr>
          <p:cNvPr id="66" name="Original source sprout pictogram/ornament; no ordinary label strokes inside extracted image."/>
          <p:cNvPicPr/>
          <p:nvPr/>
        </p:nvPicPr>
        <p:blipFill>
          <a:blip r:embed="rId17"/>
          <a:stretch>
            <a:fillRect/>
          </a:stretch>
        </p:blipFill>
        <p:spPr>
          <a:xfrm>
            <a:off x="7331051" y="5226148"/>
            <a:ext cx="457836" cy="459459"/>
          </a:xfrm>
          <a:prstGeom prst="rect">
            <a:avLst/>
          </a:prstGeom>
        </p:spPr>
      </p:pic>
      <p:pic>
        <p:nvPicPr>
          <p:cNvPr id="67" name="Original source growth pictogram/ornament; no ordinary label strokes inside extracted image."/>
          <p:cNvPicPr/>
          <p:nvPr/>
        </p:nvPicPr>
        <p:blipFill>
          <a:blip r:embed="rId18"/>
          <a:stretch>
            <a:fillRect/>
          </a:stretch>
        </p:blipFill>
        <p:spPr>
          <a:xfrm>
            <a:off x="8580240" y="5235511"/>
            <a:ext cx="458477" cy="450600"/>
          </a:xfrm>
          <a:prstGeom prst="rect">
            <a:avLst/>
          </a:prstGeom>
        </p:spPr>
      </p:pic>
      <p:sp>
        <p:nvSpPr>
          <p:cNvPr id="68" name="Path 68"/>
          <p:cNvSpPr/>
          <p:nvPr/>
        </p:nvSpPr>
        <p:spPr>
          <a:xfrm>
            <a:off x="6405841" y="2117491"/>
            <a:ext cx="963363" cy="46737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352" y="0"/>
                </a:moveTo>
                <a:lnTo>
                  <a:pt x="21600" y="0"/>
                </a:lnTo>
                <a:lnTo>
                  <a:pt x="2010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75F39"/>
          </a:solidFill>
          <a:ln w="7620">
            <a:solidFill>
              <a:srgbClr val="AFD376"/>
            </a:solidFill>
          </a:ln>
        </p:spPr>
        <p:txBody>
          <a:bodyPr/>
          <a:lstStyle/>
          <a:p/>
        </p:txBody>
      </p:sp>
      <p:pic>
        <p:nvPicPr>
          <p:cNvPr id="69" name="Original source growth pictogram/ornament; no ordinary label strokes inside extracted image."/>
          <p:cNvPicPr/>
          <p:nvPr/>
        </p:nvPicPr>
        <p:blipFill>
          <a:blip r:embed="rId19"/>
          <a:stretch>
            <a:fillRect/>
          </a:stretch>
        </p:blipFill>
        <p:spPr>
          <a:xfrm>
            <a:off x="10805538" y="5237731"/>
            <a:ext cx="424091" cy="416805"/>
          </a:xfrm>
          <a:prstGeom prst="rect">
            <a:avLst/>
          </a:prstGeom>
        </p:spPr>
      </p:pic>
      <p:sp>
        <p:nvSpPr>
          <p:cNvPr id="70" name="TextBox 70"/>
          <p:cNvSpPr txBox="1"/>
          <p:nvPr/>
        </p:nvSpPr>
        <p:spPr>
          <a:xfrm>
            <a:off x="825966" y="228918"/>
            <a:ext cx="1592887" cy="4673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00" b="1" i="1">
                <a:solidFill>
                  <a:srgbClr val="FBE59D"/>
                </a:solidFill>
                <a:latin typeface="Microsoft YaHei"/>
                <a:ea typeface="Microsoft YaHei"/>
                <a:cs typeface="Microsoft YaHei"/>
              </a:rPr>
              <a:t>市场筛选</a:t>
            </a:r>
            <a:endParaRPr lang="zh-CN" sz="2900"/>
          </a:p>
        </p:txBody>
      </p:sp>
      <p:sp>
        <p:nvSpPr>
          <p:cNvPr id="71" name="TextBox 71"/>
          <p:cNvSpPr txBox="1"/>
          <p:nvPr/>
        </p:nvSpPr>
        <p:spPr>
          <a:xfrm>
            <a:off x="3248681" y="267071"/>
            <a:ext cx="1259049" cy="4101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>
                <a:solidFill>
                  <a:srgbClr val="104F40"/>
                </a:solidFill>
                <a:latin typeface="KaiTi"/>
                <a:ea typeface="KaiTi"/>
                <a:cs typeface="KaiTi"/>
              </a:rPr>
              <a:t>市场分析</a:t>
            </a:r>
            <a:endParaRPr lang="zh-CN" sz="2200"/>
          </a:p>
        </p:txBody>
      </p:sp>
      <p:sp>
        <p:nvSpPr>
          <p:cNvPr id="72" name="TextBox 72"/>
          <p:cNvSpPr txBox="1"/>
          <p:nvPr/>
        </p:nvSpPr>
        <p:spPr>
          <a:xfrm>
            <a:off x="1150266" y="1011054"/>
            <a:ext cx="934748" cy="2861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全球市场</a:t>
            </a:r>
            <a:endParaRPr lang="zh-CN" sz="1750"/>
          </a:p>
        </p:txBody>
      </p:sp>
      <p:sp>
        <p:nvSpPr>
          <p:cNvPr id="73" name="TextBox 73"/>
          <p:cNvSpPr txBox="1"/>
          <p:nvPr/>
        </p:nvSpPr>
        <p:spPr>
          <a:xfrm>
            <a:off x="2037323" y="963363"/>
            <a:ext cx="1306740" cy="3719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00">
                <a:solidFill>
                  <a:srgbClr val="A77A0B"/>
                </a:solidFill>
                <a:latin typeface="KaiTi"/>
                <a:ea typeface="KaiTi"/>
                <a:cs typeface="KaiTi"/>
              </a:rPr>
              <a:t>稳步增长</a:t>
            </a:r>
            <a:endParaRPr lang="zh-CN" sz="2300"/>
          </a:p>
        </p:txBody>
      </p:sp>
      <p:sp>
        <p:nvSpPr>
          <p:cNvPr id="74" name="TextBox 74"/>
          <p:cNvSpPr txBox="1"/>
          <p:nvPr/>
        </p:nvSpPr>
        <p:spPr>
          <a:xfrm>
            <a:off x="1159804" y="1383046"/>
            <a:ext cx="2556250" cy="2193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全球农用地膜市场规模</a:t>
            </a:r>
            <a:endParaRPr lang="zh-CN" sz="1150"/>
          </a:p>
        </p:txBody>
      </p:sp>
      <p:sp>
        <p:nvSpPr>
          <p:cNvPr id="75" name="TextBox 75"/>
          <p:cNvSpPr txBox="1"/>
          <p:nvPr/>
        </p:nvSpPr>
        <p:spPr>
          <a:xfrm>
            <a:off x="1054884" y="1983955"/>
            <a:ext cx="410145" cy="2861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925</a:t>
            </a:r>
            <a:endParaRPr lang="zh-CN" sz="1750"/>
          </a:p>
        </p:txBody>
      </p:sp>
      <p:sp>
        <p:nvSpPr>
          <p:cNvPr id="76" name="TextBox 76"/>
          <p:cNvSpPr txBox="1"/>
          <p:nvPr/>
        </p:nvSpPr>
        <p:spPr>
          <a:xfrm>
            <a:off x="1445952" y="2041185"/>
            <a:ext cx="314762" cy="1907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亿元</a:t>
            </a:r>
            <a:endParaRPr lang="zh-CN" sz="1050"/>
          </a:p>
        </p:txBody>
      </p:sp>
      <p:sp>
        <p:nvSpPr>
          <p:cNvPr id="77" name="TextBox 77"/>
          <p:cNvSpPr txBox="1"/>
          <p:nvPr/>
        </p:nvSpPr>
        <p:spPr>
          <a:xfrm>
            <a:off x="2800383" y="1669193"/>
            <a:ext cx="696292" cy="2861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6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1130.7</a:t>
            </a:r>
            <a:endParaRPr lang="zh-CN" sz="1660"/>
          </a:p>
        </p:txBody>
      </p:sp>
      <p:sp>
        <p:nvSpPr>
          <p:cNvPr id="78" name="TextBox 78"/>
          <p:cNvSpPr txBox="1"/>
          <p:nvPr/>
        </p:nvSpPr>
        <p:spPr>
          <a:xfrm>
            <a:off x="3487137" y="1726423"/>
            <a:ext cx="362453" cy="1907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亿元</a:t>
            </a:r>
            <a:endParaRPr lang="zh-CN" sz="1050"/>
          </a:p>
        </p:txBody>
      </p:sp>
      <p:sp>
        <p:nvSpPr>
          <p:cNvPr id="79" name="TextBox 79"/>
          <p:cNvSpPr txBox="1"/>
          <p:nvPr/>
        </p:nvSpPr>
        <p:spPr>
          <a:xfrm>
            <a:off x="1026269" y="2756554"/>
            <a:ext cx="619986" cy="2098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2025年</a:t>
            </a:r>
            <a:endParaRPr lang="zh-CN" sz="1050"/>
          </a:p>
        </p:txBody>
      </p:sp>
      <p:sp>
        <p:nvSpPr>
          <p:cNvPr id="80" name="TextBox 80"/>
          <p:cNvSpPr txBox="1"/>
          <p:nvPr/>
        </p:nvSpPr>
        <p:spPr>
          <a:xfrm>
            <a:off x="2981610" y="2756554"/>
            <a:ext cx="619986" cy="2098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2032年</a:t>
            </a:r>
            <a:endParaRPr lang="zh-CN" sz="1050"/>
          </a:p>
        </p:txBody>
      </p:sp>
      <p:sp>
        <p:nvSpPr>
          <p:cNvPr id="81" name="TextBox 81"/>
          <p:cNvSpPr txBox="1"/>
          <p:nvPr/>
        </p:nvSpPr>
        <p:spPr>
          <a:xfrm>
            <a:off x="2037323" y="1793191"/>
            <a:ext cx="505527" cy="1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CAGR</a:t>
            </a:r>
            <a:endParaRPr lang="zh-CN" sz="1000"/>
          </a:p>
        </p:txBody>
      </p:sp>
      <p:sp>
        <p:nvSpPr>
          <p:cNvPr id="82" name="TextBox 82"/>
          <p:cNvSpPr txBox="1"/>
          <p:nvPr/>
        </p:nvSpPr>
        <p:spPr>
          <a:xfrm>
            <a:off x="2046862" y="1926726"/>
            <a:ext cx="381530" cy="3052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3.0</a:t>
            </a:r>
            <a:endParaRPr lang="zh-CN" sz="2200"/>
          </a:p>
        </p:txBody>
      </p:sp>
      <p:sp>
        <p:nvSpPr>
          <p:cNvPr id="83" name="TextBox 83"/>
          <p:cNvSpPr txBox="1"/>
          <p:nvPr/>
        </p:nvSpPr>
        <p:spPr>
          <a:xfrm>
            <a:off x="2409315" y="2012570"/>
            <a:ext cx="133535" cy="1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%</a:t>
            </a:r>
            <a:endParaRPr lang="zh-CN" sz="1150"/>
          </a:p>
        </p:txBody>
      </p:sp>
      <p:sp>
        <p:nvSpPr>
          <p:cNvPr id="84" name="TextBox 84"/>
          <p:cNvSpPr txBox="1"/>
          <p:nvPr/>
        </p:nvSpPr>
        <p:spPr>
          <a:xfrm>
            <a:off x="6510761" y="2127029"/>
            <a:ext cx="734445" cy="4482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20" b="1">
                <a:solidFill>
                  <a:srgbClr val="F8F1BD"/>
                </a:solidFill>
                <a:latin typeface="Microsoft YaHei"/>
                <a:ea typeface="Microsoft YaHei"/>
                <a:cs typeface="Microsoft YaHei"/>
              </a:rPr>
              <a:t>东南亚</a:t>
            </a:r>
            <a:endParaRPr lang="zh-CN" sz="1320"/>
          </a:p>
          <a:p>
            <a:pPr algn="ctr"/>
            <a:r>
              <a:rPr lang="zh-CN" sz="1320" b="1">
                <a:solidFill>
                  <a:srgbClr val="F8F1BD"/>
                </a:solidFill>
                <a:latin typeface="Microsoft YaHei"/>
                <a:ea typeface="Microsoft YaHei"/>
                <a:cs typeface="Microsoft YaHei"/>
              </a:rPr>
              <a:t>潜力市场</a:t>
            </a:r>
            <a:endParaRPr lang="zh-CN" sz="1320"/>
          </a:p>
        </p:txBody>
      </p:sp>
      <p:sp>
        <p:nvSpPr>
          <p:cNvPr id="85" name="TextBox 85"/>
          <p:cNvSpPr txBox="1"/>
          <p:nvPr/>
        </p:nvSpPr>
        <p:spPr>
          <a:xfrm>
            <a:off x="8704558" y="1030131"/>
            <a:ext cx="1325816" cy="2670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生物降解成为</a:t>
            </a:r>
            <a:endParaRPr lang="zh-CN" sz="1700"/>
          </a:p>
        </p:txBody>
      </p:sp>
      <p:sp>
        <p:nvSpPr>
          <p:cNvPr id="86" name="TextBox 86"/>
          <p:cNvSpPr txBox="1"/>
          <p:nvPr/>
        </p:nvSpPr>
        <p:spPr>
          <a:xfrm>
            <a:off x="10011298" y="972901"/>
            <a:ext cx="1735961" cy="3719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80">
                <a:solidFill>
                  <a:srgbClr val="A77A0B"/>
                </a:solidFill>
                <a:latin typeface="KaiTi"/>
                <a:ea typeface="KaiTi"/>
                <a:cs typeface="KaiTi"/>
              </a:rPr>
              <a:t>核心增长赛道</a:t>
            </a:r>
            <a:endParaRPr lang="zh-CN" sz="2280"/>
          </a:p>
        </p:txBody>
      </p:sp>
      <p:sp>
        <p:nvSpPr>
          <p:cNvPr id="87" name="TextBox 87"/>
          <p:cNvSpPr txBox="1"/>
          <p:nvPr/>
        </p:nvSpPr>
        <p:spPr>
          <a:xfrm>
            <a:off x="8704558" y="1421199"/>
            <a:ext cx="3042701" cy="2193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全球生物降解农用地膜市场规模</a:t>
            </a:r>
            <a:endParaRPr lang="zh-CN" sz="1150"/>
          </a:p>
        </p:txBody>
      </p:sp>
      <p:sp>
        <p:nvSpPr>
          <p:cNvPr id="88" name="TextBox 88"/>
          <p:cNvSpPr txBox="1"/>
          <p:nvPr/>
        </p:nvSpPr>
        <p:spPr>
          <a:xfrm>
            <a:off x="8447026" y="1993494"/>
            <a:ext cx="505527" cy="247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54.2</a:t>
            </a:r>
            <a:endParaRPr lang="zh-CN" sz="1550"/>
          </a:p>
        </p:txBody>
      </p:sp>
      <p:sp>
        <p:nvSpPr>
          <p:cNvPr id="89" name="TextBox 89"/>
          <p:cNvSpPr txBox="1"/>
          <p:nvPr/>
        </p:nvSpPr>
        <p:spPr>
          <a:xfrm>
            <a:off x="8380258" y="2231950"/>
            <a:ext cx="610448" cy="1812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百万美元</a:t>
            </a:r>
            <a:endParaRPr lang="zh-CN" sz="950"/>
          </a:p>
        </p:txBody>
      </p:sp>
      <p:sp>
        <p:nvSpPr>
          <p:cNvPr id="90" name="TextBox 90"/>
          <p:cNvSpPr txBox="1"/>
          <p:nvPr/>
        </p:nvSpPr>
        <p:spPr>
          <a:xfrm>
            <a:off x="9477156" y="1726423"/>
            <a:ext cx="581833" cy="25753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102.2</a:t>
            </a:r>
            <a:endParaRPr lang="zh-CN" sz="1550"/>
          </a:p>
        </p:txBody>
      </p:sp>
      <p:sp>
        <p:nvSpPr>
          <p:cNvPr id="91" name="TextBox 91"/>
          <p:cNvSpPr txBox="1"/>
          <p:nvPr/>
        </p:nvSpPr>
        <p:spPr>
          <a:xfrm>
            <a:off x="9429465" y="1974417"/>
            <a:ext cx="639063" cy="1812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百万美元</a:t>
            </a:r>
            <a:endParaRPr lang="zh-CN" sz="950"/>
          </a:p>
        </p:txBody>
      </p:sp>
      <p:sp>
        <p:nvSpPr>
          <p:cNvPr id="92" name="TextBox 92"/>
          <p:cNvSpPr txBox="1"/>
          <p:nvPr/>
        </p:nvSpPr>
        <p:spPr>
          <a:xfrm>
            <a:off x="8437487" y="2766092"/>
            <a:ext cx="543680" cy="2098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2025年</a:t>
            </a:r>
            <a:endParaRPr lang="zh-CN" sz="1050"/>
          </a:p>
        </p:txBody>
      </p:sp>
      <p:sp>
        <p:nvSpPr>
          <p:cNvPr id="93" name="TextBox 93"/>
          <p:cNvSpPr txBox="1"/>
          <p:nvPr/>
        </p:nvSpPr>
        <p:spPr>
          <a:xfrm>
            <a:off x="9448542" y="2766092"/>
            <a:ext cx="610448" cy="2098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2033年</a:t>
            </a:r>
            <a:endParaRPr lang="zh-CN" sz="1050"/>
          </a:p>
        </p:txBody>
      </p:sp>
      <p:sp>
        <p:nvSpPr>
          <p:cNvPr id="94" name="TextBox 94"/>
          <p:cNvSpPr txBox="1"/>
          <p:nvPr/>
        </p:nvSpPr>
        <p:spPr>
          <a:xfrm>
            <a:off x="10507287" y="2060261"/>
            <a:ext cx="410145" cy="4482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46</a:t>
            </a:r>
            <a:endParaRPr lang="zh-CN" sz="2900"/>
          </a:p>
        </p:txBody>
      </p:sp>
      <p:sp>
        <p:nvSpPr>
          <p:cNvPr id="95" name="TextBox 95"/>
          <p:cNvSpPr txBox="1"/>
          <p:nvPr/>
        </p:nvSpPr>
        <p:spPr>
          <a:xfrm>
            <a:off x="10869741" y="2184259"/>
            <a:ext cx="171688" cy="2670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%</a:t>
            </a:r>
            <a:endParaRPr lang="zh-CN" sz="1400"/>
          </a:p>
        </p:txBody>
      </p:sp>
      <p:sp>
        <p:nvSpPr>
          <p:cNvPr id="96" name="TextBox 96"/>
          <p:cNvSpPr txBox="1"/>
          <p:nvPr/>
        </p:nvSpPr>
        <p:spPr>
          <a:xfrm>
            <a:off x="11318038" y="2069800"/>
            <a:ext cx="629524" cy="44829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亚太地区</a:t>
            </a:r>
            <a:endParaRPr lang="zh-CN" sz="1100"/>
          </a:p>
          <a:p>
            <a:pPr algn="l"/>
            <a:r>
              <a:rPr lang="zh-CN" sz="110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占比</a:t>
            </a:r>
            <a:endParaRPr lang="zh-CN" sz="1100"/>
          </a:p>
        </p:txBody>
      </p:sp>
      <p:sp>
        <p:nvSpPr>
          <p:cNvPr id="97" name="TextBox 97"/>
          <p:cNvSpPr txBox="1"/>
          <p:nvPr/>
        </p:nvSpPr>
        <p:spPr>
          <a:xfrm>
            <a:off x="1150266" y="3223928"/>
            <a:ext cx="1154128" cy="2956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东南亚市场</a:t>
            </a:r>
            <a:endParaRPr lang="zh-CN" sz="1750"/>
          </a:p>
        </p:txBody>
      </p:sp>
      <p:sp>
        <p:nvSpPr>
          <p:cNvPr id="98" name="TextBox 98"/>
          <p:cNvSpPr txBox="1"/>
          <p:nvPr/>
        </p:nvSpPr>
        <p:spPr>
          <a:xfrm>
            <a:off x="2275779" y="3157160"/>
            <a:ext cx="1325816" cy="3910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00">
                <a:solidFill>
                  <a:srgbClr val="A77A0B"/>
                </a:solidFill>
                <a:latin typeface="KaiTi"/>
                <a:ea typeface="KaiTi"/>
                <a:cs typeface="KaiTi"/>
              </a:rPr>
              <a:t>机遇显著</a:t>
            </a:r>
            <a:endParaRPr lang="zh-CN" sz="2300"/>
          </a:p>
        </p:txBody>
      </p:sp>
      <p:sp>
        <p:nvSpPr>
          <p:cNvPr id="99" name="TextBox 99"/>
          <p:cNvSpPr txBox="1"/>
          <p:nvPr/>
        </p:nvSpPr>
        <p:spPr>
          <a:xfrm>
            <a:off x="1150266" y="3605458"/>
            <a:ext cx="2422715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东南亚六国地膜消费量</a:t>
            </a:r>
            <a:endParaRPr lang="zh-CN" sz="1150"/>
          </a:p>
        </p:txBody>
      </p:sp>
      <p:sp>
        <p:nvSpPr>
          <p:cNvPr id="100" name="TextBox 100"/>
          <p:cNvSpPr txBox="1"/>
          <p:nvPr/>
        </p:nvSpPr>
        <p:spPr>
          <a:xfrm>
            <a:off x="787813" y="3748531"/>
            <a:ext cx="829828" cy="4959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4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146</a:t>
            </a:r>
            <a:endParaRPr lang="zh-CN" sz="3400"/>
          </a:p>
        </p:txBody>
      </p:sp>
      <p:sp>
        <p:nvSpPr>
          <p:cNvPr id="101" name="TextBox 101"/>
          <p:cNvSpPr txBox="1"/>
          <p:nvPr/>
        </p:nvSpPr>
        <p:spPr>
          <a:xfrm>
            <a:off x="1589026" y="3910682"/>
            <a:ext cx="600910" cy="2670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万吨</a:t>
            </a:r>
            <a:endParaRPr lang="zh-CN" sz="1600"/>
          </a:p>
        </p:txBody>
      </p:sp>
      <p:sp>
        <p:nvSpPr>
          <p:cNvPr id="102" name="TextBox 102"/>
          <p:cNvSpPr txBox="1"/>
          <p:nvPr/>
        </p:nvSpPr>
        <p:spPr>
          <a:xfrm>
            <a:off x="959501" y="4263597"/>
            <a:ext cx="619986" cy="1907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4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水稻用膜</a:t>
            </a:r>
            <a:endParaRPr lang="zh-CN" sz="940"/>
          </a:p>
        </p:txBody>
      </p:sp>
      <p:sp>
        <p:nvSpPr>
          <p:cNvPr id="103" name="TextBox 103"/>
          <p:cNvSpPr txBox="1"/>
          <p:nvPr/>
        </p:nvSpPr>
        <p:spPr>
          <a:xfrm>
            <a:off x="2170859" y="4263597"/>
            <a:ext cx="753522" cy="1907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4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果蔬大棚用膜</a:t>
            </a:r>
            <a:endParaRPr lang="zh-CN" sz="940"/>
          </a:p>
        </p:txBody>
      </p:sp>
      <p:sp>
        <p:nvSpPr>
          <p:cNvPr id="104" name="TextBox 104"/>
          <p:cNvSpPr txBox="1"/>
          <p:nvPr/>
        </p:nvSpPr>
        <p:spPr>
          <a:xfrm>
            <a:off x="940425" y="4416209"/>
            <a:ext cx="381530" cy="3719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35</a:t>
            </a:r>
            <a:endParaRPr lang="zh-CN" sz="2700"/>
          </a:p>
        </p:txBody>
      </p:sp>
      <p:sp>
        <p:nvSpPr>
          <p:cNvPr id="105" name="TextBox 105"/>
          <p:cNvSpPr txBox="1"/>
          <p:nvPr/>
        </p:nvSpPr>
        <p:spPr>
          <a:xfrm>
            <a:off x="1293340" y="4540206"/>
            <a:ext cx="181227" cy="2098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%</a:t>
            </a:r>
            <a:endParaRPr lang="zh-CN" sz="1300"/>
          </a:p>
        </p:txBody>
      </p:sp>
      <p:sp>
        <p:nvSpPr>
          <p:cNvPr id="106" name="TextBox 106"/>
          <p:cNvSpPr txBox="1"/>
          <p:nvPr/>
        </p:nvSpPr>
        <p:spPr>
          <a:xfrm>
            <a:off x="2161320" y="4416209"/>
            <a:ext cx="381530" cy="3719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42</a:t>
            </a:r>
            <a:endParaRPr lang="zh-CN" sz="2700"/>
          </a:p>
        </p:txBody>
      </p:sp>
      <p:sp>
        <p:nvSpPr>
          <p:cNvPr id="107" name="TextBox 107"/>
          <p:cNvSpPr txBox="1"/>
          <p:nvPr/>
        </p:nvSpPr>
        <p:spPr>
          <a:xfrm>
            <a:off x="2514236" y="4540206"/>
            <a:ext cx="181227" cy="2098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%</a:t>
            </a:r>
            <a:endParaRPr lang="zh-CN" sz="1300"/>
          </a:p>
        </p:txBody>
      </p:sp>
      <p:sp>
        <p:nvSpPr>
          <p:cNvPr id="108" name="TextBox 108"/>
          <p:cNvSpPr txBox="1"/>
          <p:nvPr/>
        </p:nvSpPr>
        <p:spPr>
          <a:xfrm>
            <a:off x="1064422" y="4978965"/>
            <a:ext cx="1735961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泰国、印尼、越南</a:t>
            </a:r>
            <a:endParaRPr lang="zh-CN" sz="1080"/>
          </a:p>
        </p:txBody>
      </p:sp>
      <p:sp>
        <p:nvSpPr>
          <p:cNvPr id="109" name="TextBox 109"/>
          <p:cNvSpPr txBox="1"/>
          <p:nvPr/>
        </p:nvSpPr>
        <p:spPr>
          <a:xfrm>
            <a:off x="1064422" y="5226960"/>
            <a:ext cx="743983" cy="2766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合计占比</a:t>
            </a:r>
            <a:endParaRPr lang="zh-CN" sz="1250"/>
          </a:p>
        </p:txBody>
      </p:sp>
      <p:sp>
        <p:nvSpPr>
          <p:cNvPr id="110" name="TextBox 110"/>
          <p:cNvSpPr txBox="1"/>
          <p:nvPr/>
        </p:nvSpPr>
        <p:spPr>
          <a:xfrm>
            <a:off x="1770252" y="5160192"/>
            <a:ext cx="410145" cy="4101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71</a:t>
            </a:r>
            <a:endParaRPr lang="zh-CN" sz="3000"/>
          </a:p>
        </p:txBody>
      </p:sp>
      <p:sp>
        <p:nvSpPr>
          <p:cNvPr id="111" name="TextBox 111"/>
          <p:cNvSpPr txBox="1"/>
          <p:nvPr/>
        </p:nvSpPr>
        <p:spPr>
          <a:xfrm>
            <a:off x="2113629" y="5284189"/>
            <a:ext cx="190765" cy="238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%</a:t>
            </a:r>
            <a:endParaRPr lang="zh-CN" sz="1400"/>
          </a:p>
        </p:txBody>
      </p:sp>
      <p:sp>
        <p:nvSpPr>
          <p:cNvPr id="112" name="TextBox 112"/>
          <p:cNvSpPr txBox="1"/>
          <p:nvPr/>
        </p:nvSpPr>
        <p:spPr>
          <a:xfrm>
            <a:off x="3754208" y="4053755"/>
            <a:ext cx="543680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PLA</a:t>
            </a:r>
            <a:endParaRPr lang="zh-CN" sz="1200"/>
          </a:p>
        </p:txBody>
      </p:sp>
      <p:sp>
        <p:nvSpPr>
          <p:cNvPr id="113" name="TextBox 113"/>
          <p:cNvSpPr txBox="1"/>
          <p:nvPr/>
        </p:nvSpPr>
        <p:spPr>
          <a:xfrm>
            <a:off x="3754208" y="4769124"/>
            <a:ext cx="610448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PBAT</a:t>
            </a:r>
            <a:endParaRPr lang="zh-CN" sz="1200"/>
          </a:p>
        </p:txBody>
      </p:sp>
      <p:sp>
        <p:nvSpPr>
          <p:cNvPr id="114" name="TextBox 114"/>
          <p:cNvSpPr txBox="1"/>
          <p:nvPr/>
        </p:nvSpPr>
        <p:spPr>
          <a:xfrm>
            <a:off x="3744670" y="4187291"/>
            <a:ext cx="362453" cy="3910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82</a:t>
            </a:r>
            <a:endParaRPr lang="zh-CN" sz="2800"/>
          </a:p>
        </p:txBody>
      </p:sp>
      <p:sp>
        <p:nvSpPr>
          <p:cNvPr id="115" name="TextBox 115"/>
          <p:cNvSpPr txBox="1"/>
          <p:nvPr/>
        </p:nvSpPr>
        <p:spPr>
          <a:xfrm>
            <a:off x="4097585" y="4292211"/>
            <a:ext cx="352915" cy="238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万吨</a:t>
            </a:r>
            <a:endParaRPr lang="zh-CN" sz="1050"/>
          </a:p>
        </p:txBody>
      </p:sp>
      <p:sp>
        <p:nvSpPr>
          <p:cNvPr id="116" name="TextBox 116"/>
          <p:cNvSpPr txBox="1"/>
          <p:nvPr/>
        </p:nvSpPr>
        <p:spPr>
          <a:xfrm>
            <a:off x="3744670" y="4902659"/>
            <a:ext cx="362453" cy="3910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63</a:t>
            </a:r>
            <a:endParaRPr lang="zh-CN" sz="2800"/>
          </a:p>
        </p:txBody>
      </p:sp>
      <p:sp>
        <p:nvSpPr>
          <p:cNvPr id="117" name="TextBox 117"/>
          <p:cNvSpPr txBox="1"/>
          <p:nvPr/>
        </p:nvSpPr>
        <p:spPr>
          <a:xfrm>
            <a:off x="4097585" y="5007580"/>
            <a:ext cx="352915" cy="238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万吨</a:t>
            </a:r>
            <a:endParaRPr lang="zh-CN" sz="1050"/>
          </a:p>
        </p:txBody>
      </p:sp>
      <p:sp>
        <p:nvSpPr>
          <p:cNvPr id="118" name="TextBox 118"/>
          <p:cNvSpPr txBox="1"/>
          <p:nvPr/>
        </p:nvSpPr>
        <p:spPr>
          <a:xfrm>
            <a:off x="5461554" y="4616512"/>
            <a:ext cx="1344893" cy="36245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60" b="1">
                <a:solidFill>
                  <a:srgbClr val="00572F"/>
                </a:solidFill>
                <a:latin typeface="Microsoft YaHei"/>
                <a:ea typeface="Microsoft YaHei"/>
                <a:cs typeface="Microsoft YaHei"/>
              </a:rPr>
              <a:t>目标市场结论</a:t>
            </a:r>
            <a:endParaRPr lang="zh-CN" sz="1760"/>
          </a:p>
        </p:txBody>
      </p:sp>
      <p:sp>
        <p:nvSpPr>
          <p:cNvPr id="119" name="TextBox 119"/>
          <p:cNvSpPr txBox="1"/>
          <p:nvPr/>
        </p:nvSpPr>
        <p:spPr>
          <a:xfrm>
            <a:off x="6997212" y="4606974"/>
            <a:ext cx="2193797" cy="38153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>
                <a:solidFill>
                  <a:srgbClr val="F6D56B"/>
                </a:solidFill>
                <a:latin typeface="Microsoft YaHei"/>
                <a:ea typeface="Microsoft YaHei"/>
                <a:cs typeface="Microsoft YaHei"/>
              </a:rPr>
              <a:t>泰国为优先目标市场</a:t>
            </a:r>
            <a:endParaRPr lang="zh-CN" sz="1850"/>
          </a:p>
        </p:txBody>
      </p:sp>
      <p:sp>
        <p:nvSpPr>
          <p:cNvPr id="120" name="TextBox 120"/>
          <p:cNvSpPr txBox="1"/>
          <p:nvPr/>
        </p:nvSpPr>
        <p:spPr>
          <a:xfrm>
            <a:off x="9849148" y="4778662"/>
            <a:ext cx="1888573" cy="247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F9EEB0"/>
                </a:solidFill>
                <a:latin typeface="Microsoft YaHei"/>
                <a:ea typeface="Microsoft YaHei"/>
                <a:cs typeface="Microsoft YaHei"/>
              </a:rPr>
              <a:t>政策 + 需求 + 产业协同，泰国优先</a:t>
            </a:r>
            <a:endParaRPr lang="zh-CN" sz="950"/>
          </a:p>
        </p:txBody>
      </p:sp>
      <p:sp>
        <p:nvSpPr>
          <p:cNvPr id="121" name="TextBox 121"/>
          <p:cNvSpPr txBox="1"/>
          <p:nvPr/>
        </p:nvSpPr>
        <p:spPr>
          <a:xfrm>
            <a:off x="6234152" y="5665719"/>
            <a:ext cx="915672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地膜亩均用量</a:t>
            </a:r>
            <a:endParaRPr lang="zh-CN" sz="1030"/>
          </a:p>
        </p:txBody>
      </p:sp>
      <p:sp>
        <p:nvSpPr>
          <p:cNvPr id="122" name="TextBox 122"/>
          <p:cNvSpPr txBox="1"/>
          <p:nvPr/>
        </p:nvSpPr>
        <p:spPr>
          <a:xfrm>
            <a:off x="6195999" y="5799255"/>
            <a:ext cx="448298" cy="4196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3.7</a:t>
            </a:r>
            <a:endParaRPr lang="zh-CN" sz="2800"/>
          </a:p>
        </p:txBody>
      </p:sp>
      <p:sp>
        <p:nvSpPr>
          <p:cNvPr id="123" name="TextBox 123"/>
          <p:cNvSpPr txBox="1"/>
          <p:nvPr/>
        </p:nvSpPr>
        <p:spPr>
          <a:xfrm>
            <a:off x="6634759" y="5932790"/>
            <a:ext cx="505527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公斤/亩</a:t>
            </a:r>
            <a:endParaRPr lang="zh-CN" sz="1050"/>
          </a:p>
        </p:txBody>
      </p:sp>
      <p:sp>
        <p:nvSpPr>
          <p:cNvPr id="124" name="TextBox 124"/>
          <p:cNvSpPr txBox="1"/>
          <p:nvPr/>
        </p:nvSpPr>
        <p:spPr>
          <a:xfrm>
            <a:off x="7445510" y="5665719"/>
            <a:ext cx="944287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4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降解地膜渗透率</a:t>
            </a:r>
            <a:endParaRPr lang="zh-CN" sz="940"/>
          </a:p>
        </p:txBody>
      </p:sp>
      <p:sp>
        <p:nvSpPr>
          <p:cNvPr id="125" name="TextBox 125"/>
          <p:cNvSpPr txBox="1"/>
          <p:nvPr/>
        </p:nvSpPr>
        <p:spPr>
          <a:xfrm>
            <a:off x="7464586" y="5808793"/>
            <a:ext cx="457836" cy="4196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3.2</a:t>
            </a:r>
            <a:endParaRPr lang="zh-CN" sz="2800"/>
          </a:p>
        </p:txBody>
      </p:sp>
      <p:sp>
        <p:nvSpPr>
          <p:cNvPr id="126" name="TextBox 126"/>
          <p:cNvSpPr txBox="1"/>
          <p:nvPr/>
        </p:nvSpPr>
        <p:spPr>
          <a:xfrm>
            <a:off x="7922422" y="5932790"/>
            <a:ext cx="171688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%</a:t>
            </a:r>
            <a:endParaRPr lang="zh-CN" sz="1300"/>
          </a:p>
        </p:txBody>
      </p:sp>
      <p:sp>
        <p:nvSpPr>
          <p:cNvPr id="127" name="TextBox 127"/>
          <p:cNvSpPr txBox="1"/>
          <p:nvPr/>
        </p:nvSpPr>
        <p:spPr>
          <a:xfrm>
            <a:off x="9047935" y="5312804"/>
            <a:ext cx="1487967" cy="22891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生物降解地膜市场</a:t>
            </a:r>
            <a:endParaRPr lang="zh-CN" sz="1060"/>
          </a:p>
        </p:txBody>
      </p:sp>
      <p:sp>
        <p:nvSpPr>
          <p:cNvPr id="128" name="TextBox 128"/>
          <p:cNvSpPr txBox="1"/>
          <p:nvPr/>
        </p:nvSpPr>
        <p:spPr>
          <a:xfrm>
            <a:off x="8952553" y="5656181"/>
            <a:ext cx="505527" cy="247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2024年</a:t>
            </a:r>
            <a:endParaRPr lang="zh-CN" sz="1080"/>
          </a:p>
        </p:txBody>
      </p:sp>
      <p:sp>
        <p:nvSpPr>
          <p:cNvPr id="129" name="TextBox 129"/>
          <p:cNvSpPr txBox="1"/>
          <p:nvPr/>
        </p:nvSpPr>
        <p:spPr>
          <a:xfrm>
            <a:off x="8952553" y="5942328"/>
            <a:ext cx="505527" cy="247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 b="1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2030年</a:t>
            </a:r>
            <a:endParaRPr lang="zh-CN" sz="1080"/>
          </a:p>
        </p:txBody>
      </p:sp>
      <p:sp>
        <p:nvSpPr>
          <p:cNvPr id="130" name="TextBox 130"/>
          <p:cNvSpPr txBox="1"/>
          <p:nvPr/>
        </p:nvSpPr>
        <p:spPr>
          <a:xfrm>
            <a:off x="9439003" y="5522645"/>
            <a:ext cx="505527" cy="4101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120</a:t>
            </a:r>
            <a:endParaRPr lang="zh-CN" sz="2800"/>
          </a:p>
        </p:txBody>
      </p:sp>
      <p:sp>
        <p:nvSpPr>
          <p:cNvPr id="131" name="TextBox 131"/>
          <p:cNvSpPr txBox="1"/>
          <p:nvPr/>
        </p:nvSpPr>
        <p:spPr>
          <a:xfrm>
            <a:off x="9925454" y="5646643"/>
            <a:ext cx="677216" cy="25753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万美元</a:t>
            </a:r>
            <a:endParaRPr lang="zh-CN" sz="1080"/>
          </a:p>
        </p:txBody>
      </p:sp>
      <p:sp>
        <p:nvSpPr>
          <p:cNvPr id="132" name="TextBox 132"/>
          <p:cNvSpPr txBox="1"/>
          <p:nvPr/>
        </p:nvSpPr>
        <p:spPr>
          <a:xfrm>
            <a:off x="9439003" y="5818331"/>
            <a:ext cx="505527" cy="4101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180</a:t>
            </a:r>
            <a:endParaRPr lang="zh-CN" sz="2800"/>
          </a:p>
        </p:txBody>
      </p:sp>
      <p:sp>
        <p:nvSpPr>
          <p:cNvPr id="133" name="TextBox 133"/>
          <p:cNvSpPr txBox="1"/>
          <p:nvPr/>
        </p:nvSpPr>
        <p:spPr>
          <a:xfrm>
            <a:off x="9925454" y="5942328"/>
            <a:ext cx="677216" cy="25753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万美元</a:t>
            </a:r>
            <a:endParaRPr lang="zh-CN" sz="1080"/>
          </a:p>
        </p:txBody>
      </p:sp>
      <p:sp>
        <p:nvSpPr>
          <p:cNvPr id="134" name="TextBox 134"/>
          <p:cNvSpPr txBox="1"/>
          <p:nvPr/>
        </p:nvSpPr>
        <p:spPr>
          <a:xfrm>
            <a:off x="11222656" y="5322342"/>
            <a:ext cx="553218" cy="2384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123D32"/>
                </a:solidFill>
                <a:latin typeface="Microsoft YaHei"/>
                <a:ea typeface="Microsoft YaHei"/>
                <a:cs typeface="Microsoft YaHei"/>
              </a:rPr>
              <a:t>CAGR</a:t>
            </a:r>
            <a:endParaRPr lang="zh-CN" sz="1060"/>
          </a:p>
        </p:txBody>
      </p:sp>
      <p:sp>
        <p:nvSpPr>
          <p:cNvPr id="135" name="TextBox 135"/>
          <p:cNvSpPr txBox="1"/>
          <p:nvPr/>
        </p:nvSpPr>
        <p:spPr>
          <a:xfrm>
            <a:off x="11089120" y="5627566"/>
            <a:ext cx="467374" cy="4578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A77A0B"/>
                </a:solidFill>
                <a:latin typeface="Liberation Serif"/>
                <a:ea typeface="Liberation Serif"/>
                <a:cs typeface="Liberation Serif"/>
              </a:rPr>
              <a:t>7.2</a:t>
            </a:r>
            <a:endParaRPr lang="zh-CN" sz="2800"/>
          </a:p>
        </p:txBody>
      </p:sp>
      <p:sp>
        <p:nvSpPr>
          <p:cNvPr id="136" name="TextBox 136"/>
          <p:cNvSpPr txBox="1"/>
          <p:nvPr/>
        </p:nvSpPr>
        <p:spPr>
          <a:xfrm>
            <a:off x="11537418" y="5799255"/>
            <a:ext cx="219380" cy="247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A77A0B"/>
                </a:solidFill>
                <a:latin typeface="SimSun"/>
                <a:ea typeface="SimSun"/>
                <a:cs typeface="SimSun"/>
              </a:rPr>
              <a:t>%</a:t>
            </a:r>
            <a:endParaRPr lang="zh-CN" sz="1300"/>
          </a:p>
        </p:txBody>
      </p:sp>
      <p:sp>
        <p:nvSpPr>
          <p:cNvPr id="137" name="Path 137"/>
          <p:cNvSpPr/>
          <p:nvPr/>
        </p:nvSpPr>
        <p:spPr>
          <a:xfrm>
            <a:off x="5677" y="6238014"/>
            <a:ext cx="12180342" cy="95382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567" y="4104"/>
                  <a:pt x="8136" y="15120"/>
                  <a:pt x="10800" y="15984"/>
                </a:cubicBezTo>
                <a:cubicBezTo>
                  <a:pt x="14141" y="15120"/>
                  <a:pt x="18708" y="4320"/>
                  <a:pt x="21600" y="21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EFF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Path 138"/>
          <p:cNvSpPr/>
          <p:nvPr/>
        </p:nvSpPr>
        <p:spPr>
          <a:xfrm>
            <a:off x="5677" y="6238014"/>
            <a:ext cx="12180342" cy="95382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"/>
                </a:moveTo>
                <a:cubicBezTo>
                  <a:pt x="4567" y="6264"/>
                  <a:pt x="8136" y="17280"/>
                  <a:pt x="10800" y="18144"/>
                </a:cubicBezTo>
                <a:cubicBezTo>
                  <a:pt x="14141" y="17280"/>
                  <a:pt x="18708" y="6480"/>
                  <a:pt x="21600" y="237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485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Path 139"/>
          <p:cNvSpPr/>
          <p:nvPr/>
        </p:nvSpPr>
        <p:spPr>
          <a:xfrm>
            <a:off x="5677" y="6238014"/>
            <a:ext cx="12180342" cy="95382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9936"/>
                </a:moveTo>
                <a:cubicBezTo>
                  <a:pt x="4567" y="14040"/>
                  <a:pt x="8136" y="22896"/>
                  <a:pt x="10800" y="23760"/>
                </a:cubicBezTo>
                <a:cubicBezTo>
                  <a:pt x="14141" y="22896"/>
                  <a:pt x="18708" y="14256"/>
                  <a:pt x="21600" y="10152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1B53B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mint sky, farm rows, distant mountain panorama and blurred grass with floating boundary leaves and bottom green wav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600060" y="266779"/>
            <a:ext cx="2304992" cy="50481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339" y="0"/>
                </a:moveTo>
                <a:lnTo>
                  <a:pt x="21600" y="0"/>
                </a:lnTo>
                <a:lnTo>
                  <a:pt x="2026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E79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2933627" y="276304"/>
            <a:ext cx="1990675" cy="49528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47" y="0"/>
                </a:moveTo>
                <a:lnTo>
                  <a:pt x="21600" y="0"/>
                </a:lnTo>
                <a:lnTo>
                  <a:pt x="2025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EF0E2"/>
          </a:solidFill>
          <a:ln w="8890">
            <a:solidFill>
              <a:srgbClr val="69B88A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38139" y="952562"/>
            <a:ext cx="5600560" cy="876278"/>
          </a:xfrm>
          <a:prstGeom prst="roundRect">
            <a:avLst>
              <a:gd name="adj" fmla="val 18478"/>
            </a:avLst>
          </a:prstGeom>
          <a:solidFill>
            <a:srgbClr val="F7FCF7"/>
          </a:solidFill>
          <a:ln w="8890">
            <a:solidFill>
              <a:srgbClr val="B4DFCA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229194" y="952562"/>
            <a:ext cx="5571986" cy="876278"/>
          </a:xfrm>
          <a:prstGeom prst="roundRect">
            <a:avLst>
              <a:gd name="adj" fmla="val 18478"/>
            </a:avLst>
          </a:prstGeom>
          <a:solidFill>
            <a:srgbClr val="F7FCF7"/>
          </a:solidFill>
          <a:ln w="8890">
            <a:solidFill>
              <a:srgbClr val="B4DFCA"/>
            </a:solidFill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685783" y="266779"/>
            <a:ext cx="2133547" cy="50481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46" y="0"/>
                </a:moveTo>
                <a:lnTo>
                  <a:pt x="21600" y="0"/>
                </a:lnTo>
                <a:lnTo>
                  <a:pt x="2015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3914677" y="2552722"/>
            <a:ext cx="714357" cy="58101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152" y="2125"/>
                </a:moveTo>
                <a:cubicBezTo>
                  <a:pt x="2592" y="14872"/>
                  <a:pt x="12960" y="19121"/>
                  <a:pt x="19872" y="19121"/>
                </a:cubicBezTo>
              </a:path>
            </a:pathLst>
          </a:custGeom>
          <a:noFill/>
          <a:ln w="114300">
            <a:solidFill>
              <a:srgbClr val="65C4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3924202" y="3657594"/>
            <a:ext cx="714357" cy="40956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152" y="3014"/>
                </a:moveTo>
                <a:cubicBezTo>
                  <a:pt x="4896" y="16577"/>
                  <a:pt x="13536" y="17079"/>
                  <a:pt x="20160" y="17079"/>
                </a:cubicBezTo>
              </a:path>
            </a:pathLst>
          </a:custGeom>
          <a:noFill/>
          <a:ln w="114300">
            <a:solidFill>
              <a:srgbClr val="65C4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3981350" y="4324328"/>
            <a:ext cx="752456" cy="107629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820" y="20071"/>
                </a:moveTo>
                <a:cubicBezTo>
                  <a:pt x="3008" y="9749"/>
                  <a:pt x="12030" y="4779"/>
                  <a:pt x="20233" y="2103"/>
                </a:cubicBezTo>
              </a:path>
            </a:pathLst>
          </a:custGeom>
          <a:noFill/>
          <a:ln w="114300">
            <a:solidFill>
              <a:srgbClr val="65C4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7200720" y="2305078"/>
            <a:ext cx="923902" cy="103819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668" y="20213"/>
                </a:moveTo>
                <a:cubicBezTo>
                  <a:pt x="5344" y="11692"/>
                  <a:pt x="12247" y="3369"/>
                  <a:pt x="20041" y="1189"/>
                </a:cubicBezTo>
              </a:path>
            </a:pathLst>
          </a:custGeom>
          <a:noFill/>
          <a:ln w="114300">
            <a:solidFill>
              <a:srgbClr val="65C4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2" name="Path 12"/>
          <p:cNvSpPr/>
          <p:nvPr/>
        </p:nvSpPr>
        <p:spPr>
          <a:xfrm>
            <a:off x="7181670" y="3562347"/>
            <a:ext cx="847704" cy="57148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213" y="18720"/>
                </a:moveTo>
                <a:cubicBezTo>
                  <a:pt x="8009" y="10080"/>
                  <a:pt x="14076" y="4320"/>
                  <a:pt x="20387" y="2520"/>
                </a:cubicBezTo>
              </a:path>
            </a:pathLst>
          </a:custGeom>
          <a:noFill/>
          <a:ln w="114300">
            <a:solidFill>
              <a:srgbClr val="65C4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3" name="Path 13"/>
          <p:cNvSpPr/>
          <p:nvPr/>
        </p:nvSpPr>
        <p:spPr>
          <a:xfrm>
            <a:off x="7181670" y="4257654"/>
            <a:ext cx="847704" cy="40956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971" y="3516"/>
                </a:moveTo>
                <a:cubicBezTo>
                  <a:pt x="8009" y="9544"/>
                  <a:pt x="15047" y="16577"/>
                  <a:pt x="20387" y="18084"/>
                </a:cubicBezTo>
              </a:path>
            </a:pathLst>
          </a:custGeom>
          <a:noFill/>
          <a:ln w="114300">
            <a:solidFill>
              <a:srgbClr val="65C4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4" name="Path 14"/>
          <p:cNvSpPr/>
          <p:nvPr/>
        </p:nvSpPr>
        <p:spPr>
          <a:xfrm>
            <a:off x="7191195" y="4991061"/>
            <a:ext cx="962001" cy="69530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855" y="2959"/>
                </a:moveTo>
                <a:cubicBezTo>
                  <a:pt x="5988" y="7397"/>
                  <a:pt x="12618" y="15386"/>
                  <a:pt x="20103" y="19233"/>
                </a:cubicBezTo>
              </a:path>
            </a:pathLst>
          </a:custGeom>
          <a:noFill/>
          <a:ln w="114300">
            <a:solidFill>
              <a:srgbClr val="65C491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23862" y="2066959"/>
            <a:ext cx="3543211" cy="1200120"/>
          </a:xfrm>
          <a:prstGeom prst="roundRect">
            <a:avLst>
              <a:gd name="adj" fmla="val 17460"/>
            </a:avLst>
          </a:prstGeom>
          <a:solidFill>
            <a:srgbClr val="F9FFF8"/>
          </a:solidFill>
          <a:ln w="10160">
            <a:solidFill>
              <a:srgbClr val="B5DEC4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523862" y="3419475"/>
            <a:ext cx="3543211" cy="1200120"/>
          </a:xfrm>
          <a:prstGeom prst="roundRect">
            <a:avLst>
              <a:gd name="adj" fmla="val 17460"/>
            </a:avLst>
          </a:prstGeom>
          <a:solidFill>
            <a:srgbClr val="F9FFF8"/>
          </a:solidFill>
          <a:ln w="10160">
            <a:solidFill>
              <a:srgbClr val="B5DEC4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523862" y="4781516"/>
            <a:ext cx="3543211" cy="1200120"/>
          </a:xfrm>
          <a:prstGeom prst="roundRect">
            <a:avLst>
              <a:gd name="adj" fmla="val 17460"/>
            </a:avLst>
          </a:prstGeom>
          <a:solidFill>
            <a:srgbClr val="F9FFF8"/>
          </a:solidFill>
          <a:ln w="10160">
            <a:solidFill>
              <a:srgbClr val="B5DEC4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8067473" y="2066959"/>
            <a:ext cx="3800380" cy="847704"/>
          </a:xfrm>
          <a:prstGeom prst="roundRect">
            <a:avLst>
              <a:gd name="adj" fmla="val 33708"/>
            </a:avLst>
          </a:prstGeom>
          <a:solidFill>
            <a:srgbClr val="FCFFF8"/>
          </a:solidFill>
          <a:ln w="10160">
            <a:solidFill>
              <a:srgbClr val="85CDA7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8067473" y="3057534"/>
            <a:ext cx="3800380" cy="971526"/>
          </a:xfrm>
          <a:prstGeom prst="roundRect">
            <a:avLst>
              <a:gd name="adj" fmla="val 29412"/>
            </a:avLst>
          </a:prstGeom>
          <a:solidFill>
            <a:srgbClr val="FCFFF8"/>
          </a:solidFill>
          <a:ln w="10160">
            <a:solidFill>
              <a:srgbClr val="85CDA7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067473" y="4152882"/>
            <a:ext cx="3800380" cy="942951"/>
          </a:xfrm>
          <a:prstGeom prst="roundRect">
            <a:avLst>
              <a:gd name="adj" fmla="val 30303"/>
            </a:avLst>
          </a:prstGeom>
          <a:solidFill>
            <a:srgbClr val="FCFFF8"/>
          </a:solidFill>
          <a:ln w="10160">
            <a:solidFill>
              <a:srgbClr val="85CDA7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8067473" y="5210130"/>
            <a:ext cx="3800380" cy="866753"/>
          </a:xfrm>
          <a:prstGeom prst="roundRect">
            <a:avLst>
              <a:gd name="adj" fmla="val 32967"/>
            </a:avLst>
          </a:prstGeom>
          <a:solidFill>
            <a:srgbClr val="FCFFF8"/>
          </a:solidFill>
          <a:ln w="10160">
            <a:solidFill>
              <a:srgbClr val="85CDA7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3105072" y="457274"/>
            <a:ext cx="123822" cy="123822"/>
          </a:xfrm>
          <a:prstGeom prst="ellipse">
            <a:avLst/>
          </a:prstGeom>
          <a:solidFill>
            <a:srgbClr val="0097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4876678" y="2962287"/>
            <a:ext cx="2324042" cy="2590735"/>
          </a:xfrm>
          <a:prstGeom prst="roundRect">
            <a:avLst>
              <a:gd name="adj" fmla="val 16393"/>
            </a:avLst>
          </a:prstGeom>
          <a:solidFill>
            <a:srgbClr val="CDEB81"/>
          </a:solidFill>
          <a:ln w="16510">
            <a:solidFill>
              <a:srgbClr val="F5FFC6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4981450" y="3048010"/>
            <a:ext cx="2114497" cy="2390715"/>
          </a:xfrm>
          <a:prstGeom prst="roundRect">
            <a:avLst>
              <a:gd name="adj" fmla="val 14414"/>
            </a:avLst>
          </a:prstGeom>
          <a:solidFill>
            <a:srgbClr val="68A93A"/>
          </a:solidFill>
          <a:ln w="12700">
            <a:solidFill>
              <a:srgbClr val="B4DC5C"/>
            </a:solidFill>
          </a:ln>
        </p:spPr>
        <p:txBody>
          <a:bodyPr/>
          <a:lstStyle/>
          <a:p/>
        </p:txBody>
      </p:sp>
      <p:pic>
        <p:nvPicPr>
          <p:cNvPr id="25" name="Original mountain/field panorama from first header right edge."/>
          <p:cNvPicPr/>
          <p:nvPr/>
        </p:nvPicPr>
        <p:blipFill>
          <a:blip r:embed="rId3"/>
          <a:stretch>
            <a:fillRect/>
          </a:stretch>
        </p:blipFill>
        <p:spPr>
          <a:xfrm>
            <a:off x="4502103" y="1017554"/>
            <a:ext cx="1606378" cy="889165"/>
          </a:xfrm>
          <a:prstGeom prst="rect">
            <a:avLst/>
          </a:prstGeom>
        </p:spPr>
      </p:pic>
      <p:pic>
        <p:nvPicPr>
          <p:cNvPr id="26" name="Original mountain/field panorama from second header right edge."/>
          <p:cNvPicPr/>
          <p:nvPr/>
        </p:nvPicPr>
        <p:blipFill>
          <a:blip r:embed="rId4"/>
          <a:stretch>
            <a:fillRect/>
          </a:stretch>
        </p:blipFill>
        <p:spPr>
          <a:xfrm>
            <a:off x="10049223" y="1052639"/>
            <a:ext cx="1818030" cy="866619"/>
          </a:xfrm>
          <a:prstGeom prst="rect">
            <a:avLst/>
          </a:prstGeom>
        </p:spPr>
      </p:pic>
      <p:sp>
        <p:nvSpPr>
          <p:cNvPr id="27" name="Roundrect 27"/>
          <p:cNvSpPr/>
          <p:nvPr/>
        </p:nvSpPr>
        <p:spPr>
          <a:xfrm>
            <a:off x="1266793" y="2152682"/>
            <a:ext cx="2447864" cy="400040"/>
          </a:xfrm>
          <a:prstGeom prst="roundRect">
            <a:avLst>
              <a:gd name="adj" fmla="val 50000"/>
            </a:avLst>
          </a:prstGeom>
          <a:solidFill>
            <a:srgbClr val="0A964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1266793" y="3505198"/>
            <a:ext cx="2447864" cy="400040"/>
          </a:xfrm>
          <a:prstGeom prst="roundRect">
            <a:avLst>
              <a:gd name="adj" fmla="val 50000"/>
            </a:avLst>
          </a:prstGeom>
          <a:solidFill>
            <a:srgbClr val="0A964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1266793" y="4867239"/>
            <a:ext cx="2447864" cy="400040"/>
          </a:xfrm>
          <a:prstGeom prst="roundRect">
            <a:avLst>
              <a:gd name="adj" fmla="val 50000"/>
            </a:avLst>
          </a:prstGeom>
          <a:solidFill>
            <a:srgbClr val="0A964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371466" y="2009810"/>
            <a:ext cx="1352516" cy="1323942"/>
          </a:xfrm>
          <a:prstGeom prst="ellipse">
            <a:avLst/>
          </a:prstGeom>
          <a:solidFill>
            <a:srgbClr val="F0EA9B"/>
          </a:solidFill>
          <a:ln w="12700">
            <a:solidFill>
              <a:srgbClr val="FFFECE"/>
            </a:solidFill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371466" y="3362327"/>
            <a:ext cx="1352516" cy="1323942"/>
          </a:xfrm>
          <a:prstGeom prst="ellipse">
            <a:avLst/>
          </a:prstGeom>
          <a:solidFill>
            <a:srgbClr val="F0EA9B"/>
          </a:solidFill>
          <a:ln w="12700">
            <a:solidFill>
              <a:srgbClr val="FFFECE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371466" y="4724368"/>
            <a:ext cx="1352516" cy="1323942"/>
          </a:xfrm>
          <a:prstGeom prst="ellipse">
            <a:avLst/>
          </a:prstGeom>
          <a:solidFill>
            <a:srgbClr val="F0EA9B"/>
          </a:solidFill>
          <a:ln w="12700">
            <a:solidFill>
              <a:srgbClr val="FFFECE"/>
            </a:solidFill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409565" y="2047910"/>
            <a:ext cx="1276318" cy="124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409565" y="3400426"/>
            <a:ext cx="1276318" cy="124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409565" y="4762467"/>
            <a:ext cx="1276318" cy="124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5143371" y="3133732"/>
            <a:ext cx="1904952" cy="466713"/>
          </a:xfrm>
          <a:prstGeom prst="roundRect">
            <a:avLst>
              <a:gd name="adj" fmla="val 48980"/>
            </a:avLst>
          </a:prstGeom>
          <a:solidFill>
            <a:srgbClr val="FFF1A0"/>
          </a:solidFill>
          <a:ln w="7620">
            <a:solidFill>
              <a:srgbClr val="F9F6C7"/>
            </a:solidFill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5143371" y="3705218"/>
            <a:ext cx="1904952" cy="466713"/>
          </a:xfrm>
          <a:prstGeom prst="roundRect">
            <a:avLst>
              <a:gd name="adj" fmla="val 48980"/>
            </a:avLst>
          </a:prstGeom>
          <a:solidFill>
            <a:srgbClr val="FFF1A0"/>
          </a:solidFill>
          <a:ln w="7620">
            <a:solidFill>
              <a:srgbClr val="F9F6C7"/>
            </a:solidFill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5143371" y="4276704"/>
            <a:ext cx="1904952" cy="466713"/>
          </a:xfrm>
          <a:prstGeom prst="roundRect">
            <a:avLst>
              <a:gd name="adj" fmla="val 48980"/>
            </a:avLst>
          </a:prstGeom>
          <a:solidFill>
            <a:srgbClr val="FFF1A0"/>
          </a:solidFill>
          <a:ln w="7620">
            <a:solidFill>
              <a:srgbClr val="F9F6C7"/>
            </a:solidFill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5143371" y="4848190"/>
            <a:ext cx="1904952" cy="466713"/>
          </a:xfrm>
          <a:prstGeom prst="roundRect">
            <a:avLst>
              <a:gd name="adj" fmla="val 48980"/>
            </a:avLst>
          </a:prstGeom>
          <a:solidFill>
            <a:srgbClr val="FFF1A0"/>
          </a:solidFill>
          <a:ln w="7620">
            <a:solidFill>
              <a:srgbClr val="F9F6C7"/>
            </a:solidFill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1028674" y="1104958"/>
            <a:ext cx="1552536" cy="523862"/>
          </a:xfrm>
          <a:prstGeom prst="roundRect">
            <a:avLst>
              <a:gd name="adj" fmla="val 16364"/>
            </a:avLst>
          </a:prstGeom>
          <a:solidFill>
            <a:srgbClr val="078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6886403" y="1104958"/>
            <a:ext cx="1571586" cy="523862"/>
          </a:xfrm>
          <a:prstGeom prst="roundRect">
            <a:avLst>
              <a:gd name="adj" fmla="val 16364"/>
            </a:avLst>
          </a:prstGeom>
          <a:solidFill>
            <a:srgbClr val="078D48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2" name="Original circular seedling-photo competitor illustration."/>
          <p:cNvPicPr/>
          <p:nvPr/>
        </p:nvPicPr>
        <p:blipFill>
          <a:blip r:embed="rId9"/>
          <a:stretch>
            <a:fillRect/>
          </a:stretch>
        </p:blipFill>
        <p:spPr>
          <a:xfrm>
            <a:off x="348580" y="1988601"/>
            <a:ext cx="1407812" cy="1375886"/>
          </a:xfrm>
          <a:prstGeom prst="rect">
            <a:avLst/>
          </a:prstGeom>
        </p:spPr>
      </p:pic>
      <p:pic>
        <p:nvPicPr>
          <p:cNvPr id="43" name="Original circular greenhouse-photo competitor illustration."/>
          <p:cNvPicPr/>
          <p:nvPr/>
        </p:nvPicPr>
        <p:blipFill>
          <a:blip r:embed="rId12"/>
          <a:stretch>
            <a:fillRect/>
          </a:stretch>
        </p:blipFill>
        <p:spPr>
          <a:xfrm>
            <a:off x="348580" y="3340781"/>
            <a:ext cx="1407812" cy="1376558"/>
          </a:xfrm>
          <a:prstGeom prst="rect">
            <a:avLst/>
          </a:prstGeom>
        </p:spPr>
      </p:pic>
      <p:pic>
        <p:nvPicPr>
          <p:cNvPr id="44" name="Original circular port-photo competitor illustration."/>
          <p:cNvPicPr/>
          <p:nvPr/>
        </p:nvPicPr>
        <p:blipFill>
          <a:blip r:embed="rId15"/>
          <a:stretch>
            <a:fillRect/>
          </a:stretch>
        </p:blipFill>
        <p:spPr>
          <a:xfrm>
            <a:off x="349252" y="4703158"/>
            <a:ext cx="1406468" cy="1375886"/>
          </a:xfrm>
          <a:prstGeom prst="rect">
            <a:avLst/>
          </a:prstGeom>
        </p:spPr>
      </p:pic>
      <p:pic>
        <p:nvPicPr>
          <p:cNvPr id="45" name="Original film-roll-photo scenic right edge illustration; no card or title/text inside."/>
          <p:cNvPicPr/>
          <p:nvPr/>
        </p:nvPicPr>
        <p:blipFill>
          <a:blip r:embed="rId24"/>
          <a:stretch>
            <a:fillRect/>
          </a:stretch>
        </p:blipFill>
        <p:spPr>
          <a:xfrm>
            <a:off x="10062372" y="2023376"/>
            <a:ext cx="1858406" cy="934870"/>
          </a:xfrm>
          <a:prstGeom prst="rect">
            <a:avLst/>
          </a:prstGeom>
        </p:spPr>
      </p:pic>
      <p:pic>
        <p:nvPicPr>
          <p:cNvPr id="46" name="Original cost-photo scenic right edge illustration; no card or title/text inside."/>
          <p:cNvPicPr/>
          <p:nvPr/>
        </p:nvPicPr>
        <p:blipFill>
          <a:blip r:embed="rId26"/>
          <a:stretch>
            <a:fillRect/>
          </a:stretch>
        </p:blipFill>
        <p:spPr>
          <a:xfrm>
            <a:off x="10055981" y="2999476"/>
            <a:ext cx="1871189" cy="1087642"/>
          </a:xfrm>
          <a:prstGeom prst="rect">
            <a:avLst/>
          </a:prstGeom>
        </p:spPr>
      </p:pic>
      <p:pic>
        <p:nvPicPr>
          <p:cNvPr id="47" name="Original service-photo scenic right edge illustration; no card or title/text inside."/>
          <p:cNvPicPr/>
          <p:nvPr/>
        </p:nvPicPr>
        <p:blipFill>
          <a:blip r:embed="rId28"/>
          <a:stretch>
            <a:fillRect/>
          </a:stretch>
        </p:blipFill>
        <p:spPr>
          <a:xfrm>
            <a:off x="10067977" y="4097754"/>
            <a:ext cx="1847197" cy="1053208"/>
          </a:xfrm>
          <a:prstGeom prst="rect">
            <a:avLst/>
          </a:prstGeom>
        </p:spPr>
      </p:pic>
      <p:pic>
        <p:nvPicPr>
          <p:cNvPr id="48" name="Original channel-photo scenic right edge illustration; no card or title/text inside."/>
          <p:cNvPicPr/>
          <p:nvPr/>
        </p:nvPicPr>
        <p:blipFill>
          <a:blip r:embed="rId30"/>
          <a:stretch>
            <a:fillRect/>
          </a:stretch>
        </p:blipFill>
        <p:spPr>
          <a:xfrm>
            <a:off x="10064189" y="5143457"/>
            <a:ext cx="1854773" cy="1000100"/>
          </a:xfrm>
          <a:prstGeom prst="rect">
            <a:avLst/>
          </a:prstGeom>
        </p:spPr>
      </p:pic>
      <p:sp>
        <p:nvSpPr>
          <p:cNvPr id="49" name="Line 49"/>
          <p:cNvSpPr/>
          <p:nvPr/>
        </p:nvSpPr>
        <p:spPr>
          <a:xfrm>
            <a:off x="2609785" y="1171631"/>
            <a:ext cx="123822" cy="466713"/>
          </a:xfrm>
          <a:prstGeom prst="line">
            <a:avLst/>
          </a:prstGeom>
          <a:noFill/>
          <a:ln w="10160">
            <a:solidFill>
              <a:srgbClr val="378E63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8496088" y="1171631"/>
            <a:ext cx="123822" cy="466713"/>
          </a:xfrm>
          <a:prstGeom prst="line">
            <a:avLst/>
          </a:prstGeom>
          <a:noFill/>
          <a:ln w="10160">
            <a:solidFill>
              <a:srgbClr val="378E63"/>
            </a:solidFill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1952576" y="2714643"/>
            <a:ext cx="114297" cy="114297"/>
          </a:xfrm>
          <a:prstGeom prst="ellipse">
            <a:avLst/>
          </a:prstGeom>
          <a:solidFill>
            <a:srgbClr val="0C9C35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Ellipse 52"/>
          <p:cNvSpPr/>
          <p:nvPr/>
        </p:nvSpPr>
        <p:spPr>
          <a:xfrm>
            <a:off x="1952576" y="2952762"/>
            <a:ext cx="114297" cy="114297"/>
          </a:xfrm>
          <a:prstGeom prst="ellipse">
            <a:avLst/>
          </a:prstGeom>
          <a:solidFill>
            <a:srgbClr val="0C9C35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Ellipse 53"/>
          <p:cNvSpPr/>
          <p:nvPr/>
        </p:nvSpPr>
        <p:spPr>
          <a:xfrm>
            <a:off x="1952576" y="4067159"/>
            <a:ext cx="114297" cy="114297"/>
          </a:xfrm>
          <a:prstGeom prst="ellipse">
            <a:avLst/>
          </a:prstGeom>
          <a:solidFill>
            <a:srgbClr val="0C9C35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1952576" y="4305278"/>
            <a:ext cx="114297" cy="114297"/>
          </a:xfrm>
          <a:prstGeom prst="ellipse">
            <a:avLst/>
          </a:prstGeom>
          <a:solidFill>
            <a:srgbClr val="0C9C35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1952576" y="5429200"/>
            <a:ext cx="114297" cy="114297"/>
          </a:xfrm>
          <a:prstGeom prst="ellipse">
            <a:avLst/>
          </a:prstGeom>
          <a:solidFill>
            <a:srgbClr val="0C9C35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1952576" y="5667319"/>
            <a:ext cx="114297" cy="114297"/>
          </a:xfrm>
          <a:prstGeom prst="ellipse">
            <a:avLst/>
          </a:prstGeom>
          <a:solidFill>
            <a:srgbClr val="0C9C35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8600860" y="2181256"/>
            <a:ext cx="1666833" cy="333367"/>
          </a:xfrm>
          <a:prstGeom prst="roundRect">
            <a:avLst>
              <a:gd name="adj" fmla="val 48571"/>
            </a:avLst>
          </a:prstGeom>
          <a:solidFill>
            <a:srgbClr val="159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8600860" y="3171831"/>
            <a:ext cx="1666833" cy="333367"/>
          </a:xfrm>
          <a:prstGeom prst="roundRect">
            <a:avLst>
              <a:gd name="adj" fmla="val 48571"/>
            </a:avLst>
          </a:prstGeom>
          <a:solidFill>
            <a:srgbClr val="159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8600860" y="4267179"/>
            <a:ext cx="1666833" cy="333367"/>
          </a:xfrm>
          <a:prstGeom prst="roundRect">
            <a:avLst>
              <a:gd name="adj" fmla="val 48571"/>
            </a:avLst>
          </a:prstGeom>
          <a:solidFill>
            <a:srgbClr val="159B5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8600860" y="5324428"/>
            <a:ext cx="1666833" cy="333367"/>
          </a:xfrm>
          <a:prstGeom prst="roundRect">
            <a:avLst>
              <a:gd name="adj" fmla="val 48571"/>
            </a:avLst>
          </a:prstGeom>
          <a:solidFill>
            <a:srgbClr val="159B5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1" name="Original central sprout/ribbon/leaf assembly and oval mulched-farm platform, blank central hole; all text/cards/pills remov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3959786" y="1773630"/>
            <a:ext cx="4200373" cy="4710880"/>
          </a:xfrm>
          <a:prstGeom prst="rect">
            <a:avLst/>
          </a:prstGeom>
        </p:spPr>
      </p:pic>
      <p:pic>
        <p:nvPicPr>
          <p:cNvPr id="62" name="Original circular green leaf badge with attached lower leaf."/>
          <p:cNvPicPr/>
          <p:nvPr/>
        </p:nvPicPr>
        <p:blipFill>
          <a:blip r:embed="rId5"/>
          <a:stretch>
            <a:fillRect/>
          </a:stretch>
        </p:blipFill>
        <p:spPr>
          <a:xfrm>
            <a:off x="460698" y="946969"/>
            <a:ext cx="935181" cy="906513"/>
          </a:xfrm>
          <a:prstGeom prst="rect">
            <a:avLst/>
          </a:prstGeom>
        </p:spPr>
      </p:pic>
      <p:pic>
        <p:nvPicPr>
          <p:cNvPr id="63" name="Original circular target/arrow badge with attached lower leaf."/>
          <p:cNvPicPr/>
          <p:nvPr/>
        </p:nvPicPr>
        <p:blipFill>
          <a:blip r:embed="rId6"/>
          <a:stretch>
            <a:fillRect/>
          </a:stretch>
        </p:blipFill>
        <p:spPr>
          <a:xfrm>
            <a:off x="6311257" y="946969"/>
            <a:ext cx="921697" cy="906513"/>
          </a:xfrm>
          <a:prstGeom prst="rect">
            <a:avLst/>
          </a:prstGeom>
        </p:spPr>
      </p:pic>
      <p:pic>
        <p:nvPicPr>
          <p:cNvPr id="64" name="Small original leaf attached to first header edge."/>
          <p:cNvPicPr/>
          <p:nvPr/>
        </p:nvPicPr>
        <p:blipFill>
          <a:blip r:embed="rId7"/>
          <a:stretch>
            <a:fillRect/>
          </a:stretch>
        </p:blipFill>
        <p:spPr>
          <a:xfrm>
            <a:off x="5750575" y="885305"/>
            <a:ext cx="309555" cy="391682"/>
          </a:xfrm>
          <a:prstGeom prst="rect">
            <a:avLst/>
          </a:prstGeom>
        </p:spPr>
      </p:pic>
      <p:pic>
        <p:nvPicPr>
          <p:cNvPr id="65" name="Small original leaf attached to second header edge."/>
          <p:cNvPicPr/>
          <p:nvPr/>
        </p:nvPicPr>
        <p:blipFill>
          <a:blip r:embed="rId8"/>
          <a:stretch>
            <a:fillRect/>
          </a:stretch>
        </p:blipFill>
        <p:spPr>
          <a:xfrm>
            <a:off x="11608503" y="1095433"/>
            <a:ext cx="442502" cy="485763"/>
          </a:xfrm>
          <a:prstGeom prst="rect">
            <a:avLst/>
          </a:prstGeom>
        </p:spPr>
      </p:pic>
      <p:pic>
        <p:nvPicPr>
          <p:cNvPr id="66" name="Original white house competitor heading pictogram."/>
          <p:cNvPicPr/>
          <p:nvPr/>
        </p:nvPicPr>
        <p:blipFill>
          <a:blip r:embed="rId10"/>
          <a:stretch>
            <a:fillRect/>
          </a:stretch>
        </p:blipFill>
        <p:spPr>
          <a:xfrm>
            <a:off x="1847345" y="2189060"/>
            <a:ext cx="343809" cy="336808"/>
          </a:xfrm>
          <a:prstGeom prst="rect">
            <a:avLst/>
          </a:prstGeom>
        </p:spPr>
      </p:pic>
      <p:pic>
        <p:nvPicPr>
          <p:cNvPr id="67" name="Original small leaf ornament on competitor card edge."/>
          <p:cNvPicPr/>
          <p:nvPr/>
        </p:nvPicPr>
        <p:blipFill>
          <a:blip r:embed="rId11"/>
          <a:stretch>
            <a:fillRect/>
          </a:stretch>
        </p:blipFill>
        <p:spPr>
          <a:xfrm>
            <a:off x="3764564" y="2724475"/>
            <a:ext cx="319276" cy="475624"/>
          </a:xfrm>
          <a:prstGeom prst="rect">
            <a:avLst/>
          </a:prstGeom>
        </p:spPr>
      </p:pic>
      <p:pic>
        <p:nvPicPr>
          <p:cNvPr id="68" name="Original white globe competitor heading pictogram."/>
          <p:cNvPicPr/>
          <p:nvPr/>
        </p:nvPicPr>
        <p:blipFill>
          <a:blip r:embed="rId13"/>
          <a:stretch>
            <a:fillRect/>
          </a:stretch>
        </p:blipFill>
        <p:spPr>
          <a:xfrm>
            <a:off x="1847111" y="3543531"/>
            <a:ext cx="344277" cy="332899"/>
          </a:xfrm>
          <a:prstGeom prst="rect">
            <a:avLst/>
          </a:prstGeom>
        </p:spPr>
      </p:pic>
      <p:pic>
        <p:nvPicPr>
          <p:cNvPr id="69" name="Original small leaf ornament on competitor card edge."/>
          <p:cNvPicPr/>
          <p:nvPr/>
        </p:nvPicPr>
        <p:blipFill>
          <a:blip r:embed="rId14"/>
          <a:stretch>
            <a:fillRect/>
          </a:stretch>
        </p:blipFill>
        <p:spPr>
          <a:xfrm>
            <a:off x="3776247" y="4086603"/>
            <a:ext cx="295910" cy="456400"/>
          </a:xfrm>
          <a:prstGeom prst="rect">
            <a:avLst/>
          </a:prstGeom>
        </p:spPr>
      </p:pic>
      <p:pic>
        <p:nvPicPr>
          <p:cNvPr id="70" name="Original white trend competitor heading pictogram."/>
          <p:cNvPicPr/>
          <p:nvPr/>
        </p:nvPicPr>
        <p:blipFill>
          <a:blip r:embed="rId16"/>
          <a:stretch>
            <a:fillRect/>
          </a:stretch>
        </p:blipFill>
        <p:spPr>
          <a:xfrm>
            <a:off x="1840828" y="4903359"/>
            <a:ext cx="356843" cy="337325"/>
          </a:xfrm>
          <a:prstGeom prst="rect">
            <a:avLst/>
          </a:prstGeom>
        </p:spPr>
      </p:pic>
      <p:pic>
        <p:nvPicPr>
          <p:cNvPr id="71" name="Original small leaf ornament on competitor card edge."/>
          <p:cNvPicPr/>
          <p:nvPr/>
        </p:nvPicPr>
        <p:blipFill>
          <a:blip r:embed="rId17"/>
          <a:stretch>
            <a:fillRect/>
          </a:stretch>
        </p:blipFill>
        <p:spPr>
          <a:xfrm>
            <a:off x="3776247" y="5455219"/>
            <a:ext cx="295910" cy="443250"/>
          </a:xfrm>
          <a:prstGeom prst="rect">
            <a:avLst/>
          </a:prstGeom>
        </p:spPr>
      </p:pic>
      <p:pic>
        <p:nvPicPr>
          <p:cNvPr id="72" name="Original dark green brush title swash; all gold characters and shadows removed."/>
          <p:cNvPicPr/>
          <p:nvPr/>
        </p:nvPicPr>
        <p:blipFill>
          <a:blip r:embed="rId19"/>
          <a:stretch>
            <a:fillRect/>
          </a:stretch>
        </p:blipFill>
        <p:spPr>
          <a:xfrm>
            <a:off x="4626174" y="2243718"/>
            <a:ext cx="2891781" cy="827553"/>
          </a:xfrm>
          <a:prstGeom prst="rect">
            <a:avLst/>
          </a:prstGeom>
        </p:spPr>
      </p:pic>
      <p:pic>
        <p:nvPicPr>
          <p:cNvPr id="73" name="Original source circular green/gold right-leaf badge."/>
          <p:cNvPicPr/>
          <p:nvPr/>
        </p:nvPicPr>
        <p:blipFill>
          <a:blip r:embed="rId25"/>
          <a:stretch>
            <a:fillRect/>
          </a:stretch>
        </p:blipFill>
        <p:spPr>
          <a:xfrm>
            <a:off x="8120177" y="2108278"/>
            <a:ext cx="808970" cy="793641"/>
          </a:xfrm>
          <a:prstGeom prst="rect">
            <a:avLst/>
          </a:prstGeom>
        </p:spPr>
      </p:pic>
      <p:pic>
        <p:nvPicPr>
          <p:cNvPr id="74" name="Original source circular green/gold right-database badge."/>
          <p:cNvPicPr/>
          <p:nvPr/>
        </p:nvPicPr>
        <p:blipFill>
          <a:blip r:embed="rId27"/>
          <a:stretch>
            <a:fillRect/>
          </a:stretch>
        </p:blipFill>
        <p:spPr>
          <a:xfrm>
            <a:off x="8120492" y="3099532"/>
            <a:ext cx="799490" cy="792283"/>
          </a:xfrm>
          <a:prstGeom prst="rect">
            <a:avLst/>
          </a:prstGeom>
        </p:spPr>
      </p:pic>
      <p:pic>
        <p:nvPicPr>
          <p:cNvPr id="75" name="Original source circular green/gold right-person badge."/>
          <p:cNvPicPr/>
          <p:nvPr/>
        </p:nvPicPr>
        <p:blipFill>
          <a:blip r:embed="rId29"/>
          <a:stretch>
            <a:fillRect/>
          </a:stretch>
        </p:blipFill>
        <p:spPr>
          <a:xfrm>
            <a:off x="8120177" y="4194879"/>
            <a:ext cx="808970" cy="792283"/>
          </a:xfrm>
          <a:prstGeom prst="rect">
            <a:avLst/>
          </a:prstGeom>
        </p:spPr>
      </p:pic>
      <p:pic>
        <p:nvPicPr>
          <p:cNvPr id="76" name="Original source circular green/gold right-network badge."/>
          <p:cNvPicPr/>
          <p:nvPr/>
        </p:nvPicPr>
        <p:blipFill>
          <a:blip r:embed="rId31"/>
          <a:stretch>
            <a:fillRect/>
          </a:stretch>
        </p:blipFill>
        <p:spPr>
          <a:xfrm>
            <a:off x="8120492" y="5252128"/>
            <a:ext cx="808340" cy="792283"/>
          </a:xfrm>
          <a:prstGeom prst="rect">
            <a:avLst/>
          </a:prstGeom>
        </p:spPr>
      </p:pic>
      <p:pic>
        <p:nvPicPr>
          <p:cNvPr id="77" name="Original source center-leaf pictogram from center capsule."/>
          <p:cNvPicPr/>
          <p:nvPr/>
        </p:nvPicPr>
        <p:blipFill>
          <a:blip r:embed="rId20"/>
          <a:stretch>
            <a:fillRect/>
          </a:stretch>
        </p:blipFill>
        <p:spPr>
          <a:xfrm>
            <a:off x="5263476" y="3194362"/>
            <a:ext cx="369375" cy="354978"/>
          </a:xfrm>
          <a:prstGeom prst="rect">
            <a:avLst/>
          </a:prstGeom>
        </p:spPr>
      </p:pic>
      <p:pic>
        <p:nvPicPr>
          <p:cNvPr id="78" name="Original source center-database pictogram from center capsule."/>
          <p:cNvPicPr/>
          <p:nvPr/>
        </p:nvPicPr>
        <p:blipFill>
          <a:blip r:embed="rId21"/>
          <a:stretch>
            <a:fillRect/>
          </a:stretch>
        </p:blipFill>
        <p:spPr>
          <a:xfrm>
            <a:off x="5254115" y="3768961"/>
            <a:ext cx="388099" cy="348753"/>
          </a:xfrm>
          <a:prstGeom prst="rect">
            <a:avLst/>
          </a:prstGeom>
        </p:spPr>
      </p:pic>
      <p:pic>
        <p:nvPicPr>
          <p:cNvPr id="79" name="Original source center-gear pictogram from center capsule."/>
          <p:cNvPicPr/>
          <p:nvPr/>
        </p:nvPicPr>
        <p:blipFill>
          <a:blip r:embed="rId22"/>
          <a:stretch>
            <a:fillRect/>
          </a:stretch>
        </p:blipFill>
        <p:spPr>
          <a:xfrm>
            <a:off x="5263980" y="4342208"/>
            <a:ext cx="368367" cy="345229"/>
          </a:xfrm>
          <a:prstGeom prst="rect">
            <a:avLst/>
          </a:prstGeom>
        </p:spPr>
      </p:pic>
      <p:pic>
        <p:nvPicPr>
          <p:cNvPr id="80" name="Original source center-team pictogram from center capsule."/>
          <p:cNvPicPr/>
          <p:nvPr/>
        </p:nvPicPr>
        <p:blipFill>
          <a:blip r:embed="rId23"/>
          <a:stretch>
            <a:fillRect/>
          </a:stretch>
        </p:blipFill>
        <p:spPr>
          <a:xfrm>
            <a:off x="5264952" y="4906580"/>
            <a:ext cx="366423" cy="359456"/>
          </a:xfrm>
          <a:prstGeom prst="rect">
            <a:avLst/>
          </a:prstGeom>
        </p:spPr>
      </p:pic>
      <p:sp>
        <p:nvSpPr>
          <p:cNvPr id="81" name="TextBox 81"/>
          <p:cNvSpPr txBox="1"/>
          <p:nvPr/>
        </p:nvSpPr>
        <p:spPr>
          <a:xfrm>
            <a:off x="866753" y="276304"/>
            <a:ext cx="1819230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00" b="1" i="1">
                <a:solidFill>
                  <a:srgbClr val="FFF0AE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  <a:endParaRPr lang="zh-CN" sz="2900"/>
          </a:p>
        </p:txBody>
      </p:sp>
      <p:sp>
        <p:nvSpPr>
          <p:cNvPr id="82" name="TextBox 82"/>
          <p:cNvSpPr txBox="1"/>
          <p:nvPr/>
        </p:nvSpPr>
        <p:spPr>
          <a:xfrm>
            <a:off x="3457489" y="304878"/>
            <a:ext cx="1323942" cy="4286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>
                <a:solidFill>
                  <a:srgbClr val="005E35"/>
                </a:solidFill>
                <a:latin typeface="KaiTi"/>
                <a:ea typeface="KaiTi"/>
                <a:cs typeface="KaiTi"/>
              </a:rPr>
              <a:t>竞争分析</a:t>
            </a:r>
            <a:endParaRPr lang="zh-CN" sz="2500"/>
          </a:p>
        </p:txBody>
      </p:sp>
      <p:sp>
        <p:nvSpPr>
          <p:cNvPr id="83" name="TextBox 83"/>
          <p:cNvSpPr txBox="1"/>
          <p:nvPr/>
        </p:nvSpPr>
        <p:spPr>
          <a:xfrm>
            <a:off x="1419190" y="1190681"/>
            <a:ext cx="1133447" cy="33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竞争格局</a:t>
            </a:r>
            <a:endParaRPr lang="zh-CN" sz="2000"/>
          </a:p>
        </p:txBody>
      </p:sp>
      <p:sp>
        <p:nvSpPr>
          <p:cNvPr id="84" name="TextBox 84"/>
          <p:cNvSpPr txBox="1"/>
          <p:nvPr/>
        </p:nvSpPr>
        <p:spPr>
          <a:xfrm>
            <a:off x="7286443" y="1190681"/>
            <a:ext cx="1142971" cy="33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突围方向</a:t>
            </a:r>
            <a:endParaRPr lang="zh-CN" sz="2000"/>
          </a:p>
        </p:txBody>
      </p:sp>
      <p:sp>
        <p:nvSpPr>
          <p:cNvPr id="85" name="TextBox 85"/>
          <p:cNvSpPr txBox="1"/>
          <p:nvPr/>
        </p:nvSpPr>
        <p:spPr>
          <a:xfrm>
            <a:off x="2781230" y="1143057"/>
            <a:ext cx="3219370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泰国市场呈现“本土主导、国际渗透、</a:t>
            </a:r>
            <a:endParaRPr lang="zh-CN" sz="1250"/>
          </a:p>
        </p:txBody>
      </p:sp>
      <p:sp>
        <p:nvSpPr>
          <p:cNvPr id="86" name="TextBox 86"/>
          <p:cNvSpPr txBox="1"/>
          <p:nvPr/>
        </p:nvSpPr>
        <p:spPr>
          <a:xfrm>
            <a:off x="2781230" y="1381176"/>
            <a:ext cx="314317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中资崛起”的三元竞争结构。</a:t>
            </a:r>
            <a:endParaRPr lang="zh-CN" sz="1250"/>
          </a:p>
        </p:txBody>
      </p:sp>
      <p:sp>
        <p:nvSpPr>
          <p:cNvPr id="87" name="TextBox 87"/>
          <p:cNvSpPr txBox="1"/>
          <p:nvPr/>
        </p:nvSpPr>
        <p:spPr>
          <a:xfrm>
            <a:off x="8696108" y="1143057"/>
            <a:ext cx="3076498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以本地化适配、成本优势与农技服务，</a:t>
            </a:r>
            <a:endParaRPr lang="zh-CN" sz="1250"/>
          </a:p>
        </p:txBody>
      </p:sp>
      <p:sp>
        <p:nvSpPr>
          <p:cNvPr id="88" name="TextBox 88"/>
          <p:cNvSpPr txBox="1"/>
          <p:nvPr/>
        </p:nvSpPr>
        <p:spPr>
          <a:xfrm>
            <a:off x="8696108" y="1381176"/>
            <a:ext cx="3047924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构建差异化竞争力。</a:t>
            </a:r>
            <a:endParaRPr lang="zh-CN" sz="1250"/>
          </a:p>
        </p:txBody>
      </p:sp>
      <p:sp>
        <p:nvSpPr>
          <p:cNvPr id="89" name="TextBox 89"/>
          <p:cNvSpPr txBox="1"/>
          <p:nvPr/>
        </p:nvSpPr>
        <p:spPr>
          <a:xfrm>
            <a:off x="2343091" y="2181256"/>
            <a:ext cx="1362041" cy="3238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本土企业</a:t>
            </a:r>
            <a:endParaRPr lang="zh-CN" sz="1950"/>
          </a:p>
        </p:txBody>
      </p:sp>
      <p:sp>
        <p:nvSpPr>
          <p:cNvPr id="90" name="TextBox 90"/>
          <p:cNvSpPr txBox="1"/>
          <p:nvPr/>
        </p:nvSpPr>
        <p:spPr>
          <a:xfrm>
            <a:off x="2162121" y="2628920"/>
            <a:ext cx="1885903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分销网络成熟</a:t>
            </a:r>
            <a:endParaRPr lang="zh-CN" sz="1250"/>
          </a:p>
        </p:txBody>
      </p:sp>
      <p:sp>
        <p:nvSpPr>
          <p:cNvPr id="91" name="TextBox 91"/>
          <p:cNvSpPr txBox="1"/>
          <p:nvPr/>
        </p:nvSpPr>
        <p:spPr>
          <a:xfrm>
            <a:off x="2162121" y="2867039"/>
            <a:ext cx="1885903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生物降解技术偏弱</a:t>
            </a:r>
            <a:endParaRPr lang="zh-CN" sz="1250"/>
          </a:p>
        </p:txBody>
      </p:sp>
      <p:sp>
        <p:nvSpPr>
          <p:cNvPr id="92" name="TextBox 92"/>
          <p:cNvSpPr txBox="1"/>
          <p:nvPr/>
        </p:nvSpPr>
        <p:spPr>
          <a:xfrm>
            <a:off x="2343091" y="3533772"/>
            <a:ext cx="1362041" cy="3238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国际巨头</a:t>
            </a:r>
            <a:endParaRPr lang="zh-CN" sz="1950"/>
          </a:p>
        </p:txBody>
      </p:sp>
      <p:sp>
        <p:nvSpPr>
          <p:cNvPr id="93" name="TextBox 93"/>
          <p:cNvSpPr txBox="1"/>
          <p:nvPr/>
        </p:nvSpPr>
        <p:spPr>
          <a:xfrm>
            <a:off x="2162121" y="3981436"/>
            <a:ext cx="1885903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品牌与研发能力强</a:t>
            </a:r>
            <a:endParaRPr lang="zh-CN" sz="1250"/>
          </a:p>
        </p:txBody>
      </p:sp>
      <p:sp>
        <p:nvSpPr>
          <p:cNvPr id="94" name="TextBox 94"/>
          <p:cNvSpPr txBox="1"/>
          <p:nvPr/>
        </p:nvSpPr>
        <p:spPr>
          <a:xfrm>
            <a:off x="2162121" y="4219555"/>
            <a:ext cx="1885903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定价高、本地化不足</a:t>
            </a:r>
            <a:endParaRPr lang="zh-CN" sz="1250"/>
          </a:p>
        </p:txBody>
      </p:sp>
      <p:sp>
        <p:nvSpPr>
          <p:cNvPr id="95" name="TextBox 95"/>
          <p:cNvSpPr txBox="1"/>
          <p:nvPr/>
        </p:nvSpPr>
        <p:spPr>
          <a:xfrm>
            <a:off x="2343091" y="4895813"/>
            <a:ext cx="1362041" cy="3238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中国企业</a:t>
            </a:r>
            <a:endParaRPr lang="zh-CN" sz="1950"/>
          </a:p>
        </p:txBody>
      </p:sp>
      <p:sp>
        <p:nvSpPr>
          <p:cNvPr id="96" name="TextBox 96"/>
          <p:cNvSpPr txBox="1"/>
          <p:nvPr/>
        </p:nvSpPr>
        <p:spPr>
          <a:xfrm>
            <a:off x="2162121" y="5343477"/>
            <a:ext cx="1885903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产业链完整、成本可控</a:t>
            </a:r>
            <a:endParaRPr lang="zh-CN" sz="1250"/>
          </a:p>
        </p:txBody>
      </p:sp>
      <p:sp>
        <p:nvSpPr>
          <p:cNvPr id="97" name="TextBox 97"/>
          <p:cNvSpPr txBox="1"/>
          <p:nvPr/>
        </p:nvSpPr>
        <p:spPr>
          <a:xfrm>
            <a:off x="2162121" y="5581596"/>
            <a:ext cx="1885903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品牌认知待提升</a:t>
            </a:r>
            <a:endParaRPr lang="zh-CN" sz="1250"/>
          </a:p>
        </p:txBody>
      </p:sp>
      <p:sp>
        <p:nvSpPr>
          <p:cNvPr id="98" name="TextBox 98"/>
          <p:cNvSpPr txBox="1"/>
          <p:nvPr/>
        </p:nvSpPr>
        <p:spPr>
          <a:xfrm>
            <a:off x="5190995" y="2371751"/>
            <a:ext cx="1857329" cy="561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FFF0AA"/>
                </a:solidFill>
                <a:latin typeface="KaiTi"/>
                <a:ea typeface="KaiTi"/>
                <a:cs typeface="KaiTi"/>
              </a:rPr>
              <a:t>项目定位</a:t>
            </a:r>
            <a:endParaRPr lang="zh-CN" sz="3600"/>
          </a:p>
        </p:txBody>
      </p:sp>
      <p:sp>
        <p:nvSpPr>
          <p:cNvPr id="99" name="TextBox 99"/>
          <p:cNvSpPr txBox="1"/>
          <p:nvPr/>
        </p:nvSpPr>
        <p:spPr>
          <a:xfrm>
            <a:off x="5714857" y="3209930"/>
            <a:ext cx="1304892" cy="304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70" b="1">
                <a:solidFill>
                  <a:srgbClr val="005E35"/>
                </a:solidFill>
                <a:latin typeface="Microsoft YaHei"/>
                <a:ea typeface="Microsoft YaHei"/>
                <a:cs typeface="Microsoft YaHei"/>
              </a:rPr>
              <a:t>定制化降解周期</a:t>
            </a:r>
            <a:endParaRPr lang="zh-CN" sz="1470"/>
          </a:p>
        </p:txBody>
      </p:sp>
      <p:sp>
        <p:nvSpPr>
          <p:cNvPr id="100" name="TextBox 100"/>
          <p:cNvSpPr txBox="1"/>
          <p:nvPr/>
        </p:nvSpPr>
        <p:spPr>
          <a:xfrm>
            <a:off x="5714857" y="3781416"/>
            <a:ext cx="1304892" cy="304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05E35"/>
                </a:solidFill>
                <a:latin typeface="Microsoft YaHei"/>
                <a:ea typeface="Microsoft YaHei"/>
                <a:cs typeface="Microsoft YaHei"/>
              </a:rPr>
              <a:t>高性价比方案</a:t>
            </a:r>
            <a:endParaRPr lang="zh-CN" sz="1500"/>
          </a:p>
        </p:txBody>
      </p:sp>
      <p:sp>
        <p:nvSpPr>
          <p:cNvPr id="101" name="TextBox 101"/>
          <p:cNvSpPr txBox="1"/>
          <p:nvPr/>
        </p:nvSpPr>
        <p:spPr>
          <a:xfrm>
            <a:off x="5714857" y="4352902"/>
            <a:ext cx="1304892" cy="304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05E35"/>
                </a:solidFill>
                <a:latin typeface="Microsoft YaHei"/>
                <a:ea typeface="Microsoft YaHei"/>
                <a:cs typeface="Microsoft YaHei"/>
              </a:rPr>
              <a:t>产品+技术服务</a:t>
            </a:r>
            <a:endParaRPr lang="zh-CN" sz="1500"/>
          </a:p>
        </p:txBody>
      </p:sp>
      <p:sp>
        <p:nvSpPr>
          <p:cNvPr id="102" name="TextBox 102"/>
          <p:cNvSpPr txBox="1"/>
          <p:nvPr/>
        </p:nvSpPr>
        <p:spPr>
          <a:xfrm>
            <a:off x="5714857" y="4924388"/>
            <a:ext cx="1304892" cy="304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005E35"/>
                </a:solidFill>
                <a:latin typeface="Microsoft YaHei"/>
                <a:ea typeface="Microsoft YaHei"/>
                <a:cs typeface="Microsoft YaHei"/>
              </a:rPr>
              <a:t>B端示范先行</a:t>
            </a:r>
            <a:endParaRPr lang="zh-CN" sz="1500"/>
          </a:p>
        </p:txBody>
      </p:sp>
      <p:sp>
        <p:nvSpPr>
          <p:cNvPr id="103" name="TextBox 103"/>
          <p:cNvSpPr txBox="1"/>
          <p:nvPr/>
        </p:nvSpPr>
        <p:spPr>
          <a:xfrm>
            <a:off x="9010425" y="2190781"/>
            <a:ext cx="1266793" cy="2857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技术差异化</a:t>
            </a:r>
            <a:endParaRPr lang="zh-CN" sz="1650"/>
          </a:p>
        </p:txBody>
      </p:sp>
      <p:sp>
        <p:nvSpPr>
          <p:cNvPr id="104" name="TextBox 104"/>
          <p:cNvSpPr txBox="1"/>
          <p:nvPr/>
        </p:nvSpPr>
        <p:spPr>
          <a:xfrm>
            <a:off x="9000900" y="2562247"/>
            <a:ext cx="274313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60/90/120天降解周期可调</a:t>
            </a:r>
            <a:endParaRPr lang="zh-CN" sz="1200"/>
          </a:p>
        </p:txBody>
      </p:sp>
      <p:sp>
        <p:nvSpPr>
          <p:cNvPr id="105" name="TextBox 105"/>
          <p:cNvSpPr txBox="1"/>
          <p:nvPr/>
        </p:nvSpPr>
        <p:spPr>
          <a:xfrm>
            <a:off x="9010425" y="3181356"/>
            <a:ext cx="1266793" cy="2857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成本差异化</a:t>
            </a:r>
            <a:endParaRPr lang="zh-CN" sz="1650"/>
          </a:p>
        </p:txBody>
      </p:sp>
      <p:sp>
        <p:nvSpPr>
          <p:cNvPr id="106" name="TextBox 106"/>
          <p:cNvSpPr txBox="1"/>
          <p:nvPr/>
        </p:nvSpPr>
        <p:spPr>
          <a:xfrm>
            <a:off x="9000900" y="3552822"/>
            <a:ext cx="274313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约为传统PE膜1.3倍，</a:t>
            </a:r>
            <a:endParaRPr lang="zh-CN" sz="1200"/>
          </a:p>
        </p:txBody>
      </p:sp>
      <p:sp>
        <p:nvSpPr>
          <p:cNvPr id="107" name="TextBox 107"/>
          <p:cNvSpPr txBox="1"/>
          <p:nvPr/>
        </p:nvSpPr>
        <p:spPr>
          <a:xfrm>
            <a:off x="9000900" y="3762367"/>
            <a:ext cx="274313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RCEP进一步降本</a:t>
            </a:r>
            <a:endParaRPr lang="zh-CN" sz="1200"/>
          </a:p>
        </p:txBody>
      </p:sp>
      <p:sp>
        <p:nvSpPr>
          <p:cNvPr id="108" name="TextBox 108"/>
          <p:cNvSpPr txBox="1"/>
          <p:nvPr/>
        </p:nvSpPr>
        <p:spPr>
          <a:xfrm>
            <a:off x="9010425" y="4276704"/>
            <a:ext cx="1266793" cy="2857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服务差异化</a:t>
            </a:r>
            <a:endParaRPr lang="zh-CN" sz="1650"/>
          </a:p>
        </p:txBody>
      </p:sp>
      <p:sp>
        <p:nvSpPr>
          <p:cNvPr id="109" name="TextBox 109"/>
          <p:cNvSpPr txBox="1"/>
          <p:nvPr/>
        </p:nvSpPr>
        <p:spPr>
          <a:xfrm>
            <a:off x="9000900" y="4648170"/>
            <a:ext cx="274313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示范田+培训+跟踪监测</a:t>
            </a:r>
            <a:endParaRPr lang="zh-CN" sz="1200"/>
          </a:p>
        </p:txBody>
      </p:sp>
      <p:sp>
        <p:nvSpPr>
          <p:cNvPr id="110" name="TextBox 110"/>
          <p:cNvSpPr txBox="1"/>
          <p:nvPr/>
        </p:nvSpPr>
        <p:spPr>
          <a:xfrm>
            <a:off x="9010425" y="5333952"/>
            <a:ext cx="1266793" cy="2857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渠道差异化</a:t>
            </a:r>
            <a:endParaRPr lang="zh-CN" sz="1650"/>
          </a:p>
        </p:txBody>
      </p:sp>
      <p:sp>
        <p:nvSpPr>
          <p:cNvPr id="111" name="TextBox 111"/>
          <p:cNvSpPr txBox="1"/>
          <p:nvPr/>
        </p:nvSpPr>
        <p:spPr>
          <a:xfrm>
            <a:off x="9000900" y="5705418"/>
            <a:ext cx="2838379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0B4539"/>
                </a:solidFill>
                <a:latin typeface="Microsoft YaHei"/>
                <a:ea typeface="Microsoft YaHei"/>
                <a:cs typeface="Microsoft YaHei"/>
              </a:rPr>
              <a:t>合作社/大农场优先，再向C端渗透</a:t>
            </a:r>
            <a:endParaRPr lang="zh-CN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mint fibrous paper over same agricultural mountain/palm and mulched crop-row panorama."/>
          <p:cNvPicPr/>
          <p:nvPr/>
        </p:nvPicPr>
        <p:blipFill>
          <a:blip r:embed="rId2"/>
          <a:stretch>
            <a:fillRect/>
          </a:stretch>
        </p:blipFill>
        <p:spPr>
          <a:xfrm>
            <a:off x="6746" y="0"/>
            <a:ext cx="12178203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618044" y="276994"/>
            <a:ext cx="2282816" cy="50623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65" y="0"/>
                </a:moveTo>
                <a:lnTo>
                  <a:pt x="21600" y="0"/>
                </a:lnTo>
                <a:lnTo>
                  <a:pt x="2042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DF8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2929515" y="276994"/>
            <a:ext cx="2024925" cy="49668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325" y="0"/>
                </a:moveTo>
                <a:lnTo>
                  <a:pt x="21600" y="0"/>
                </a:lnTo>
                <a:lnTo>
                  <a:pt x="2027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8F5E9"/>
          </a:solidFill>
          <a:ln w="8890">
            <a:solidFill>
              <a:srgbClr val="87C7A6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65219" y="1031565"/>
            <a:ext cx="4126262" cy="2473847"/>
          </a:xfrm>
          <a:prstGeom prst="roundRect">
            <a:avLst>
              <a:gd name="adj" fmla="val 8880"/>
            </a:avLst>
          </a:prstGeom>
          <a:solidFill>
            <a:srgbClr val="F9FFFA"/>
          </a:solidFill>
          <a:ln w="8255">
            <a:solidFill>
              <a:srgbClr val="B4E3C3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65219" y="3658237"/>
            <a:ext cx="4126262" cy="2578914"/>
          </a:xfrm>
          <a:prstGeom prst="roundRect">
            <a:avLst>
              <a:gd name="adj" fmla="val 8519"/>
            </a:avLst>
          </a:prstGeom>
          <a:solidFill>
            <a:srgbClr val="F9FFFA"/>
          </a:solidFill>
          <a:ln w="8255">
            <a:solidFill>
              <a:srgbClr val="B4E3C3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039584" y="1041117"/>
            <a:ext cx="3791958" cy="2426089"/>
          </a:xfrm>
          <a:prstGeom prst="roundRect">
            <a:avLst>
              <a:gd name="adj" fmla="val 9055"/>
            </a:avLst>
          </a:prstGeom>
          <a:solidFill>
            <a:srgbClr val="F9FFFA"/>
          </a:solidFill>
          <a:ln w="8255">
            <a:solidFill>
              <a:srgbClr val="B4E3C3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039584" y="3658237"/>
            <a:ext cx="3791958" cy="2578914"/>
          </a:xfrm>
          <a:prstGeom prst="roundRect">
            <a:avLst>
              <a:gd name="adj" fmla="val 8519"/>
            </a:avLst>
          </a:prstGeom>
          <a:solidFill>
            <a:srgbClr val="F9FFFA"/>
          </a:solidFill>
          <a:ln w="8255">
            <a:solidFill>
              <a:srgbClr val="B4E3C3"/>
            </a:solidFill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694456" y="276994"/>
            <a:ext cx="2120440" cy="49668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362" y="0"/>
                </a:moveTo>
                <a:lnTo>
                  <a:pt x="21600" y="0"/>
                </a:lnTo>
                <a:lnTo>
                  <a:pt x="202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4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474771" y="1041117"/>
            <a:ext cx="4107159" cy="66860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05" y="0"/>
                </a:moveTo>
                <a:lnTo>
                  <a:pt x="20495" y="0"/>
                </a:lnTo>
                <a:cubicBezTo>
                  <a:pt x="21198" y="0"/>
                  <a:pt x="21600" y="2777"/>
                  <a:pt x="21600" y="678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6789"/>
                </a:lnTo>
                <a:cubicBezTo>
                  <a:pt x="0" y="2777"/>
                  <a:pt x="402" y="0"/>
                  <a:pt x="1105" y="0"/>
                </a:cubicBezTo>
                <a:close/>
              </a:path>
            </a:pathLst>
          </a:custGeom>
          <a:solidFill>
            <a:srgbClr val="E2F5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474771" y="3667788"/>
            <a:ext cx="4107159" cy="66860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05" y="0"/>
                </a:moveTo>
                <a:lnTo>
                  <a:pt x="20495" y="0"/>
                </a:lnTo>
                <a:cubicBezTo>
                  <a:pt x="21198" y="0"/>
                  <a:pt x="21600" y="2777"/>
                  <a:pt x="21600" y="678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6789"/>
                </a:lnTo>
                <a:cubicBezTo>
                  <a:pt x="0" y="2777"/>
                  <a:pt x="402" y="0"/>
                  <a:pt x="1105" y="0"/>
                </a:cubicBezTo>
                <a:close/>
              </a:path>
            </a:pathLst>
          </a:custGeom>
          <a:solidFill>
            <a:srgbClr val="E2F5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ath 12"/>
          <p:cNvSpPr/>
          <p:nvPr/>
        </p:nvSpPr>
        <p:spPr>
          <a:xfrm>
            <a:off x="8049136" y="1050669"/>
            <a:ext cx="3772855" cy="66860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03" y="0"/>
                </a:moveTo>
                <a:lnTo>
                  <a:pt x="20397" y="0"/>
                </a:lnTo>
                <a:cubicBezTo>
                  <a:pt x="21163" y="0"/>
                  <a:pt x="21600" y="2777"/>
                  <a:pt x="21600" y="678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6789"/>
                </a:lnTo>
                <a:cubicBezTo>
                  <a:pt x="0" y="2777"/>
                  <a:pt x="437" y="0"/>
                  <a:pt x="1203" y="0"/>
                </a:cubicBezTo>
                <a:close/>
              </a:path>
            </a:pathLst>
          </a:custGeom>
          <a:solidFill>
            <a:srgbClr val="E2F5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th 13"/>
          <p:cNvSpPr/>
          <p:nvPr/>
        </p:nvSpPr>
        <p:spPr>
          <a:xfrm>
            <a:off x="8049136" y="3667788"/>
            <a:ext cx="3772855" cy="66860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03" y="0"/>
                </a:moveTo>
                <a:lnTo>
                  <a:pt x="20397" y="0"/>
                </a:lnTo>
                <a:cubicBezTo>
                  <a:pt x="21163" y="0"/>
                  <a:pt x="21600" y="2777"/>
                  <a:pt x="21600" y="6789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6789"/>
                </a:lnTo>
                <a:cubicBezTo>
                  <a:pt x="0" y="2777"/>
                  <a:pt x="437" y="0"/>
                  <a:pt x="1203" y="0"/>
                </a:cubicBezTo>
                <a:close/>
              </a:path>
            </a:pathLst>
          </a:custGeom>
          <a:solidFill>
            <a:srgbClr val="E2F5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3101442" y="458474"/>
            <a:ext cx="124170" cy="124170"/>
          </a:xfrm>
          <a:prstGeom prst="ellipse">
            <a:avLst/>
          </a:prstGeom>
          <a:solidFill>
            <a:srgbClr val="009A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2671623" y="2349677"/>
            <a:ext cx="1069772" cy="1069772"/>
          </a:xfrm>
          <a:prstGeom prst="ellipse">
            <a:avLst/>
          </a:prstGeom>
          <a:solidFill>
            <a:srgbClr val="A3C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ath 16"/>
          <p:cNvSpPr/>
          <p:nvPr/>
        </p:nvSpPr>
        <p:spPr>
          <a:xfrm>
            <a:off x="2671623" y="2349677"/>
            <a:ext cx="1069772" cy="10697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cubicBezTo>
                  <a:pt x="16414" y="0"/>
                  <a:pt x="21092" y="4302"/>
                  <a:pt x="21562" y="9896"/>
                </a:cubicBezTo>
                <a:cubicBezTo>
                  <a:pt x="22032" y="15491"/>
                  <a:pt x="18137" y="20512"/>
                  <a:pt x="12601" y="21449"/>
                </a:cubicBezTo>
                <a:cubicBezTo>
                  <a:pt x="7065" y="22385"/>
                  <a:pt x="1736" y="18924"/>
                  <a:pt x="339" y="13486"/>
                </a:cubicBezTo>
                <a:lnTo>
                  <a:pt x="3888" y="12575"/>
                </a:lnTo>
                <a:cubicBezTo>
                  <a:pt x="4811" y="16168"/>
                  <a:pt x="8332" y="18454"/>
                  <a:pt x="11990" y="17836"/>
                </a:cubicBezTo>
                <a:cubicBezTo>
                  <a:pt x="15648" y="17217"/>
                  <a:pt x="18221" y="13899"/>
                  <a:pt x="17911" y="10203"/>
                </a:cubicBezTo>
                <a:cubicBezTo>
                  <a:pt x="17600" y="6506"/>
                  <a:pt x="14509" y="3664"/>
                  <a:pt x="10800" y="3664"/>
                </a:cubicBezTo>
                <a:close/>
              </a:path>
            </a:pathLst>
          </a:custGeom>
          <a:solidFill>
            <a:srgbClr val="009B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2853102" y="2531156"/>
            <a:ext cx="706813" cy="706813"/>
          </a:xfrm>
          <a:prstGeom prst="ellipse">
            <a:avLst/>
          </a:prstGeom>
          <a:solidFill>
            <a:srgbClr val="F9F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2709829" y="4479669"/>
            <a:ext cx="114618" cy="95515"/>
          </a:xfrm>
          <a:prstGeom prst="roundRect">
            <a:avLst>
              <a:gd name="adj" fmla="val 20000"/>
            </a:avLst>
          </a:prstGeom>
          <a:solidFill>
            <a:srgbClr val="04995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3550364" y="4479669"/>
            <a:ext cx="114618" cy="95515"/>
          </a:xfrm>
          <a:prstGeom prst="roundRect">
            <a:avLst>
              <a:gd name="adj" fmla="val 20000"/>
            </a:avLst>
          </a:prstGeom>
          <a:solidFill>
            <a:srgbClr val="F7A6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4056596" y="4479669"/>
            <a:ext cx="114618" cy="95515"/>
          </a:xfrm>
          <a:prstGeom prst="roundRect">
            <a:avLst>
              <a:gd name="adj" fmla="val 20000"/>
            </a:avLst>
          </a:prstGeom>
          <a:solidFill>
            <a:srgbClr val="42C9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019208" y="5463476"/>
            <a:ext cx="171928" cy="410716"/>
          </a:xfrm>
          <a:prstGeom prst="rect">
            <a:avLst/>
          </a:prstGeom>
          <a:solidFill>
            <a:srgbClr val="32A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210239" y="5539889"/>
            <a:ext cx="181479" cy="143273"/>
          </a:xfrm>
          <a:prstGeom prst="rect">
            <a:avLst/>
          </a:prstGeom>
          <a:solidFill>
            <a:srgbClr val="FFCC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210239" y="5683162"/>
            <a:ext cx="181479" cy="191031"/>
          </a:xfrm>
          <a:prstGeom prst="rect">
            <a:avLst/>
          </a:prstGeom>
          <a:solidFill>
            <a:srgbClr val="51C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735573" y="5377513"/>
            <a:ext cx="171928" cy="496680"/>
          </a:xfrm>
          <a:prstGeom prst="rect">
            <a:avLst/>
          </a:prstGeom>
          <a:solidFill>
            <a:srgbClr val="32A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926604" y="5444373"/>
            <a:ext cx="181479" cy="181479"/>
          </a:xfrm>
          <a:prstGeom prst="rect">
            <a:avLst/>
          </a:prstGeom>
          <a:solidFill>
            <a:srgbClr val="FFCC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926604" y="5625852"/>
            <a:ext cx="181479" cy="248340"/>
          </a:xfrm>
          <a:prstGeom prst="rect">
            <a:avLst/>
          </a:prstGeom>
          <a:solidFill>
            <a:srgbClr val="51C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2451938" y="5291549"/>
            <a:ext cx="171928" cy="582643"/>
          </a:xfrm>
          <a:prstGeom prst="rect">
            <a:avLst/>
          </a:prstGeom>
          <a:solidFill>
            <a:srgbClr val="32A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2642969" y="5396616"/>
            <a:ext cx="181479" cy="200582"/>
          </a:xfrm>
          <a:prstGeom prst="rect">
            <a:avLst/>
          </a:prstGeom>
          <a:solidFill>
            <a:srgbClr val="FFCC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2642969" y="5597198"/>
            <a:ext cx="181479" cy="276994"/>
          </a:xfrm>
          <a:prstGeom prst="rect">
            <a:avLst/>
          </a:prstGeom>
          <a:solidFill>
            <a:srgbClr val="51C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3168303" y="5157827"/>
            <a:ext cx="171928" cy="716365"/>
          </a:xfrm>
          <a:prstGeom prst="rect">
            <a:avLst/>
          </a:prstGeom>
          <a:solidFill>
            <a:srgbClr val="32A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3359334" y="5281997"/>
            <a:ext cx="181479" cy="248340"/>
          </a:xfrm>
          <a:prstGeom prst="rect">
            <a:avLst/>
          </a:prstGeom>
          <a:solidFill>
            <a:srgbClr val="FFCC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3359334" y="5530337"/>
            <a:ext cx="181479" cy="343855"/>
          </a:xfrm>
          <a:prstGeom prst="rect">
            <a:avLst/>
          </a:prstGeom>
          <a:solidFill>
            <a:srgbClr val="51C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3884668" y="4985900"/>
            <a:ext cx="171928" cy="888292"/>
          </a:xfrm>
          <a:prstGeom prst="rect">
            <a:avLst/>
          </a:prstGeom>
          <a:solidFill>
            <a:srgbClr val="32A5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4075699" y="5157827"/>
            <a:ext cx="181479" cy="305649"/>
          </a:xfrm>
          <a:prstGeom prst="rect">
            <a:avLst/>
          </a:prstGeom>
          <a:solidFill>
            <a:srgbClr val="FFCC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4075699" y="5463476"/>
            <a:ext cx="181479" cy="410716"/>
          </a:xfrm>
          <a:prstGeom prst="rect">
            <a:avLst/>
          </a:prstGeom>
          <a:solidFill>
            <a:srgbClr val="51C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2222701" y="1929409"/>
            <a:ext cx="0" cy="1451833"/>
          </a:xfrm>
          <a:prstGeom prst="line">
            <a:avLst/>
          </a:prstGeom>
          <a:noFill/>
          <a:ln w="7620">
            <a:solidFill>
              <a:srgbClr val="C4E7D1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837729" y="5874192"/>
            <a:ext cx="3600928" cy="0"/>
          </a:xfrm>
          <a:prstGeom prst="line">
            <a:avLst/>
          </a:prstGeom>
          <a:noFill/>
          <a:ln w="8890">
            <a:solidFill>
              <a:srgbClr val="8BBE9C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837729" y="5005003"/>
            <a:ext cx="0" cy="869189"/>
          </a:xfrm>
          <a:prstGeom prst="line">
            <a:avLst/>
          </a:prstGeom>
          <a:noFill/>
          <a:ln w="7620">
            <a:solidFill>
              <a:srgbClr val="B7DAC0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837729" y="5005003"/>
            <a:ext cx="3600928" cy="0"/>
          </a:xfrm>
          <a:prstGeom prst="line">
            <a:avLst/>
          </a:prstGeom>
          <a:noFill/>
          <a:ln w="4445">
            <a:solidFill>
              <a:srgbClr val="E7F3E8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837729" y="5291549"/>
            <a:ext cx="3600928" cy="0"/>
          </a:xfrm>
          <a:prstGeom prst="line">
            <a:avLst/>
          </a:prstGeom>
          <a:noFill/>
          <a:ln w="4445">
            <a:solidFill>
              <a:srgbClr val="E7F3E8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837729" y="5578095"/>
            <a:ext cx="3600928" cy="0"/>
          </a:xfrm>
          <a:prstGeom prst="line">
            <a:avLst/>
          </a:prstGeom>
          <a:noFill/>
          <a:ln w="4445">
            <a:solidFill>
              <a:srgbClr val="E7F3E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9309938" y="2015373"/>
            <a:ext cx="0" cy="1270354"/>
          </a:xfrm>
          <a:prstGeom prst="line">
            <a:avLst/>
          </a:prstGeom>
          <a:noFill/>
          <a:ln w="5080">
            <a:solidFill>
              <a:srgbClr val="D9EEE1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10503880" y="2015373"/>
            <a:ext cx="0" cy="1270354"/>
          </a:xfrm>
          <a:prstGeom prst="line">
            <a:avLst/>
          </a:prstGeom>
          <a:noFill/>
          <a:ln w="5080">
            <a:solidFill>
              <a:srgbClr val="D9EEE1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9911685" y="4556081"/>
            <a:ext cx="0" cy="1499591"/>
          </a:xfrm>
          <a:prstGeom prst="line">
            <a:avLst/>
          </a:prstGeom>
          <a:noFill/>
          <a:ln w="7620">
            <a:solidFill>
              <a:srgbClr val="C7E5D4"/>
            </a:solidFill>
          </a:ln>
        </p:spPr>
        <p:txBody>
          <a:bodyPr/>
          <a:lstStyle/>
          <a:p/>
        </p:txBody>
      </p:sp>
      <p:pic>
        <p:nvPicPr>
          <p:cNvPr id="45" name="Source trade-trend-arrow isolated ornament; ordinary text/chart structure removed. Layout-only edit repacked objects into disjoint rectangular regions."/>
          <p:cNvPicPr/>
          <p:nvPr/>
        </p:nvPicPr>
        <p:blipFill>
          <a:blip r:embed="rId11"/>
          <a:stretch>
            <a:fillRect/>
          </a:stretch>
        </p:blipFill>
        <p:spPr>
          <a:xfrm>
            <a:off x="958550" y="4635167"/>
            <a:ext cx="3263771" cy="785900"/>
          </a:xfrm>
          <a:prstGeom prst="rect">
            <a:avLst/>
          </a:prstGeom>
        </p:spPr>
      </p:pic>
      <p:pic>
        <p:nvPicPr>
          <p:cNvPr id="46" name="Source sea-map-pin isolated ornament; ordinary text/chart structure removed. Layout-only edit repacked objects into disjoint rectangular regions."/>
          <p:cNvPicPr/>
          <p:nvPr/>
        </p:nvPicPr>
        <p:blipFill>
          <a:blip r:embed="rId4"/>
          <a:stretch>
            <a:fillRect/>
          </a:stretch>
        </p:blipFill>
        <p:spPr>
          <a:xfrm>
            <a:off x="5110572" y="4192056"/>
            <a:ext cx="2954359" cy="2299231"/>
          </a:xfrm>
          <a:prstGeom prst="rect">
            <a:avLst/>
          </a:prstGeom>
        </p:spPr>
      </p:pic>
      <p:pic>
        <p:nvPicPr>
          <p:cNvPr id="47" name="Source globe-temples isolated ornament; ordinary text/chart structure removed. Layout-only edit repacked objects into disjoint rectangular regions."/>
          <p:cNvPicPr/>
          <p:nvPr/>
        </p:nvPicPr>
        <p:blipFill>
          <a:blip r:embed="rId3"/>
          <a:stretch>
            <a:fillRect/>
          </a:stretch>
        </p:blipFill>
        <p:spPr>
          <a:xfrm>
            <a:off x="3845989" y="840145"/>
            <a:ext cx="4432857" cy="3983574"/>
          </a:xfrm>
          <a:prstGeom prst="rect">
            <a:avLst/>
          </a:prstGeom>
        </p:spPr>
      </p:pic>
      <p:pic>
        <p:nvPicPr>
          <p:cNvPr id="48" name="Source demand-arrow-sprouts isolated ornament; ordinary text/chart structure removed. Layout-only edit repacked objects into disjoint rectangular regions."/>
          <p:cNvPicPr/>
          <p:nvPr/>
        </p:nvPicPr>
        <p:blipFill>
          <a:blip r:embed="rId10"/>
          <a:stretch>
            <a:fillRect/>
          </a:stretch>
        </p:blipFill>
        <p:spPr>
          <a:xfrm>
            <a:off x="407910" y="2249158"/>
            <a:ext cx="1719276" cy="1266260"/>
          </a:xfrm>
          <a:prstGeom prst="rect">
            <a:avLst/>
          </a:prstGeom>
        </p:spPr>
      </p:pic>
      <p:sp>
        <p:nvSpPr>
          <p:cNvPr id="49" name="Rect 49"/>
          <p:cNvSpPr/>
          <p:nvPr/>
        </p:nvSpPr>
        <p:spPr>
          <a:xfrm>
            <a:off x="4686997" y="2951423"/>
            <a:ext cx="2750841" cy="286546"/>
          </a:xfrm>
          <a:prstGeom prst="rect">
            <a:avLst/>
          </a:prstGeom>
          <a:solidFill>
            <a:srgbClr val="25A45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0" name="Source growth-badge complete original circular pictogram/photo. No ordinary text inside asset."/>
          <p:cNvPicPr/>
          <p:nvPr/>
        </p:nvPicPr>
        <p:blipFill>
          <a:blip r:embed="rId6"/>
          <a:stretch>
            <a:fillRect/>
          </a:stretch>
        </p:blipFill>
        <p:spPr>
          <a:xfrm>
            <a:off x="360789" y="937174"/>
            <a:ext cx="877467" cy="862798"/>
          </a:xfrm>
          <a:prstGeom prst="rect">
            <a:avLst/>
          </a:prstGeom>
        </p:spPr>
      </p:pic>
      <p:pic>
        <p:nvPicPr>
          <p:cNvPr id="51" name="Source trade-badge complete original circular pictogram/photo. No ordinary text inside asset."/>
          <p:cNvPicPr/>
          <p:nvPr/>
        </p:nvPicPr>
        <p:blipFill>
          <a:blip r:embed="rId7"/>
          <a:stretch>
            <a:fillRect/>
          </a:stretch>
        </p:blipFill>
        <p:spPr>
          <a:xfrm>
            <a:off x="372144" y="3564562"/>
            <a:ext cx="864309" cy="858804"/>
          </a:xfrm>
          <a:prstGeom prst="rect">
            <a:avLst/>
          </a:prstGeom>
        </p:spPr>
      </p:pic>
      <p:pic>
        <p:nvPicPr>
          <p:cNvPr id="52" name="Source policy-badge complete original circular pictogram/photo. No ordinary text inside asset."/>
          <p:cNvPicPr/>
          <p:nvPr/>
        </p:nvPicPr>
        <p:blipFill>
          <a:blip r:embed="rId8"/>
          <a:stretch>
            <a:fillRect/>
          </a:stretch>
        </p:blipFill>
        <p:spPr>
          <a:xfrm>
            <a:off x="7803000" y="948042"/>
            <a:ext cx="864781" cy="848204"/>
          </a:xfrm>
          <a:prstGeom prst="rect">
            <a:avLst/>
          </a:prstGeom>
        </p:spPr>
      </p:pic>
      <p:pic>
        <p:nvPicPr>
          <p:cNvPr id="53" name="Source chain-badge complete original circular pictogram/photo. No ordinary text inside asset."/>
          <p:cNvPicPr/>
          <p:nvPr/>
        </p:nvPicPr>
        <p:blipFill>
          <a:blip r:embed="rId9"/>
          <a:stretch>
            <a:fillRect/>
          </a:stretch>
        </p:blipFill>
        <p:spPr>
          <a:xfrm>
            <a:off x="8030914" y="3569763"/>
            <a:ext cx="876979" cy="853781"/>
          </a:xfrm>
          <a:prstGeom prst="rect">
            <a:avLst/>
          </a:prstGeom>
        </p:spPr>
      </p:pic>
      <p:pic>
        <p:nvPicPr>
          <p:cNvPr id="54" name="Source gavel complete original circular pictogram/photo. No ordinary text inside asset."/>
          <p:cNvPicPr/>
          <p:nvPr/>
        </p:nvPicPr>
        <p:blipFill>
          <a:blip r:embed="rId12"/>
          <a:stretch>
            <a:fillRect/>
          </a:stretch>
        </p:blipFill>
        <p:spPr>
          <a:xfrm>
            <a:off x="8306432" y="1818356"/>
            <a:ext cx="813070" cy="770916"/>
          </a:xfrm>
          <a:prstGeom prst="rect">
            <a:avLst/>
          </a:prstGeom>
        </p:spPr>
      </p:pic>
      <p:pic>
        <p:nvPicPr>
          <p:cNvPr id="55" name="Source coins complete original circular pictogram/photo. No ordinary text inside asset."/>
          <p:cNvPicPr/>
          <p:nvPr/>
        </p:nvPicPr>
        <p:blipFill>
          <a:blip r:embed="rId13"/>
          <a:stretch>
            <a:fillRect/>
          </a:stretch>
        </p:blipFill>
        <p:spPr>
          <a:xfrm>
            <a:off x="9499970" y="1815736"/>
            <a:ext cx="813877" cy="773640"/>
          </a:xfrm>
          <a:prstGeom prst="rect">
            <a:avLst/>
          </a:prstGeom>
        </p:spPr>
      </p:pic>
      <p:pic>
        <p:nvPicPr>
          <p:cNvPr id="56" name="Source leaf complete original circular pictogram/photo. No ordinary text inside asset."/>
          <p:cNvPicPr/>
          <p:nvPr/>
        </p:nvPicPr>
        <p:blipFill>
          <a:blip r:embed="rId14"/>
          <a:stretch>
            <a:fillRect/>
          </a:stretch>
        </p:blipFill>
        <p:spPr>
          <a:xfrm>
            <a:off x="10697353" y="1830648"/>
            <a:ext cx="806995" cy="783850"/>
          </a:xfrm>
          <a:prstGeom prst="rect">
            <a:avLst/>
          </a:prstGeom>
        </p:spPr>
      </p:pic>
      <p:pic>
        <p:nvPicPr>
          <p:cNvPr id="57" name="Source cassava complete original circular pictogram/photo. No ordinary text inside asset."/>
          <p:cNvPicPr/>
          <p:nvPr/>
        </p:nvPicPr>
        <p:blipFill>
          <a:blip r:embed="rId15"/>
          <a:stretch>
            <a:fillRect/>
          </a:stretch>
        </p:blipFill>
        <p:spPr>
          <a:xfrm>
            <a:off x="8488029" y="4370186"/>
            <a:ext cx="1032521" cy="917217"/>
          </a:xfrm>
          <a:prstGeom prst="rect">
            <a:avLst/>
          </a:prstGeom>
        </p:spPr>
      </p:pic>
      <p:pic>
        <p:nvPicPr>
          <p:cNvPr id="58" name="Source factory complete original circular pictogram/photo. No ordinary text inside asset."/>
          <p:cNvPicPr/>
          <p:nvPr/>
        </p:nvPicPr>
        <p:blipFill>
          <a:blip r:embed="rId16"/>
          <a:stretch>
            <a:fillRect/>
          </a:stretch>
        </p:blipFill>
        <p:spPr>
          <a:xfrm>
            <a:off x="10361045" y="4360094"/>
            <a:ext cx="970050" cy="938303"/>
          </a:xfrm>
          <a:prstGeom prst="rect">
            <a:avLst/>
          </a:prstGeom>
        </p:spPr>
      </p:pic>
      <p:pic>
        <p:nvPicPr>
          <p:cNvPr id="59" name="Original Thai red/white/blue/white/red flag; same selected sheet rekeyed without despill to preserve red identity stripes."/>
          <p:cNvPicPr/>
          <p:nvPr/>
        </p:nvPicPr>
        <p:blipFill>
          <a:blip r:embed="rId5"/>
          <a:stretch>
            <a:fillRect/>
          </a:stretch>
        </p:blipFill>
        <p:spPr>
          <a:xfrm>
            <a:off x="4618911" y="2747113"/>
            <a:ext cx="575541" cy="48483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885487" y="276994"/>
            <a:ext cx="1795688" cy="487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50" b="1" i="1">
                <a:solidFill>
                  <a:srgbClr val="FBE5A1"/>
                </a:solidFill>
                <a:latin typeface="Microsoft YaHei"/>
                <a:ea typeface="Microsoft YaHei"/>
                <a:cs typeface="Microsoft YaHei"/>
              </a:rPr>
              <a:t>市场筛选</a:t>
            </a:r>
            <a:endParaRPr lang="zh-CN" sz="2850"/>
          </a:p>
        </p:txBody>
      </p:sp>
      <p:sp>
        <p:nvSpPr>
          <p:cNvPr id="61" name="TextBox 61"/>
          <p:cNvSpPr txBox="1"/>
          <p:nvPr/>
        </p:nvSpPr>
        <p:spPr>
          <a:xfrm>
            <a:off x="3426194" y="334304"/>
            <a:ext cx="1346766" cy="3725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>
                <a:solidFill>
                  <a:srgbClr val="005D34"/>
                </a:solidFill>
                <a:latin typeface="KaiTi"/>
                <a:ea typeface="KaiTi"/>
                <a:cs typeface="KaiTi"/>
              </a:rPr>
              <a:t>选定市场</a:t>
            </a:r>
            <a:endParaRPr lang="zh-CN" sz="2200"/>
          </a:p>
        </p:txBody>
      </p:sp>
      <p:sp>
        <p:nvSpPr>
          <p:cNvPr id="62" name="TextBox 62"/>
          <p:cNvSpPr txBox="1"/>
          <p:nvPr/>
        </p:nvSpPr>
        <p:spPr>
          <a:xfrm>
            <a:off x="4839821" y="1394524"/>
            <a:ext cx="2655326" cy="15091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900" b="1">
                <a:solidFill>
                  <a:srgbClr val="005D34"/>
                </a:solidFill>
                <a:latin typeface="KaiTi"/>
                <a:ea typeface="KaiTi"/>
                <a:cs typeface="KaiTi"/>
              </a:rPr>
              <a:t>泰国</a:t>
            </a:r>
            <a:endParaRPr lang="zh-CN" sz="9900"/>
          </a:p>
        </p:txBody>
      </p:sp>
      <p:sp>
        <p:nvSpPr>
          <p:cNvPr id="63" name="TextBox 63"/>
          <p:cNvSpPr txBox="1"/>
          <p:nvPr/>
        </p:nvSpPr>
        <p:spPr>
          <a:xfrm>
            <a:off x="5412913" y="2951423"/>
            <a:ext cx="1929409" cy="2865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单一核心深耕市场</a:t>
            </a:r>
            <a:endParaRPr lang="zh-CN" sz="1550"/>
          </a:p>
        </p:txBody>
      </p:sp>
      <p:sp>
        <p:nvSpPr>
          <p:cNvPr id="64" name="TextBox 64"/>
          <p:cNvSpPr txBox="1"/>
          <p:nvPr/>
        </p:nvSpPr>
        <p:spPr>
          <a:xfrm>
            <a:off x="1286651" y="1107978"/>
            <a:ext cx="2454744" cy="2960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2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市场需求旺盛</a:t>
            </a:r>
            <a:endParaRPr lang="zh-CN" sz="1920"/>
          </a:p>
        </p:txBody>
      </p:sp>
      <p:sp>
        <p:nvSpPr>
          <p:cNvPr id="65" name="TextBox 65"/>
          <p:cNvSpPr txBox="1"/>
          <p:nvPr/>
        </p:nvSpPr>
        <p:spPr>
          <a:xfrm>
            <a:off x="1286651" y="3734649"/>
            <a:ext cx="2674429" cy="2960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2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贸易条件优越</a:t>
            </a:r>
            <a:endParaRPr lang="zh-CN" sz="1920"/>
          </a:p>
        </p:txBody>
      </p:sp>
      <p:sp>
        <p:nvSpPr>
          <p:cNvPr id="66" name="TextBox 66"/>
          <p:cNvSpPr txBox="1"/>
          <p:nvPr/>
        </p:nvSpPr>
        <p:spPr>
          <a:xfrm>
            <a:off x="8746398" y="1117529"/>
            <a:ext cx="2722187" cy="2960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2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政策驱动明确</a:t>
            </a:r>
            <a:endParaRPr lang="zh-CN" sz="1920"/>
          </a:p>
        </p:txBody>
      </p:sp>
      <p:sp>
        <p:nvSpPr>
          <p:cNvPr id="67" name="TextBox 67"/>
          <p:cNvSpPr txBox="1"/>
          <p:nvPr/>
        </p:nvSpPr>
        <p:spPr>
          <a:xfrm>
            <a:off x="8927877" y="3734649"/>
            <a:ext cx="2769944" cy="29609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2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产业协同效应强</a:t>
            </a:r>
            <a:endParaRPr lang="zh-CN" sz="1920"/>
          </a:p>
        </p:txBody>
      </p:sp>
      <p:sp>
        <p:nvSpPr>
          <p:cNvPr id="68" name="TextBox 68"/>
          <p:cNvSpPr txBox="1"/>
          <p:nvPr/>
        </p:nvSpPr>
        <p:spPr>
          <a:xfrm>
            <a:off x="1286651" y="1413627"/>
            <a:ext cx="3008733" cy="2483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需求刚性强，市场缺口显著</a:t>
            </a:r>
            <a:endParaRPr lang="zh-CN" sz="1350"/>
          </a:p>
        </p:txBody>
      </p:sp>
      <p:sp>
        <p:nvSpPr>
          <p:cNvPr id="69" name="TextBox 69"/>
          <p:cNvSpPr txBox="1"/>
          <p:nvPr/>
        </p:nvSpPr>
        <p:spPr>
          <a:xfrm>
            <a:off x="1286651" y="4040298"/>
            <a:ext cx="3247521" cy="238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中泰经贸持续增长，RCEP关税减免显著</a:t>
            </a:r>
            <a:endParaRPr lang="zh-CN" sz="1310"/>
          </a:p>
        </p:txBody>
      </p:sp>
      <p:sp>
        <p:nvSpPr>
          <p:cNvPr id="70" name="TextBox 70"/>
          <p:cNvSpPr txBox="1"/>
          <p:nvPr/>
        </p:nvSpPr>
        <p:spPr>
          <a:xfrm>
            <a:off x="8755949" y="1413627"/>
            <a:ext cx="2980078" cy="257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全面禁塑+税收激励，释放市场潜力</a:t>
            </a:r>
            <a:endParaRPr lang="zh-CN" sz="1310"/>
          </a:p>
        </p:txBody>
      </p:sp>
      <p:sp>
        <p:nvSpPr>
          <p:cNvPr id="71" name="TextBox 71"/>
          <p:cNvSpPr txBox="1"/>
          <p:nvPr/>
        </p:nvSpPr>
        <p:spPr>
          <a:xfrm>
            <a:off x="8927877" y="4040298"/>
            <a:ext cx="2817702" cy="238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1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本地PLA资源丰富，产业链协同空间大</a:t>
            </a:r>
            <a:endParaRPr lang="zh-CN" sz="1210"/>
          </a:p>
        </p:txBody>
      </p:sp>
      <p:sp>
        <p:nvSpPr>
          <p:cNvPr id="72" name="TextBox 72"/>
          <p:cNvSpPr txBox="1"/>
          <p:nvPr/>
        </p:nvSpPr>
        <p:spPr>
          <a:xfrm>
            <a:off x="770868" y="1881652"/>
            <a:ext cx="1384972" cy="4202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地膜亩均使用量</a:t>
            </a:r>
            <a:endParaRPr lang="zh-CN" sz="1150"/>
          </a:p>
          <a:p>
            <a:pPr algn="l"/>
            <a:r>
              <a:rPr lang="zh-CN" sz="11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区域最高</a:t>
            </a:r>
            <a:endParaRPr lang="zh-CN" sz="1150"/>
          </a:p>
        </p:txBody>
      </p:sp>
      <p:sp>
        <p:nvSpPr>
          <p:cNvPr id="73" name="TextBox 73"/>
          <p:cNvSpPr txBox="1"/>
          <p:nvPr/>
        </p:nvSpPr>
        <p:spPr>
          <a:xfrm>
            <a:off x="770868" y="2301919"/>
            <a:ext cx="1041117" cy="4680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00" b="1">
                <a:solidFill>
                  <a:srgbClr val="F29B00"/>
                </a:solidFill>
                <a:latin typeface="Microsoft YaHei"/>
                <a:ea typeface="Microsoft YaHei"/>
                <a:cs typeface="Microsoft YaHei"/>
              </a:rPr>
              <a:t>3.7</a:t>
            </a:r>
            <a:endParaRPr lang="zh-CN" sz="3200"/>
          </a:p>
        </p:txBody>
      </p:sp>
      <p:sp>
        <p:nvSpPr>
          <p:cNvPr id="74" name="TextBox 74"/>
          <p:cNvSpPr txBox="1"/>
          <p:nvPr/>
        </p:nvSpPr>
        <p:spPr>
          <a:xfrm>
            <a:off x="780420" y="2741290"/>
            <a:ext cx="1165287" cy="238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公斤/亩</a:t>
            </a:r>
            <a:endParaRPr lang="zh-CN" sz="1150"/>
          </a:p>
        </p:txBody>
      </p:sp>
      <p:sp>
        <p:nvSpPr>
          <p:cNvPr id="75" name="TextBox 75"/>
          <p:cNvSpPr txBox="1"/>
          <p:nvPr/>
        </p:nvSpPr>
        <p:spPr>
          <a:xfrm>
            <a:off x="2413732" y="1881652"/>
            <a:ext cx="1862549" cy="4107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东南亚六国地膜消费量中</a:t>
            </a:r>
            <a:endParaRPr lang="zh-CN" sz="1150"/>
          </a:p>
          <a:p>
            <a:pPr algn="l"/>
            <a:r>
              <a:rPr lang="zh-CN" sz="11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泰国、印尼、越南三国占比</a:t>
            </a:r>
            <a:endParaRPr lang="zh-CN" sz="1150"/>
          </a:p>
        </p:txBody>
      </p:sp>
      <p:sp>
        <p:nvSpPr>
          <p:cNvPr id="76" name="TextBox 76"/>
          <p:cNvSpPr txBox="1"/>
          <p:nvPr/>
        </p:nvSpPr>
        <p:spPr>
          <a:xfrm>
            <a:off x="2671623" y="2349677"/>
            <a:ext cx="1069772" cy="10697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71%</a:t>
            </a:r>
            <a:endParaRPr lang="zh-CN" sz="2200"/>
          </a:p>
        </p:txBody>
      </p:sp>
      <p:sp>
        <p:nvSpPr>
          <p:cNvPr id="77" name="TextBox 77"/>
          <p:cNvSpPr txBox="1"/>
          <p:nvPr/>
        </p:nvSpPr>
        <p:spPr>
          <a:xfrm>
            <a:off x="665802" y="4460565"/>
            <a:ext cx="2044028" cy="2292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中国对泰进出口总额（亿元）</a:t>
            </a:r>
            <a:endParaRPr lang="zh-CN" sz="1050"/>
          </a:p>
        </p:txBody>
      </p:sp>
      <p:sp>
        <p:nvSpPr>
          <p:cNvPr id="78" name="TextBox 78"/>
          <p:cNvSpPr txBox="1"/>
          <p:nvPr/>
        </p:nvSpPr>
        <p:spPr>
          <a:xfrm>
            <a:off x="2862654" y="4431911"/>
            <a:ext cx="592195" cy="1910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进出口总额</a:t>
            </a:r>
            <a:endParaRPr lang="zh-CN" sz="860"/>
          </a:p>
        </p:txBody>
      </p:sp>
      <p:sp>
        <p:nvSpPr>
          <p:cNvPr id="79" name="TextBox 79"/>
          <p:cNvSpPr txBox="1"/>
          <p:nvPr/>
        </p:nvSpPr>
        <p:spPr>
          <a:xfrm>
            <a:off x="3703189" y="4431911"/>
            <a:ext cx="286546" cy="1910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出口</a:t>
            </a:r>
            <a:endParaRPr lang="zh-CN" sz="860"/>
          </a:p>
        </p:txBody>
      </p:sp>
      <p:sp>
        <p:nvSpPr>
          <p:cNvPr id="80" name="TextBox 80"/>
          <p:cNvSpPr txBox="1"/>
          <p:nvPr/>
        </p:nvSpPr>
        <p:spPr>
          <a:xfrm>
            <a:off x="4209420" y="4431911"/>
            <a:ext cx="286546" cy="1910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6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进口</a:t>
            </a:r>
            <a:endParaRPr lang="zh-CN" sz="860"/>
          </a:p>
        </p:txBody>
      </p:sp>
      <p:sp>
        <p:nvSpPr>
          <p:cNvPr id="81" name="TextBox 81"/>
          <p:cNvSpPr txBox="1"/>
          <p:nvPr/>
        </p:nvSpPr>
        <p:spPr>
          <a:xfrm>
            <a:off x="1907501" y="4708905"/>
            <a:ext cx="1308560" cy="2769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>
                <a:solidFill>
                  <a:srgbClr val="F29B00"/>
                </a:solidFill>
                <a:latin typeface="Microsoft YaHei"/>
                <a:ea typeface="Microsoft YaHei"/>
                <a:cs typeface="Microsoft YaHei"/>
              </a:rPr>
              <a:t>+29.4%</a:t>
            </a:r>
            <a:endParaRPr lang="zh-CN" sz="1900"/>
          </a:p>
        </p:txBody>
      </p:sp>
      <p:sp>
        <p:nvSpPr>
          <p:cNvPr id="82" name="TextBox 82"/>
          <p:cNvSpPr txBox="1"/>
          <p:nvPr/>
        </p:nvSpPr>
        <p:spPr>
          <a:xfrm>
            <a:off x="1754676" y="4966797"/>
            <a:ext cx="1556900" cy="1814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50">
                <a:solidFill>
                  <a:srgbClr val="F29B00"/>
                </a:solidFill>
                <a:latin typeface="Microsoft YaHei"/>
                <a:ea typeface="Microsoft YaHei"/>
                <a:cs typeface="Microsoft YaHei"/>
              </a:rPr>
              <a:t>2021-2025累计增长</a:t>
            </a:r>
            <a:endParaRPr lang="zh-CN" sz="850"/>
          </a:p>
        </p:txBody>
      </p:sp>
      <p:sp>
        <p:nvSpPr>
          <p:cNvPr id="83" name="TextBox 83"/>
          <p:cNvSpPr txBox="1"/>
          <p:nvPr/>
        </p:nvSpPr>
        <p:spPr>
          <a:xfrm>
            <a:off x="618044" y="4938142"/>
            <a:ext cx="171928" cy="1337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600">
                <a:solidFill>
                  <a:srgbClr val="94BDA5"/>
                </a:solidFill>
                <a:latin typeface="Microsoft YaHei"/>
                <a:ea typeface="Microsoft YaHei"/>
                <a:cs typeface="Microsoft YaHei"/>
              </a:rPr>
              <a:t>280</a:t>
            </a:r>
            <a:endParaRPr lang="zh-CN" sz="600"/>
          </a:p>
        </p:txBody>
      </p:sp>
      <p:sp>
        <p:nvSpPr>
          <p:cNvPr id="84" name="TextBox 84"/>
          <p:cNvSpPr txBox="1"/>
          <p:nvPr/>
        </p:nvSpPr>
        <p:spPr>
          <a:xfrm>
            <a:off x="618044" y="5224688"/>
            <a:ext cx="171928" cy="1337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600">
                <a:solidFill>
                  <a:srgbClr val="94BDA5"/>
                </a:solidFill>
                <a:latin typeface="Microsoft YaHei"/>
                <a:ea typeface="Microsoft YaHei"/>
                <a:cs typeface="Microsoft YaHei"/>
              </a:rPr>
              <a:t>400</a:t>
            </a:r>
            <a:endParaRPr lang="zh-CN" sz="600"/>
          </a:p>
        </p:txBody>
      </p:sp>
      <p:sp>
        <p:nvSpPr>
          <p:cNvPr id="85" name="TextBox 85"/>
          <p:cNvSpPr txBox="1"/>
          <p:nvPr/>
        </p:nvSpPr>
        <p:spPr>
          <a:xfrm>
            <a:off x="618044" y="5511234"/>
            <a:ext cx="171928" cy="1337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600">
                <a:solidFill>
                  <a:srgbClr val="94BDA5"/>
                </a:solidFill>
                <a:latin typeface="Microsoft YaHei"/>
                <a:ea typeface="Microsoft YaHei"/>
                <a:cs typeface="Microsoft YaHei"/>
              </a:rPr>
              <a:t>219</a:t>
            </a:r>
            <a:endParaRPr lang="zh-CN" sz="600"/>
          </a:p>
        </p:txBody>
      </p:sp>
      <p:sp>
        <p:nvSpPr>
          <p:cNvPr id="86" name="TextBox 86"/>
          <p:cNvSpPr txBox="1"/>
          <p:nvPr/>
        </p:nvSpPr>
        <p:spPr>
          <a:xfrm>
            <a:off x="618044" y="5807331"/>
            <a:ext cx="171928" cy="1337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600">
                <a:solidFill>
                  <a:srgbClr val="94BDA5"/>
                </a:solidFill>
                <a:latin typeface="Microsoft YaHei"/>
                <a:ea typeface="Microsoft YaHei"/>
                <a:cs typeface="Microsoft YaHei"/>
              </a:rPr>
              <a:t>0</a:t>
            </a:r>
            <a:endParaRPr lang="zh-CN" sz="600"/>
          </a:p>
        </p:txBody>
      </p:sp>
      <p:sp>
        <p:nvSpPr>
          <p:cNvPr id="87" name="TextBox 87"/>
          <p:cNvSpPr txBox="1"/>
          <p:nvPr/>
        </p:nvSpPr>
        <p:spPr>
          <a:xfrm>
            <a:off x="1000105" y="5921950"/>
            <a:ext cx="506231" cy="2292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2021</a:t>
            </a:r>
            <a:endParaRPr lang="zh-CN" sz="1070"/>
          </a:p>
        </p:txBody>
      </p:sp>
      <p:sp>
        <p:nvSpPr>
          <p:cNvPr id="88" name="TextBox 88"/>
          <p:cNvSpPr txBox="1"/>
          <p:nvPr/>
        </p:nvSpPr>
        <p:spPr>
          <a:xfrm>
            <a:off x="1716470" y="5921950"/>
            <a:ext cx="506231" cy="2292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2022</a:t>
            </a:r>
            <a:endParaRPr lang="zh-CN" sz="1070"/>
          </a:p>
        </p:txBody>
      </p:sp>
      <p:sp>
        <p:nvSpPr>
          <p:cNvPr id="89" name="TextBox 89"/>
          <p:cNvSpPr txBox="1"/>
          <p:nvPr/>
        </p:nvSpPr>
        <p:spPr>
          <a:xfrm>
            <a:off x="2432835" y="5921950"/>
            <a:ext cx="506231" cy="2292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2023</a:t>
            </a:r>
            <a:endParaRPr lang="zh-CN" sz="1070"/>
          </a:p>
        </p:txBody>
      </p:sp>
      <p:sp>
        <p:nvSpPr>
          <p:cNvPr id="90" name="TextBox 90"/>
          <p:cNvSpPr txBox="1"/>
          <p:nvPr/>
        </p:nvSpPr>
        <p:spPr>
          <a:xfrm>
            <a:off x="3149200" y="5921950"/>
            <a:ext cx="506231" cy="2292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2024</a:t>
            </a:r>
            <a:endParaRPr lang="zh-CN" sz="1070"/>
          </a:p>
        </p:txBody>
      </p:sp>
      <p:sp>
        <p:nvSpPr>
          <p:cNvPr id="91" name="TextBox 91"/>
          <p:cNvSpPr txBox="1"/>
          <p:nvPr/>
        </p:nvSpPr>
        <p:spPr>
          <a:xfrm>
            <a:off x="3865565" y="5921950"/>
            <a:ext cx="506231" cy="2292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2025</a:t>
            </a:r>
            <a:endParaRPr lang="zh-CN" sz="1070"/>
          </a:p>
        </p:txBody>
      </p:sp>
      <p:sp>
        <p:nvSpPr>
          <p:cNvPr id="92" name="TextBox 92"/>
          <p:cNvSpPr txBox="1"/>
          <p:nvPr/>
        </p:nvSpPr>
        <p:spPr>
          <a:xfrm>
            <a:off x="8211512" y="2569362"/>
            <a:ext cx="1069772" cy="238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全面禁塑令</a:t>
            </a:r>
            <a:endParaRPr lang="zh-CN" sz="1150"/>
          </a:p>
        </p:txBody>
      </p:sp>
      <p:sp>
        <p:nvSpPr>
          <p:cNvPr id="93" name="TextBox 93"/>
          <p:cNvSpPr txBox="1"/>
          <p:nvPr/>
        </p:nvSpPr>
        <p:spPr>
          <a:xfrm>
            <a:off x="8135100" y="2808150"/>
            <a:ext cx="1203493" cy="4011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2027年全面禁用</a:t>
            </a:r>
            <a:endParaRPr lang="zh-CN" sz="1100"/>
          </a:p>
          <a:p>
            <a:pPr algn="ctr"/>
            <a:r>
              <a:rPr lang="zh-CN" sz="110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一次性塑料</a:t>
            </a:r>
            <a:endParaRPr lang="zh-CN" sz="1100"/>
          </a:p>
        </p:txBody>
      </p:sp>
      <p:sp>
        <p:nvSpPr>
          <p:cNvPr id="94" name="TextBox 94"/>
          <p:cNvSpPr txBox="1"/>
          <p:nvPr/>
        </p:nvSpPr>
        <p:spPr>
          <a:xfrm>
            <a:off x="9424557" y="2569362"/>
            <a:ext cx="1060220" cy="238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税收抵扣</a:t>
            </a:r>
            <a:endParaRPr lang="zh-CN" sz="1150"/>
          </a:p>
        </p:txBody>
      </p:sp>
      <p:sp>
        <p:nvSpPr>
          <p:cNvPr id="95" name="TextBox 95"/>
          <p:cNvSpPr txBox="1"/>
          <p:nvPr/>
        </p:nvSpPr>
        <p:spPr>
          <a:xfrm>
            <a:off x="9567829" y="2798599"/>
            <a:ext cx="754571" cy="2196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0" b="1">
                <a:solidFill>
                  <a:srgbClr val="F29B00"/>
                </a:solidFill>
                <a:latin typeface="Microsoft YaHei"/>
                <a:ea typeface="Microsoft YaHei"/>
                <a:cs typeface="Microsoft YaHei"/>
              </a:rPr>
              <a:t>1.25倍</a:t>
            </a:r>
            <a:endParaRPr lang="zh-CN" sz="1200"/>
          </a:p>
        </p:txBody>
      </p:sp>
      <p:sp>
        <p:nvSpPr>
          <p:cNvPr id="96" name="TextBox 96"/>
          <p:cNvSpPr txBox="1"/>
          <p:nvPr/>
        </p:nvSpPr>
        <p:spPr>
          <a:xfrm>
            <a:off x="9424557" y="3008733"/>
            <a:ext cx="1060220" cy="2196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所得税减免</a:t>
            </a:r>
            <a:endParaRPr lang="zh-CN" sz="1100"/>
          </a:p>
        </p:txBody>
      </p:sp>
      <p:sp>
        <p:nvSpPr>
          <p:cNvPr id="97" name="TextBox 97"/>
          <p:cNvSpPr txBox="1"/>
          <p:nvPr/>
        </p:nvSpPr>
        <p:spPr>
          <a:xfrm>
            <a:off x="10570740" y="2569362"/>
            <a:ext cx="1107978" cy="2387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绿色公共采购</a:t>
            </a:r>
            <a:endParaRPr lang="zh-CN" sz="1150"/>
          </a:p>
        </p:txBody>
      </p:sp>
      <p:sp>
        <p:nvSpPr>
          <p:cNvPr id="98" name="TextBox 98"/>
          <p:cNvSpPr txBox="1"/>
          <p:nvPr/>
        </p:nvSpPr>
        <p:spPr>
          <a:xfrm>
            <a:off x="10551637" y="2808150"/>
            <a:ext cx="1146184" cy="4011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政府优先采购</a:t>
            </a:r>
            <a:endParaRPr lang="zh-CN" sz="1100"/>
          </a:p>
          <a:p>
            <a:pPr algn="ctr"/>
            <a:r>
              <a:rPr lang="zh-CN" sz="110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可降解制品</a:t>
            </a:r>
            <a:endParaRPr lang="zh-CN" sz="1100"/>
          </a:p>
        </p:txBody>
      </p:sp>
      <p:sp>
        <p:nvSpPr>
          <p:cNvPr id="99" name="TextBox 99"/>
          <p:cNvSpPr txBox="1"/>
          <p:nvPr/>
        </p:nvSpPr>
        <p:spPr>
          <a:xfrm>
            <a:off x="8316579" y="5253343"/>
            <a:ext cx="1356318" cy="4393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木薯、甘蔗</a:t>
            </a:r>
            <a:endParaRPr lang="zh-CN" sz="1250"/>
          </a:p>
          <a:p>
            <a:pPr algn="ctr"/>
            <a:r>
              <a:rPr lang="zh-CN" sz="12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生物质资源富足</a:t>
            </a:r>
            <a:endParaRPr lang="zh-CN" sz="1250"/>
          </a:p>
        </p:txBody>
      </p:sp>
      <p:sp>
        <p:nvSpPr>
          <p:cNvPr id="100" name="TextBox 100"/>
          <p:cNvSpPr txBox="1"/>
          <p:nvPr/>
        </p:nvSpPr>
        <p:spPr>
          <a:xfrm>
            <a:off x="8316579" y="5711816"/>
            <a:ext cx="1375421" cy="3820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2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泰国是全球第三大</a:t>
            </a:r>
            <a:endParaRPr lang="zh-CN" sz="1120"/>
          </a:p>
          <a:p>
            <a:pPr algn="ctr"/>
            <a:r>
              <a:rPr lang="zh-CN" sz="112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PLA出口国</a:t>
            </a:r>
            <a:endParaRPr lang="zh-CN" sz="1120"/>
          </a:p>
        </p:txBody>
      </p:sp>
      <p:sp>
        <p:nvSpPr>
          <p:cNvPr id="101" name="TextBox 101"/>
          <p:cNvSpPr txBox="1"/>
          <p:nvPr/>
        </p:nvSpPr>
        <p:spPr>
          <a:xfrm>
            <a:off x="10016751" y="5253343"/>
            <a:ext cx="1690621" cy="257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0" b="1">
                <a:solidFill>
                  <a:srgbClr val="005D34"/>
                </a:solidFill>
                <a:latin typeface="Microsoft YaHei"/>
                <a:ea typeface="Microsoft YaHei"/>
                <a:cs typeface="Microsoft YaHei"/>
              </a:rPr>
              <a:t>全球第二大PLA工厂</a:t>
            </a:r>
            <a:endParaRPr lang="zh-CN" sz="1250"/>
          </a:p>
        </p:txBody>
      </p:sp>
      <p:sp>
        <p:nvSpPr>
          <p:cNvPr id="102" name="TextBox 102"/>
          <p:cNvSpPr txBox="1"/>
          <p:nvPr/>
        </p:nvSpPr>
        <p:spPr>
          <a:xfrm>
            <a:off x="10064509" y="5501682"/>
            <a:ext cx="1595106" cy="2196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2026年4月投产</a:t>
            </a:r>
            <a:endParaRPr lang="zh-CN" sz="1150"/>
          </a:p>
        </p:txBody>
      </p:sp>
      <p:sp>
        <p:nvSpPr>
          <p:cNvPr id="103" name="TextBox 103"/>
          <p:cNvSpPr txBox="1"/>
          <p:nvPr/>
        </p:nvSpPr>
        <p:spPr>
          <a:xfrm>
            <a:off x="10341504" y="5711816"/>
            <a:ext cx="553989" cy="2101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年产能</a:t>
            </a:r>
            <a:endParaRPr lang="zh-CN" sz="1150"/>
          </a:p>
        </p:txBody>
      </p:sp>
      <p:sp>
        <p:nvSpPr>
          <p:cNvPr id="104" name="TextBox 104"/>
          <p:cNvSpPr txBox="1"/>
          <p:nvPr/>
        </p:nvSpPr>
        <p:spPr>
          <a:xfrm>
            <a:off x="10924147" y="5711816"/>
            <a:ext cx="257891" cy="2101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F29B00"/>
                </a:solidFill>
                <a:latin typeface="Microsoft YaHei"/>
                <a:ea typeface="Microsoft YaHei"/>
                <a:cs typeface="Microsoft YaHei"/>
              </a:rPr>
              <a:t>7.5</a:t>
            </a:r>
            <a:endParaRPr lang="zh-CN" sz="1150"/>
          </a:p>
        </p:txBody>
      </p:sp>
      <p:sp>
        <p:nvSpPr>
          <p:cNvPr id="105" name="TextBox 105"/>
          <p:cNvSpPr txBox="1"/>
          <p:nvPr/>
        </p:nvSpPr>
        <p:spPr>
          <a:xfrm>
            <a:off x="11182038" y="5711816"/>
            <a:ext cx="362958" cy="2101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万吨</a:t>
            </a:r>
            <a:endParaRPr lang="zh-CN" sz="1150"/>
          </a:p>
        </p:txBody>
      </p:sp>
      <p:sp>
        <p:nvSpPr>
          <p:cNvPr id="106" name="TextBox 106"/>
          <p:cNvSpPr txBox="1"/>
          <p:nvPr/>
        </p:nvSpPr>
        <p:spPr>
          <a:xfrm>
            <a:off x="9959442" y="5902847"/>
            <a:ext cx="1786136" cy="2196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10">
                <a:solidFill>
                  <a:srgbClr val="13482E"/>
                </a:solidFill>
                <a:latin typeface="Microsoft YaHei"/>
                <a:ea typeface="Microsoft YaHei"/>
                <a:cs typeface="Microsoft YaHei"/>
              </a:rPr>
              <a:t>（全系列Ingeo™牌号）</a:t>
            </a:r>
            <a:endParaRPr lang="zh-CN" sz="1110"/>
          </a:p>
        </p:txBody>
      </p:sp>
      <p:sp>
        <p:nvSpPr>
          <p:cNvPr id="107" name="Path 107"/>
          <p:cNvSpPr/>
          <p:nvPr/>
        </p:nvSpPr>
        <p:spPr>
          <a:xfrm>
            <a:off x="6746" y="6342217"/>
            <a:ext cx="12178203" cy="81188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5167" y="7624"/>
                  <a:pt x="7861" y="23379"/>
                  <a:pt x="10995" y="21600"/>
                </a:cubicBezTo>
                <a:cubicBezTo>
                  <a:pt x="14095" y="20838"/>
                  <a:pt x="17924" y="5591"/>
                  <a:pt x="21600" y="-762"/>
                </a:cubicBezTo>
                <a:lnTo>
                  <a:pt x="21600" y="21854"/>
                </a:lnTo>
                <a:lnTo>
                  <a:pt x="0" y="218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Path 108"/>
          <p:cNvSpPr/>
          <p:nvPr/>
        </p:nvSpPr>
        <p:spPr>
          <a:xfrm>
            <a:off x="6746" y="6399526"/>
            <a:ext cx="12178203" cy="81188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5167" y="7624"/>
                  <a:pt x="7861" y="23379"/>
                  <a:pt x="10995" y="21600"/>
                </a:cubicBezTo>
                <a:cubicBezTo>
                  <a:pt x="14095" y="20838"/>
                  <a:pt x="17924" y="5591"/>
                  <a:pt x="21600" y="-762"/>
                </a:cubicBezTo>
                <a:lnTo>
                  <a:pt x="21600" y="21854"/>
                </a:lnTo>
                <a:lnTo>
                  <a:pt x="0" y="21854"/>
                </a:lnTo>
                <a:close/>
              </a:path>
            </a:pathLst>
          </a:custGeom>
          <a:solidFill>
            <a:srgbClr val="27945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le mint textured paper with hazy cultivated fields and lower mulched-crop panorama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40761" y="135276"/>
            <a:ext cx="2777543" cy="47931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47" y="0"/>
                </a:moveTo>
                <a:lnTo>
                  <a:pt x="21600" y="0"/>
                </a:lnTo>
                <a:lnTo>
                  <a:pt x="2045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8DF8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3256854" y="135276"/>
            <a:ext cx="4719366" cy="47931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31" y="0"/>
                </a:moveTo>
                <a:lnTo>
                  <a:pt x="21600" y="0"/>
                </a:lnTo>
                <a:lnTo>
                  <a:pt x="2086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F2E6"/>
          </a:solidFill>
          <a:ln w="7620">
            <a:solidFill>
              <a:srgbClr val="8BC7A1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258090" y="762067"/>
            <a:ext cx="5850047" cy="2666933"/>
          </a:xfrm>
          <a:prstGeom prst="roundRect">
            <a:avLst>
              <a:gd name="adj" fmla="val 6912"/>
            </a:avLst>
          </a:prstGeom>
          <a:solidFill>
            <a:srgbClr val="F7FCF8"/>
          </a:solidFill>
          <a:ln w="6350">
            <a:solidFill>
              <a:srgbClr val="A6DAB8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181878" y="762067"/>
            <a:ext cx="5751727" cy="2666933"/>
          </a:xfrm>
          <a:prstGeom prst="roundRect">
            <a:avLst>
              <a:gd name="adj" fmla="val 6912"/>
            </a:avLst>
          </a:prstGeom>
          <a:solidFill>
            <a:srgbClr val="F7FCF8"/>
          </a:solidFill>
          <a:ln w="6350">
            <a:solidFill>
              <a:srgbClr val="A6DAB8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58090" y="3527320"/>
            <a:ext cx="5137226" cy="2826704"/>
          </a:xfrm>
          <a:prstGeom prst="roundRect">
            <a:avLst>
              <a:gd name="adj" fmla="val 6522"/>
            </a:avLst>
          </a:prstGeom>
          <a:solidFill>
            <a:srgbClr val="F7FCF8"/>
          </a:solidFill>
          <a:ln w="6350">
            <a:solidFill>
              <a:srgbClr val="A6DAB8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5481347" y="3527320"/>
            <a:ext cx="6452258" cy="2826704"/>
          </a:xfrm>
          <a:prstGeom prst="roundRect">
            <a:avLst>
              <a:gd name="adj" fmla="val 6522"/>
            </a:avLst>
          </a:prstGeom>
          <a:solidFill>
            <a:srgbClr val="F7FCF8"/>
          </a:solidFill>
          <a:ln w="6350">
            <a:solidFill>
              <a:srgbClr val="A6DAB8"/>
            </a:solidFill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651371" y="135276"/>
            <a:ext cx="2568613" cy="47931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37" y="0"/>
                </a:moveTo>
                <a:lnTo>
                  <a:pt x="21600" y="0"/>
                </a:lnTo>
                <a:lnTo>
                  <a:pt x="2036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30151" y="1253667"/>
            <a:ext cx="2802123" cy="1990982"/>
          </a:xfrm>
          <a:prstGeom prst="roundRect">
            <a:avLst>
              <a:gd name="adj" fmla="val 8025"/>
            </a:avLst>
          </a:prstGeom>
          <a:solidFill>
            <a:srgbClr val="FDFFFE"/>
          </a:solidFill>
          <a:ln w="6350">
            <a:solidFill>
              <a:srgbClr val="A8DDB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318304" y="1253667"/>
            <a:ext cx="2679223" cy="1990982"/>
          </a:xfrm>
          <a:prstGeom prst="roundRect">
            <a:avLst>
              <a:gd name="adj" fmla="val 8025"/>
            </a:avLst>
          </a:prstGeom>
          <a:solidFill>
            <a:srgbClr val="FDFFFE"/>
          </a:solidFill>
          <a:ln w="6350">
            <a:solidFill>
              <a:srgbClr val="A8DDB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553051" y="1671528"/>
            <a:ext cx="2580903" cy="934041"/>
          </a:xfrm>
          <a:prstGeom prst="roundRect">
            <a:avLst>
              <a:gd name="adj" fmla="val 15789"/>
            </a:avLst>
          </a:prstGeom>
          <a:solidFill>
            <a:srgbClr val="F9FCFA"/>
          </a:solidFill>
          <a:ln w="6350">
            <a:solidFill>
              <a:srgbClr val="C0E4D2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428914" y="1671528"/>
            <a:ext cx="2507163" cy="700531"/>
          </a:xfrm>
          <a:prstGeom prst="roundRect">
            <a:avLst>
              <a:gd name="adj" fmla="val 21053"/>
            </a:avLst>
          </a:prstGeom>
          <a:solidFill>
            <a:srgbClr val="F9FCFA"/>
          </a:solidFill>
          <a:ln w="6350">
            <a:solidFill>
              <a:srgbClr val="C0E4D2"/>
            </a:solidFill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3441204" y="331916"/>
            <a:ext cx="122900" cy="122900"/>
          </a:xfrm>
          <a:prstGeom prst="ellipse">
            <a:avLst/>
          </a:prstGeom>
          <a:solidFill>
            <a:srgbClr val="009C4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th 15"/>
          <p:cNvSpPr/>
          <p:nvPr/>
        </p:nvSpPr>
        <p:spPr>
          <a:xfrm>
            <a:off x="983201" y="835807"/>
            <a:ext cx="2027853" cy="3441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964" y="0"/>
                </a:moveTo>
                <a:lnTo>
                  <a:pt x="21600" y="0"/>
                </a:lnTo>
                <a:lnTo>
                  <a:pt x="1976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834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ath 16"/>
          <p:cNvSpPr/>
          <p:nvPr/>
        </p:nvSpPr>
        <p:spPr>
          <a:xfrm>
            <a:off x="6906989" y="835807"/>
            <a:ext cx="2273653" cy="3441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1" y="0"/>
                </a:moveTo>
                <a:lnTo>
                  <a:pt x="21600" y="0"/>
                </a:lnTo>
                <a:lnTo>
                  <a:pt x="1996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834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ath 17"/>
          <p:cNvSpPr/>
          <p:nvPr/>
        </p:nvSpPr>
        <p:spPr>
          <a:xfrm>
            <a:off x="983201" y="3588770"/>
            <a:ext cx="1609992" cy="3441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473" y="0"/>
                </a:moveTo>
                <a:lnTo>
                  <a:pt x="21600" y="0"/>
                </a:lnTo>
                <a:lnTo>
                  <a:pt x="1929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834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th 18"/>
          <p:cNvSpPr/>
          <p:nvPr/>
        </p:nvSpPr>
        <p:spPr>
          <a:xfrm>
            <a:off x="6280198" y="3588770"/>
            <a:ext cx="1745182" cy="3441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282" y="0"/>
                </a:moveTo>
                <a:lnTo>
                  <a:pt x="21600" y="0"/>
                </a:lnTo>
                <a:lnTo>
                  <a:pt x="1947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834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6366228" y="1253667"/>
            <a:ext cx="1757472" cy="344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FEEE7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197440" y="1253667"/>
            <a:ext cx="3564104" cy="3441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FEEE7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6366228" y="1683818"/>
            <a:ext cx="1732892" cy="786561"/>
          </a:xfrm>
          <a:prstGeom prst="roundRect">
            <a:avLst>
              <a:gd name="adj" fmla="val 18750"/>
            </a:avLst>
          </a:prstGeom>
          <a:solidFill>
            <a:srgbClr val="F8FCFA"/>
          </a:solidFill>
          <a:ln w="6350">
            <a:solidFill>
              <a:srgbClr val="B7DECF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8172860" y="1683818"/>
            <a:ext cx="1757472" cy="786561"/>
          </a:xfrm>
          <a:prstGeom prst="roundRect">
            <a:avLst>
              <a:gd name="adj" fmla="val 18750"/>
            </a:avLst>
          </a:prstGeom>
          <a:solidFill>
            <a:srgbClr val="F8FCFA"/>
          </a:solidFill>
          <a:ln w="6350">
            <a:solidFill>
              <a:srgbClr val="B7DECF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10004072" y="1683818"/>
            <a:ext cx="1757472" cy="786561"/>
          </a:xfrm>
          <a:prstGeom prst="roundRect">
            <a:avLst>
              <a:gd name="adj" fmla="val 18750"/>
            </a:avLst>
          </a:prstGeom>
          <a:solidFill>
            <a:srgbClr val="F8FCFA"/>
          </a:solidFill>
          <a:ln w="6350">
            <a:solidFill>
              <a:srgbClr val="B7DECF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6366228" y="2544119"/>
            <a:ext cx="1732892" cy="798851"/>
          </a:xfrm>
          <a:prstGeom prst="roundRect">
            <a:avLst>
              <a:gd name="adj" fmla="val 18462"/>
            </a:avLst>
          </a:prstGeom>
          <a:solidFill>
            <a:srgbClr val="F8FCFA"/>
          </a:solidFill>
          <a:ln w="6350">
            <a:solidFill>
              <a:srgbClr val="B7DECF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8172860" y="2544119"/>
            <a:ext cx="1757472" cy="798851"/>
          </a:xfrm>
          <a:prstGeom prst="roundRect">
            <a:avLst>
              <a:gd name="adj" fmla="val 18462"/>
            </a:avLst>
          </a:prstGeom>
          <a:solidFill>
            <a:srgbClr val="F8FCFA"/>
          </a:solidFill>
          <a:ln w="6350">
            <a:solidFill>
              <a:srgbClr val="B7DECF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10004072" y="2544119"/>
            <a:ext cx="1757472" cy="798851"/>
          </a:xfrm>
          <a:prstGeom prst="roundRect">
            <a:avLst>
              <a:gd name="adj" fmla="val 18462"/>
            </a:avLst>
          </a:prstGeom>
          <a:solidFill>
            <a:srgbClr val="F8FCFA"/>
          </a:solidFill>
          <a:ln w="6350">
            <a:solidFill>
              <a:srgbClr val="B7DECF"/>
            </a:solidFill>
          </a:ln>
        </p:spPr>
        <p:txBody>
          <a:bodyPr/>
          <a:lstStyle/>
          <a:p/>
        </p:txBody>
      </p:sp>
      <p:sp>
        <p:nvSpPr>
          <p:cNvPr id="27" name="Path 27"/>
          <p:cNvSpPr/>
          <p:nvPr/>
        </p:nvSpPr>
        <p:spPr>
          <a:xfrm>
            <a:off x="2568613" y="835807"/>
            <a:ext cx="442441" cy="3441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400" y="0"/>
                </a:moveTo>
                <a:lnTo>
                  <a:pt x="21600" y="0"/>
                </a:lnTo>
                <a:lnTo>
                  <a:pt x="13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9EED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ath 28"/>
          <p:cNvSpPr/>
          <p:nvPr/>
        </p:nvSpPr>
        <p:spPr>
          <a:xfrm>
            <a:off x="8738201" y="835807"/>
            <a:ext cx="442441" cy="3441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400" y="0"/>
                </a:moveTo>
                <a:lnTo>
                  <a:pt x="21600" y="0"/>
                </a:lnTo>
                <a:lnTo>
                  <a:pt x="13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9EED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ath 29"/>
          <p:cNvSpPr/>
          <p:nvPr/>
        </p:nvSpPr>
        <p:spPr>
          <a:xfrm>
            <a:off x="2150753" y="3588770"/>
            <a:ext cx="442441" cy="3441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400" y="0"/>
                </a:moveTo>
                <a:lnTo>
                  <a:pt x="21600" y="0"/>
                </a:lnTo>
                <a:lnTo>
                  <a:pt x="13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9EED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Path 30"/>
          <p:cNvSpPr/>
          <p:nvPr/>
        </p:nvSpPr>
        <p:spPr>
          <a:xfrm>
            <a:off x="7582939" y="3588770"/>
            <a:ext cx="442441" cy="3441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400" y="0"/>
                </a:moveTo>
                <a:lnTo>
                  <a:pt x="21600" y="0"/>
                </a:lnTo>
                <a:lnTo>
                  <a:pt x="13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9EED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5653407" y="3994341"/>
            <a:ext cx="6255618" cy="2322813"/>
          </a:xfrm>
          <a:prstGeom prst="roundRect">
            <a:avLst>
              <a:gd name="adj" fmla="val 6349"/>
            </a:avLst>
          </a:prstGeom>
          <a:solidFill>
            <a:srgbClr val="FFFDF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5653407" y="4780902"/>
            <a:ext cx="2691513" cy="749691"/>
          </a:xfrm>
          <a:prstGeom prst="rect">
            <a:avLst/>
          </a:prstGeom>
          <a:solidFill>
            <a:srgbClr val="F4FA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5653407" y="5530593"/>
            <a:ext cx="2691513" cy="786561"/>
          </a:xfrm>
          <a:prstGeom prst="rect">
            <a:avLst/>
          </a:prstGeom>
          <a:solidFill>
            <a:srgbClr val="F0F9F8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34" name="Table 34"/>
          <p:cNvGraphicFramePr/>
          <p:nvPr/>
        </p:nvGraphicFramePr>
        <p:xfrm>
          <a:off x="553051" y="4018921"/>
          <a:ext cx="4608756" cy="2261363"/>
        </p:xfrm>
        <a:graphic>
          <a:graphicData uri="http://schemas.openxmlformats.org/drawingml/2006/table">
            <a:tbl>
              <a:tblPr/>
              <a:tblGrid>
                <a:gridCol w="1315032"/>
                <a:gridCol w="1769762"/>
                <a:gridCol w="1523962"/>
              </a:tblGrid>
              <a:tr h="23351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变量</a:t>
                      </a:r>
                      <a:endParaRPr lang="zh-CN" sz="95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248D47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</a:t>
                      </a:r>
                      <a:endParaRPr lang="zh-CN" sz="95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248D47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t值</a:t>
                      </a:r>
                      <a:endParaRPr lang="zh-CN" sz="95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248D47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β₀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-801.21***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-9.11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lnPROᵢₜ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lnGDPᵢₜ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-0.36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-0.08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lnGDPⱼₜ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2.39***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3.47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lnAGRⱼₜ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1.77***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5.61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lnDISᵢⱼ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-2.76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-1.06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CONJᵢⱼ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0.61*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1.74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LANGᵢⱼ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0.39**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2.28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γ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0.92***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12.87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μ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4.47**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F7FCF8"/>
                    </a:solidFill>
                  </a:tcPr>
                </a:tc>
              </a:tr>
              <a:tr h="184350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η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-0.026*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ctr"/>
                      <a:r>
                        <a:rPr lang="zh-CN" sz="1000">
                          <a:solidFill>
                            <a:srgbClr val="1C2B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-1.82</a:t>
                      </a:r>
                      <a:endParaRPr lang="zh-CN" sz="1000"/>
                    </a:p>
                  </a:txBody>
                  <a:tcPr marL="9144" marR="9144" marT="0" marB="0" anchor="ctr">
                    <a:lnL w="4445">
                      <a:solidFill>
                        <a:srgbClr val="C9E5D2"/>
                      </a:solidFill>
                    </a:lnL>
                    <a:lnR w="4445">
                      <a:solidFill>
                        <a:srgbClr val="C9E5D2"/>
                      </a:solidFill>
                    </a:lnR>
                    <a:lnT w="4445">
                      <a:solidFill>
                        <a:srgbClr val="C9E5D2"/>
                      </a:solidFill>
                    </a:lnT>
                    <a:lnB w="4445">
                      <a:solidFill>
                        <a:srgbClr val="C9E5D2"/>
                      </a:solidFill>
                    </a:lnB>
                    <a:solidFill>
                      <a:srgbClr val="E8F4EB"/>
                    </a:solidFill>
                  </a:tcPr>
                </a:tc>
              </a:tr>
            </a:tbl>
          </a:graphicData>
        </a:graphic>
      </p:graphicFrame>
      <p:sp>
        <p:nvSpPr>
          <p:cNvPr id="35" name="Ellipse 35"/>
          <p:cNvSpPr/>
          <p:nvPr/>
        </p:nvSpPr>
        <p:spPr>
          <a:xfrm>
            <a:off x="675951" y="2630149"/>
            <a:ext cx="417861" cy="4055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1290452" y="2630149"/>
            <a:ext cx="417861" cy="4055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1917242" y="2630149"/>
            <a:ext cx="417861" cy="4055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2556323" y="2630149"/>
            <a:ext cx="417861" cy="4055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3453494" y="2544119"/>
            <a:ext cx="417861" cy="417861"/>
          </a:xfrm>
          <a:prstGeom prst="ellipse">
            <a:avLst/>
          </a:prstGeom>
          <a:solidFill>
            <a:srgbClr val="FFFFFF"/>
          </a:solidFill>
          <a:ln w="6350">
            <a:solidFill>
              <a:srgbClr val="F9E6AC"/>
            </a:solidFill>
          </a:ln>
        </p:spPr>
        <p:txBody>
          <a:bodyPr/>
          <a:lstStyle/>
          <a:p/>
        </p:txBody>
      </p:sp>
      <p:sp>
        <p:nvSpPr>
          <p:cNvPr id="40" name="Path 40"/>
          <p:cNvSpPr/>
          <p:nvPr/>
        </p:nvSpPr>
        <p:spPr>
          <a:xfrm>
            <a:off x="553051" y="4018921"/>
            <a:ext cx="122900" cy="1229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cubicBezTo>
                  <a:pt x="9720" y="0"/>
                  <a:pt x="0" y="9720"/>
                  <a:pt x="0" y="21600"/>
                </a:cubicBezTo>
                <a:close/>
              </a:path>
            </a:pathLst>
          </a:custGeom>
          <a:solidFill>
            <a:srgbClr val="F7F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Path 41"/>
          <p:cNvSpPr/>
          <p:nvPr/>
        </p:nvSpPr>
        <p:spPr>
          <a:xfrm>
            <a:off x="5038906" y="4018921"/>
            <a:ext cx="122900" cy="1229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1600" y="0"/>
                </a:moveTo>
                <a:lnTo>
                  <a:pt x="0" y="0"/>
                </a:lnTo>
                <a:cubicBezTo>
                  <a:pt x="11880" y="0"/>
                  <a:pt x="21600" y="9720"/>
                  <a:pt x="21600" y="21600"/>
                </a:cubicBezTo>
                <a:close/>
              </a:path>
            </a:pathLst>
          </a:custGeom>
          <a:solidFill>
            <a:srgbClr val="F7F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Path 42"/>
          <p:cNvSpPr/>
          <p:nvPr/>
        </p:nvSpPr>
        <p:spPr>
          <a:xfrm>
            <a:off x="553051" y="6157383"/>
            <a:ext cx="122900" cy="1229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21600" y="21600"/>
                </a:lnTo>
                <a:cubicBezTo>
                  <a:pt x="9720" y="21600"/>
                  <a:pt x="0" y="11880"/>
                  <a:pt x="0" y="0"/>
                </a:cubicBezTo>
                <a:close/>
              </a:path>
            </a:pathLst>
          </a:custGeom>
          <a:solidFill>
            <a:srgbClr val="F7F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Path 43"/>
          <p:cNvSpPr/>
          <p:nvPr/>
        </p:nvSpPr>
        <p:spPr>
          <a:xfrm>
            <a:off x="5038906" y="6157383"/>
            <a:ext cx="122900" cy="12290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1600" y="21600"/>
                </a:moveTo>
                <a:lnTo>
                  <a:pt x="0" y="21600"/>
                </a:lnTo>
                <a:cubicBezTo>
                  <a:pt x="11880" y="21600"/>
                  <a:pt x="21600" y="11880"/>
                  <a:pt x="21600" y="0"/>
                </a:cubicBezTo>
                <a:close/>
              </a:path>
            </a:pathLst>
          </a:custGeom>
          <a:solidFill>
            <a:srgbClr val="F7F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712821" y="811227"/>
            <a:ext cx="393280" cy="393280"/>
          </a:xfrm>
          <a:prstGeom prst="ellipse">
            <a:avLst/>
          </a:prstGeom>
          <a:solidFill>
            <a:srgbClr val="167B3B"/>
          </a:solidFill>
          <a:ln w="7620">
            <a:solidFill>
              <a:srgbClr val="D0E8B1"/>
            </a:solidFill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6636608" y="811227"/>
            <a:ext cx="393280" cy="393280"/>
          </a:xfrm>
          <a:prstGeom prst="ellipse">
            <a:avLst/>
          </a:prstGeom>
          <a:solidFill>
            <a:srgbClr val="167B3B"/>
          </a:solidFill>
          <a:ln w="7620">
            <a:solidFill>
              <a:srgbClr val="D0E8B1"/>
            </a:solidFill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712821" y="3564190"/>
            <a:ext cx="393280" cy="393280"/>
          </a:xfrm>
          <a:prstGeom prst="ellipse">
            <a:avLst/>
          </a:prstGeom>
          <a:solidFill>
            <a:srgbClr val="167B3B"/>
          </a:solidFill>
          <a:ln w="7620">
            <a:solidFill>
              <a:srgbClr val="D0E8B1"/>
            </a:solidFill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6009817" y="3564190"/>
            <a:ext cx="393280" cy="393280"/>
          </a:xfrm>
          <a:prstGeom prst="ellipse">
            <a:avLst/>
          </a:prstGeom>
          <a:solidFill>
            <a:srgbClr val="167B3B"/>
          </a:solidFill>
          <a:ln w="7620">
            <a:solidFill>
              <a:srgbClr val="D0E8B1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 flipV="1">
            <a:off x="8406370" y="3760830"/>
            <a:ext cx="3035634" cy="983201"/>
          </a:xfrm>
          <a:prstGeom prst="line">
            <a:avLst/>
          </a:prstGeom>
          <a:noFill/>
          <a:ln w="50800">
            <a:solidFill>
              <a:srgbClr val="97C45E"/>
            </a:solidFill>
            <a:tailEnd type="triangle"/>
          </a:ln>
        </p:spPr>
        <p:txBody>
          <a:bodyPr/>
          <a:lstStyle/>
          <a:p/>
        </p:txBody>
      </p:sp>
      <p:pic>
        <p:nvPicPr>
          <p:cNvPr id="49" name="Source-faithful tall narrow rice photo block, same slanted curved sky edge, photographic identity and lower white fade; ordinary label/pictogram independently native or separated."/>
          <p:cNvPicPr/>
          <p:nvPr/>
        </p:nvPicPr>
        <p:blipFill>
          <a:blip r:embed="rId29"/>
          <a:stretch>
            <a:fillRect/>
          </a:stretch>
        </p:blipFill>
        <p:spPr>
          <a:xfrm>
            <a:off x="8356433" y="4726580"/>
            <a:ext cx="738957" cy="1423675"/>
          </a:xfrm>
          <a:prstGeom prst="rect">
            <a:avLst/>
          </a:prstGeom>
        </p:spPr>
      </p:pic>
      <p:pic>
        <p:nvPicPr>
          <p:cNvPr id="50" name="Source-faithful tall narrow pepper photo block, same slanted curved sky edge, photographic identity and lower white fade; ordinary label/pictogram independently native or separated."/>
          <p:cNvPicPr/>
          <p:nvPr/>
        </p:nvPicPr>
        <p:blipFill>
          <a:blip r:embed="rId31"/>
          <a:stretch>
            <a:fillRect/>
          </a:stretch>
        </p:blipFill>
        <p:spPr>
          <a:xfrm>
            <a:off x="9044673" y="4537866"/>
            <a:ext cx="738957" cy="1530724"/>
          </a:xfrm>
          <a:prstGeom prst="rect">
            <a:avLst/>
          </a:prstGeom>
        </p:spPr>
      </p:pic>
      <p:pic>
        <p:nvPicPr>
          <p:cNvPr id="51" name="Source-faithful tall narrow greenhouse photo block, same slanted curved sky edge, photographic identity and lower white fade; ordinary label/pictogram independently native or separated."/>
          <p:cNvPicPr/>
          <p:nvPr/>
        </p:nvPicPr>
        <p:blipFill>
          <a:blip r:embed="rId33"/>
          <a:stretch>
            <a:fillRect/>
          </a:stretch>
        </p:blipFill>
        <p:spPr>
          <a:xfrm>
            <a:off x="9708596" y="4324993"/>
            <a:ext cx="738434" cy="1649219"/>
          </a:xfrm>
          <a:prstGeom prst="rect">
            <a:avLst/>
          </a:prstGeom>
        </p:spPr>
      </p:pic>
      <p:pic>
        <p:nvPicPr>
          <p:cNvPr id="52" name="Source-faithful tall narrow seedling photo block, same slanted curved sky edge, photographic identity and lower white fade; ordinary label/pictogram independently native or separated."/>
          <p:cNvPicPr/>
          <p:nvPr/>
        </p:nvPicPr>
        <p:blipFill>
          <a:blip r:embed="rId35"/>
          <a:stretch>
            <a:fillRect/>
          </a:stretch>
        </p:blipFill>
        <p:spPr>
          <a:xfrm>
            <a:off x="10385786" y="4102434"/>
            <a:ext cx="723665" cy="1676477"/>
          </a:xfrm>
          <a:prstGeom prst="rect">
            <a:avLst/>
          </a:prstGeom>
        </p:spPr>
      </p:pic>
      <p:pic>
        <p:nvPicPr>
          <p:cNvPr id="53" name="Source-faithful tall narrow flower photo block, same slanted curved sky edge, photographic identity and lower white fade; ordinary label/pictogram independently native or separated."/>
          <p:cNvPicPr/>
          <p:nvPr/>
        </p:nvPicPr>
        <p:blipFill>
          <a:blip r:embed="rId37"/>
          <a:stretch>
            <a:fillRect/>
          </a:stretch>
        </p:blipFill>
        <p:spPr>
          <a:xfrm>
            <a:off x="11075266" y="3882383"/>
            <a:ext cx="708896" cy="1747878"/>
          </a:xfrm>
          <a:prstGeom prst="rect">
            <a:avLst/>
          </a:prstGeom>
        </p:spPr>
      </p:pic>
      <p:pic>
        <p:nvPicPr>
          <p:cNvPr id="54" name="Original source ship foreground thumbnail/photo, separately editable image; all surrounding native labels/cards removed."/>
          <p:cNvPicPr/>
          <p:nvPr/>
        </p:nvPicPr>
        <p:blipFill>
          <a:blip r:embed="rId19"/>
          <a:stretch>
            <a:fillRect/>
          </a:stretch>
        </p:blipFill>
        <p:spPr>
          <a:xfrm>
            <a:off x="6378627" y="1716980"/>
            <a:ext cx="700313" cy="719618"/>
          </a:xfrm>
          <a:prstGeom prst="rect">
            <a:avLst/>
          </a:prstGeom>
        </p:spPr>
      </p:pic>
      <p:pic>
        <p:nvPicPr>
          <p:cNvPr id="55" name="Original source economic-bars foreground thumbnail/photo, separately editable image; all surrounding native labels/cards removed."/>
          <p:cNvPicPr/>
          <p:nvPr/>
        </p:nvPicPr>
        <p:blipFill>
          <a:blip r:embed="rId20"/>
          <a:stretch>
            <a:fillRect/>
          </a:stretch>
        </p:blipFill>
        <p:spPr>
          <a:xfrm>
            <a:off x="8205963" y="1712474"/>
            <a:ext cx="671195" cy="685029"/>
          </a:xfrm>
          <a:prstGeom prst="rect">
            <a:avLst/>
          </a:prstGeom>
        </p:spPr>
      </p:pic>
      <p:pic>
        <p:nvPicPr>
          <p:cNvPr id="56" name="Original source globe foreground thumbnail/photo, separately editable image; all surrounding native labels/cards removed."/>
          <p:cNvPicPr/>
          <p:nvPr/>
        </p:nvPicPr>
        <p:blipFill>
          <a:blip r:embed="rId21"/>
          <a:stretch>
            <a:fillRect/>
          </a:stretch>
        </p:blipFill>
        <p:spPr>
          <a:xfrm>
            <a:off x="10006307" y="1712122"/>
            <a:ext cx="732932" cy="685572"/>
          </a:xfrm>
          <a:prstGeom prst="rect">
            <a:avLst/>
          </a:prstGeom>
        </p:spPr>
      </p:pic>
      <p:pic>
        <p:nvPicPr>
          <p:cNvPr id="57" name="Original source tariff-port foreground thumbnail/photo, separately editable image; all surrounding native labels/cards removed."/>
          <p:cNvPicPr/>
          <p:nvPr/>
        </p:nvPicPr>
        <p:blipFill>
          <a:blip r:embed="rId22"/>
          <a:stretch>
            <a:fillRect/>
          </a:stretch>
        </p:blipFill>
        <p:spPr>
          <a:xfrm>
            <a:off x="6382205" y="2577712"/>
            <a:ext cx="693157" cy="718829"/>
          </a:xfrm>
          <a:prstGeom prst="rect">
            <a:avLst/>
          </a:prstGeom>
        </p:spPr>
      </p:pic>
      <p:pic>
        <p:nvPicPr>
          <p:cNvPr id="58" name="Original source seedling-photo foreground thumbnail/photo, separately editable image; all surrounding native labels/cards remov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8216650" y="2596660"/>
            <a:ext cx="649822" cy="672374"/>
          </a:xfrm>
          <a:prstGeom prst="rect">
            <a:avLst/>
          </a:prstGeom>
        </p:spPr>
      </p:pic>
      <p:pic>
        <p:nvPicPr>
          <p:cNvPr id="59" name="Original source industry-photo foreground thumbnail/photo, separately editable image; all surrounding native labels/cards removed."/>
          <p:cNvPicPr/>
          <p:nvPr/>
        </p:nvPicPr>
        <p:blipFill>
          <a:blip r:embed="rId24"/>
          <a:stretch>
            <a:fillRect/>
          </a:stretch>
        </p:blipFill>
        <p:spPr>
          <a:xfrm>
            <a:off x="10019549" y="2600006"/>
            <a:ext cx="706448" cy="668836"/>
          </a:xfrm>
          <a:prstGeom prst="rect">
            <a:avLst/>
          </a:prstGeom>
        </p:spPr>
      </p:pic>
      <p:pic>
        <p:nvPicPr>
          <p:cNvPr id="60" name="Original source analysis-field foreground thumbnail/photo, separately editable image; all surrounding native labels/cards removed."/>
          <p:cNvPicPr/>
          <p:nvPr/>
        </p:nvPicPr>
        <p:blipFill>
          <a:blip r:embed="rId28"/>
          <a:stretch>
            <a:fillRect/>
          </a:stretch>
        </p:blipFill>
        <p:spPr>
          <a:xfrm>
            <a:off x="5691590" y="5632870"/>
            <a:ext cx="636456" cy="567139"/>
          </a:xfrm>
          <a:prstGeom prst="rect">
            <a:avLst/>
          </a:prstGeom>
        </p:spPr>
      </p:pic>
      <p:pic>
        <p:nvPicPr>
          <p:cNvPr id="61" name="Original source header-leaves icon or leaf ornament, source colors and stroke relationships preserved, ordinary labels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266973" y="768764"/>
            <a:ext cx="547575" cy="490497"/>
          </a:xfrm>
          <a:prstGeom prst="rect">
            <a:avLst/>
          </a:prstGeom>
        </p:spPr>
      </p:pic>
      <p:pic>
        <p:nvPicPr>
          <p:cNvPr id="62" name="Original source header-leaves icon or leaf ornament, source colors and stroke relationships preserved, ordinary labels remo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6190761" y="768764"/>
            <a:ext cx="547575" cy="490497"/>
          </a:xfrm>
          <a:prstGeom prst="rect">
            <a:avLst/>
          </a:prstGeom>
        </p:spPr>
      </p:pic>
      <p:pic>
        <p:nvPicPr>
          <p:cNvPr id="63" name="Original source header-leaves icon or leaf ornament, source colors and stroke relationships preserved, ordinary labels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266973" y="3521727"/>
            <a:ext cx="547575" cy="490497"/>
          </a:xfrm>
          <a:prstGeom prst="rect">
            <a:avLst/>
          </a:prstGeom>
        </p:spPr>
      </p:pic>
      <p:pic>
        <p:nvPicPr>
          <p:cNvPr id="64" name="Original source header-leaves icon or leaf ornament, source colors and stroke relationships preserved, ordinary labels removed."/>
          <p:cNvPicPr/>
          <p:nvPr/>
        </p:nvPicPr>
        <p:blipFill>
          <a:blip r:embed="rId6"/>
          <a:stretch>
            <a:fillRect/>
          </a:stretch>
        </p:blipFill>
        <p:spPr>
          <a:xfrm>
            <a:off x="5563970" y="3521727"/>
            <a:ext cx="547575" cy="490497"/>
          </a:xfrm>
          <a:prstGeom prst="rect">
            <a:avLst/>
          </a:prstGeom>
        </p:spPr>
      </p:pic>
      <p:pic>
        <p:nvPicPr>
          <p:cNvPr id="65" name="Original source export-bars icon or leaf ornament, source colors and stroke relationships preserved, ordinary labels removed."/>
          <p:cNvPicPr/>
          <p:nvPr/>
        </p:nvPicPr>
        <p:blipFill>
          <a:blip r:embed="rId9"/>
          <a:stretch>
            <a:fillRect/>
          </a:stretch>
        </p:blipFill>
        <p:spPr>
          <a:xfrm>
            <a:off x="723922" y="2651637"/>
            <a:ext cx="321919" cy="338015"/>
          </a:xfrm>
          <a:prstGeom prst="rect">
            <a:avLst/>
          </a:prstGeom>
        </p:spPr>
      </p:pic>
      <p:pic>
        <p:nvPicPr>
          <p:cNvPr id="66" name="Original source supply-cube icon or leaf ornament, source colors and stroke relationships preserved, ordinary labels remov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1334345" y="2651377"/>
            <a:ext cx="330075" cy="335182"/>
          </a:xfrm>
          <a:prstGeom prst="rect">
            <a:avLst/>
          </a:prstGeom>
        </p:spPr>
      </p:pic>
      <p:pic>
        <p:nvPicPr>
          <p:cNvPr id="67" name="Original source crowd icon or leaf ornament, source colors and stroke relationships preserved, ordinary labels remov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1967081" y="2644674"/>
            <a:ext cx="318183" cy="351941"/>
          </a:xfrm>
          <a:prstGeom prst="rect">
            <a:avLst/>
          </a:prstGeom>
        </p:spPr>
      </p:pic>
      <p:pic>
        <p:nvPicPr>
          <p:cNvPr id="68" name="Original source pin icon or leaf ornament, source colors and stroke relationships preserved, ordinary labels removed."/>
          <p:cNvPicPr/>
          <p:nvPr/>
        </p:nvPicPr>
        <p:blipFill>
          <a:blip r:embed="rId12"/>
          <a:stretch>
            <a:fillRect/>
          </a:stretch>
        </p:blipFill>
        <p:spPr>
          <a:xfrm>
            <a:off x="2591498" y="2650027"/>
            <a:ext cx="347511" cy="341234"/>
          </a:xfrm>
          <a:prstGeom prst="rect">
            <a:avLst/>
          </a:prstGeom>
        </p:spPr>
      </p:pic>
      <p:pic>
        <p:nvPicPr>
          <p:cNvPr id="69" name="Original source tariff-coins icon or leaf ornament, source colors and stroke relationships preserved, ordinary labels removed."/>
          <p:cNvPicPr/>
          <p:nvPr/>
        </p:nvPicPr>
        <p:blipFill>
          <a:blip r:embed="rId13"/>
          <a:stretch>
            <a:fillRect/>
          </a:stretch>
        </p:blipFill>
        <p:spPr>
          <a:xfrm>
            <a:off x="3502422" y="2604243"/>
            <a:ext cx="320004" cy="297613"/>
          </a:xfrm>
          <a:prstGeom prst="rect">
            <a:avLst/>
          </a:prstGeom>
        </p:spPr>
      </p:pic>
      <p:pic>
        <p:nvPicPr>
          <p:cNvPr id="70" name="Original source environment-leaf icon or leaf ornament, source colors and stroke relationships preserved, ordinary labels removed."/>
          <p:cNvPicPr/>
          <p:nvPr/>
        </p:nvPicPr>
        <p:blipFill>
          <a:blip r:embed="rId14"/>
          <a:stretch>
            <a:fillRect/>
          </a:stretch>
        </p:blipFill>
        <p:spPr>
          <a:xfrm>
            <a:off x="4017249" y="2490490"/>
            <a:ext cx="494772" cy="513946"/>
          </a:xfrm>
          <a:prstGeom prst="rect">
            <a:avLst/>
          </a:prstGeom>
        </p:spPr>
      </p:pic>
      <p:pic>
        <p:nvPicPr>
          <p:cNvPr id="71" name="Original source trade-document icon or leaf ornament, source colors and stroke relationships preserved, ordinary labels remov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4669426" y="2490775"/>
            <a:ext cx="493161" cy="513435"/>
          </a:xfrm>
          <a:prstGeom prst="rect">
            <a:avLst/>
          </a:prstGeom>
        </p:spPr>
      </p:pic>
      <p:pic>
        <p:nvPicPr>
          <p:cNvPr id="72" name="Original source subsidy-gear icon or leaf ornament, source colors and stroke relationships preserved, ordinary labels remov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5345111" y="2490775"/>
            <a:ext cx="493693" cy="513435"/>
          </a:xfrm>
          <a:prstGeom prst="rect">
            <a:avLst/>
          </a:prstGeom>
        </p:spPr>
      </p:pic>
      <p:pic>
        <p:nvPicPr>
          <p:cNvPr id="73" name="Original source calendar icon or leaf ornament, source colors and stroke relationships preserved, ordinary labels remov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6569679" y="1311153"/>
            <a:ext cx="256760" cy="241439"/>
          </a:xfrm>
          <a:prstGeom prst="rect">
            <a:avLst/>
          </a:prstGeom>
        </p:spPr>
      </p:pic>
      <p:pic>
        <p:nvPicPr>
          <p:cNvPr id="74" name="Original source sample-bars icon or leaf ornament, source colors and stroke relationships preserved, ordinary labels remov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8412988" y="1296455"/>
            <a:ext cx="257145" cy="270836"/>
          </a:xfrm>
          <a:prstGeom prst="rect">
            <a:avLst/>
          </a:prstGeom>
        </p:spPr>
      </p:pic>
      <p:pic>
        <p:nvPicPr>
          <p:cNvPr id="75" name="Original source analysis-growth icon or leaf ornament, source colors and stroke relationships preserved, ordinary labels removed."/>
          <p:cNvPicPr/>
          <p:nvPr/>
        </p:nvPicPr>
        <p:blipFill>
          <a:blip r:embed="rId26"/>
          <a:stretch>
            <a:fillRect/>
          </a:stretch>
        </p:blipFill>
        <p:spPr>
          <a:xfrm>
            <a:off x="5688197" y="4050749"/>
            <a:ext cx="643240" cy="636875"/>
          </a:xfrm>
          <a:prstGeom prst="rect">
            <a:avLst/>
          </a:prstGeom>
        </p:spPr>
      </p:pic>
      <p:pic>
        <p:nvPicPr>
          <p:cNvPr id="76" name="Original source analysis-sprout icon or leaf ornament, source colors and stroke relationships preserved, ordinary labels removed."/>
          <p:cNvPicPr/>
          <p:nvPr/>
        </p:nvPicPr>
        <p:blipFill>
          <a:blip r:embed="rId27"/>
          <a:stretch>
            <a:fillRect/>
          </a:stretch>
        </p:blipFill>
        <p:spPr>
          <a:xfrm>
            <a:off x="5688521" y="4826818"/>
            <a:ext cx="642592" cy="615748"/>
          </a:xfrm>
          <a:prstGeom prst="rect">
            <a:avLst/>
          </a:prstGeom>
        </p:spPr>
      </p:pic>
      <p:pic>
        <p:nvPicPr>
          <p:cNvPr id="77" name="Original source crop-rice-icon icon or leaf ornament, source colors and stroke relationships preserved, ordinary labels removed."/>
          <p:cNvPicPr/>
          <p:nvPr/>
        </p:nvPicPr>
        <p:blipFill>
          <a:blip r:embed="rId30"/>
          <a:stretch>
            <a:fillRect/>
          </a:stretch>
        </p:blipFill>
        <p:spPr>
          <a:xfrm>
            <a:off x="8555436" y="5382795"/>
            <a:ext cx="402399" cy="418495"/>
          </a:xfrm>
          <a:prstGeom prst="rect">
            <a:avLst/>
          </a:prstGeom>
        </p:spPr>
      </p:pic>
      <p:pic>
        <p:nvPicPr>
          <p:cNvPr id="78" name="Original source crop-pepper-icon icon or leaf ornament, source colors and stroke relationships preserved, ordinary labels removed."/>
          <p:cNvPicPr/>
          <p:nvPr/>
        </p:nvPicPr>
        <p:blipFill>
          <a:blip r:embed="rId32"/>
          <a:stretch>
            <a:fillRect/>
          </a:stretch>
        </p:blipFill>
        <p:spPr>
          <a:xfrm>
            <a:off x="9195714" y="5272502"/>
            <a:ext cx="400005" cy="417861"/>
          </a:xfrm>
          <a:prstGeom prst="rect">
            <a:avLst/>
          </a:prstGeom>
        </p:spPr>
      </p:pic>
      <p:pic>
        <p:nvPicPr>
          <p:cNvPr id="79" name="Original source crop-greenhouse-icon icon or leaf ornament, source colors and stroke relationships preserved, ordinary labels removed."/>
          <p:cNvPicPr/>
          <p:nvPr/>
        </p:nvPicPr>
        <p:blipFill>
          <a:blip r:embed="rId34"/>
          <a:stretch>
            <a:fillRect/>
          </a:stretch>
        </p:blipFill>
        <p:spPr>
          <a:xfrm>
            <a:off x="9882449" y="5142228"/>
            <a:ext cx="403017" cy="402621"/>
          </a:xfrm>
          <a:prstGeom prst="rect">
            <a:avLst/>
          </a:prstGeom>
        </p:spPr>
      </p:pic>
      <p:pic>
        <p:nvPicPr>
          <p:cNvPr id="80" name="Original source crop-seedling-icon icon or leaf ornament, source colors and stroke relationships preserved, ordinary labels removed."/>
          <p:cNvPicPr/>
          <p:nvPr/>
        </p:nvPicPr>
        <p:blipFill>
          <a:blip r:embed="rId36"/>
          <a:stretch>
            <a:fillRect/>
          </a:stretch>
        </p:blipFill>
        <p:spPr>
          <a:xfrm>
            <a:off x="10547616" y="4989513"/>
            <a:ext cx="400005" cy="394238"/>
          </a:xfrm>
          <a:prstGeom prst="rect">
            <a:avLst/>
          </a:prstGeom>
        </p:spPr>
      </p:pic>
      <p:pic>
        <p:nvPicPr>
          <p:cNvPr id="81" name="Original source crop-flower-icon icon or leaf ornament, source colors and stroke relationships preserved, ordinary labels removed."/>
          <p:cNvPicPr/>
          <p:nvPr/>
        </p:nvPicPr>
        <p:blipFill>
          <a:blip r:embed="rId38"/>
          <a:stretch>
            <a:fillRect/>
          </a:stretch>
        </p:blipFill>
        <p:spPr>
          <a:xfrm>
            <a:off x="11223567" y="4854642"/>
            <a:ext cx="400005" cy="393280"/>
          </a:xfrm>
          <a:prstGeom prst="rect">
            <a:avLst/>
          </a:prstGeom>
        </p:spPr>
      </p:pic>
      <p:pic>
        <p:nvPicPr>
          <p:cNvPr id="82" name="Original lower-left table-margin green leaf ornament, isolated by source-faithful edit."/>
          <p:cNvPicPr/>
          <p:nvPr/>
        </p:nvPicPr>
        <p:blipFill>
          <a:blip r:embed="rId41"/>
          <a:stretch>
            <a:fillRect/>
          </a:stretch>
        </p:blipFill>
        <p:spPr>
          <a:xfrm>
            <a:off x="184801" y="5753611"/>
            <a:ext cx="539859" cy="635484"/>
          </a:xfrm>
          <a:prstGeom prst="rect">
            <a:avLst/>
          </a:prstGeom>
        </p:spPr>
      </p:pic>
      <p:pic>
        <p:nvPicPr>
          <p:cNvPr id="83" name="Original source corner-leaves icon or leaf ornament, source colors and stroke relationships preserved, ordinary labels removed."/>
          <p:cNvPicPr/>
          <p:nvPr/>
        </p:nvPicPr>
        <p:blipFill>
          <a:blip r:embed="rId25"/>
          <a:stretch>
            <a:fillRect/>
          </a:stretch>
        </p:blipFill>
        <p:spPr>
          <a:xfrm>
            <a:off x="11176048" y="901124"/>
            <a:ext cx="716262" cy="262645"/>
          </a:xfrm>
          <a:prstGeom prst="rect">
            <a:avLst/>
          </a:prstGeom>
        </p:spPr>
      </p:pic>
      <p:pic>
        <p:nvPicPr>
          <p:cNvPr id="84" name="Original source film-rolls foreground thumbnail/photo, separately editable image; all surrounding native labels/cards removed."/>
          <p:cNvPicPr/>
          <p:nvPr/>
        </p:nvPicPr>
        <p:blipFill>
          <a:blip r:embed="rId39"/>
          <a:stretch>
            <a:fillRect/>
          </a:stretch>
        </p:blipFill>
        <p:spPr>
          <a:xfrm>
            <a:off x="9194297" y="5559054"/>
            <a:ext cx="2922293" cy="1164317"/>
          </a:xfrm>
          <a:prstGeom prst="rect">
            <a:avLst/>
          </a:prstGeom>
        </p:spPr>
      </p:pic>
      <p:pic>
        <p:nvPicPr>
          <p:cNvPr id="85" name="Original source foreground-leaves icon or leaf ornament, source colors and stroke relationships preserved, ordinary labels removed."/>
          <p:cNvPicPr/>
          <p:nvPr/>
        </p:nvPicPr>
        <p:blipFill>
          <a:blip r:embed="rId40"/>
          <a:stretch>
            <a:fillRect/>
          </a:stretch>
        </p:blipFill>
        <p:spPr>
          <a:xfrm>
            <a:off x="8534848" y="6090091"/>
            <a:ext cx="918442" cy="650766"/>
          </a:xfrm>
          <a:prstGeom prst="rect">
            <a:avLst/>
          </a:prstGeom>
        </p:spPr>
      </p:pic>
      <p:sp>
        <p:nvSpPr>
          <p:cNvPr id="86" name="TextBox 86"/>
          <p:cNvSpPr txBox="1"/>
          <p:nvPr/>
        </p:nvSpPr>
        <p:spPr>
          <a:xfrm>
            <a:off x="835721" y="98406"/>
            <a:ext cx="2273653" cy="5161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50" b="1" i="1">
                <a:solidFill>
                  <a:srgbClr val="FFE7AB"/>
                </a:solidFill>
                <a:latin typeface="Microsoft YaHei"/>
                <a:ea typeface="Microsoft YaHei"/>
                <a:cs typeface="Microsoft YaHei"/>
              </a:rPr>
              <a:t>目标市场特性</a:t>
            </a:r>
            <a:endParaRPr lang="zh-CN" sz="2850"/>
          </a:p>
        </p:txBody>
      </p:sp>
      <p:sp>
        <p:nvSpPr>
          <p:cNvPr id="87" name="TextBox 87"/>
          <p:cNvSpPr txBox="1"/>
          <p:nvPr/>
        </p:nvSpPr>
        <p:spPr>
          <a:xfrm>
            <a:off x="3785325" y="172146"/>
            <a:ext cx="3232274" cy="4055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00">
                <a:solidFill>
                  <a:srgbClr val="064B38"/>
                </a:solidFill>
                <a:latin typeface="KaiTi"/>
                <a:ea typeface="KaiTi"/>
                <a:cs typeface="KaiTi"/>
              </a:rPr>
              <a:t>中国对泰贸易潜力评估</a:t>
            </a:r>
            <a:endParaRPr lang="zh-CN" sz="2100"/>
          </a:p>
        </p:txBody>
      </p:sp>
      <p:sp>
        <p:nvSpPr>
          <p:cNvPr id="88" name="TextBox 88"/>
          <p:cNvSpPr txBox="1"/>
          <p:nvPr/>
        </p:nvSpPr>
        <p:spPr>
          <a:xfrm>
            <a:off x="712821" y="811227"/>
            <a:ext cx="393280" cy="393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50" b="1" i="1">
                <a:solidFill>
                  <a:srgbClr val="FFFCE1"/>
                </a:solidFill>
                <a:latin typeface="Liberation Serif"/>
                <a:ea typeface="Liberation Serif"/>
                <a:cs typeface="Liberation Serif"/>
              </a:rPr>
              <a:t>1</a:t>
            </a:r>
            <a:endParaRPr lang="zh-CN" sz="3050"/>
          </a:p>
        </p:txBody>
      </p:sp>
      <p:sp>
        <p:nvSpPr>
          <p:cNvPr id="89" name="TextBox 89"/>
          <p:cNvSpPr txBox="1"/>
          <p:nvPr/>
        </p:nvSpPr>
        <p:spPr>
          <a:xfrm>
            <a:off x="1376482" y="823517"/>
            <a:ext cx="1462512" cy="368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模型设定</a:t>
            </a:r>
            <a:endParaRPr lang="zh-CN" sz="1850"/>
          </a:p>
        </p:txBody>
      </p:sp>
      <p:sp>
        <p:nvSpPr>
          <p:cNvPr id="90" name="TextBox 90"/>
          <p:cNvSpPr txBox="1"/>
          <p:nvPr/>
        </p:nvSpPr>
        <p:spPr>
          <a:xfrm>
            <a:off x="6636608" y="811227"/>
            <a:ext cx="393280" cy="393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50" b="1" i="1">
                <a:solidFill>
                  <a:srgbClr val="FFFCE1"/>
                </a:solidFill>
                <a:latin typeface="Liberation Serif"/>
                <a:ea typeface="Liberation Serif"/>
                <a:cs typeface="Liberation Serif"/>
              </a:rPr>
              <a:t>2</a:t>
            </a:r>
            <a:endParaRPr lang="zh-CN" sz="3050"/>
          </a:p>
        </p:txBody>
      </p:sp>
      <p:sp>
        <p:nvSpPr>
          <p:cNvPr id="91" name="TextBox 91"/>
          <p:cNvSpPr txBox="1"/>
          <p:nvPr/>
        </p:nvSpPr>
        <p:spPr>
          <a:xfrm>
            <a:off x="7300269" y="823517"/>
            <a:ext cx="1462512" cy="368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样本来源</a:t>
            </a:r>
            <a:endParaRPr lang="zh-CN" sz="1850"/>
          </a:p>
        </p:txBody>
      </p:sp>
      <p:sp>
        <p:nvSpPr>
          <p:cNvPr id="92" name="TextBox 92"/>
          <p:cNvSpPr txBox="1"/>
          <p:nvPr/>
        </p:nvSpPr>
        <p:spPr>
          <a:xfrm>
            <a:off x="712821" y="3564190"/>
            <a:ext cx="393280" cy="393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50" b="1" i="1">
                <a:solidFill>
                  <a:srgbClr val="FFFCE1"/>
                </a:solidFill>
                <a:latin typeface="Liberation Serif"/>
                <a:ea typeface="Liberation Serif"/>
                <a:cs typeface="Liberation Serif"/>
              </a:rPr>
              <a:t>3</a:t>
            </a:r>
            <a:endParaRPr lang="zh-CN" sz="3050"/>
          </a:p>
        </p:txBody>
      </p:sp>
      <p:sp>
        <p:nvSpPr>
          <p:cNvPr id="93" name="TextBox 93"/>
          <p:cNvSpPr txBox="1"/>
          <p:nvPr/>
        </p:nvSpPr>
        <p:spPr>
          <a:xfrm>
            <a:off x="1376482" y="3576480"/>
            <a:ext cx="1462512" cy="368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实证结果</a:t>
            </a:r>
            <a:endParaRPr lang="zh-CN" sz="1850"/>
          </a:p>
        </p:txBody>
      </p:sp>
      <p:sp>
        <p:nvSpPr>
          <p:cNvPr id="94" name="TextBox 94"/>
          <p:cNvSpPr txBox="1"/>
          <p:nvPr/>
        </p:nvSpPr>
        <p:spPr>
          <a:xfrm>
            <a:off x="6009817" y="3564190"/>
            <a:ext cx="393280" cy="3932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50" b="1" i="1">
                <a:solidFill>
                  <a:srgbClr val="FFFCE1"/>
                </a:solidFill>
                <a:latin typeface="Liberation Serif"/>
                <a:ea typeface="Liberation Serif"/>
                <a:cs typeface="Liberation Serif"/>
              </a:rPr>
              <a:t>4</a:t>
            </a:r>
            <a:endParaRPr lang="zh-CN" sz="3050"/>
          </a:p>
        </p:txBody>
      </p:sp>
      <p:sp>
        <p:nvSpPr>
          <p:cNvPr id="95" name="TextBox 95"/>
          <p:cNvSpPr txBox="1"/>
          <p:nvPr/>
        </p:nvSpPr>
        <p:spPr>
          <a:xfrm>
            <a:off x="6673478" y="3576480"/>
            <a:ext cx="1462512" cy="368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  <a:endParaRPr lang="zh-CN" sz="1850"/>
          </a:p>
        </p:txBody>
      </p:sp>
      <p:sp>
        <p:nvSpPr>
          <p:cNvPr id="96" name="TextBox 96"/>
          <p:cNvSpPr txBox="1"/>
          <p:nvPr/>
        </p:nvSpPr>
        <p:spPr>
          <a:xfrm>
            <a:off x="565341" y="1351987"/>
            <a:ext cx="2580903" cy="294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82E"/>
                </a:solidFill>
                <a:latin typeface="Microsoft YaHei"/>
                <a:ea typeface="Microsoft YaHei"/>
                <a:cs typeface="Microsoft YaHei"/>
              </a:rPr>
              <a:t>随机前沿引力主模型</a:t>
            </a:r>
            <a:endParaRPr lang="zh-CN" sz="1550"/>
          </a:p>
        </p:txBody>
      </p:sp>
      <p:sp>
        <p:nvSpPr>
          <p:cNvPr id="97" name="TextBox 97"/>
          <p:cNvSpPr txBox="1"/>
          <p:nvPr/>
        </p:nvSpPr>
        <p:spPr>
          <a:xfrm>
            <a:off x="3441204" y="1351987"/>
            <a:ext cx="2408843" cy="294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582E"/>
                </a:solidFill>
                <a:latin typeface="Microsoft YaHei"/>
                <a:ea typeface="Microsoft YaHei"/>
                <a:cs typeface="Microsoft YaHei"/>
              </a:rPr>
              <a:t>贸易非效率模型</a:t>
            </a:r>
            <a:endParaRPr lang="zh-CN" sz="1550"/>
          </a:p>
        </p:txBody>
      </p:sp>
      <p:sp>
        <p:nvSpPr>
          <p:cNvPr id="98" name="TextBox 98"/>
          <p:cNvSpPr txBox="1"/>
          <p:nvPr/>
        </p:nvSpPr>
        <p:spPr>
          <a:xfrm>
            <a:off x="503891" y="2998849"/>
            <a:ext cx="76198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32F25"/>
                </a:solidFill>
                <a:latin typeface="Microsoft YaHei"/>
                <a:ea typeface="Microsoft YaHei"/>
                <a:cs typeface="Microsoft YaHei"/>
              </a:rPr>
              <a:t>出口额</a:t>
            </a:r>
            <a:endParaRPr lang="zh-CN" sz="890"/>
          </a:p>
        </p:txBody>
      </p:sp>
      <p:sp>
        <p:nvSpPr>
          <p:cNvPr id="99" name="TextBox 99"/>
          <p:cNvSpPr txBox="1"/>
          <p:nvPr/>
        </p:nvSpPr>
        <p:spPr>
          <a:xfrm>
            <a:off x="1118391" y="2998849"/>
            <a:ext cx="76198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32F25"/>
                </a:solidFill>
                <a:latin typeface="Microsoft YaHei"/>
                <a:ea typeface="Microsoft YaHei"/>
                <a:cs typeface="Microsoft YaHei"/>
              </a:rPr>
              <a:t>供给能力</a:t>
            </a:r>
            <a:endParaRPr lang="zh-CN" sz="890"/>
          </a:p>
        </p:txBody>
      </p:sp>
      <p:sp>
        <p:nvSpPr>
          <p:cNvPr id="100" name="TextBox 100"/>
          <p:cNvSpPr txBox="1"/>
          <p:nvPr/>
        </p:nvSpPr>
        <p:spPr>
          <a:xfrm>
            <a:off x="1745182" y="2998849"/>
            <a:ext cx="76198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32F25"/>
                </a:solidFill>
                <a:latin typeface="Microsoft YaHei"/>
                <a:ea typeface="Microsoft YaHei"/>
                <a:cs typeface="Microsoft YaHei"/>
              </a:rPr>
              <a:t>经济规模</a:t>
            </a:r>
            <a:endParaRPr lang="zh-CN" sz="890"/>
          </a:p>
        </p:txBody>
      </p:sp>
      <p:sp>
        <p:nvSpPr>
          <p:cNvPr id="101" name="TextBox 101"/>
          <p:cNvSpPr txBox="1"/>
          <p:nvPr/>
        </p:nvSpPr>
        <p:spPr>
          <a:xfrm>
            <a:off x="2384263" y="2998849"/>
            <a:ext cx="76198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32F25"/>
                </a:solidFill>
                <a:latin typeface="Microsoft YaHei"/>
                <a:ea typeface="Microsoft YaHei"/>
                <a:cs typeface="Microsoft YaHei"/>
              </a:rPr>
              <a:t>地理与语言</a:t>
            </a:r>
            <a:endParaRPr lang="zh-CN" sz="890"/>
          </a:p>
        </p:txBody>
      </p:sp>
      <p:sp>
        <p:nvSpPr>
          <p:cNvPr id="102" name="TextBox 102"/>
          <p:cNvSpPr txBox="1"/>
          <p:nvPr/>
        </p:nvSpPr>
        <p:spPr>
          <a:xfrm>
            <a:off x="3281434" y="2974269"/>
            <a:ext cx="76198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32F25"/>
                </a:solidFill>
                <a:latin typeface="Microsoft YaHei"/>
                <a:ea typeface="Microsoft YaHei"/>
                <a:cs typeface="Microsoft YaHei"/>
              </a:rPr>
              <a:t>关税</a:t>
            </a:r>
            <a:endParaRPr lang="zh-CN" sz="890"/>
          </a:p>
        </p:txBody>
      </p:sp>
      <p:sp>
        <p:nvSpPr>
          <p:cNvPr id="103" name="TextBox 103"/>
          <p:cNvSpPr txBox="1"/>
          <p:nvPr/>
        </p:nvSpPr>
        <p:spPr>
          <a:xfrm>
            <a:off x="3883645" y="2974269"/>
            <a:ext cx="76198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32F25"/>
                </a:solidFill>
                <a:latin typeface="Microsoft YaHei"/>
                <a:ea typeface="Microsoft YaHei"/>
                <a:cs typeface="Microsoft YaHei"/>
              </a:rPr>
              <a:t>环保政策</a:t>
            </a:r>
            <a:endParaRPr lang="zh-CN" sz="890"/>
          </a:p>
        </p:txBody>
      </p:sp>
      <p:sp>
        <p:nvSpPr>
          <p:cNvPr id="104" name="TextBox 104"/>
          <p:cNvSpPr txBox="1"/>
          <p:nvPr/>
        </p:nvSpPr>
        <p:spPr>
          <a:xfrm>
            <a:off x="4535016" y="2974269"/>
            <a:ext cx="76198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32F25"/>
                </a:solidFill>
                <a:latin typeface="Microsoft YaHei"/>
                <a:ea typeface="Microsoft YaHei"/>
                <a:cs typeface="Microsoft YaHei"/>
              </a:rPr>
              <a:t>贸易自由度</a:t>
            </a:r>
            <a:endParaRPr lang="zh-CN" sz="890"/>
          </a:p>
        </p:txBody>
      </p:sp>
      <p:sp>
        <p:nvSpPr>
          <p:cNvPr id="105" name="TextBox 105"/>
          <p:cNvSpPr txBox="1"/>
          <p:nvPr/>
        </p:nvSpPr>
        <p:spPr>
          <a:xfrm>
            <a:off x="5210966" y="2974269"/>
            <a:ext cx="76198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132F25"/>
                </a:solidFill>
                <a:latin typeface="Microsoft YaHei"/>
                <a:ea typeface="Microsoft YaHei"/>
                <a:cs typeface="Microsoft YaHei"/>
              </a:rPr>
              <a:t>补贴与产能</a:t>
            </a:r>
            <a:endParaRPr lang="zh-CN" sz="890"/>
          </a:p>
        </p:txBody>
      </p:sp>
      <p:sp>
        <p:nvSpPr>
          <p:cNvPr id="106" name="TextBox 106"/>
          <p:cNvSpPr txBox="1"/>
          <p:nvPr/>
        </p:nvSpPr>
        <p:spPr>
          <a:xfrm>
            <a:off x="6906989" y="1290537"/>
            <a:ext cx="1118391" cy="2826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b="1">
                <a:solidFill>
                  <a:srgbClr val="144C51"/>
                </a:solidFill>
                <a:latin typeface="Microsoft YaHei"/>
                <a:ea typeface="Microsoft YaHei"/>
                <a:cs typeface="Microsoft YaHei"/>
              </a:rPr>
              <a:t>2015 – 2025 年</a:t>
            </a:r>
            <a:endParaRPr lang="zh-CN" sz="1019"/>
          </a:p>
        </p:txBody>
      </p:sp>
      <p:sp>
        <p:nvSpPr>
          <p:cNvPr id="107" name="TextBox 107"/>
          <p:cNvSpPr txBox="1"/>
          <p:nvPr/>
        </p:nvSpPr>
        <p:spPr>
          <a:xfrm>
            <a:off x="8787361" y="1302827"/>
            <a:ext cx="2937314" cy="2458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85" b="1">
                <a:solidFill>
                  <a:srgbClr val="144C51"/>
                </a:solidFill>
                <a:latin typeface="Microsoft YaHei"/>
                <a:ea typeface="Microsoft YaHei"/>
                <a:cs typeface="Microsoft YaHei"/>
              </a:rPr>
              <a:t>中国对泰国 HS3920非泡沫塑料薄膜年度面板数据</a:t>
            </a:r>
            <a:endParaRPr lang="zh-CN" sz="885"/>
          </a:p>
        </p:txBody>
      </p:sp>
      <p:sp>
        <p:nvSpPr>
          <p:cNvPr id="108" name="TextBox 108"/>
          <p:cNvSpPr txBox="1"/>
          <p:nvPr/>
        </p:nvSpPr>
        <p:spPr>
          <a:xfrm>
            <a:off x="7079049" y="1769848"/>
            <a:ext cx="98320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b="1">
                <a:solidFill>
                  <a:srgbClr val="0A7743"/>
                </a:solidFill>
                <a:latin typeface="Microsoft YaHei"/>
                <a:ea typeface="Microsoft YaHei"/>
                <a:cs typeface="Microsoft YaHei"/>
              </a:rPr>
              <a:t>双边贸易数据</a:t>
            </a:r>
            <a:endParaRPr lang="zh-CN" sz="1019"/>
          </a:p>
        </p:txBody>
      </p:sp>
      <p:sp>
        <p:nvSpPr>
          <p:cNvPr id="109" name="TextBox 109"/>
          <p:cNvSpPr txBox="1"/>
          <p:nvPr/>
        </p:nvSpPr>
        <p:spPr>
          <a:xfrm>
            <a:off x="7079049" y="2003358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UN Comtrade</a:t>
            </a:r>
            <a:endParaRPr lang="zh-CN" sz="830"/>
          </a:p>
        </p:txBody>
      </p:sp>
      <p:sp>
        <p:nvSpPr>
          <p:cNvPr id="110" name="TextBox 110"/>
          <p:cNvSpPr txBox="1"/>
          <p:nvPr/>
        </p:nvSpPr>
        <p:spPr>
          <a:xfrm>
            <a:off x="7079049" y="2163128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联合国贸易数据库</a:t>
            </a:r>
            <a:endParaRPr lang="zh-CN" sz="830"/>
          </a:p>
        </p:txBody>
      </p:sp>
      <p:sp>
        <p:nvSpPr>
          <p:cNvPr id="111" name="TextBox 111"/>
          <p:cNvSpPr txBox="1"/>
          <p:nvPr/>
        </p:nvSpPr>
        <p:spPr>
          <a:xfrm>
            <a:off x="8897971" y="1769848"/>
            <a:ext cx="98320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b="1">
                <a:solidFill>
                  <a:srgbClr val="0A7743"/>
                </a:solidFill>
                <a:latin typeface="Microsoft YaHei"/>
                <a:ea typeface="Microsoft YaHei"/>
                <a:cs typeface="Microsoft YaHei"/>
              </a:rPr>
              <a:t>宏观经济数据</a:t>
            </a:r>
            <a:endParaRPr lang="zh-CN" sz="1019"/>
          </a:p>
        </p:txBody>
      </p:sp>
      <p:sp>
        <p:nvSpPr>
          <p:cNvPr id="112" name="TextBox 112"/>
          <p:cNvSpPr txBox="1"/>
          <p:nvPr/>
        </p:nvSpPr>
        <p:spPr>
          <a:xfrm>
            <a:off x="8897971" y="2003358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世界银行</a:t>
            </a:r>
            <a:endParaRPr lang="zh-CN" sz="830"/>
          </a:p>
        </p:txBody>
      </p:sp>
      <p:sp>
        <p:nvSpPr>
          <p:cNvPr id="113" name="TextBox 113"/>
          <p:cNvSpPr txBox="1"/>
          <p:nvPr/>
        </p:nvSpPr>
        <p:spPr>
          <a:xfrm>
            <a:off x="8897971" y="2163128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WDI 数据库</a:t>
            </a:r>
            <a:endParaRPr lang="zh-CN" sz="830"/>
          </a:p>
        </p:txBody>
      </p:sp>
      <p:sp>
        <p:nvSpPr>
          <p:cNvPr id="114" name="TextBox 114"/>
          <p:cNvSpPr txBox="1"/>
          <p:nvPr/>
        </p:nvSpPr>
        <p:spPr>
          <a:xfrm>
            <a:off x="10766053" y="1769848"/>
            <a:ext cx="98320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b="1">
                <a:solidFill>
                  <a:srgbClr val="0A7743"/>
                </a:solidFill>
                <a:latin typeface="Microsoft YaHei"/>
                <a:ea typeface="Microsoft YaHei"/>
                <a:cs typeface="Microsoft YaHei"/>
              </a:rPr>
              <a:t>地理与语言变量</a:t>
            </a:r>
            <a:endParaRPr lang="zh-CN" sz="1019"/>
          </a:p>
        </p:txBody>
      </p:sp>
      <p:sp>
        <p:nvSpPr>
          <p:cNvPr id="115" name="TextBox 115"/>
          <p:cNvSpPr txBox="1"/>
          <p:nvPr/>
        </p:nvSpPr>
        <p:spPr>
          <a:xfrm>
            <a:off x="10766053" y="2003358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8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CEPII 引力配套数据库</a:t>
            </a:r>
            <a:endParaRPr lang="zh-CN" sz="780"/>
          </a:p>
        </p:txBody>
      </p:sp>
      <p:sp>
        <p:nvSpPr>
          <p:cNvPr id="116" name="TextBox 116"/>
          <p:cNvSpPr txBox="1"/>
          <p:nvPr/>
        </p:nvSpPr>
        <p:spPr>
          <a:xfrm>
            <a:off x="7079049" y="2630149"/>
            <a:ext cx="98320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b="1">
                <a:solidFill>
                  <a:srgbClr val="0A7743"/>
                </a:solidFill>
                <a:latin typeface="Microsoft YaHei"/>
                <a:ea typeface="Microsoft YaHei"/>
                <a:cs typeface="Microsoft YaHei"/>
              </a:rPr>
              <a:t>关税数据</a:t>
            </a:r>
            <a:endParaRPr lang="zh-CN" sz="1019"/>
          </a:p>
        </p:txBody>
      </p:sp>
      <p:sp>
        <p:nvSpPr>
          <p:cNvPr id="117" name="TextBox 117"/>
          <p:cNvSpPr txBox="1"/>
          <p:nvPr/>
        </p:nvSpPr>
        <p:spPr>
          <a:xfrm>
            <a:off x="7079049" y="2863659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8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中国自由贸易区服务网</a:t>
            </a:r>
            <a:endParaRPr lang="zh-CN" sz="780"/>
          </a:p>
        </p:txBody>
      </p:sp>
      <p:sp>
        <p:nvSpPr>
          <p:cNvPr id="118" name="TextBox 118"/>
          <p:cNvSpPr txBox="1"/>
          <p:nvPr/>
        </p:nvSpPr>
        <p:spPr>
          <a:xfrm>
            <a:off x="7079049" y="3023429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泰国商务部关税司</a:t>
            </a:r>
            <a:endParaRPr lang="zh-CN" sz="830"/>
          </a:p>
        </p:txBody>
      </p:sp>
      <p:sp>
        <p:nvSpPr>
          <p:cNvPr id="119" name="TextBox 119"/>
          <p:cNvSpPr txBox="1"/>
          <p:nvPr/>
        </p:nvSpPr>
        <p:spPr>
          <a:xfrm>
            <a:off x="8897971" y="2630149"/>
            <a:ext cx="98320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b="1">
                <a:solidFill>
                  <a:srgbClr val="0A7743"/>
                </a:solidFill>
                <a:latin typeface="Microsoft YaHei"/>
                <a:ea typeface="Microsoft YaHei"/>
                <a:cs typeface="Microsoft YaHei"/>
              </a:rPr>
              <a:t>环保与补贴</a:t>
            </a:r>
            <a:endParaRPr lang="zh-CN" sz="1019"/>
          </a:p>
        </p:txBody>
      </p:sp>
      <p:sp>
        <p:nvSpPr>
          <p:cNvPr id="120" name="TextBox 120"/>
          <p:cNvSpPr txBox="1"/>
          <p:nvPr/>
        </p:nvSpPr>
        <p:spPr>
          <a:xfrm>
            <a:off x="8897971" y="2863659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泰国 BCG 白皮书</a:t>
            </a:r>
            <a:endParaRPr lang="zh-CN" sz="830"/>
          </a:p>
        </p:txBody>
      </p:sp>
      <p:sp>
        <p:nvSpPr>
          <p:cNvPr id="121" name="TextBox 121"/>
          <p:cNvSpPr txBox="1"/>
          <p:nvPr/>
        </p:nvSpPr>
        <p:spPr>
          <a:xfrm>
            <a:off x="8897971" y="3023429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泰国农业与合作社部</a:t>
            </a:r>
            <a:endParaRPr lang="zh-CN" sz="830"/>
          </a:p>
        </p:txBody>
      </p:sp>
      <p:sp>
        <p:nvSpPr>
          <p:cNvPr id="122" name="TextBox 122"/>
          <p:cNvSpPr txBox="1"/>
          <p:nvPr/>
        </p:nvSpPr>
        <p:spPr>
          <a:xfrm>
            <a:off x="10766053" y="2630149"/>
            <a:ext cx="98320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b="1">
                <a:solidFill>
                  <a:srgbClr val="0A7743"/>
                </a:solidFill>
                <a:latin typeface="Microsoft YaHei"/>
                <a:ea typeface="Microsoft YaHei"/>
                <a:cs typeface="Microsoft YaHei"/>
              </a:rPr>
              <a:t>本土产能与供给</a:t>
            </a:r>
            <a:endParaRPr lang="zh-CN" sz="1019"/>
          </a:p>
        </p:txBody>
      </p:sp>
      <p:sp>
        <p:nvSpPr>
          <p:cNvPr id="123" name="TextBox 123"/>
          <p:cNvSpPr txBox="1"/>
          <p:nvPr/>
        </p:nvSpPr>
        <p:spPr>
          <a:xfrm>
            <a:off x="10766053" y="2863659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泰国塑料工业协会</a:t>
            </a:r>
            <a:endParaRPr lang="zh-CN" sz="830"/>
          </a:p>
        </p:txBody>
      </p:sp>
      <p:sp>
        <p:nvSpPr>
          <p:cNvPr id="124" name="TextBox 124"/>
          <p:cNvSpPr txBox="1"/>
          <p:nvPr/>
        </p:nvSpPr>
        <p:spPr>
          <a:xfrm>
            <a:off x="10766053" y="3023429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1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《中国塑料工业年鉴》</a:t>
            </a:r>
            <a:endParaRPr lang="zh-CN" sz="810"/>
          </a:p>
        </p:txBody>
      </p:sp>
      <p:sp>
        <p:nvSpPr>
          <p:cNvPr id="125" name="TextBox 125"/>
          <p:cNvSpPr txBox="1"/>
          <p:nvPr/>
        </p:nvSpPr>
        <p:spPr>
          <a:xfrm>
            <a:off x="10766053" y="3183200"/>
            <a:ext cx="995491" cy="196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30">
                <a:solidFill>
                  <a:srgbClr val="15444A"/>
                </a:solidFill>
                <a:latin typeface="Microsoft YaHei"/>
                <a:ea typeface="Microsoft YaHei"/>
                <a:cs typeface="Microsoft YaHei"/>
              </a:rPr>
              <a:t>行业年度报告</a:t>
            </a:r>
            <a:endParaRPr lang="zh-CN" sz="830"/>
          </a:p>
        </p:txBody>
      </p:sp>
      <p:sp>
        <p:nvSpPr>
          <p:cNvPr id="126" name="TextBox 126"/>
          <p:cNvSpPr txBox="1"/>
          <p:nvPr/>
        </p:nvSpPr>
        <p:spPr>
          <a:xfrm>
            <a:off x="2679223" y="3588770"/>
            <a:ext cx="2617773" cy="294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 b="1">
                <a:solidFill>
                  <a:srgbClr val="1E6356"/>
                </a:solidFill>
                <a:latin typeface="Microsoft YaHei"/>
                <a:ea typeface="Microsoft YaHei"/>
                <a:cs typeface="Microsoft YaHei"/>
              </a:rPr>
              <a:t>随机前沿引力主模型估计结果（2015–2025）</a:t>
            </a:r>
            <a:endParaRPr lang="zh-CN" sz="910"/>
          </a:p>
        </p:txBody>
      </p:sp>
      <p:sp>
        <p:nvSpPr>
          <p:cNvPr id="127" name="TextBox 127"/>
          <p:cNvSpPr txBox="1"/>
          <p:nvPr/>
        </p:nvSpPr>
        <p:spPr>
          <a:xfrm>
            <a:off x="6390808" y="4031211"/>
            <a:ext cx="1806632" cy="2580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ED6E18"/>
                </a:solidFill>
                <a:latin typeface="Microsoft YaHei"/>
                <a:ea typeface="Microsoft YaHei"/>
                <a:cs typeface="Microsoft YaHei"/>
              </a:rPr>
              <a:t>整体效率偏低</a:t>
            </a:r>
            <a:endParaRPr lang="zh-CN" sz="1200"/>
          </a:p>
        </p:txBody>
      </p:sp>
      <p:sp>
        <p:nvSpPr>
          <p:cNvPr id="128" name="TextBox 128"/>
          <p:cNvSpPr txBox="1"/>
          <p:nvPr/>
        </p:nvSpPr>
        <p:spPr>
          <a:xfrm>
            <a:off x="6390808" y="4264721"/>
            <a:ext cx="2064723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>
                <a:solidFill>
                  <a:srgbClr val="173E37"/>
                </a:solidFill>
                <a:latin typeface="Microsoft YaHei"/>
                <a:ea typeface="Microsoft YaHei"/>
                <a:cs typeface="Microsoft YaHei"/>
              </a:rPr>
              <a:t>2015–2025 年效率约 0.22–0.38，</a:t>
            </a:r>
            <a:endParaRPr lang="zh-CN" sz="930"/>
          </a:p>
        </p:txBody>
      </p:sp>
      <p:sp>
        <p:nvSpPr>
          <p:cNvPr id="129" name="TextBox 129"/>
          <p:cNvSpPr txBox="1"/>
          <p:nvPr/>
        </p:nvSpPr>
        <p:spPr>
          <a:xfrm>
            <a:off x="6390808" y="4436781"/>
            <a:ext cx="2064723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>
                <a:solidFill>
                  <a:srgbClr val="173E37"/>
                </a:solidFill>
                <a:latin typeface="Microsoft YaHei"/>
                <a:ea typeface="Microsoft YaHei"/>
                <a:cs typeface="Microsoft YaHei"/>
              </a:rPr>
              <a:t>不到四成，且呈小幅下滑趋势。</a:t>
            </a:r>
            <a:endParaRPr lang="zh-CN" sz="930"/>
          </a:p>
        </p:txBody>
      </p:sp>
      <p:sp>
        <p:nvSpPr>
          <p:cNvPr id="130" name="TextBox 130"/>
          <p:cNvSpPr txBox="1"/>
          <p:nvPr/>
        </p:nvSpPr>
        <p:spPr>
          <a:xfrm>
            <a:off x="6390808" y="4805482"/>
            <a:ext cx="1806632" cy="2580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5A8F29"/>
                </a:solidFill>
                <a:latin typeface="Microsoft YaHei"/>
                <a:ea typeface="Microsoft YaHei"/>
                <a:cs typeface="Microsoft YaHei"/>
              </a:rPr>
              <a:t>核心制约因素</a:t>
            </a:r>
            <a:endParaRPr lang="zh-CN" sz="1200"/>
          </a:p>
        </p:txBody>
      </p:sp>
      <p:sp>
        <p:nvSpPr>
          <p:cNvPr id="131" name="TextBox 131"/>
          <p:cNvSpPr txBox="1"/>
          <p:nvPr/>
        </p:nvSpPr>
        <p:spPr>
          <a:xfrm>
            <a:off x="6390808" y="5038992"/>
            <a:ext cx="2064723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>
                <a:solidFill>
                  <a:srgbClr val="173E37"/>
                </a:solidFill>
                <a:latin typeface="Microsoft YaHei"/>
                <a:ea typeface="Microsoft YaHei"/>
                <a:cs typeface="Microsoft YaHei"/>
              </a:rPr>
              <a:t>关税壁垒、泰国本土产能不足、</a:t>
            </a:r>
            <a:endParaRPr lang="zh-CN" sz="930"/>
          </a:p>
        </p:txBody>
      </p:sp>
      <p:sp>
        <p:nvSpPr>
          <p:cNvPr id="132" name="TextBox 132"/>
          <p:cNvSpPr txBox="1"/>
          <p:nvPr/>
        </p:nvSpPr>
        <p:spPr>
          <a:xfrm>
            <a:off x="6390808" y="5211052"/>
            <a:ext cx="2064723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>
                <a:solidFill>
                  <a:srgbClr val="173E37"/>
                </a:solidFill>
                <a:latin typeface="Microsoft YaHei"/>
                <a:ea typeface="Microsoft YaHei"/>
                <a:cs typeface="Microsoft YaHei"/>
              </a:rPr>
              <a:t>环保政策差异、农资流通管制等。</a:t>
            </a:r>
            <a:endParaRPr lang="zh-CN" sz="930"/>
          </a:p>
        </p:txBody>
      </p:sp>
      <p:sp>
        <p:nvSpPr>
          <p:cNvPr id="133" name="TextBox 133"/>
          <p:cNvSpPr txBox="1"/>
          <p:nvPr/>
        </p:nvSpPr>
        <p:spPr>
          <a:xfrm>
            <a:off x="6390808" y="5555173"/>
            <a:ext cx="1806632" cy="2580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 b="1">
                <a:solidFill>
                  <a:srgbClr val="057173"/>
                </a:solidFill>
                <a:latin typeface="Microsoft YaHei"/>
                <a:ea typeface="Microsoft YaHei"/>
                <a:cs typeface="Microsoft YaHei"/>
              </a:rPr>
              <a:t>细分市场分化</a:t>
            </a:r>
            <a:endParaRPr lang="zh-CN" sz="1200"/>
          </a:p>
        </p:txBody>
      </p:sp>
      <p:sp>
        <p:nvSpPr>
          <p:cNvPr id="134" name="TextBox 134"/>
          <p:cNvSpPr txBox="1"/>
          <p:nvPr/>
        </p:nvSpPr>
        <p:spPr>
          <a:xfrm>
            <a:off x="6390808" y="5788683"/>
            <a:ext cx="2064723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>
                <a:solidFill>
                  <a:srgbClr val="173E37"/>
                </a:solidFill>
                <a:latin typeface="Microsoft YaHei"/>
                <a:ea typeface="Microsoft YaHei"/>
                <a:cs typeface="Microsoft YaHei"/>
              </a:rPr>
              <a:t>· 水稻大田、热带果蔬为刚需；</a:t>
            </a:r>
            <a:endParaRPr lang="zh-CN" sz="930"/>
          </a:p>
        </p:txBody>
      </p:sp>
      <p:sp>
        <p:nvSpPr>
          <p:cNvPr id="135" name="TextBox 135"/>
          <p:cNvSpPr txBox="1"/>
          <p:nvPr/>
        </p:nvSpPr>
        <p:spPr>
          <a:xfrm>
            <a:off x="6390808" y="5960743"/>
            <a:ext cx="2064723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>
                <a:solidFill>
                  <a:srgbClr val="173E37"/>
                </a:solidFill>
                <a:latin typeface="Microsoft YaHei"/>
                <a:ea typeface="Microsoft YaHei"/>
                <a:cs typeface="Microsoft YaHei"/>
              </a:rPr>
              <a:t>· 苗圃育苗、花卉景观增长弹性大；</a:t>
            </a:r>
            <a:endParaRPr lang="zh-CN" sz="930"/>
          </a:p>
        </p:txBody>
      </p:sp>
      <p:sp>
        <p:nvSpPr>
          <p:cNvPr id="136" name="TextBox 136"/>
          <p:cNvSpPr txBox="1"/>
          <p:nvPr/>
        </p:nvSpPr>
        <p:spPr>
          <a:xfrm>
            <a:off x="6390808" y="6132803"/>
            <a:ext cx="2064723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30">
                <a:solidFill>
                  <a:srgbClr val="173E37"/>
                </a:solidFill>
                <a:latin typeface="Microsoft YaHei"/>
                <a:ea typeface="Microsoft YaHei"/>
                <a:cs typeface="Microsoft YaHei"/>
              </a:rPr>
              <a:t>· 小型经济作物拓展空间有限。</a:t>
            </a:r>
            <a:endParaRPr lang="zh-CN" sz="930"/>
          </a:p>
        </p:txBody>
      </p:sp>
      <p:sp>
        <p:nvSpPr>
          <p:cNvPr id="137" name="TextBox 137"/>
          <p:cNvSpPr txBox="1"/>
          <p:nvPr/>
        </p:nvSpPr>
        <p:spPr>
          <a:xfrm>
            <a:off x="8443241" y="5800973"/>
            <a:ext cx="58992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水稻大田</a:t>
            </a:r>
            <a:endParaRPr lang="zh-CN" sz="800"/>
          </a:p>
        </p:txBody>
      </p:sp>
      <p:sp>
        <p:nvSpPr>
          <p:cNvPr id="138" name="TextBox 138"/>
          <p:cNvSpPr txBox="1"/>
          <p:nvPr/>
        </p:nvSpPr>
        <p:spPr>
          <a:xfrm>
            <a:off x="9131481" y="5678073"/>
            <a:ext cx="57763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热带果蔬</a:t>
            </a:r>
            <a:endParaRPr lang="zh-CN" sz="800"/>
          </a:p>
        </p:txBody>
      </p:sp>
      <p:sp>
        <p:nvSpPr>
          <p:cNvPr id="139" name="TextBox 139"/>
          <p:cNvSpPr txBox="1"/>
          <p:nvPr/>
        </p:nvSpPr>
        <p:spPr>
          <a:xfrm>
            <a:off x="9758272" y="5542883"/>
            <a:ext cx="65137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小型经济作物</a:t>
            </a:r>
            <a:endParaRPr lang="zh-CN" sz="800"/>
          </a:p>
        </p:txBody>
      </p:sp>
      <p:sp>
        <p:nvSpPr>
          <p:cNvPr id="140" name="TextBox 140"/>
          <p:cNvSpPr txBox="1"/>
          <p:nvPr/>
        </p:nvSpPr>
        <p:spPr>
          <a:xfrm>
            <a:off x="10446513" y="5383112"/>
            <a:ext cx="60221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苗圃育苗</a:t>
            </a:r>
            <a:endParaRPr lang="zh-CN" sz="800"/>
          </a:p>
        </p:txBody>
      </p:sp>
      <p:sp>
        <p:nvSpPr>
          <p:cNvPr id="141" name="TextBox 141"/>
          <p:cNvSpPr txBox="1"/>
          <p:nvPr/>
        </p:nvSpPr>
        <p:spPr>
          <a:xfrm>
            <a:off x="11134754" y="5235632"/>
            <a:ext cx="589921" cy="2212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花卉景观</a:t>
            </a:r>
            <a:endParaRPr lang="zh-CN" sz="800"/>
          </a:p>
        </p:txBody>
      </p:sp>
      <p:sp>
        <p:nvSpPr>
          <p:cNvPr id="142" name="Path 142"/>
          <p:cNvSpPr/>
          <p:nvPr/>
        </p:nvSpPr>
        <p:spPr>
          <a:xfrm>
            <a:off x="0" y="6317154"/>
            <a:ext cx="12191695" cy="79885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5291" y="11298"/>
                  <a:pt x="8949" y="14289"/>
                  <a:pt x="11105" y="16948"/>
                </a:cubicBezTo>
                <a:cubicBezTo>
                  <a:pt x="15634" y="12628"/>
                  <a:pt x="19205" y="9305"/>
                  <a:pt x="21600" y="2658"/>
                </a:cubicBezTo>
                <a:lnTo>
                  <a:pt x="21600" y="25255"/>
                </a:lnTo>
                <a:lnTo>
                  <a:pt x="0" y="252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Path 143"/>
          <p:cNvSpPr/>
          <p:nvPr/>
        </p:nvSpPr>
        <p:spPr>
          <a:xfrm>
            <a:off x="0" y="6390894"/>
            <a:ext cx="12191695" cy="79885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5291" y="11298"/>
                  <a:pt x="8949" y="14289"/>
                  <a:pt x="11105" y="16948"/>
                </a:cubicBezTo>
                <a:cubicBezTo>
                  <a:pt x="15634" y="12628"/>
                  <a:pt x="19205" y="9305"/>
                  <a:pt x="21600" y="2658"/>
                </a:cubicBezTo>
                <a:lnTo>
                  <a:pt x="21600" y="23262"/>
                </a:lnTo>
                <a:lnTo>
                  <a:pt x="0" y="23262"/>
                </a:lnTo>
                <a:close/>
              </a:path>
            </a:pathLst>
          </a:custGeom>
          <a:solidFill>
            <a:srgbClr val="2B8A5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44" name="LaTeX rendered formula formula-main"/>
          <p:cNvPicPr/>
          <p:nvPr/>
        </p:nvPicPr>
        <p:blipFill>
          <a:blip r:embed="rId7"/>
          <a:stretch>
            <a:fillRect/>
          </a:stretch>
        </p:blipFill>
        <p:spPr>
          <a:xfrm>
            <a:off x="651371" y="1806718"/>
            <a:ext cx="2433423" cy="675951"/>
          </a:xfrm>
          <a:prstGeom prst="rect">
            <a:avLst/>
          </a:prstGeom>
        </p:spPr>
      </p:pic>
      <p:pic>
        <p:nvPicPr>
          <p:cNvPr id="145" name="LaTeX rendered formula formula-inefficiency"/>
          <p:cNvPicPr/>
          <p:nvPr/>
        </p:nvPicPr>
        <p:blipFill>
          <a:blip r:embed="rId8"/>
          <a:stretch>
            <a:fillRect/>
          </a:stretch>
        </p:blipFill>
        <p:spPr>
          <a:xfrm>
            <a:off x="3478074" y="1819008"/>
            <a:ext cx="2396553" cy="442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le mint paper and lower bright green agricultural photo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93" y="0"/>
            <a:ext cx="12185509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75567" y="245346"/>
            <a:ext cx="2874051" cy="49069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54" y="0"/>
                </a:moveTo>
                <a:lnTo>
                  <a:pt x="21600" y="0"/>
                </a:lnTo>
                <a:lnTo>
                  <a:pt x="2063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E19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3402885" y="257029"/>
            <a:ext cx="4801768" cy="50237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78" y="0"/>
                </a:moveTo>
                <a:lnTo>
                  <a:pt x="21600" y="0"/>
                </a:lnTo>
                <a:lnTo>
                  <a:pt x="2107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AF6EF"/>
          </a:solidFill>
          <a:ln w="7620">
            <a:solidFill>
              <a:srgbClr val="7CB99A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41904" y="922968"/>
            <a:ext cx="6460773" cy="5152262"/>
          </a:xfrm>
          <a:prstGeom prst="roundRect">
            <a:avLst>
              <a:gd name="adj" fmla="val 3628"/>
            </a:avLst>
          </a:prstGeom>
          <a:solidFill>
            <a:srgbClr val="F8FCF8"/>
          </a:solidFill>
          <a:ln w="8890">
            <a:solidFill>
              <a:srgbClr val="C8E1D4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861093" y="922968"/>
            <a:ext cx="5035431" cy="5187312"/>
          </a:xfrm>
          <a:prstGeom prst="roundRect">
            <a:avLst>
              <a:gd name="adj" fmla="val 3712"/>
            </a:avLst>
          </a:prstGeom>
          <a:solidFill>
            <a:srgbClr val="F8FCF8"/>
          </a:solidFill>
          <a:ln w="8890">
            <a:solidFill>
              <a:srgbClr val="C8E1D4"/>
            </a:solidFill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692398" y="245346"/>
            <a:ext cx="2628705" cy="49069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56" y="0"/>
                </a:moveTo>
                <a:lnTo>
                  <a:pt x="21600" y="0"/>
                </a:lnTo>
                <a:lnTo>
                  <a:pt x="2054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C4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470418" y="1039799"/>
            <a:ext cx="6168695" cy="385543"/>
          </a:xfrm>
          <a:prstGeom prst="rect">
            <a:avLst/>
          </a:prstGeom>
          <a:solidFill>
            <a:srgbClr val="E7F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7001291" y="1039799"/>
            <a:ext cx="4755036" cy="385543"/>
          </a:xfrm>
          <a:prstGeom prst="rect">
            <a:avLst/>
          </a:prstGeom>
          <a:solidFill>
            <a:srgbClr val="E7F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475168" y="1039799"/>
            <a:ext cx="740043" cy="385543"/>
          </a:xfrm>
          <a:prstGeom prst="rect">
            <a:avLst/>
          </a:prstGeom>
          <a:solidFill>
            <a:srgbClr val="137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212874" y="1039799"/>
            <a:ext cx="740043" cy="385543"/>
          </a:xfrm>
          <a:prstGeom prst="rect">
            <a:avLst/>
          </a:prstGeom>
          <a:solidFill>
            <a:srgbClr val="1F88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950581" y="1039799"/>
            <a:ext cx="740043" cy="385543"/>
          </a:xfrm>
          <a:prstGeom prst="rect">
            <a:avLst/>
          </a:prstGeom>
          <a:solidFill>
            <a:srgbClr val="3B97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688287" y="1039799"/>
            <a:ext cx="740043" cy="385543"/>
          </a:xfrm>
          <a:prstGeom prst="rect">
            <a:avLst/>
          </a:prstGeom>
          <a:solidFill>
            <a:srgbClr val="5BA77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425994" y="1039799"/>
            <a:ext cx="740043" cy="385543"/>
          </a:xfrm>
          <a:prstGeom prst="rect">
            <a:avLst/>
          </a:prstGeom>
          <a:solidFill>
            <a:srgbClr val="80BC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5163700" y="1039799"/>
            <a:ext cx="740043" cy="385543"/>
          </a:xfrm>
          <a:prstGeom prst="rect">
            <a:avLst/>
          </a:prstGeom>
          <a:solidFill>
            <a:srgbClr val="B4D6B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5901407" y="1039799"/>
            <a:ext cx="740043" cy="385543"/>
          </a:xfrm>
          <a:prstGeom prst="rect">
            <a:avLst/>
          </a:prstGeom>
          <a:solidFill>
            <a:srgbClr val="D9EBD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8006040" y="1039799"/>
            <a:ext cx="538092" cy="385543"/>
          </a:xfrm>
          <a:prstGeom prst="rect">
            <a:avLst/>
          </a:prstGeom>
          <a:solidFill>
            <a:srgbClr val="137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8541795" y="1039799"/>
            <a:ext cx="538092" cy="385543"/>
          </a:xfrm>
          <a:prstGeom prst="rect">
            <a:avLst/>
          </a:prstGeom>
          <a:solidFill>
            <a:srgbClr val="1F88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9077550" y="1039799"/>
            <a:ext cx="538092" cy="385543"/>
          </a:xfrm>
          <a:prstGeom prst="rect">
            <a:avLst/>
          </a:prstGeom>
          <a:solidFill>
            <a:srgbClr val="3B97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9613306" y="1039799"/>
            <a:ext cx="538092" cy="385543"/>
          </a:xfrm>
          <a:prstGeom prst="rect">
            <a:avLst/>
          </a:prstGeom>
          <a:solidFill>
            <a:srgbClr val="5BA77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0149061" y="1039799"/>
            <a:ext cx="538092" cy="385543"/>
          </a:xfrm>
          <a:prstGeom prst="rect">
            <a:avLst/>
          </a:prstGeom>
          <a:solidFill>
            <a:srgbClr val="80BC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0684816" y="1039799"/>
            <a:ext cx="538092" cy="385543"/>
          </a:xfrm>
          <a:prstGeom prst="rect">
            <a:avLst/>
          </a:prstGeom>
          <a:solidFill>
            <a:srgbClr val="B4D6B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1220571" y="1039799"/>
            <a:ext cx="538092" cy="385543"/>
          </a:xfrm>
          <a:prstGeom prst="rect">
            <a:avLst/>
          </a:prstGeom>
          <a:solidFill>
            <a:srgbClr val="D9EBD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3566449" y="443959"/>
            <a:ext cx="128514" cy="128514"/>
          </a:xfrm>
          <a:prstGeom prst="ellipse">
            <a:avLst/>
          </a:prstGeom>
          <a:solidFill>
            <a:srgbClr val="008D4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458735" y="1565540"/>
            <a:ext cx="2593656" cy="3691871"/>
          </a:xfrm>
          <a:prstGeom prst="roundRect">
            <a:avLst>
              <a:gd name="adj" fmla="val 7207"/>
            </a:avLst>
          </a:prstGeom>
          <a:solidFill>
            <a:srgbClr val="FBFFFB"/>
          </a:solidFill>
          <a:ln w="8890">
            <a:solidFill>
              <a:srgbClr val="CAEBD6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4103873" y="1565540"/>
            <a:ext cx="2558606" cy="3691871"/>
          </a:xfrm>
          <a:prstGeom prst="roundRect">
            <a:avLst>
              <a:gd name="adj" fmla="val 7306"/>
            </a:avLst>
          </a:prstGeom>
          <a:solidFill>
            <a:srgbClr val="FBFFFB"/>
          </a:solidFill>
          <a:ln w="8890">
            <a:solidFill>
              <a:srgbClr val="CAEBD6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6966241" y="1565540"/>
            <a:ext cx="4813451" cy="1799203"/>
          </a:xfrm>
          <a:prstGeom prst="roundRect">
            <a:avLst>
              <a:gd name="adj" fmla="val 9091"/>
            </a:avLst>
          </a:prstGeom>
          <a:solidFill>
            <a:srgbClr val="FAFFFB"/>
          </a:solidFill>
          <a:ln w="8890">
            <a:solidFill>
              <a:srgbClr val="CBE8DB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6966241" y="3481574"/>
            <a:ext cx="4813451" cy="1355244"/>
          </a:xfrm>
          <a:prstGeom prst="roundRect">
            <a:avLst>
              <a:gd name="adj" fmla="val 12069"/>
            </a:avLst>
          </a:prstGeom>
          <a:solidFill>
            <a:srgbClr val="FAFFFB"/>
          </a:solidFill>
          <a:ln w="8890">
            <a:solidFill>
              <a:srgbClr val="CBE8DB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6977924" y="4860184"/>
            <a:ext cx="1577223" cy="1121581"/>
          </a:xfrm>
          <a:prstGeom prst="roundRect">
            <a:avLst>
              <a:gd name="adj" fmla="val 14583"/>
            </a:avLst>
          </a:prstGeom>
          <a:solidFill>
            <a:srgbClr val="FCFFFC"/>
          </a:solidFill>
          <a:ln w="8890">
            <a:solidFill>
              <a:srgbClr val="E0EDE3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8590197" y="4860184"/>
            <a:ext cx="1565540" cy="1121581"/>
          </a:xfrm>
          <a:prstGeom prst="roundRect">
            <a:avLst>
              <a:gd name="adj" fmla="val 14583"/>
            </a:avLst>
          </a:prstGeom>
          <a:solidFill>
            <a:srgbClr val="FCFFFC"/>
          </a:solidFill>
          <a:ln w="8890">
            <a:solidFill>
              <a:srgbClr val="E0EDE3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10190786" y="4860184"/>
            <a:ext cx="1588906" cy="1121581"/>
          </a:xfrm>
          <a:prstGeom prst="roundRect">
            <a:avLst>
              <a:gd name="adj" fmla="val 14583"/>
            </a:avLst>
          </a:prstGeom>
          <a:solidFill>
            <a:srgbClr val="FCFFFC"/>
          </a:solidFill>
          <a:ln w="8890">
            <a:solidFill>
              <a:srgbClr val="E0EDE3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3169222" y="2313261"/>
            <a:ext cx="829503" cy="794453"/>
          </a:xfrm>
          <a:prstGeom prst="ellipse">
            <a:avLst/>
          </a:prstGeom>
          <a:solidFill>
            <a:srgbClr val="E5F9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3169222" y="2967516"/>
            <a:ext cx="829503" cy="794453"/>
          </a:xfrm>
          <a:prstGeom prst="ellipse">
            <a:avLst/>
          </a:prstGeom>
          <a:solidFill>
            <a:srgbClr val="E5F9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3169222" y="3621772"/>
            <a:ext cx="829503" cy="794453"/>
          </a:xfrm>
          <a:prstGeom prst="ellipse">
            <a:avLst/>
          </a:prstGeom>
          <a:solidFill>
            <a:srgbClr val="E5F9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3169222" y="4276027"/>
            <a:ext cx="829503" cy="794453"/>
          </a:xfrm>
          <a:prstGeom prst="ellipse">
            <a:avLst/>
          </a:prstGeom>
          <a:solidFill>
            <a:srgbClr val="E5F9E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6" name="Source-faithful separated thai-photo"/>
          <p:cNvPicPr/>
          <p:nvPr/>
        </p:nvPicPr>
        <p:blipFill>
          <a:blip r:embed="rId7"/>
          <a:stretch>
            <a:fillRect/>
          </a:stretch>
        </p:blipFill>
        <p:spPr>
          <a:xfrm>
            <a:off x="295892" y="1395287"/>
            <a:ext cx="2808279" cy="1319035"/>
          </a:xfrm>
          <a:prstGeom prst="rect">
            <a:avLst/>
          </a:prstGeom>
        </p:spPr>
      </p:pic>
      <p:pic>
        <p:nvPicPr>
          <p:cNvPr id="37" name="Source-faithful separated japan-photo"/>
          <p:cNvPicPr/>
          <p:nvPr/>
        </p:nvPicPr>
        <p:blipFill>
          <a:blip r:embed="rId8"/>
          <a:stretch>
            <a:fillRect/>
          </a:stretch>
        </p:blipFill>
        <p:spPr>
          <a:xfrm>
            <a:off x="4048174" y="1395287"/>
            <a:ext cx="2678427" cy="1326615"/>
          </a:xfrm>
          <a:prstGeom prst="rect">
            <a:avLst/>
          </a:prstGeom>
        </p:spPr>
      </p:pic>
      <p:pic>
        <p:nvPicPr>
          <p:cNvPr id="38" name="Source-faithful separated thai-strip"/>
          <p:cNvPicPr/>
          <p:nvPr/>
        </p:nvPicPr>
        <p:blipFill>
          <a:blip r:embed="rId26"/>
          <a:stretch>
            <a:fillRect/>
          </a:stretch>
        </p:blipFill>
        <p:spPr>
          <a:xfrm>
            <a:off x="6872530" y="1423545"/>
            <a:ext cx="5017599" cy="973295"/>
          </a:xfrm>
          <a:prstGeom prst="rect">
            <a:avLst/>
          </a:prstGeom>
        </p:spPr>
      </p:pic>
      <p:pic>
        <p:nvPicPr>
          <p:cNvPr id="39" name="Source-faithful separated japan-strip"/>
          <p:cNvPicPr/>
          <p:nvPr/>
        </p:nvPicPr>
        <p:blipFill>
          <a:blip r:embed="rId27"/>
          <a:stretch>
            <a:fillRect/>
          </a:stretch>
        </p:blipFill>
        <p:spPr>
          <a:xfrm>
            <a:off x="6877449" y="3349054"/>
            <a:ext cx="5271430" cy="919296"/>
          </a:xfrm>
          <a:prstGeom prst="rect">
            <a:avLst/>
          </a:prstGeom>
        </p:spPr>
      </p:pic>
      <p:sp>
        <p:nvSpPr>
          <p:cNvPr id="40" name="Rect 40"/>
          <p:cNvSpPr/>
          <p:nvPr/>
        </p:nvSpPr>
        <p:spPr>
          <a:xfrm>
            <a:off x="7012974" y="2219796"/>
            <a:ext cx="4708303" cy="1051482"/>
          </a:xfrm>
          <a:prstGeom prst="rect">
            <a:avLst/>
          </a:prstGeom>
          <a:solidFill>
            <a:srgbClr val="FBFF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7012974" y="4089097"/>
            <a:ext cx="4708303" cy="689305"/>
          </a:xfrm>
          <a:prstGeom prst="rect">
            <a:avLst/>
          </a:prstGeom>
          <a:solidFill>
            <a:srgbClr val="F9FEF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470418" y="2535240"/>
            <a:ext cx="2570290" cy="2710487"/>
          </a:xfrm>
          <a:prstGeom prst="roundRect">
            <a:avLst>
              <a:gd name="adj" fmla="val 6818"/>
            </a:avLst>
          </a:prstGeom>
          <a:solidFill>
            <a:srgbClr val="F7FFF8"/>
          </a:solidFill>
          <a:ln w="8890">
            <a:solidFill>
              <a:srgbClr val="D3EDDC"/>
            </a:solidFill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4115556" y="2535240"/>
            <a:ext cx="2535240" cy="2710487"/>
          </a:xfrm>
          <a:prstGeom prst="roundRect">
            <a:avLst>
              <a:gd name="adj" fmla="val 6912"/>
            </a:avLst>
          </a:prstGeom>
          <a:solidFill>
            <a:srgbClr val="FEFFFC"/>
          </a:solidFill>
          <a:ln w="8890">
            <a:solidFill>
              <a:srgbClr val="D3EDDC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0307618" y="2605339"/>
            <a:ext cx="420593" cy="443959"/>
          </a:xfrm>
          <a:prstGeom prst="rect">
            <a:avLst/>
          </a:prstGeom>
          <a:solidFill>
            <a:srgbClr val="CBEA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 flipH="1">
            <a:off x="10249202" y="2617022"/>
            <a:ext cx="70099" cy="420593"/>
          </a:xfrm>
          <a:prstGeom prst="line">
            <a:avLst/>
          </a:prstGeom>
          <a:noFill/>
          <a:ln w="4445">
            <a:solidFill>
              <a:srgbClr val="B1DFF6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H="1">
            <a:off x="10307618" y="2617022"/>
            <a:ext cx="70099" cy="420593"/>
          </a:xfrm>
          <a:prstGeom prst="line">
            <a:avLst/>
          </a:prstGeom>
          <a:noFill/>
          <a:ln w="4445">
            <a:solidFill>
              <a:srgbClr val="B1DFF6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 flipH="1">
            <a:off x="10366033" y="2617022"/>
            <a:ext cx="70099" cy="420593"/>
          </a:xfrm>
          <a:prstGeom prst="line">
            <a:avLst/>
          </a:prstGeom>
          <a:noFill/>
          <a:ln w="4445">
            <a:solidFill>
              <a:srgbClr val="B1DFF6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 flipH="1">
            <a:off x="10424449" y="2617022"/>
            <a:ext cx="70099" cy="420593"/>
          </a:xfrm>
          <a:prstGeom prst="line">
            <a:avLst/>
          </a:prstGeom>
          <a:noFill/>
          <a:ln w="4445">
            <a:solidFill>
              <a:srgbClr val="B1DFF6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 flipH="1">
            <a:off x="10482865" y="2617022"/>
            <a:ext cx="70099" cy="420593"/>
          </a:xfrm>
          <a:prstGeom prst="line">
            <a:avLst/>
          </a:prstGeom>
          <a:noFill/>
          <a:ln w="4445">
            <a:solidFill>
              <a:srgbClr val="B1DFF6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 flipH="1">
            <a:off x="10541280" y="2617022"/>
            <a:ext cx="70099" cy="420593"/>
          </a:xfrm>
          <a:prstGeom prst="line">
            <a:avLst/>
          </a:prstGeom>
          <a:noFill/>
          <a:ln w="4445">
            <a:solidFill>
              <a:srgbClr val="B1DFF6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 flipH="1">
            <a:off x="10599696" y="2617022"/>
            <a:ext cx="70099" cy="420593"/>
          </a:xfrm>
          <a:prstGeom prst="line">
            <a:avLst/>
          </a:prstGeom>
          <a:noFill/>
          <a:ln w="4445">
            <a:solidFill>
              <a:srgbClr val="B1DFF6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 flipH="1">
            <a:off x="10658112" y="2617022"/>
            <a:ext cx="70099" cy="420593"/>
          </a:xfrm>
          <a:prstGeom prst="line">
            <a:avLst/>
          </a:prstGeom>
          <a:noFill/>
          <a:ln w="4445">
            <a:solidFill>
              <a:srgbClr val="B1DFF6"/>
            </a:solidFill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493785" y="5397608"/>
            <a:ext cx="6180378" cy="560790"/>
          </a:xfrm>
          <a:prstGeom prst="roundRect">
            <a:avLst>
              <a:gd name="adj" fmla="val 50000"/>
            </a:avLst>
          </a:prstGeom>
          <a:solidFill>
            <a:srgbClr val="27924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Path 54"/>
          <p:cNvSpPr/>
          <p:nvPr/>
        </p:nvSpPr>
        <p:spPr>
          <a:xfrm>
            <a:off x="7141488" y="2628705"/>
            <a:ext cx="4474641" cy="4205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9000"/>
                </a:moveTo>
                <a:cubicBezTo>
                  <a:pt x="320" y="8000"/>
                  <a:pt x="1297" y="4000"/>
                  <a:pt x="1917" y="3000"/>
                </a:cubicBezTo>
                <a:cubicBezTo>
                  <a:pt x="2538" y="2000"/>
                  <a:pt x="3121" y="2300"/>
                  <a:pt x="3722" y="3000"/>
                </a:cubicBezTo>
                <a:cubicBezTo>
                  <a:pt x="4324" y="3700"/>
                  <a:pt x="4935" y="5200"/>
                  <a:pt x="5527" y="7200"/>
                </a:cubicBezTo>
                <a:cubicBezTo>
                  <a:pt x="6119" y="9200"/>
                  <a:pt x="6683" y="13300"/>
                  <a:pt x="7275" y="15000"/>
                </a:cubicBezTo>
                <a:cubicBezTo>
                  <a:pt x="7867" y="16700"/>
                  <a:pt x="8478" y="17000"/>
                  <a:pt x="9080" y="17400"/>
                </a:cubicBezTo>
                <a:cubicBezTo>
                  <a:pt x="9681" y="17800"/>
                  <a:pt x="10283" y="17500"/>
                  <a:pt x="10885" y="17400"/>
                </a:cubicBezTo>
                <a:cubicBezTo>
                  <a:pt x="11486" y="17300"/>
                  <a:pt x="12088" y="17100"/>
                  <a:pt x="12689" y="16800"/>
                </a:cubicBezTo>
                <a:cubicBezTo>
                  <a:pt x="13291" y="16500"/>
                  <a:pt x="13892" y="15800"/>
                  <a:pt x="14494" y="15600"/>
                </a:cubicBezTo>
                <a:cubicBezTo>
                  <a:pt x="15096" y="15400"/>
                  <a:pt x="15707" y="15800"/>
                  <a:pt x="16299" y="15600"/>
                </a:cubicBezTo>
                <a:cubicBezTo>
                  <a:pt x="16891" y="15400"/>
                  <a:pt x="17474" y="16100"/>
                  <a:pt x="18047" y="14400"/>
                </a:cubicBezTo>
                <a:cubicBezTo>
                  <a:pt x="18620" y="12700"/>
                  <a:pt x="19147" y="7800"/>
                  <a:pt x="19739" y="5400"/>
                </a:cubicBezTo>
                <a:cubicBezTo>
                  <a:pt x="20331" y="3000"/>
                  <a:pt x="21290" y="900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6E6C6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Path 55"/>
          <p:cNvSpPr/>
          <p:nvPr/>
        </p:nvSpPr>
        <p:spPr>
          <a:xfrm>
            <a:off x="7141488" y="4122199"/>
            <a:ext cx="4451274" cy="37580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3542"/>
                </a:moveTo>
                <a:cubicBezTo>
                  <a:pt x="321" y="13318"/>
                  <a:pt x="1304" y="13542"/>
                  <a:pt x="1928" y="12199"/>
                </a:cubicBezTo>
                <a:cubicBezTo>
                  <a:pt x="2551" y="10856"/>
                  <a:pt x="3137" y="7498"/>
                  <a:pt x="3742" y="5484"/>
                </a:cubicBezTo>
                <a:cubicBezTo>
                  <a:pt x="4346" y="3469"/>
                  <a:pt x="4961" y="0"/>
                  <a:pt x="5556" y="112"/>
                </a:cubicBezTo>
                <a:cubicBezTo>
                  <a:pt x="6151" y="224"/>
                  <a:pt x="6718" y="4141"/>
                  <a:pt x="7313" y="6155"/>
                </a:cubicBezTo>
                <a:cubicBezTo>
                  <a:pt x="7909" y="8170"/>
                  <a:pt x="8523" y="11080"/>
                  <a:pt x="9128" y="12199"/>
                </a:cubicBezTo>
                <a:cubicBezTo>
                  <a:pt x="9732" y="13318"/>
                  <a:pt x="10337" y="12759"/>
                  <a:pt x="10942" y="12870"/>
                </a:cubicBezTo>
                <a:cubicBezTo>
                  <a:pt x="11546" y="12982"/>
                  <a:pt x="12151" y="13318"/>
                  <a:pt x="12756" y="12870"/>
                </a:cubicBezTo>
                <a:cubicBezTo>
                  <a:pt x="13361" y="12423"/>
                  <a:pt x="13965" y="11416"/>
                  <a:pt x="14570" y="10184"/>
                </a:cubicBezTo>
                <a:cubicBezTo>
                  <a:pt x="15175" y="8953"/>
                  <a:pt x="15789" y="5596"/>
                  <a:pt x="16384" y="5484"/>
                </a:cubicBezTo>
                <a:cubicBezTo>
                  <a:pt x="16980" y="5372"/>
                  <a:pt x="17565" y="9513"/>
                  <a:pt x="18142" y="9513"/>
                </a:cubicBezTo>
                <a:cubicBezTo>
                  <a:pt x="18718" y="9513"/>
                  <a:pt x="19266" y="5596"/>
                  <a:pt x="19843" y="5484"/>
                </a:cubicBezTo>
                <a:cubicBezTo>
                  <a:pt x="20419" y="5372"/>
                  <a:pt x="21307" y="8282"/>
                  <a:pt x="21600" y="88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D7EFDE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1673781" y="2733853"/>
            <a:ext cx="934651" cy="116831"/>
          </a:xfrm>
          <a:prstGeom prst="roundRect">
            <a:avLst>
              <a:gd name="adj" fmla="val 50000"/>
            </a:avLst>
          </a:prstGeom>
          <a:solidFill>
            <a:srgbClr val="C7E4D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5272187" y="2733853"/>
            <a:ext cx="934651" cy="116831"/>
          </a:xfrm>
          <a:prstGeom prst="roundRect">
            <a:avLst>
              <a:gd name="adj" fmla="val 50000"/>
            </a:avLst>
          </a:prstGeom>
          <a:solidFill>
            <a:srgbClr val="DCDDD5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1673781" y="3388109"/>
            <a:ext cx="934651" cy="116831"/>
          </a:xfrm>
          <a:prstGeom prst="roundRect">
            <a:avLst>
              <a:gd name="adj" fmla="val 50000"/>
            </a:avLst>
          </a:prstGeom>
          <a:solidFill>
            <a:srgbClr val="C7E4D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5272187" y="3388109"/>
            <a:ext cx="934651" cy="116831"/>
          </a:xfrm>
          <a:prstGeom prst="roundRect">
            <a:avLst>
              <a:gd name="adj" fmla="val 50000"/>
            </a:avLst>
          </a:prstGeom>
          <a:solidFill>
            <a:srgbClr val="DCDDD5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1673781" y="4042365"/>
            <a:ext cx="934651" cy="116831"/>
          </a:xfrm>
          <a:prstGeom prst="roundRect">
            <a:avLst>
              <a:gd name="adj" fmla="val 50000"/>
            </a:avLst>
          </a:prstGeom>
          <a:solidFill>
            <a:srgbClr val="C7E4D0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oundrect 61"/>
          <p:cNvSpPr/>
          <p:nvPr/>
        </p:nvSpPr>
        <p:spPr>
          <a:xfrm>
            <a:off x="5272187" y="4042365"/>
            <a:ext cx="934651" cy="116831"/>
          </a:xfrm>
          <a:prstGeom prst="roundRect">
            <a:avLst>
              <a:gd name="adj" fmla="val 50000"/>
            </a:avLst>
          </a:prstGeom>
          <a:solidFill>
            <a:srgbClr val="DCDDD5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oundrect 62"/>
          <p:cNvSpPr/>
          <p:nvPr/>
        </p:nvSpPr>
        <p:spPr>
          <a:xfrm>
            <a:off x="1673781" y="4696620"/>
            <a:ext cx="934651" cy="116831"/>
          </a:xfrm>
          <a:prstGeom prst="roundRect">
            <a:avLst>
              <a:gd name="adj" fmla="val 50000"/>
            </a:avLst>
          </a:prstGeom>
          <a:solidFill>
            <a:srgbClr val="C7E4D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oundrect 63"/>
          <p:cNvSpPr/>
          <p:nvPr/>
        </p:nvSpPr>
        <p:spPr>
          <a:xfrm>
            <a:off x="5272187" y="4696620"/>
            <a:ext cx="934651" cy="116831"/>
          </a:xfrm>
          <a:prstGeom prst="roundRect">
            <a:avLst>
              <a:gd name="adj" fmla="val 50000"/>
            </a:avLst>
          </a:prstGeom>
          <a:solidFill>
            <a:srgbClr val="DCDDD5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Path 64"/>
          <p:cNvSpPr/>
          <p:nvPr/>
        </p:nvSpPr>
        <p:spPr>
          <a:xfrm>
            <a:off x="7141488" y="2667649"/>
            <a:ext cx="1507124" cy="25313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631"/>
                </a:moveTo>
                <a:cubicBezTo>
                  <a:pt x="949" y="9969"/>
                  <a:pt x="3851" y="3323"/>
                  <a:pt x="5693" y="1662"/>
                </a:cubicBezTo>
                <a:cubicBezTo>
                  <a:pt x="7535" y="0"/>
                  <a:pt x="9265" y="498"/>
                  <a:pt x="11051" y="1662"/>
                </a:cubicBezTo>
                <a:cubicBezTo>
                  <a:pt x="12837" y="2825"/>
                  <a:pt x="14651" y="5317"/>
                  <a:pt x="16409" y="8640"/>
                </a:cubicBezTo>
                <a:cubicBezTo>
                  <a:pt x="18167" y="11963"/>
                  <a:pt x="20735" y="19440"/>
                  <a:pt x="21600" y="21600"/>
                </a:cubicBezTo>
              </a:path>
            </a:pathLst>
          </a:custGeom>
          <a:noFill/>
          <a:ln w="20320">
            <a:solidFill>
              <a:srgbClr val="F68D00"/>
            </a:solidFill>
          </a:ln>
        </p:spPr>
        <p:txBody>
          <a:bodyPr/>
          <a:lstStyle/>
          <a:p/>
        </p:txBody>
      </p:sp>
      <p:sp>
        <p:nvSpPr>
          <p:cNvPr id="65" name="Path 65"/>
          <p:cNvSpPr/>
          <p:nvPr/>
        </p:nvSpPr>
        <p:spPr>
          <a:xfrm>
            <a:off x="8648613" y="2909101"/>
            <a:ext cx="2231479" cy="6620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3812"/>
                </a:moveTo>
                <a:cubicBezTo>
                  <a:pt x="603" y="6353"/>
                  <a:pt x="2413" y="16518"/>
                  <a:pt x="3619" y="19059"/>
                </a:cubicBezTo>
                <a:cubicBezTo>
                  <a:pt x="4825" y="21600"/>
                  <a:pt x="6031" y="19694"/>
                  <a:pt x="7238" y="19059"/>
                </a:cubicBezTo>
                <a:cubicBezTo>
                  <a:pt x="8444" y="18424"/>
                  <a:pt x="9650" y="17153"/>
                  <a:pt x="10857" y="15247"/>
                </a:cubicBezTo>
                <a:cubicBezTo>
                  <a:pt x="12063" y="13341"/>
                  <a:pt x="13269" y="8894"/>
                  <a:pt x="14475" y="7624"/>
                </a:cubicBezTo>
                <a:cubicBezTo>
                  <a:pt x="15682" y="6353"/>
                  <a:pt x="16907" y="8894"/>
                  <a:pt x="18094" y="7624"/>
                </a:cubicBezTo>
                <a:cubicBezTo>
                  <a:pt x="19282" y="6353"/>
                  <a:pt x="21016" y="1271"/>
                  <a:pt x="21600" y="0"/>
                </a:cubicBezTo>
              </a:path>
            </a:pathLst>
          </a:custGeom>
          <a:noFill/>
          <a:ln w="20320">
            <a:solidFill>
              <a:srgbClr val="079748"/>
            </a:solidFill>
          </a:ln>
        </p:spPr>
        <p:txBody>
          <a:bodyPr/>
          <a:lstStyle/>
          <a:p/>
        </p:txBody>
      </p:sp>
      <p:sp>
        <p:nvSpPr>
          <p:cNvPr id="66" name="Path 66"/>
          <p:cNvSpPr/>
          <p:nvPr/>
        </p:nvSpPr>
        <p:spPr>
          <a:xfrm>
            <a:off x="10880091" y="2628705"/>
            <a:ext cx="736037" cy="28039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1714" y="19350"/>
                  <a:pt x="6686" y="11700"/>
                  <a:pt x="10286" y="8100"/>
                </a:cubicBezTo>
                <a:cubicBezTo>
                  <a:pt x="13886" y="4500"/>
                  <a:pt x="19714" y="1350"/>
                  <a:pt x="21600" y="0"/>
                </a:cubicBezTo>
              </a:path>
            </a:pathLst>
          </a:custGeom>
          <a:noFill/>
          <a:ln w="20320">
            <a:solidFill>
              <a:srgbClr val="F68D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7" name="Path 67"/>
          <p:cNvSpPr/>
          <p:nvPr/>
        </p:nvSpPr>
        <p:spPr>
          <a:xfrm>
            <a:off x="7141488" y="4122199"/>
            <a:ext cx="4451274" cy="23561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321" y="21243"/>
                  <a:pt x="1304" y="21600"/>
                  <a:pt x="1928" y="19458"/>
                </a:cubicBezTo>
                <a:cubicBezTo>
                  <a:pt x="2551" y="17316"/>
                  <a:pt x="3137" y="11960"/>
                  <a:pt x="3742" y="8747"/>
                </a:cubicBezTo>
                <a:cubicBezTo>
                  <a:pt x="4346" y="5534"/>
                  <a:pt x="4961" y="0"/>
                  <a:pt x="5556" y="179"/>
                </a:cubicBezTo>
                <a:cubicBezTo>
                  <a:pt x="6151" y="357"/>
                  <a:pt x="6718" y="6605"/>
                  <a:pt x="7313" y="9818"/>
                </a:cubicBezTo>
                <a:cubicBezTo>
                  <a:pt x="7909" y="13031"/>
                  <a:pt x="8523" y="17673"/>
                  <a:pt x="9128" y="19458"/>
                </a:cubicBezTo>
                <a:cubicBezTo>
                  <a:pt x="9732" y="21243"/>
                  <a:pt x="10337" y="20350"/>
                  <a:pt x="10942" y="20529"/>
                </a:cubicBezTo>
                <a:cubicBezTo>
                  <a:pt x="11546" y="20707"/>
                  <a:pt x="12151" y="21243"/>
                  <a:pt x="12756" y="20529"/>
                </a:cubicBezTo>
                <a:cubicBezTo>
                  <a:pt x="13361" y="19815"/>
                  <a:pt x="13965" y="18208"/>
                  <a:pt x="14570" y="16245"/>
                </a:cubicBezTo>
                <a:cubicBezTo>
                  <a:pt x="15175" y="14281"/>
                  <a:pt x="15789" y="8926"/>
                  <a:pt x="16384" y="8747"/>
                </a:cubicBezTo>
                <a:cubicBezTo>
                  <a:pt x="16980" y="8569"/>
                  <a:pt x="17565" y="15174"/>
                  <a:pt x="18142" y="15174"/>
                </a:cubicBezTo>
                <a:cubicBezTo>
                  <a:pt x="18718" y="15174"/>
                  <a:pt x="19266" y="8926"/>
                  <a:pt x="19843" y="8747"/>
                </a:cubicBezTo>
                <a:cubicBezTo>
                  <a:pt x="20419" y="8569"/>
                  <a:pt x="21307" y="13210"/>
                  <a:pt x="21600" y="14102"/>
                </a:cubicBezTo>
              </a:path>
            </a:pathLst>
          </a:custGeom>
          <a:noFill/>
          <a:ln w="20320">
            <a:solidFill>
              <a:srgbClr val="078F45"/>
            </a:solidFill>
          </a:ln>
        </p:spPr>
        <p:txBody>
          <a:bodyPr/>
          <a:lstStyle/>
          <a:p/>
        </p:txBody>
      </p:sp>
      <p:sp>
        <p:nvSpPr>
          <p:cNvPr id="68" name="Roundrect 68"/>
          <p:cNvSpPr/>
          <p:nvPr/>
        </p:nvSpPr>
        <p:spPr>
          <a:xfrm>
            <a:off x="1673781" y="2733853"/>
            <a:ext cx="817819" cy="116831"/>
          </a:xfrm>
          <a:prstGeom prst="roundRect">
            <a:avLst>
              <a:gd name="adj" fmla="val 50000"/>
            </a:avLst>
          </a:prstGeom>
          <a:solidFill>
            <a:srgbClr val="07994E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oundrect 69"/>
          <p:cNvSpPr/>
          <p:nvPr/>
        </p:nvSpPr>
        <p:spPr>
          <a:xfrm>
            <a:off x="5272187" y="2733853"/>
            <a:ext cx="700988" cy="116831"/>
          </a:xfrm>
          <a:prstGeom prst="roundRect">
            <a:avLst>
              <a:gd name="adj" fmla="val 50000"/>
            </a:avLst>
          </a:prstGeom>
          <a:solidFill>
            <a:srgbClr val="F78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oundrect 70"/>
          <p:cNvSpPr/>
          <p:nvPr/>
        </p:nvSpPr>
        <p:spPr>
          <a:xfrm>
            <a:off x="1673781" y="3388109"/>
            <a:ext cx="700988" cy="116831"/>
          </a:xfrm>
          <a:prstGeom prst="roundRect">
            <a:avLst>
              <a:gd name="adj" fmla="val 50000"/>
            </a:avLst>
          </a:prstGeom>
          <a:solidFill>
            <a:srgbClr val="07994E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oundrect 71"/>
          <p:cNvSpPr/>
          <p:nvPr/>
        </p:nvSpPr>
        <p:spPr>
          <a:xfrm>
            <a:off x="5272187" y="3388109"/>
            <a:ext cx="467325" cy="116831"/>
          </a:xfrm>
          <a:prstGeom prst="roundRect">
            <a:avLst>
              <a:gd name="adj" fmla="val 50000"/>
            </a:avLst>
          </a:prstGeom>
          <a:solidFill>
            <a:srgbClr val="F78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oundrect 72"/>
          <p:cNvSpPr/>
          <p:nvPr/>
        </p:nvSpPr>
        <p:spPr>
          <a:xfrm>
            <a:off x="1673781" y="4042365"/>
            <a:ext cx="467325" cy="116831"/>
          </a:xfrm>
          <a:prstGeom prst="roundRect">
            <a:avLst>
              <a:gd name="adj" fmla="val 50000"/>
            </a:avLst>
          </a:prstGeom>
          <a:solidFill>
            <a:srgbClr val="07994E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oundrect 73"/>
          <p:cNvSpPr/>
          <p:nvPr/>
        </p:nvSpPr>
        <p:spPr>
          <a:xfrm>
            <a:off x="5272187" y="4042365"/>
            <a:ext cx="817819" cy="116831"/>
          </a:xfrm>
          <a:prstGeom prst="roundRect">
            <a:avLst>
              <a:gd name="adj" fmla="val 50000"/>
            </a:avLst>
          </a:prstGeom>
          <a:solidFill>
            <a:srgbClr val="F78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oundrect 74"/>
          <p:cNvSpPr/>
          <p:nvPr/>
        </p:nvSpPr>
        <p:spPr>
          <a:xfrm>
            <a:off x="1673781" y="4696620"/>
            <a:ext cx="584157" cy="116831"/>
          </a:xfrm>
          <a:prstGeom prst="roundRect">
            <a:avLst>
              <a:gd name="adj" fmla="val 50000"/>
            </a:avLst>
          </a:prstGeom>
          <a:solidFill>
            <a:srgbClr val="07994E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oundrect 75"/>
          <p:cNvSpPr/>
          <p:nvPr/>
        </p:nvSpPr>
        <p:spPr>
          <a:xfrm>
            <a:off x="5272187" y="4696620"/>
            <a:ext cx="700988" cy="116831"/>
          </a:xfrm>
          <a:prstGeom prst="roundRect">
            <a:avLst>
              <a:gd name="adj" fmla="val 50000"/>
            </a:avLst>
          </a:prstGeom>
          <a:solidFill>
            <a:srgbClr val="F78A00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7098261" y="2760725"/>
            <a:ext cx="86455" cy="86455"/>
          </a:xfrm>
          <a:prstGeom prst="ellipse">
            <a:avLst/>
          </a:prstGeom>
          <a:solidFill>
            <a:srgbClr val="F68D00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7495487" y="2643893"/>
            <a:ext cx="86455" cy="86455"/>
          </a:xfrm>
          <a:prstGeom prst="ellipse">
            <a:avLst/>
          </a:prstGeom>
          <a:solidFill>
            <a:srgbClr val="F68D00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7869347" y="2643893"/>
            <a:ext cx="86455" cy="86455"/>
          </a:xfrm>
          <a:prstGeom prst="ellipse">
            <a:avLst/>
          </a:prstGeom>
          <a:solidFill>
            <a:srgbClr val="F68D00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8243208" y="2725675"/>
            <a:ext cx="86455" cy="86455"/>
          </a:xfrm>
          <a:prstGeom prst="ellipse">
            <a:avLst/>
          </a:prstGeom>
          <a:solidFill>
            <a:srgbClr val="F68D00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8605385" y="2877556"/>
            <a:ext cx="86455" cy="86455"/>
          </a:xfrm>
          <a:prstGeom prst="ellipse">
            <a:avLst/>
          </a:prstGeom>
          <a:solidFill>
            <a:srgbClr val="0B9A4D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8979245" y="2924289"/>
            <a:ext cx="86455" cy="86455"/>
          </a:xfrm>
          <a:prstGeom prst="ellipse">
            <a:avLst/>
          </a:prstGeom>
          <a:solidFill>
            <a:srgbClr val="0B9A4D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9353106" y="2924289"/>
            <a:ext cx="86455" cy="86455"/>
          </a:xfrm>
          <a:prstGeom prst="ellipse">
            <a:avLst/>
          </a:prstGeom>
          <a:solidFill>
            <a:srgbClr val="0B9A4D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9726966" y="2912605"/>
            <a:ext cx="86455" cy="86455"/>
          </a:xfrm>
          <a:prstGeom prst="ellipse">
            <a:avLst/>
          </a:prstGeom>
          <a:solidFill>
            <a:srgbClr val="0B9A4D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10100826" y="2889239"/>
            <a:ext cx="86455" cy="86455"/>
          </a:xfrm>
          <a:prstGeom prst="ellipse">
            <a:avLst/>
          </a:prstGeom>
          <a:solidFill>
            <a:srgbClr val="0B9A4D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10474686" y="2889239"/>
            <a:ext cx="86455" cy="86455"/>
          </a:xfrm>
          <a:prstGeom prst="ellipse">
            <a:avLst/>
          </a:prstGeom>
          <a:solidFill>
            <a:srgbClr val="0B9A4D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10836864" y="2865873"/>
            <a:ext cx="86455" cy="86455"/>
          </a:xfrm>
          <a:prstGeom prst="ellipse">
            <a:avLst/>
          </a:prstGeom>
          <a:solidFill>
            <a:srgbClr val="0B9A4D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11187358" y="2690626"/>
            <a:ext cx="86455" cy="86455"/>
          </a:xfrm>
          <a:prstGeom prst="ellipse">
            <a:avLst/>
          </a:prstGeom>
          <a:solidFill>
            <a:srgbClr val="F68D00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7097092" y="4313413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7494319" y="4290047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7868179" y="4173216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8242039" y="4079751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8604217" y="4184899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8978077" y="4290047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9351937" y="4301730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9725798" y="4301730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10099658" y="4254998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0473518" y="4173216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10835695" y="4243314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11186189" y="4173216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11548367" y="4231631"/>
            <a:ext cx="88792" cy="88792"/>
          </a:xfrm>
          <a:prstGeom prst="ellipse">
            <a:avLst/>
          </a:prstGeom>
          <a:solidFill>
            <a:srgbClr val="04964B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10473518" y="2888071"/>
            <a:ext cx="88792" cy="88792"/>
          </a:xfrm>
          <a:prstGeom prst="ellipse">
            <a:avLst/>
          </a:prstGeom>
          <a:solidFill>
            <a:srgbClr val="21ABE3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pic>
        <p:nvPicPr>
          <p:cNvPr id="102" name="Source-faithful separated header-leaf"/>
          <p:cNvPicPr/>
          <p:nvPr/>
        </p:nvPicPr>
        <p:blipFill>
          <a:blip r:embed="rId3"/>
          <a:stretch>
            <a:fillRect/>
          </a:stretch>
        </p:blipFill>
        <p:spPr>
          <a:xfrm>
            <a:off x="441079" y="960208"/>
            <a:ext cx="397490" cy="497994"/>
          </a:xfrm>
          <a:prstGeom prst="rect">
            <a:avLst/>
          </a:prstGeom>
        </p:spPr>
      </p:pic>
      <p:pic>
        <p:nvPicPr>
          <p:cNvPr id="103" name="Source-faithful separated header-leaf"/>
          <p:cNvPicPr/>
          <p:nvPr/>
        </p:nvPicPr>
        <p:blipFill>
          <a:blip r:embed="rId4"/>
          <a:stretch>
            <a:fillRect/>
          </a:stretch>
        </p:blipFill>
        <p:spPr>
          <a:xfrm>
            <a:off x="6944368" y="948524"/>
            <a:ext cx="429289" cy="497994"/>
          </a:xfrm>
          <a:prstGeom prst="rect">
            <a:avLst/>
          </a:prstGeom>
        </p:spPr>
      </p:pic>
      <p:pic>
        <p:nvPicPr>
          <p:cNvPr id="104" name="Source-faithful separated single-leaf"/>
          <p:cNvPicPr/>
          <p:nvPr/>
        </p:nvPicPr>
        <p:blipFill>
          <a:blip r:embed="rId5"/>
          <a:stretch>
            <a:fillRect/>
          </a:stretch>
        </p:blipFill>
        <p:spPr>
          <a:xfrm>
            <a:off x="6133990" y="1152958"/>
            <a:ext cx="414408" cy="473417"/>
          </a:xfrm>
          <a:prstGeom prst="rect">
            <a:avLst/>
          </a:prstGeom>
        </p:spPr>
      </p:pic>
      <p:pic>
        <p:nvPicPr>
          <p:cNvPr id="105" name="Source-faithful separated leaf-pair"/>
          <p:cNvPicPr/>
          <p:nvPr/>
        </p:nvPicPr>
        <p:blipFill>
          <a:blip r:embed="rId6"/>
          <a:stretch>
            <a:fillRect/>
          </a:stretch>
        </p:blipFill>
        <p:spPr>
          <a:xfrm>
            <a:off x="10969628" y="842646"/>
            <a:ext cx="989240" cy="593005"/>
          </a:xfrm>
          <a:prstGeom prst="rect">
            <a:avLst/>
          </a:prstGeom>
        </p:spPr>
      </p:pic>
      <p:pic>
        <p:nvPicPr>
          <p:cNvPr id="106" name="Source-faithful separated thai-flag"/>
          <p:cNvPicPr/>
          <p:nvPr/>
        </p:nvPicPr>
        <p:blipFill>
          <a:blip r:embed="rId9"/>
          <a:stretch>
            <a:fillRect/>
          </a:stretch>
        </p:blipFill>
        <p:spPr>
          <a:xfrm>
            <a:off x="594439" y="1586790"/>
            <a:ext cx="639876" cy="611755"/>
          </a:xfrm>
          <a:prstGeom prst="rect">
            <a:avLst/>
          </a:prstGeom>
        </p:spPr>
      </p:pic>
      <p:pic>
        <p:nvPicPr>
          <p:cNvPr id="107" name="Source-faithful separated japan-flag"/>
          <p:cNvPicPr/>
          <p:nvPr/>
        </p:nvPicPr>
        <p:blipFill>
          <a:blip r:embed="rId10"/>
          <a:stretch>
            <a:fillRect/>
          </a:stretch>
        </p:blipFill>
        <p:spPr>
          <a:xfrm>
            <a:off x="4288054" y="1590575"/>
            <a:ext cx="648070" cy="604185"/>
          </a:xfrm>
          <a:prstGeom prst="rect">
            <a:avLst/>
          </a:prstGeom>
        </p:spPr>
      </p:pic>
      <p:pic>
        <p:nvPicPr>
          <p:cNvPr id="108" name="Source-faithful separated green-leaf"/>
          <p:cNvPicPr/>
          <p:nvPr/>
        </p:nvPicPr>
        <p:blipFill>
          <a:blip r:embed="rId11"/>
          <a:stretch>
            <a:fillRect/>
          </a:stretch>
        </p:blipFill>
        <p:spPr>
          <a:xfrm>
            <a:off x="534157" y="2631574"/>
            <a:ext cx="480045" cy="461729"/>
          </a:xfrm>
          <a:prstGeom prst="rect">
            <a:avLst/>
          </a:prstGeom>
        </p:spPr>
      </p:pic>
      <p:pic>
        <p:nvPicPr>
          <p:cNvPr id="109" name="Source-faithful separated orange-leaf"/>
          <p:cNvPicPr/>
          <p:nvPr/>
        </p:nvPicPr>
        <p:blipFill>
          <a:blip r:embed="rId12"/>
          <a:stretch>
            <a:fillRect/>
          </a:stretch>
        </p:blipFill>
        <p:spPr>
          <a:xfrm>
            <a:off x="4155929" y="2626664"/>
            <a:ext cx="480045" cy="464510"/>
          </a:xfrm>
          <a:prstGeom prst="rect">
            <a:avLst/>
          </a:prstGeom>
        </p:spPr>
      </p:pic>
      <p:pic>
        <p:nvPicPr>
          <p:cNvPr id="110" name="Source-faithful separated central-leaf"/>
          <p:cNvPicPr/>
          <p:nvPr/>
        </p:nvPicPr>
        <p:blipFill>
          <a:blip r:embed="rId13"/>
          <a:stretch>
            <a:fillRect/>
          </a:stretch>
        </p:blipFill>
        <p:spPr>
          <a:xfrm>
            <a:off x="3399480" y="2342567"/>
            <a:ext cx="357304" cy="443761"/>
          </a:xfrm>
          <a:prstGeom prst="rect">
            <a:avLst/>
          </a:prstGeom>
        </p:spPr>
      </p:pic>
      <p:pic>
        <p:nvPicPr>
          <p:cNvPr id="111" name="Source-faithful separated green-cube"/>
          <p:cNvPicPr/>
          <p:nvPr/>
        </p:nvPicPr>
        <p:blipFill>
          <a:blip r:embed="rId14"/>
          <a:stretch>
            <a:fillRect/>
          </a:stretch>
        </p:blipFill>
        <p:spPr>
          <a:xfrm>
            <a:off x="534778" y="3288630"/>
            <a:ext cx="478804" cy="456264"/>
          </a:xfrm>
          <a:prstGeom prst="rect">
            <a:avLst/>
          </a:prstGeom>
        </p:spPr>
      </p:pic>
      <p:pic>
        <p:nvPicPr>
          <p:cNvPr id="112" name="Source-faithful separated orange-cube"/>
          <p:cNvPicPr/>
          <p:nvPr/>
        </p:nvPicPr>
        <p:blipFill>
          <a:blip r:embed="rId15"/>
          <a:stretch>
            <a:fillRect/>
          </a:stretch>
        </p:blipFill>
        <p:spPr>
          <a:xfrm>
            <a:off x="4155929" y="3285829"/>
            <a:ext cx="480045" cy="461729"/>
          </a:xfrm>
          <a:prstGeom prst="rect">
            <a:avLst/>
          </a:prstGeom>
        </p:spPr>
      </p:pic>
      <p:pic>
        <p:nvPicPr>
          <p:cNvPr id="113" name="Source-faithful separated central-coins"/>
          <p:cNvPicPr/>
          <p:nvPr/>
        </p:nvPicPr>
        <p:blipFill>
          <a:blip r:embed="rId16"/>
          <a:stretch>
            <a:fillRect/>
          </a:stretch>
        </p:blipFill>
        <p:spPr>
          <a:xfrm>
            <a:off x="3363984" y="2983730"/>
            <a:ext cx="428296" cy="469948"/>
          </a:xfrm>
          <a:prstGeom prst="rect">
            <a:avLst/>
          </a:prstGeom>
        </p:spPr>
      </p:pic>
      <p:pic>
        <p:nvPicPr>
          <p:cNvPr id="114" name="Source-faithful separated green-document"/>
          <p:cNvPicPr/>
          <p:nvPr/>
        </p:nvPicPr>
        <p:blipFill>
          <a:blip r:embed="rId17"/>
          <a:stretch>
            <a:fillRect/>
          </a:stretch>
        </p:blipFill>
        <p:spPr>
          <a:xfrm>
            <a:off x="534778" y="3942885"/>
            <a:ext cx="478804" cy="456264"/>
          </a:xfrm>
          <a:prstGeom prst="rect">
            <a:avLst/>
          </a:prstGeom>
        </p:spPr>
      </p:pic>
      <p:pic>
        <p:nvPicPr>
          <p:cNvPr id="115" name="Source-faithful separated orange-document"/>
          <p:cNvPicPr/>
          <p:nvPr/>
        </p:nvPicPr>
        <p:blipFill>
          <a:blip r:embed="rId18"/>
          <a:stretch>
            <a:fillRect/>
          </a:stretch>
        </p:blipFill>
        <p:spPr>
          <a:xfrm>
            <a:off x="4156855" y="3940604"/>
            <a:ext cx="478193" cy="456264"/>
          </a:xfrm>
          <a:prstGeom prst="rect">
            <a:avLst/>
          </a:prstGeom>
        </p:spPr>
      </p:pic>
      <p:pic>
        <p:nvPicPr>
          <p:cNvPr id="116" name="Source-faithful separated central-document"/>
          <p:cNvPicPr/>
          <p:nvPr/>
        </p:nvPicPr>
        <p:blipFill>
          <a:blip r:embed="rId19"/>
          <a:stretch>
            <a:fillRect/>
          </a:stretch>
        </p:blipFill>
        <p:spPr>
          <a:xfrm>
            <a:off x="3368558" y="3651618"/>
            <a:ext cx="419148" cy="442683"/>
          </a:xfrm>
          <a:prstGeom prst="rect">
            <a:avLst/>
          </a:prstGeom>
        </p:spPr>
      </p:pic>
      <p:pic>
        <p:nvPicPr>
          <p:cNvPr id="117" name="Source-faithful separated green-network"/>
          <p:cNvPicPr/>
          <p:nvPr/>
        </p:nvPicPr>
        <p:blipFill>
          <a:blip r:embed="rId20"/>
          <a:stretch>
            <a:fillRect/>
          </a:stretch>
        </p:blipFill>
        <p:spPr>
          <a:xfrm>
            <a:off x="534778" y="4597141"/>
            <a:ext cx="478804" cy="456264"/>
          </a:xfrm>
          <a:prstGeom prst="rect">
            <a:avLst/>
          </a:prstGeom>
        </p:spPr>
      </p:pic>
      <p:pic>
        <p:nvPicPr>
          <p:cNvPr id="118" name="Source-faithful separated orange-network"/>
          <p:cNvPicPr/>
          <p:nvPr/>
        </p:nvPicPr>
        <p:blipFill>
          <a:blip r:embed="rId21"/>
          <a:stretch>
            <a:fillRect/>
          </a:stretch>
        </p:blipFill>
        <p:spPr>
          <a:xfrm>
            <a:off x="4156855" y="4594859"/>
            <a:ext cx="478193" cy="456264"/>
          </a:xfrm>
          <a:prstGeom prst="rect">
            <a:avLst/>
          </a:prstGeom>
        </p:spPr>
      </p:pic>
      <p:pic>
        <p:nvPicPr>
          <p:cNvPr id="119" name="Source-faithful separated central-network"/>
          <p:cNvPicPr/>
          <p:nvPr/>
        </p:nvPicPr>
        <p:blipFill>
          <a:blip r:embed="rId22"/>
          <a:stretch>
            <a:fillRect/>
          </a:stretch>
        </p:blipFill>
        <p:spPr>
          <a:xfrm>
            <a:off x="3371051" y="4304786"/>
            <a:ext cx="437528" cy="444858"/>
          </a:xfrm>
          <a:prstGeom prst="rect">
            <a:avLst/>
          </a:prstGeom>
        </p:spPr>
      </p:pic>
      <p:pic>
        <p:nvPicPr>
          <p:cNvPr id="120" name="Source-faithful separated growth-bars"/>
          <p:cNvPicPr/>
          <p:nvPr/>
        </p:nvPicPr>
        <p:blipFill>
          <a:blip r:embed="rId23"/>
          <a:stretch>
            <a:fillRect/>
          </a:stretch>
        </p:blipFill>
        <p:spPr>
          <a:xfrm>
            <a:off x="859753" y="5381386"/>
            <a:ext cx="646673" cy="575331"/>
          </a:xfrm>
          <a:prstGeom prst="rect">
            <a:avLst/>
          </a:prstGeom>
        </p:spPr>
      </p:pic>
      <p:pic>
        <p:nvPicPr>
          <p:cNvPr id="121" name="Source-faithful separated thai-flag"/>
          <p:cNvPicPr/>
          <p:nvPr/>
        </p:nvPicPr>
        <p:blipFill>
          <a:blip r:embed="rId28"/>
          <a:stretch>
            <a:fillRect/>
          </a:stretch>
        </p:blipFill>
        <p:spPr>
          <a:xfrm>
            <a:off x="7010637" y="1588998"/>
            <a:ext cx="623879" cy="595656"/>
          </a:xfrm>
          <a:prstGeom prst="rect">
            <a:avLst/>
          </a:prstGeom>
        </p:spPr>
      </p:pic>
      <p:pic>
        <p:nvPicPr>
          <p:cNvPr id="122" name="Source-faithful separated japan-flag"/>
          <p:cNvPicPr/>
          <p:nvPr/>
        </p:nvPicPr>
        <p:blipFill>
          <a:blip r:embed="rId29"/>
          <a:stretch>
            <a:fillRect/>
          </a:stretch>
        </p:blipFill>
        <p:spPr>
          <a:xfrm>
            <a:off x="7014348" y="3450302"/>
            <a:ext cx="616457" cy="588285"/>
          </a:xfrm>
          <a:prstGeom prst="rect">
            <a:avLst/>
          </a:prstGeom>
        </p:spPr>
      </p:pic>
      <p:pic>
        <p:nvPicPr>
          <p:cNvPr id="123" name="Source-faithful separated supply"/>
          <p:cNvPicPr/>
          <p:nvPr/>
        </p:nvPicPr>
        <p:blipFill>
          <a:blip r:embed="rId30"/>
          <a:stretch>
            <a:fillRect/>
          </a:stretch>
        </p:blipFill>
        <p:spPr>
          <a:xfrm>
            <a:off x="7024193" y="4879761"/>
            <a:ext cx="585085" cy="578789"/>
          </a:xfrm>
          <a:prstGeom prst="rect">
            <a:avLst/>
          </a:prstGeom>
        </p:spPr>
      </p:pic>
      <p:pic>
        <p:nvPicPr>
          <p:cNvPr id="124" name="Source-faithful separated cart"/>
          <p:cNvPicPr/>
          <p:nvPr/>
        </p:nvPicPr>
        <p:blipFill>
          <a:blip r:embed="rId31"/>
          <a:stretch>
            <a:fillRect/>
          </a:stretch>
        </p:blipFill>
        <p:spPr>
          <a:xfrm>
            <a:off x="8645809" y="4879761"/>
            <a:ext cx="601448" cy="578789"/>
          </a:xfrm>
          <a:prstGeom prst="rect">
            <a:avLst/>
          </a:prstGeom>
        </p:spPr>
      </p:pic>
      <p:pic>
        <p:nvPicPr>
          <p:cNvPr id="125" name="Source-faithful separated target"/>
          <p:cNvPicPr/>
          <p:nvPr/>
        </p:nvPicPr>
        <p:blipFill>
          <a:blip r:embed="rId32"/>
          <a:stretch>
            <a:fillRect/>
          </a:stretch>
        </p:blipFill>
        <p:spPr>
          <a:xfrm>
            <a:off x="10246398" y="4879761"/>
            <a:ext cx="601448" cy="578789"/>
          </a:xfrm>
          <a:prstGeom prst="rect">
            <a:avLst/>
          </a:prstGeom>
        </p:spPr>
      </p:pic>
      <p:sp>
        <p:nvSpPr>
          <p:cNvPr id="126" name="Roundrect 126"/>
          <p:cNvSpPr/>
          <p:nvPr/>
        </p:nvSpPr>
        <p:spPr>
          <a:xfrm>
            <a:off x="7468616" y="2231479"/>
            <a:ext cx="1098215" cy="327128"/>
          </a:xfrm>
          <a:prstGeom prst="roundRect">
            <a:avLst>
              <a:gd name="adj" fmla="val 50000"/>
            </a:avLst>
          </a:prstGeom>
          <a:solidFill>
            <a:srgbClr val="FF950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oundrect 127"/>
          <p:cNvSpPr/>
          <p:nvPr/>
        </p:nvSpPr>
        <p:spPr>
          <a:xfrm>
            <a:off x="8987423" y="2465141"/>
            <a:ext cx="899601" cy="327128"/>
          </a:xfrm>
          <a:prstGeom prst="roundRect">
            <a:avLst>
              <a:gd name="adj" fmla="val 50000"/>
            </a:avLst>
          </a:prstGeom>
          <a:solidFill>
            <a:srgbClr val="40AC6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oundrect 128"/>
          <p:cNvSpPr/>
          <p:nvPr/>
        </p:nvSpPr>
        <p:spPr>
          <a:xfrm>
            <a:off x="10167420" y="2254845"/>
            <a:ext cx="759404" cy="338811"/>
          </a:xfrm>
          <a:prstGeom prst="roundRect">
            <a:avLst>
              <a:gd name="adj" fmla="val 50000"/>
            </a:avLst>
          </a:prstGeom>
          <a:solidFill>
            <a:srgbClr val="009CE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oundrect 129"/>
          <p:cNvSpPr/>
          <p:nvPr/>
        </p:nvSpPr>
        <p:spPr>
          <a:xfrm>
            <a:off x="10996923" y="2231479"/>
            <a:ext cx="759404" cy="327128"/>
          </a:xfrm>
          <a:prstGeom prst="roundRect">
            <a:avLst>
              <a:gd name="adj" fmla="val 50000"/>
            </a:avLst>
          </a:prstGeom>
          <a:solidFill>
            <a:srgbClr val="FF950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oundrect 130"/>
          <p:cNvSpPr/>
          <p:nvPr/>
        </p:nvSpPr>
        <p:spPr>
          <a:xfrm>
            <a:off x="9139304" y="3656821"/>
            <a:ext cx="1390293" cy="385543"/>
          </a:xfrm>
          <a:prstGeom prst="roundRect">
            <a:avLst>
              <a:gd name="adj" fmla="val 48485"/>
            </a:avLst>
          </a:prstGeom>
          <a:solidFill>
            <a:srgbClr val="ECFC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Path 131"/>
          <p:cNvSpPr/>
          <p:nvPr/>
        </p:nvSpPr>
        <p:spPr>
          <a:xfrm>
            <a:off x="9746827" y="4030681"/>
            <a:ext cx="163564" cy="7009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234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ECFCE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2" name="Source-faithful separated leaf-bottom-left"/>
          <p:cNvPicPr/>
          <p:nvPr/>
        </p:nvPicPr>
        <p:blipFill>
          <a:blip r:embed="rId24"/>
          <a:stretch>
            <a:fillRect/>
          </a:stretch>
        </p:blipFill>
        <p:spPr>
          <a:xfrm>
            <a:off x="192591" y="5128896"/>
            <a:ext cx="871100" cy="1063165"/>
          </a:xfrm>
          <a:prstGeom prst="rect">
            <a:avLst/>
          </a:prstGeom>
        </p:spPr>
      </p:pic>
      <p:pic>
        <p:nvPicPr>
          <p:cNvPr id="133" name="Source-faithful separated leaf-bottom-right"/>
          <p:cNvPicPr/>
          <p:nvPr/>
        </p:nvPicPr>
        <p:blipFill>
          <a:blip r:embed="rId25"/>
          <a:stretch>
            <a:fillRect/>
          </a:stretch>
        </p:blipFill>
        <p:spPr>
          <a:xfrm>
            <a:off x="6165270" y="5238860"/>
            <a:ext cx="643925" cy="843001"/>
          </a:xfrm>
          <a:prstGeom prst="rect">
            <a:avLst/>
          </a:prstGeom>
        </p:spPr>
      </p:pic>
      <p:sp>
        <p:nvSpPr>
          <p:cNvPr id="134" name="Ellipse 134"/>
          <p:cNvSpPr/>
          <p:nvPr/>
        </p:nvSpPr>
        <p:spPr>
          <a:xfrm>
            <a:off x="7386834" y="5479390"/>
            <a:ext cx="49069" cy="49069"/>
          </a:xfrm>
          <a:prstGeom prst="ellipse">
            <a:avLst/>
          </a:prstGeom>
          <a:solidFill>
            <a:srgbClr val="5C69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7386834" y="5689687"/>
            <a:ext cx="49069" cy="49069"/>
          </a:xfrm>
          <a:prstGeom prst="ellipse">
            <a:avLst/>
          </a:prstGeom>
          <a:solidFill>
            <a:srgbClr val="E9800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8999107" y="5479390"/>
            <a:ext cx="49069" cy="49069"/>
          </a:xfrm>
          <a:prstGeom prst="ellipse">
            <a:avLst/>
          </a:prstGeom>
          <a:solidFill>
            <a:srgbClr val="D583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8999107" y="5689687"/>
            <a:ext cx="49069" cy="49069"/>
          </a:xfrm>
          <a:prstGeom prst="ellipse">
            <a:avLst/>
          </a:prstGeom>
          <a:solidFill>
            <a:srgbClr val="E9800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10611379" y="5479390"/>
            <a:ext cx="49069" cy="49069"/>
          </a:xfrm>
          <a:prstGeom prst="ellipse">
            <a:avLst/>
          </a:prstGeom>
          <a:solidFill>
            <a:srgbClr val="0084C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10611379" y="5689687"/>
            <a:ext cx="49069" cy="49069"/>
          </a:xfrm>
          <a:prstGeom prst="ellipse">
            <a:avLst/>
          </a:prstGeom>
          <a:solidFill>
            <a:srgbClr val="0084C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TextBox 140"/>
          <p:cNvSpPr txBox="1"/>
          <p:nvPr/>
        </p:nvSpPr>
        <p:spPr>
          <a:xfrm>
            <a:off x="855962" y="233663"/>
            <a:ext cx="2418409" cy="502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50" i="1">
                <a:solidFill>
                  <a:srgbClr val="F6E9B3"/>
                </a:solidFill>
                <a:latin typeface="Microsoft YaHei"/>
                <a:ea typeface="Microsoft YaHei"/>
                <a:cs typeface="Microsoft YaHei"/>
              </a:rPr>
              <a:t>目标市场特性</a:t>
            </a:r>
            <a:endParaRPr lang="zh-CN" sz="2850"/>
          </a:p>
        </p:txBody>
      </p:sp>
      <p:sp>
        <p:nvSpPr>
          <p:cNvPr id="141" name="TextBox 141"/>
          <p:cNvSpPr txBox="1"/>
          <p:nvPr/>
        </p:nvSpPr>
        <p:spPr>
          <a:xfrm>
            <a:off x="3940309" y="280395"/>
            <a:ext cx="4077414" cy="4439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00">
                <a:solidFill>
                  <a:srgbClr val="004C3C"/>
                </a:solidFill>
                <a:latin typeface="KaiTi"/>
                <a:ea typeface="KaiTi"/>
                <a:cs typeface="KaiTi"/>
              </a:rPr>
              <a:t>目标市场的贸易潜力评估</a:t>
            </a:r>
            <a:endParaRPr lang="zh-CN" sz="2200"/>
          </a:p>
        </p:txBody>
      </p:sp>
      <p:sp>
        <p:nvSpPr>
          <p:cNvPr id="142" name="TextBox 142"/>
          <p:cNvSpPr txBox="1"/>
          <p:nvPr/>
        </p:nvSpPr>
        <p:spPr>
          <a:xfrm>
            <a:off x="855962" y="911284"/>
            <a:ext cx="689305" cy="5724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300" b="1" i="1">
                <a:solidFill>
                  <a:srgbClr val="0A5B30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4300"/>
          </a:p>
        </p:txBody>
      </p:sp>
      <p:sp>
        <p:nvSpPr>
          <p:cNvPr id="143" name="TextBox 143"/>
          <p:cNvSpPr txBox="1"/>
          <p:nvPr/>
        </p:nvSpPr>
        <p:spPr>
          <a:xfrm>
            <a:off x="7363468" y="911284"/>
            <a:ext cx="736037" cy="5724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300" b="1" i="1">
                <a:solidFill>
                  <a:srgbClr val="0A5B30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4300"/>
          </a:p>
        </p:txBody>
      </p:sp>
      <p:sp>
        <p:nvSpPr>
          <p:cNvPr id="144" name="TextBox 144"/>
          <p:cNvSpPr txBox="1"/>
          <p:nvPr/>
        </p:nvSpPr>
        <p:spPr>
          <a:xfrm>
            <a:off x="1615365" y="1051482"/>
            <a:ext cx="4276027" cy="3504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对比竞争力分析（泰国 / 日本）</a:t>
            </a:r>
            <a:endParaRPr lang="zh-CN" sz="1950"/>
          </a:p>
        </p:txBody>
      </p:sp>
      <p:sp>
        <p:nvSpPr>
          <p:cNvPr id="145" name="TextBox 145"/>
          <p:cNvSpPr txBox="1"/>
          <p:nvPr/>
        </p:nvSpPr>
        <p:spPr>
          <a:xfrm>
            <a:off x="8228020" y="1039799"/>
            <a:ext cx="2932467" cy="3738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目标市场季节性</a:t>
            </a:r>
            <a:endParaRPr lang="zh-CN" sz="2000"/>
          </a:p>
        </p:txBody>
      </p:sp>
      <p:sp>
        <p:nvSpPr>
          <p:cNvPr id="146" name="TextBox 146"/>
          <p:cNvSpPr txBox="1"/>
          <p:nvPr/>
        </p:nvSpPr>
        <p:spPr>
          <a:xfrm>
            <a:off x="1253188" y="1682371"/>
            <a:ext cx="759404" cy="2687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泰国</a:t>
            </a:r>
            <a:endParaRPr lang="zh-CN" sz="1600"/>
          </a:p>
        </p:txBody>
      </p:sp>
      <p:sp>
        <p:nvSpPr>
          <p:cNvPr id="147" name="TextBox 147"/>
          <p:cNvSpPr txBox="1"/>
          <p:nvPr/>
        </p:nvSpPr>
        <p:spPr>
          <a:xfrm>
            <a:off x="1264871" y="1939400"/>
            <a:ext cx="1004750" cy="1752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THAILAND</a:t>
            </a:r>
            <a:endParaRPr lang="zh-CN" sz="919"/>
          </a:p>
        </p:txBody>
      </p:sp>
      <p:sp>
        <p:nvSpPr>
          <p:cNvPr id="148" name="TextBox 148"/>
          <p:cNvSpPr txBox="1"/>
          <p:nvPr/>
        </p:nvSpPr>
        <p:spPr>
          <a:xfrm>
            <a:off x="4980108" y="1682371"/>
            <a:ext cx="759404" cy="2687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日本</a:t>
            </a:r>
            <a:endParaRPr lang="zh-CN" sz="1600"/>
          </a:p>
        </p:txBody>
      </p:sp>
      <p:sp>
        <p:nvSpPr>
          <p:cNvPr id="149" name="TextBox 149"/>
          <p:cNvSpPr txBox="1"/>
          <p:nvPr/>
        </p:nvSpPr>
        <p:spPr>
          <a:xfrm>
            <a:off x="4991791" y="1939400"/>
            <a:ext cx="864552" cy="1752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JAPAN</a:t>
            </a:r>
            <a:endParaRPr lang="zh-CN" sz="919"/>
          </a:p>
        </p:txBody>
      </p:sp>
      <p:sp>
        <p:nvSpPr>
          <p:cNvPr id="150" name="TextBox 150"/>
          <p:cNvSpPr txBox="1"/>
          <p:nvPr/>
        </p:nvSpPr>
        <p:spPr>
          <a:xfrm>
            <a:off x="1042892" y="2663755"/>
            <a:ext cx="665939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市场需求</a:t>
            </a:r>
            <a:endParaRPr lang="zh-CN" sz="1150"/>
          </a:p>
        </p:txBody>
      </p:sp>
      <p:sp>
        <p:nvSpPr>
          <p:cNvPr id="151" name="TextBox 151"/>
          <p:cNvSpPr txBox="1"/>
          <p:nvPr/>
        </p:nvSpPr>
        <p:spPr>
          <a:xfrm>
            <a:off x="4652980" y="2663755"/>
            <a:ext cx="665939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市场需求</a:t>
            </a:r>
            <a:endParaRPr lang="zh-CN" sz="1150"/>
          </a:p>
        </p:txBody>
      </p:sp>
      <p:sp>
        <p:nvSpPr>
          <p:cNvPr id="152" name="TextBox 152"/>
          <p:cNvSpPr txBox="1"/>
          <p:nvPr/>
        </p:nvSpPr>
        <p:spPr>
          <a:xfrm>
            <a:off x="2655164" y="2652072"/>
            <a:ext cx="362177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07994E"/>
                </a:solidFill>
                <a:latin typeface="Microsoft YaHei"/>
                <a:ea typeface="Microsoft YaHei"/>
                <a:cs typeface="Microsoft YaHei"/>
              </a:rPr>
              <a:t>4.5</a:t>
            </a:r>
            <a:endParaRPr lang="zh-CN" sz="1300"/>
          </a:p>
        </p:txBody>
      </p:sp>
      <p:sp>
        <p:nvSpPr>
          <p:cNvPr id="153" name="TextBox 153"/>
          <p:cNvSpPr txBox="1"/>
          <p:nvPr/>
        </p:nvSpPr>
        <p:spPr>
          <a:xfrm>
            <a:off x="6253570" y="2652072"/>
            <a:ext cx="362177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78A00"/>
                </a:solidFill>
                <a:latin typeface="Microsoft YaHei"/>
                <a:ea typeface="Microsoft YaHei"/>
                <a:cs typeface="Microsoft YaHei"/>
              </a:rPr>
              <a:t>4.0</a:t>
            </a:r>
            <a:endParaRPr lang="zh-CN" sz="1300"/>
          </a:p>
        </p:txBody>
      </p:sp>
      <p:sp>
        <p:nvSpPr>
          <p:cNvPr id="154" name="TextBox 154"/>
          <p:cNvSpPr txBox="1"/>
          <p:nvPr/>
        </p:nvSpPr>
        <p:spPr>
          <a:xfrm>
            <a:off x="1042892" y="2932467"/>
            <a:ext cx="1939400" cy="22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需求旺盛，消费增长快</a:t>
            </a:r>
            <a:endParaRPr lang="zh-CN" sz="1010"/>
          </a:p>
        </p:txBody>
      </p:sp>
      <p:sp>
        <p:nvSpPr>
          <p:cNvPr id="155" name="TextBox 155"/>
          <p:cNvSpPr txBox="1"/>
          <p:nvPr/>
        </p:nvSpPr>
        <p:spPr>
          <a:xfrm>
            <a:off x="4652980" y="2932467"/>
            <a:ext cx="1927717" cy="22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品质导向，需求稳定</a:t>
            </a:r>
            <a:endParaRPr lang="zh-CN" sz="1010"/>
          </a:p>
        </p:txBody>
      </p:sp>
      <p:sp>
        <p:nvSpPr>
          <p:cNvPr id="156" name="TextBox 156"/>
          <p:cNvSpPr txBox="1"/>
          <p:nvPr/>
        </p:nvSpPr>
        <p:spPr>
          <a:xfrm>
            <a:off x="3192589" y="2733853"/>
            <a:ext cx="782770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B33"/>
                </a:solidFill>
                <a:latin typeface="Microsoft YaHei"/>
                <a:ea typeface="Microsoft YaHei"/>
                <a:cs typeface="Microsoft YaHei"/>
              </a:rPr>
              <a:t>市场需求</a:t>
            </a:r>
            <a:endParaRPr lang="zh-CN" sz="1150"/>
          </a:p>
        </p:txBody>
      </p:sp>
      <p:sp>
        <p:nvSpPr>
          <p:cNvPr id="157" name="TextBox 157"/>
          <p:cNvSpPr txBox="1"/>
          <p:nvPr/>
        </p:nvSpPr>
        <p:spPr>
          <a:xfrm>
            <a:off x="1042892" y="3318010"/>
            <a:ext cx="665939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价格竞争</a:t>
            </a:r>
            <a:endParaRPr lang="zh-CN" sz="1150"/>
          </a:p>
        </p:txBody>
      </p:sp>
      <p:sp>
        <p:nvSpPr>
          <p:cNvPr id="158" name="TextBox 158"/>
          <p:cNvSpPr txBox="1"/>
          <p:nvPr/>
        </p:nvSpPr>
        <p:spPr>
          <a:xfrm>
            <a:off x="4652980" y="3318010"/>
            <a:ext cx="665939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价格竞争</a:t>
            </a:r>
            <a:endParaRPr lang="zh-CN" sz="1150"/>
          </a:p>
        </p:txBody>
      </p:sp>
      <p:sp>
        <p:nvSpPr>
          <p:cNvPr id="159" name="TextBox 159"/>
          <p:cNvSpPr txBox="1"/>
          <p:nvPr/>
        </p:nvSpPr>
        <p:spPr>
          <a:xfrm>
            <a:off x="2655164" y="3306327"/>
            <a:ext cx="362177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07994E"/>
                </a:solidFill>
                <a:latin typeface="Microsoft YaHei"/>
                <a:ea typeface="Microsoft YaHei"/>
                <a:cs typeface="Microsoft YaHei"/>
              </a:rPr>
              <a:t>4.0</a:t>
            </a:r>
            <a:endParaRPr lang="zh-CN" sz="1300"/>
          </a:p>
        </p:txBody>
      </p:sp>
      <p:sp>
        <p:nvSpPr>
          <p:cNvPr id="160" name="TextBox 160"/>
          <p:cNvSpPr txBox="1"/>
          <p:nvPr/>
        </p:nvSpPr>
        <p:spPr>
          <a:xfrm>
            <a:off x="6253570" y="3306327"/>
            <a:ext cx="362177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78A00"/>
                </a:solidFill>
                <a:latin typeface="Microsoft YaHei"/>
                <a:ea typeface="Microsoft YaHei"/>
                <a:cs typeface="Microsoft YaHei"/>
              </a:rPr>
              <a:t>3.0</a:t>
            </a:r>
            <a:endParaRPr lang="zh-CN" sz="1300"/>
          </a:p>
        </p:txBody>
      </p:sp>
      <p:sp>
        <p:nvSpPr>
          <p:cNvPr id="161" name="TextBox 161"/>
          <p:cNvSpPr txBox="1"/>
          <p:nvPr/>
        </p:nvSpPr>
        <p:spPr>
          <a:xfrm>
            <a:off x="1042892" y="3586722"/>
            <a:ext cx="1939400" cy="22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价格敏感，性价比导向</a:t>
            </a:r>
            <a:endParaRPr lang="zh-CN" sz="1010"/>
          </a:p>
        </p:txBody>
      </p:sp>
      <p:sp>
        <p:nvSpPr>
          <p:cNvPr id="162" name="TextBox 162"/>
          <p:cNvSpPr txBox="1"/>
          <p:nvPr/>
        </p:nvSpPr>
        <p:spPr>
          <a:xfrm>
            <a:off x="4652980" y="3586722"/>
            <a:ext cx="1927717" cy="22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注重品质，价格容忍度较高</a:t>
            </a:r>
            <a:endParaRPr lang="zh-CN" sz="1010"/>
          </a:p>
        </p:txBody>
      </p:sp>
      <p:sp>
        <p:nvSpPr>
          <p:cNvPr id="163" name="TextBox 163"/>
          <p:cNvSpPr txBox="1"/>
          <p:nvPr/>
        </p:nvSpPr>
        <p:spPr>
          <a:xfrm>
            <a:off x="3192589" y="3388109"/>
            <a:ext cx="782770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B33"/>
                </a:solidFill>
                <a:latin typeface="Microsoft YaHei"/>
                <a:ea typeface="Microsoft YaHei"/>
                <a:cs typeface="Microsoft YaHei"/>
              </a:rPr>
              <a:t>价格竞争</a:t>
            </a:r>
            <a:endParaRPr lang="zh-CN" sz="1150"/>
          </a:p>
        </p:txBody>
      </p:sp>
      <p:sp>
        <p:nvSpPr>
          <p:cNvPr id="164" name="TextBox 164"/>
          <p:cNvSpPr txBox="1"/>
          <p:nvPr/>
        </p:nvSpPr>
        <p:spPr>
          <a:xfrm>
            <a:off x="1042892" y="3972266"/>
            <a:ext cx="665939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准入门槛</a:t>
            </a:r>
            <a:endParaRPr lang="zh-CN" sz="1150"/>
          </a:p>
        </p:txBody>
      </p:sp>
      <p:sp>
        <p:nvSpPr>
          <p:cNvPr id="165" name="TextBox 165"/>
          <p:cNvSpPr txBox="1"/>
          <p:nvPr/>
        </p:nvSpPr>
        <p:spPr>
          <a:xfrm>
            <a:off x="4652980" y="3972266"/>
            <a:ext cx="665939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准入门槛</a:t>
            </a:r>
            <a:endParaRPr lang="zh-CN" sz="1150"/>
          </a:p>
        </p:txBody>
      </p:sp>
      <p:sp>
        <p:nvSpPr>
          <p:cNvPr id="166" name="TextBox 166"/>
          <p:cNvSpPr txBox="1"/>
          <p:nvPr/>
        </p:nvSpPr>
        <p:spPr>
          <a:xfrm>
            <a:off x="2655164" y="3960583"/>
            <a:ext cx="362177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07994E"/>
                </a:solidFill>
                <a:latin typeface="Microsoft YaHei"/>
                <a:ea typeface="Microsoft YaHei"/>
                <a:cs typeface="Microsoft YaHei"/>
              </a:rPr>
              <a:t>3.0</a:t>
            </a:r>
            <a:endParaRPr lang="zh-CN" sz="1300"/>
          </a:p>
        </p:txBody>
      </p:sp>
      <p:sp>
        <p:nvSpPr>
          <p:cNvPr id="167" name="TextBox 167"/>
          <p:cNvSpPr txBox="1"/>
          <p:nvPr/>
        </p:nvSpPr>
        <p:spPr>
          <a:xfrm>
            <a:off x="6253570" y="3960583"/>
            <a:ext cx="362177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78A00"/>
                </a:solidFill>
                <a:latin typeface="Microsoft YaHei"/>
                <a:ea typeface="Microsoft YaHei"/>
                <a:cs typeface="Microsoft YaHei"/>
              </a:rPr>
              <a:t>4.5</a:t>
            </a:r>
            <a:endParaRPr lang="zh-CN" sz="1300"/>
          </a:p>
        </p:txBody>
      </p:sp>
      <p:sp>
        <p:nvSpPr>
          <p:cNvPr id="168" name="TextBox 168"/>
          <p:cNvSpPr txBox="1"/>
          <p:nvPr/>
        </p:nvSpPr>
        <p:spPr>
          <a:xfrm>
            <a:off x="1042892" y="4240978"/>
            <a:ext cx="1939400" cy="22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门槛相对较低，流程较清晰</a:t>
            </a:r>
            <a:endParaRPr lang="zh-CN" sz="1010"/>
          </a:p>
        </p:txBody>
      </p:sp>
      <p:sp>
        <p:nvSpPr>
          <p:cNvPr id="169" name="TextBox 169"/>
          <p:cNvSpPr txBox="1"/>
          <p:nvPr/>
        </p:nvSpPr>
        <p:spPr>
          <a:xfrm>
            <a:off x="4652980" y="4240978"/>
            <a:ext cx="1927717" cy="22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标准严格，认证门槛高</a:t>
            </a:r>
            <a:endParaRPr lang="zh-CN" sz="1010"/>
          </a:p>
        </p:txBody>
      </p:sp>
      <p:sp>
        <p:nvSpPr>
          <p:cNvPr id="170" name="TextBox 170"/>
          <p:cNvSpPr txBox="1"/>
          <p:nvPr/>
        </p:nvSpPr>
        <p:spPr>
          <a:xfrm>
            <a:off x="3192589" y="4042365"/>
            <a:ext cx="782770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B33"/>
                </a:solidFill>
                <a:latin typeface="Microsoft YaHei"/>
                <a:ea typeface="Microsoft YaHei"/>
                <a:cs typeface="Microsoft YaHei"/>
              </a:rPr>
              <a:t>准入门槛</a:t>
            </a:r>
            <a:endParaRPr lang="zh-CN" sz="1150"/>
          </a:p>
        </p:txBody>
      </p:sp>
      <p:sp>
        <p:nvSpPr>
          <p:cNvPr id="171" name="TextBox 171"/>
          <p:cNvSpPr txBox="1"/>
          <p:nvPr/>
        </p:nvSpPr>
        <p:spPr>
          <a:xfrm>
            <a:off x="1042892" y="4626521"/>
            <a:ext cx="665939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渠道难度</a:t>
            </a:r>
            <a:endParaRPr lang="zh-CN" sz="1150"/>
          </a:p>
        </p:txBody>
      </p:sp>
      <p:sp>
        <p:nvSpPr>
          <p:cNvPr id="172" name="TextBox 172"/>
          <p:cNvSpPr txBox="1"/>
          <p:nvPr/>
        </p:nvSpPr>
        <p:spPr>
          <a:xfrm>
            <a:off x="4652980" y="4626521"/>
            <a:ext cx="665939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渠道难度</a:t>
            </a:r>
            <a:endParaRPr lang="zh-CN" sz="1150"/>
          </a:p>
        </p:txBody>
      </p:sp>
      <p:sp>
        <p:nvSpPr>
          <p:cNvPr id="173" name="TextBox 173"/>
          <p:cNvSpPr txBox="1"/>
          <p:nvPr/>
        </p:nvSpPr>
        <p:spPr>
          <a:xfrm>
            <a:off x="2655164" y="4614838"/>
            <a:ext cx="362177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07994E"/>
                </a:solidFill>
                <a:latin typeface="Microsoft YaHei"/>
                <a:ea typeface="Microsoft YaHei"/>
                <a:cs typeface="Microsoft YaHei"/>
              </a:rPr>
              <a:t>3.5</a:t>
            </a:r>
            <a:endParaRPr lang="zh-CN" sz="1300"/>
          </a:p>
        </p:txBody>
      </p:sp>
      <p:sp>
        <p:nvSpPr>
          <p:cNvPr id="174" name="TextBox 174"/>
          <p:cNvSpPr txBox="1"/>
          <p:nvPr/>
        </p:nvSpPr>
        <p:spPr>
          <a:xfrm>
            <a:off x="6253570" y="4614838"/>
            <a:ext cx="362177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78A00"/>
                </a:solidFill>
                <a:latin typeface="Microsoft YaHei"/>
                <a:ea typeface="Microsoft YaHei"/>
                <a:cs typeface="Microsoft YaHei"/>
              </a:rPr>
              <a:t>4.0</a:t>
            </a:r>
            <a:endParaRPr lang="zh-CN" sz="1300"/>
          </a:p>
        </p:txBody>
      </p:sp>
      <p:sp>
        <p:nvSpPr>
          <p:cNvPr id="175" name="TextBox 175"/>
          <p:cNvSpPr txBox="1"/>
          <p:nvPr/>
        </p:nvSpPr>
        <p:spPr>
          <a:xfrm>
            <a:off x="1042892" y="4895233"/>
            <a:ext cx="1939400" cy="22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渠道本地化强，旺季爆发明显</a:t>
            </a:r>
            <a:endParaRPr lang="zh-CN" sz="1010"/>
          </a:p>
        </p:txBody>
      </p:sp>
      <p:sp>
        <p:nvSpPr>
          <p:cNvPr id="176" name="TextBox 176"/>
          <p:cNvSpPr txBox="1"/>
          <p:nvPr/>
        </p:nvSpPr>
        <p:spPr>
          <a:xfrm>
            <a:off x="4652980" y="4895233"/>
            <a:ext cx="1927717" cy="2219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渠道体系成熟，合作要求高</a:t>
            </a:r>
            <a:endParaRPr lang="zh-CN" sz="1010"/>
          </a:p>
        </p:txBody>
      </p:sp>
      <p:sp>
        <p:nvSpPr>
          <p:cNvPr id="177" name="TextBox 177"/>
          <p:cNvSpPr txBox="1"/>
          <p:nvPr/>
        </p:nvSpPr>
        <p:spPr>
          <a:xfrm>
            <a:off x="3192589" y="4696620"/>
            <a:ext cx="782770" cy="25702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005B33"/>
                </a:solidFill>
                <a:latin typeface="Microsoft YaHei"/>
                <a:ea typeface="Microsoft YaHei"/>
                <a:cs typeface="Microsoft YaHei"/>
              </a:rPr>
              <a:t>渠道难度</a:t>
            </a:r>
            <a:endParaRPr lang="zh-CN" sz="1150"/>
          </a:p>
        </p:txBody>
      </p:sp>
      <p:sp>
        <p:nvSpPr>
          <p:cNvPr id="178" name="TextBox 178"/>
          <p:cNvSpPr txBox="1"/>
          <p:nvPr/>
        </p:nvSpPr>
        <p:spPr>
          <a:xfrm>
            <a:off x="1603682" y="5467707"/>
            <a:ext cx="1109898" cy="3738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综合潜力：</a:t>
            </a:r>
            <a:endParaRPr lang="zh-CN" sz="1650"/>
          </a:p>
        </p:txBody>
      </p:sp>
      <p:sp>
        <p:nvSpPr>
          <p:cNvPr id="179" name="TextBox 179"/>
          <p:cNvSpPr txBox="1"/>
          <p:nvPr/>
        </p:nvSpPr>
        <p:spPr>
          <a:xfrm>
            <a:off x="2678531" y="5456024"/>
            <a:ext cx="502375" cy="3855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 i="1">
                <a:solidFill>
                  <a:srgbClr val="FFE180"/>
                </a:solidFill>
                <a:latin typeface="Microsoft YaHei"/>
                <a:ea typeface="Microsoft YaHei"/>
                <a:cs typeface="Microsoft YaHei"/>
              </a:rPr>
              <a:t>泰国</a:t>
            </a:r>
            <a:endParaRPr lang="zh-CN" sz="1980"/>
          </a:p>
        </p:txBody>
      </p:sp>
      <p:sp>
        <p:nvSpPr>
          <p:cNvPr id="180" name="TextBox 180"/>
          <p:cNvSpPr txBox="1"/>
          <p:nvPr/>
        </p:nvSpPr>
        <p:spPr>
          <a:xfrm>
            <a:off x="3169222" y="5479390"/>
            <a:ext cx="1413659" cy="3621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更适合规模切入，</a:t>
            </a:r>
            <a:endParaRPr lang="zh-CN" sz="1330"/>
          </a:p>
        </p:txBody>
      </p:sp>
      <p:sp>
        <p:nvSpPr>
          <p:cNvPr id="181" name="TextBox 181"/>
          <p:cNvSpPr txBox="1"/>
          <p:nvPr/>
        </p:nvSpPr>
        <p:spPr>
          <a:xfrm>
            <a:off x="4582882" y="5456024"/>
            <a:ext cx="502375" cy="3855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80" b="1" i="1">
                <a:solidFill>
                  <a:srgbClr val="FFE180"/>
                </a:solidFill>
                <a:latin typeface="Microsoft YaHei"/>
                <a:ea typeface="Microsoft YaHei"/>
                <a:cs typeface="Microsoft YaHei"/>
              </a:rPr>
              <a:t>日本</a:t>
            </a:r>
            <a:endParaRPr lang="zh-CN" sz="1980"/>
          </a:p>
        </p:txBody>
      </p:sp>
      <p:sp>
        <p:nvSpPr>
          <p:cNvPr id="182" name="TextBox 182"/>
          <p:cNvSpPr txBox="1"/>
          <p:nvPr/>
        </p:nvSpPr>
        <p:spPr>
          <a:xfrm>
            <a:off x="5085256" y="5479390"/>
            <a:ext cx="1355244" cy="3621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更适合高端突破</a:t>
            </a:r>
            <a:endParaRPr lang="zh-CN" sz="1330"/>
          </a:p>
        </p:txBody>
      </p:sp>
      <p:sp>
        <p:nvSpPr>
          <p:cNvPr id="183" name="TextBox 183"/>
          <p:cNvSpPr txBox="1"/>
          <p:nvPr/>
        </p:nvSpPr>
        <p:spPr>
          <a:xfrm>
            <a:off x="7597130" y="1670688"/>
            <a:ext cx="700988" cy="2687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泰国</a:t>
            </a:r>
            <a:endParaRPr lang="zh-CN" sz="1600"/>
          </a:p>
        </p:txBody>
      </p:sp>
      <p:sp>
        <p:nvSpPr>
          <p:cNvPr id="184" name="TextBox 184"/>
          <p:cNvSpPr txBox="1"/>
          <p:nvPr/>
        </p:nvSpPr>
        <p:spPr>
          <a:xfrm>
            <a:off x="7608814" y="1916034"/>
            <a:ext cx="946334" cy="1635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THAILAND</a:t>
            </a:r>
            <a:endParaRPr lang="zh-CN" sz="910"/>
          </a:p>
        </p:txBody>
      </p:sp>
      <p:sp>
        <p:nvSpPr>
          <p:cNvPr id="185" name="TextBox 185"/>
          <p:cNvSpPr txBox="1"/>
          <p:nvPr/>
        </p:nvSpPr>
        <p:spPr>
          <a:xfrm>
            <a:off x="7597130" y="3551673"/>
            <a:ext cx="700988" cy="2687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日本</a:t>
            </a:r>
            <a:endParaRPr lang="zh-CN" sz="1600"/>
          </a:p>
        </p:txBody>
      </p:sp>
      <p:sp>
        <p:nvSpPr>
          <p:cNvPr id="186" name="TextBox 186"/>
          <p:cNvSpPr txBox="1"/>
          <p:nvPr/>
        </p:nvSpPr>
        <p:spPr>
          <a:xfrm>
            <a:off x="7608814" y="3797019"/>
            <a:ext cx="934651" cy="1635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JAPAN</a:t>
            </a:r>
            <a:endParaRPr lang="zh-CN" sz="910"/>
          </a:p>
        </p:txBody>
      </p:sp>
      <p:sp>
        <p:nvSpPr>
          <p:cNvPr id="187" name="TextBox 187"/>
          <p:cNvSpPr txBox="1"/>
          <p:nvPr/>
        </p:nvSpPr>
        <p:spPr>
          <a:xfrm>
            <a:off x="7468616" y="2231479"/>
            <a:ext cx="1098215" cy="327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旺季</a:t>
            </a:r>
            <a:endParaRPr lang="zh-CN" sz="930"/>
          </a:p>
          <a:p>
            <a:pPr algn="ctr"/>
            <a:r>
              <a:rPr lang="zh-CN"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11月–次年4月</a:t>
            </a:r>
            <a:endParaRPr lang="zh-CN" sz="930"/>
          </a:p>
        </p:txBody>
      </p:sp>
      <p:sp>
        <p:nvSpPr>
          <p:cNvPr id="188" name="TextBox 188"/>
          <p:cNvSpPr txBox="1"/>
          <p:nvPr/>
        </p:nvSpPr>
        <p:spPr>
          <a:xfrm>
            <a:off x="8987423" y="2465141"/>
            <a:ext cx="899601" cy="327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淡季</a:t>
            </a:r>
            <a:endParaRPr lang="zh-CN" sz="930"/>
          </a:p>
          <a:p>
            <a:pPr algn="ctr"/>
            <a:r>
              <a:rPr lang="zh-CN"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5月–10月</a:t>
            </a:r>
            <a:endParaRPr lang="zh-CN" sz="930"/>
          </a:p>
        </p:txBody>
      </p:sp>
      <p:sp>
        <p:nvSpPr>
          <p:cNvPr id="189" name="TextBox 189"/>
          <p:cNvSpPr txBox="1"/>
          <p:nvPr/>
        </p:nvSpPr>
        <p:spPr>
          <a:xfrm>
            <a:off x="10167420" y="2254845"/>
            <a:ext cx="759404" cy="3388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营销窗口</a:t>
            </a:r>
            <a:endParaRPr lang="zh-CN" sz="930"/>
          </a:p>
          <a:p>
            <a:pPr algn="ctr"/>
            <a:r>
              <a:rPr lang="zh-CN"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9月–10月</a:t>
            </a:r>
            <a:endParaRPr lang="zh-CN" sz="930"/>
          </a:p>
        </p:txBody>
      </p:sp>
      <p:sp>
        <p:nvSpPr>
          <p:cNvPr id="190" name="TextBox 190"/>
          <p:cNvSpPr txBox="1"/>
          <p:nvPr/>
        </p:nvSpPr>
        <p:spPr>
          <a:xfrm>
            <a:off x="10996923" y="2231479"/>
            <a:ext cx="759404" cy="327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旺季</a:t>
            </a:r>
            <a:endParaRPr lang="zh-CN" sz="930"/>
          </a:p>
          <a:p>
            <a:pPr algn="ctr"/>
            <a:r>
              <a:rPr lang="zh-CN" sz="93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11月–12月</a:t>
            </a:r>
            <a:endParaRPr lang="zh-CN" sz="930"/>
          </a:p>
        </p:txBody>
      </p:sp>
      <p:sp>
        <p:nvSpPr>
          <p:cNvPr id="191" name="TextBox 191"/>
          <p:cNvSpPr txBox="1"/>
          <p:nvPr/>
        </p:nvSpPr>
        <p:spPr>
          <a:xfrm>
            <a:off x="7024657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1月</a:t>
            </a:r>
            <a:endParaRPr lang="zh-CN" sz="980"/>
          </a:p>
        </p:txBody>
      </p:sp>
      <p:sp>
        <p:nvSpPr>
          <p:cNvPr id="192" name="TextBox 192"/>
          <p:cNvSpPr txBox="1"/>
          <p:nvPr/>
        </p:nvSpPr>
        <p:spPr>
          <a:xfrm>
            <a:off x="7024657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1月</a:t>
            </a:r>
            <a:endParaRPr lang="zh-CN" sz="980"/>
          </a:p>
        </p:txBody>
      </p:sp>
      <p:sp>
        <p:nvSpPr>
          <p:cNvPr id="193" name="TextBox 193"/>
          <p:cNvSpPr txBox="1"/>
          <p:nvPr/>
        </p:nvSpPr>
        <p:spPr>
          <a:xfrm>
            <a:off x="7404359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2月</a:t>
            </a:r>
            <a:endParaRPr lang="zh-CN" sz="980"/>
          </a:p>
        </p:txBody>
      </p:sp>
      <p:sp>
        <p:nvSpPr>
          <p:cNvPr id="194" name="TextBox 194"/>
          <p:cNvSpPr txBox="1"/>
          <p:nvPr/>
        </p:nvSpPr>
        <p:spPr>
          <a:xfrm>
            <a:off x="7404359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2月</a:t>
            </a:r>
            <a:endParaRPr lang="zh-CN" sz="980"/>
          </a:p>
        </p:txBody>
      </p:sp>
      <p:sp>
        <p:nvSpPr>
          <p:cNvPr id="195" name="TextBox 195"/>
          <p:cNvSpPr txBox="1"/>
          <p:nvPr/>
        </p:nvSpPr>
        <p:spPr>
          <a:xfrm>
            <a:off x="7784061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3月</a:t>
            </a:r>
            <a:endParaRPr lang="zh-CN" sz="980"/>
          </a:p>
        </p:txBody>
      </p:sp>
      <p:sp>
        <p:nvSpPr>
          <p:cNvPr id="196" name="TextBox 196"/>
          <p:cNvSpPr txBox="1"/>
          <p:nvPr/>
        </p:nvSpPr>
        <p:spPr>
          <a:xfrm>
            <a:off x="7784061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3月</a:t>
            </a:r>
            <a:endParaRPr lang="zh-CN" sz="980"/>
          </a:p>
        </p:txBody>
      </p:sp>
      <p:sp>
        <p:nvSpPr>
          <p:cNvPr id="197" name="TextBox 197"/>
          <p:cNvSpPr txBox="1"/>
          <p:nvPr/>
        </p:nvSpPr>
        <p:spPr>
          <a:xfrm>
            <a:off x="8163762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4月</a:t>
            </a:r>
            <a:endParaRPr lang="zh-CN" sz="980"/>
          </a:p>
        </p:txBody>
      </p:sp>
      <p:sp>
        <p:nvSpPr>
          <p:cNvPr id="198" name="TextBox 198"/>
          <p:cNvSpPr txBox="1"/>
          <p:nvPr/>
        </p:nvSpPr>
        <p:spPr>
          <a:xfrm>
            <a:off x="8163762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4月</a:t>
            </a:r>
            <a:endParaRPr lang="zh-CN" sz="980"/>
          </a:p>
        </p:txBody>
      </p:sp>
      <p:sp>
        <p:nvSpPr>
          <p:cNvPr id="199" name="TextBox 199"/>
          <p:cNvSpPr txBox="1"/>
          <p:nvPr/>
        </p:nvSpPr>
        <p:spPr>
          <a:xfrm>
            <a:off x="8543464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5月</a:t>
            </a:r>
            <a:endParaRPr lang="zh-CN" sz="980"/>
          </a:p>
        </p:txBody>
      </p:sp>
      <p:sp>
        <p:nvSpPr>
          <p:cNvPr id="200" name="TextBox 200"/>
          <p:cNvSpPr txBox="1"/>
          <p:nvPr/>
        </p:nvSpPr>
        <p:spPr>
          <a:xfrm>
            <a:off x="8543464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5月</a:t>
            </a:r>
            <a:endParaRPr lang="zh-CN" sz="980"/>
          </a:p>
        </p:txBody>
      </p:sp>
      <p:sp>
        <p:nvSpPr>
          <p:cNvPr id="201" name="TextBox 201"/>
          <p:cNvSpPr txBox="1"/>
          <p:nvPr/>
        </p:nvSpPr>
        <p:spPr>
          <a:xfrm>
            <a:off x="8923166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6月</a:t>
            </a:r>
            <a:endParaRPr lang="zh-CN" sz="980"/>
          </a:p>
        </p:txBody>
      </p:sp>
      <p:sp>
        <p:nvSpPr>
          <p:cNvPr id="202" name="TextBox 202"/>
          <p:cNvSpPr txBox="1"/>
          <p:nvPr/>
        </p:nvSpPr>
        <p:spPr>
          <a:xfrm>
            <a:off x="8923166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6月</a:t>
            </a:r>
            <a:endParaRPr lang="zh-CN" sz="980"/>
          </a:p>
        </p:txBody>
      </p:sp>
      <p:sp>
        <p:nvSpPr>
          <p:cNvPr id="203" name="TextBox 203"/>
          <p:cNvSpPr txBox="1"/>
          <p:nvPr/>
        </p:nvSpPr>
        <p:spPr>
          <a:xfrm>
            <a:off x="9302868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7月</a:t>
            </a:r>
            <a:endParaRPr lang="zh-CN" sz="980"/>
          </a:p>
        </p:txBody>
      </p:sp>
      <p:sp>
        <p:nvSpPr>
          <p:cNvPr id="204" name="TextBox 204"/>
          <p:cNvSpPr txBox="1"/>
          <p:nvPr/>
        </p:nvSpPr>
        <p:spPr>
          <a:xfrm>
            <a:off x="9302868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7月</a:t>
            </a:r>
            <a:endParaRPr lang="zh-CN" sz="980"/>
          </a:p>
        </p:txBody>
      </p:sp>
      <p:sp>
        <p:nvSpPr>
          <p:cNvPr id="205" name="TextBox 205"/>
          <p:cNvSpPr txBox="1"/>
          <p:nvPr/>
        </p:nvSpPr>
        <p:spPr>
          <a:xfrm>
            <a:off x="9682570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8月</a:t>
            </a:r>
            <a:endParaRPr lang="zh-CN" sz="980"/>
          </a:p>
        </p:txBody>
      </p:sp>
      <p:sp>
        <p:nvSpPr>
          <p:cNvPr id="206" name="TextBox 206"/>
          <p:cNvSpPr txBox="1"/>
          <p:nvPr/>
        </p:nvSpPr>
        <p:spPr>
          <a:xfrm>
            <a:off x="9682570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8月</a:t>
            </a:r>
            <a:endParaRPr lang="zh-CN" sz="980"/>
          </a:p>
        </p:txBody>
      </p:sp>
      <p:sp>
        <p:nvSpPr>
          <p:cNvPr id="207" name="TextBox 207"/>
          <p:cNvSpPr txBox="1"/>
          <p:nvPr/>
        </p:nvSpPr>
        <p:spPr>
          <a:xfrm>
            <a:off x="10062272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9月</a:t>
            </a:r>
            <a:endParaRPr lang="zh-CN" sz="980"/>
          </a:p>
        </p:txBody>
      </p:sp>
      <p:sp>
        <p:nvSpPr>
          <p:cNvPr id="208" name="TextBox 208"/>
          <p:cNvSpPr txBox="1"/>
          <p:nvPr/>
        </p:nvSpPr>
        <p:spPr>
          <a:xfrm>
            <a:off x="10062272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9月</a:t>
            </a:r>
            <a:endParaRPr lang="zh-CN" sz="980"/>
          </a:p>
        </p:txBody>
      </p:sp>
      <p:sp>
        <p:nvSpPr>
          <p:cNvPr id="209" name="TextBox 209"/>
          <p:cNvSpPr txBox="1"/>
          <p:nvPr/>
        </p:nvSpPr>
        <p:spPr>
          <a:xfrm>
            <a:off x="10441974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10月</a:t>
            </a:r>
            <a:endParaRPr lang="zh-CN" sz="980"/>
          </a:p>
        </p:txBody>
      </p:sp>
      <p:sp>
        <p:nvSpPr>
          <p:cNvPr id="210" name="TextBox 210"/>
          <p:cNvSpPr txBox="1"/>
          <p:nvPr/>
        </p:nvSpPr>
        <p:spPr>
          <a:xfrm>
            <a:off x="10441974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10月</a:t>
            </a:r>
            <a:endParaRPr lang="zh-CN" sz="980"/>
          </a:p>
        </p:txBody>
      </p:sp>
      <p:sp>
        <p:nvSpPr>
          <p:cNvPr id="211" name="TextBox 211"/>
          <p:cNvSpPr txBox="1"/>
          <p:nvPr/>
        </p:nvSpPr>
        <p:spPr>
          <a:xfrm>
            <a:off x="10821676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11月</a:t>
            </a:r>
            <a:endParaRPr lang="zh-CN" sz="980"/>
          </a:p>
        </p:txBody>
      </p:sp>
      <p:sp>
        <p:nvSpPr>
          <p:cNvPr id="212" name="TextBox 212"/>
          <p:cNvSpPr txBox="1"/>
          <p:nvPr/>
        </p:nvSpPr>
        <p:spPr>
          <a:xfrm>
            <a:off x="10821676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11月</a:t>
            </a:r>
            <a:endParaRPr lang="zh-CN" sz="980"/>
          </a:p>
        </p:txBody>
      </p:sp>
      <p:sp>
        <p:nvSpPr>
          <p:cNvPr id="213" name="TextBox 213"/>
          <p:cNvSpPr txBox="1"/>
          <p:nvPr/>
        </p:nvSpPr>
        <p:spPr>
          <a:xfrm>
            <a:off x="11201377" y="3060981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12月</a:t>
            </a:r>
            <a:endParaRPr lang="zh-CN" sz="980"/>
          </a:p>
        </p:txBody>
      </p:sp>
      <p:sp>
        <p:nvSpPr>
          <p:cNvPr id="214" name="TextBox 214"/>
          <p:cNvSpPr txBox="1"/>
          <p:nvPr/>
        </p:nvSpPr>
        <p:spPr>
          <a:xfrm>
            <a:off x="11201377" y="4533056"/>
            <a:ext cx="327128" cy="2102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12月</a:t>
            </a:r>
            <a:endParaRPr lang="zh-CN" sz="980"/>
          </a:p>
        </p:txBody>
      </p:sp>
      <p:sp>
        <p:nvSpPr>
          <p:cNvPr id="215" name="TextBox 215"/>
          <p:cNvSpPr txBox="1"/>
          <p:nvPr/>
        </p:nvSpPr>
        <p:spPr>
          <a:xfrm>
            <a:off x="9139304" y="3656821"/>
            <a:ext cx="1390293" cy="3855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" b="1">
                <a:solidFill>
                  <a:srgbClr val="0E4837"/>
                </a:solidFill>
                <a:latin typeface="Microsoft YaHei"/>
                <a:ea typeface="Microsoft YaHei"/>
                <a:cs typeface="Microsoft YaHei"/>
              </a:rPr>
              <a:t>需求相对稳定</a:t>
            </a:r>
            <a:endParaRPr lang="zh-CN" sz="1030"/>
          </a:p>
          <a:p>
            <a:pPr algn="ctr"/>
            <a:r>
              <a:rPr lang="zh-CN" sz="1030" b="1">
                <a:solidFill>
                  <a:srgbClr val="0E4837"/>
                </a:solidFill>
                <a:latin typeface="Microsoft YaHei"/>
                <a:ea typeface="Microsoft YaHei"/>
                <a:cs typeface="Microsoft YaHei"/>
              </a:rPr>
              <a:t>春秋季有小高峰</a:t>
            </a:r>
            <a:endParaRPr lang="zh-CN" sz="1030"/>
          </a:p>
        </p:txBody>
      </p:sp>
      <p:sp>
        <p:nvSpPr>
          <p:cNvPr id="216" name="TextBox 216"/>
          <p:cNvSpPr txBox="1"/>
          <p:nvPr/>
        </p:nvSpPr>
        <p:spPr>
          <a:xfrm>
            <a:off x="7643863" y="4988698"/>
            <a:ext cx="864552" cy="3388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8E41"/>
                </a:solidFill>
                <a:latin typeface="Microsoft YaHei"/>
                <a:ea typeface="Microsoft YaHei"/>
                <a:cs typeface="Microsoft YaHei"/>
              </a:rPr>
              <a:t>供给端</a:t>
            </a:r>
            <a:endParaRPr lang="zh-CN" sz="1550"/>
          </a:p>
        </p:txBody>
      </p:sp>
      <p:sp>
        <p:nvSpPr>
          <p:cNvPr id="217" name="TextBox 217"/>
          <p:cNvSpPr txBox="1"/>
          <p:nvPr/>
        </p:nvSpPr>
        <p:spPr>
          <a:xfrm>
            <a:off x="9256136" y="4988698"/>
            <a:ext cx="864552" cy="3388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F08200"/>
                </a:solidFill>
                <a:latin typeface="Microsoft YaHei"/>
                <a:ea typeface="Microsoft YaHei"/>
                <a:cs typeface="Microsoft YaHei"/>
              </a:rPr>
              <a:t>需求端</a:t>
            </a:r>
            <a:endParaRPr lang="zh-CN" sz="1550"/>
          </a:p>
        </p:txBody>
      </p:sp>
      <p:sp>
        <p:nvSpPr>
          <p:cNvPr id="218" name="TextBox 218"/>
          <p:cNvSpPr txBox="1"/>
          <p:nvPr/>
        </p:nvSpPr>
        <p:spPr>
          <a:xfrm>
            <a:off x="10880091" y="4988698"/>
            <a:ext cx="864552" cy="3388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8DD8"/>
                </a:solidFill>
                <a:latin typeface="Microsoft YaHei"/>
                <a:ea typeface="Microsoft YaHei"/>
                <a:cs typeface="Microsoft YaHei"/>
              </a:rPr>
              <a:t>策略端</a:t>
            </a:r>
            <a:endParaRPr lang="zh-CN" sz="1550"/>
          </a:p>
        </p:txBody>
      </p:sp>
      <p:sp>
        <p:nvSpPr>
          <p:cNvPr id="219" name="TextBox 219"/>
          <p:cNvSpPr txBox="1"/>
          <p:nvPr/>
        </p:nvSpPr>
        <p:spPr>
          <a:xfrm>
            <a:off x="7538715" y="5409291"/>
            <a:ext cx="1109898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Q4备货充足</a:t>
            </a:r>
            <a:endParaRPr lang="zh-CN" sz="1030"/>
          </a:p>
        </p:txBody>
      </p:sp>
      <p:sp>
        <p:nvSpPr>
          <p:cNvPr id="220" name="TextBox 220"/>
          <p:cNvSpPr txBox="1"/>
          <p:nvPr/>
        </p:nvSpPr>
        <p:spPr>
          <a:xfrm>
            <a:off x="7538715" y="5619588"/>
            <a:ext cx="1109898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春夏原料偏紧</a:t>
            </a:r>
            <a:endParaRPr lang="zh-CN" sz="1030"/>
          </a:p>
        </p:txBody>
      </p:sp>
      <p:sp>
        <p:nvSpPr>
          <p:cNvPr id="221" name="TextBox 221"/>
          <p:cNvSpPr txBox="1"/>
          <p:nvPr/>
        </p:nvSpPr>
        <p:spPr>
          <a:xfrm>
            <a:off x="9150987" y="5409291"/>
            <a:ext cx="1109898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泰国旺季集中</a:t>
            </a:r>
            <a:endParaRPr lang="zh-CN" sz="1030"/>
          </a:p>
        </p:txBody>
      </p:sp>
      <p:sp>
        <p:nvSpPr>
          <p:cNvPr id="222" name="TextBox 222"/>
          <p:cNvSpPr txBox="1"/>
          <p:nvPr/>
        </p:nvSpPr>
        <p:spPr>
          <a:xfrm>
            <a:off x="9150987" y="5619588"/>
            <a:ext cx="1109898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日本需求更平稳</a:t>
            </a:r>
            <a:endParaRPr lang="zh-CN" sz="1030"/>
          </a:p>
        </p:txBody>
      </p:sp>
      <p:sp>
        <p:nvSpPr>
          <p:cNvPr id="223" name="TextBox 223"/>
          <p:cNvSpPr txBox="1"/>
          <p:nvPr/>
        </p:nvSpPr>
        <p:spPr>
          <a:xfrm>
            <a:off x="10763260" y="5409291"/>
            <a:ext cx="1109898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9—10月提前锁单</a:t>
            </a:r>
            <a:endParaRPr lang="zh-CN" sz="1030"/>
          </a:p>
        </p:txBody>
      </p:sp>
      <p:sp>
        <p:nvSpPr>
          <p:cNvPr id="224" name="TextBox 224"/>
          <p:cNvSpPr txBox="1"/>
          <p:nvPr/>
        </p:nvSpPr>
        <p:spPr>
          <a:xfrm>
            <a:off x="10763260" y="5619588"/>
            <a:ext cx="1109898" cy="2336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>
                <a:solidFill>
                  <a:srgbClr val="123E43"/>
                </a:solidFill>
                <a:latin typeface="Microsoft YaHei"/>
                <a:ea typeface="Microsoft YaHei"/>
                <a:cs typeface="Microsoft YaHei"/>
              </a:rPr>
              <a:t>旺季保障供货</a:t>
            </a:r>
            <a:endParaRPr lang="zh-CN" sz="1030"/>
          </a:p>
        </p:txBody>
      </p:sp>
      <p:sp>
        <p:nvSpPr>
          <p:cNvPr id="225" name="Path 225"/>
          <p:cNvSpPr/>
          <p:nvPr/>
        </p:nvSpPr>
        <p:spPr>
          <a:xfrm>
            <a:off x="3093" y="6215428"/>
            <a:ext cx="4941966" cy="6425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Path 226"/>
          <p:cNvSpPr/>
          <p:nvPr/>
        </p:nvSpPr>
        <p:spPr>
          <a:xfrm>
            <a:off x="7363468" y="6215428"/>
            <a:ext cx="4825135" cy="64257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Path 227"/>
          <p:cNvSpPr/>
          <p:nvPr/>
        </p:nvSpPr>
        <p:spPr>
          <a:xfrm>
            <a:off x="3093" y="6320576"/>
            <a:ext cx="4264344" cy="53742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48D5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Path 228"/>
          <p:cNvSpPr/>
          <p:nvPr/>
        </p:nvSpPr>
        <p:spPr>
          <a:xfrm>
            <a:off x="8041090" y="6320576"/>
            <a:ext cx="4147513" cy="53742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160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248D56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 mint textured paper and existing sunlit silver-mulched crop-field scene"/>
          <p:cNvPicPr/>
          <p:nvPr/>
        </p:nvPicPr>
        <p:blipFill>
          <a:blip r:embed="rId2"/>
          <a:stretch>
            <a:fillRect/>
          </a:stretch>
        </p:blipFill>
        <p:spPr>
          <a:xfrm>
            <a:off x="4105" y="0"/>
            <a:ext cx="12183486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27714" y="255419"/>
            <a:ext cx="2809609" cy="4852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" y="0"/>
                </a:moveTo>
                <a:lnTo>
                  <a:pt x="21600" y="0"/>
                </a:lnTo>
                <a:lnTo>
                  <a:pt x="2052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5DF8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3286239" y="255419"/>
            <a:ext cx="4891274" cy="49806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64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AF6EE"/>
          </a:solidFill>
          <a:ln w="7620">
            <a:solidFill>
              <a:srgbClr val="93C8A9"/>
            </a:solidFill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642652" y="255419"/>
            <a:ext cx="2566961" cy="4852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82" y="0"/>
                </a:moveTo>
                <a:lnTo>
                  <a:pt x="21600" y="0"/>
                </a:lnTo>
                <a:lnTo>
                  <a:pt x="2041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73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1332283" y="2873464"/>
            <a:ext cx="1851788" cy="120046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9302"/>
                </a:moveTo>
                <a:cubicBezTo>
                  <a:pt x="7895" y="14936"/>
                  <a:pt x="13556" y="8732"/>
                  <a:pt x="19217" y="2757"/>
                </a:cubicBezTo>
                <a:lnTo>
                  <a:pt x="17131" y="2298"/>
                </a:lnTo>
                <a:lnTo>
                  <a:pt x="21451" y="-460"/>
                </a:lnTo>
                <a:lnTo>
                  <a:pt x="21302" y="6894"/>
                </a:lnTo>
                <a:lnTo>
                  <a:pt x="20110" y="5285"/>
                </a:lnTo>
                <a:cubicBezTo>
                  <a:pt x="13556" y="13328"/>
                  <a:pt x="7299" y="18153"/>
                  <a:pt x="0" y="21600"/>
                </a:cubicBezTo>
                <a:close/>
              </a:path>
            </a:pathLst>
          </a:custGeom>
          <a:solidFill>
            <a:srgbClr val="A8DDB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17110" y="4048391"/>
            <a:ext cx="2362626" cy="306503"/>
          </a:xfrm>
          <a:prstGeom prst="roundRect">
            <a:avLst>
              <a:gd name="adj" fmla="val 50000"/>
            </a:avLst>
          </a:prstGeom>
          <a:solidFill>
            <a:srgbClr val="EFF8E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lipse 8"/>
          <p:cNvSpPr/>
          <p:nvPr/>
        </p:nvSpPr>
        <p:spPr>
          <a:xfrm>
            <a:off x="693736" y="4125017"/>
            <a:ext cx="881196" cy="204335"/>
          </a:xfrm>
          <a:prstGeom prst="ellipse">
            <a:avLst/>
          </a:prstGeom>
          <a:solidFill>
            <a:srgbClr val="D9ECC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1983602" y="4125017"/>
            <a:ext cx="881196" cy="204335"/>
          </a:xfrm>
          <a:prstGeom prst="ellipse">
            <a:avLst/>
          </a:prstGeom>
          <a:solidFill>
            <a:srgbClr val="FFE9B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872529" y="3435385"/>
            <a:ext cx="510838" cy="779028"/>
          </a:xfrm>
          <a:prstGeom prst="rect">
            <a:avLst/>
          </a:prstGeom>
          <a:solidFill>
            <a:srgbClr val="51AF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162395" y="3077799"/>
            <a:ext cx="510838" cy="1136615"/>
          </a:xfrm>
          <a:prstGeom prst="rect">
            <a:avLst/>
          </a:prstGeom>
          <a:solidFill>
            <a:srgbClr val="FFA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949155" y="3435385"/>
            <a:ext cx="102168" cy="779028"/>
          </a:xfrm>
          <a:prstGeom prst="rect">
            <a:avLst/>
          </a:prstGeom>
          <a:solidFill>
            <a:srgbClr val="85CD8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239021" y="3077799"/>
            <a:ext cx="102168" cy="1136615"/>
          </a:xfrm>
          <a:prstGeom prst="rect">
            <a:avLst/>
          </a:prstGeom>
          <a:solidFill>
            <a:srgbClr val="FFD2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872529" y="4112246"/>
            <a:ext cx="510838" cy="178793"/>
          </a:xfrm>
          <a:prstGeom prst="ellipse">
            <a:avLst/>
          </a:prstGeom>
          <a:solidFill>
            <a:srgbClr val="85CD8D"/>
          </a:solidFill>
          <a:ln w="8890">
            <a:solidFill>
              <a:srgbClr val="E8F8D8"/>
            </a:solidFill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2162395" y="4112246"/>
            <a:ext cx="510838" cy="178793"/>
          </a:xfrm>
          <a:prstGeom prst="ellipse">
            <a:avLst/>
          </a:prstGeom>
          <a:solidFill>
            <a:srgbClr val="FFD26B"/>
          </a:solidFill>
          <a:ln w="8890">
            <a:solidFill>
              <a:srgbClr val="FFF1BE"/>
            </a:solidFill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872529" y="3333218"/>
            <a:ext cx="510838" cy="204335"/>
          </a:xfrm>
          <a:prstGeom prst="ellipse">
            <a:avLst/>
          </a:prstGeom>
          <a:solidFill>
            <a:srgbClr val="89D28C"/>
          </a:solidFill>
          <a:ln w="8890">
            <a:solidFill>
              <a:srgbClr val="F1FBE5"/>
            </a:solidFill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2162395" y="2975631"/>
            <a:ext cx="510838" cy="204335"/>
          </a:xfrm>
          <a:prstGeom prst="ellipse">
            <a:avLst/>
          </a:prstGeom>
          <a:solidFill>
            <a:srgbClr val="FFC137"/>
          </a:solidFill>
          <a:ln w="8890">
            <a:solidFill>
              <a:srgbClr val="FFF2CB"/>
            </a:solidFill>
          </a:ln>
        </p:spPr>
        <p:txBody>
          <a:bodyPr/>
          <a:lstStyle/>
          <a:p/>
        </p:txBody>
      </p:sp>
      <p:pic>
        <p:nvPicPr>
          <p:cNvPr id="18" name="Source translucent world globe, white rim and attached original leaves; all ordinary content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2931845" y="797252"/>
            <a:ext cx="5140307" cy="4689474"/>
          </a:xfrm>
          <a:prstGeom prst="rect">
            <a:avLst/>
          </a:prstGeom>
        </p:spPr>
      </p:pic>
      <p:sp>
        <p:nvSpPr>
          <p:cNvPr id="19" name="Ellipse 19"/>
          <p:cNvSpPr/>
          <p:nvPr/>
        </p:nvSpPr>
        <p:spPr>
          <a:xfrm>
            <a:off x="3465032" y="434212"/>
            <a:ext cx="127709" cy="127709"/>
          </a:xfrm>
          <a:prstGeom prst="ellipse">
            <a:avLst/>
          </a:prstGeom>
          <a:solidFill>
            <a:srgbClr val="00985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655423" y="4367665"/>
            <a:ext cx="919508" cy="268190"/>
          </a:xfrm>
          <a:prstGeom prst="roundRect">
            <a:avLst>
              <a:gd name="adj" fmla="val 50000"/>
            </a:avLst>
          </a:prstGeom>
          <a:solidFill>
            <a:srgbClr val="4AA8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1958060" y="4367665"/>
            <a:ext cx="919508" cy="268190"/>
          </a:xfrm>
          <a:prstGeom prst="roundRect">
            <a:avLst>
              <a:gd name="adj" fmla="val 50000"/>
            </a:avLst>
          </a:prstGeom>
          <a:solidFill>
            <a:srgbClr val="FFAB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ath 22"/>
          <p:cNvSpPr/>
          <p:nvPr/>
        </p:nvSpPr>
        <p:spPr>
          <a:xfrm>
            <a:off x="7538965" y="1545285"/>
            <a:ext cx="4648626" cy="173684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93" y="1747"/>
                </a:moveTo>
                <a:cubicBezTo>
                  <a:pt x="6527" y="0"/>
                  <a:pt x="16793" y="2382"/>
                  <a:pt x="21600" y="6512"/>
                </a:cubicBezTo>
                <a:lnTo>
                  <a:pt x="21600" y="21600"/>
                </a:lnTo>
                <a:cubicBezTo>
                  <a:pt x="16141" y="17788"/>
                  <a:pt x="7774" y="16359"/>
                  <a:pt x="593" y="17153"/>
                </a:cubicBezTo>
                <a:cubicBezTo>
                  <a:pt x="2374" y="12547"/>
                  <a:pt x="1187" y="6194"/>
                  <a:pt x="119" y="3018"/>
                </a:cubicBezTo>
                <a:cubicBezTo>
                  <a:pt x="0" y="2382"/>
                  <a:pt x="119" y="1906"/>
                  <a:pt x="593" y="1747"/>
                </a:cubicBezTo>
                <a:close/>
              </a:path>
            </a:pathLst>
          </a:custGeom>
          <a:solidFill>
            <a:srgbClr val="F8FCF7"/>
          </a:solidFill>
          <a:ln w="10160">
            <a:solidFill>
              <a:srgbClr val="A9D5B8"/>
            </a:solidFill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7232462" y="2911777"/>
            <a:ext cx="4955128" cy="174962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837" y="946"/>
                </a:moveTo>
                <a:cubicBezTo>
                  <a:pt x="8740" y="0"/>
                  <a:pt x="16757" y="1104"/>
                  <a:pt x="21600" y="6464"/>
                </a:cubicBezTo>
                <a:lnTo>
                  <a:pt x="21600" y="17501"/>
                </a:lnTo>
                <a:cubicBezTo>
                  <a:pt x="21043" y="20969"/>
                  <a:pt x="20320" y="21600"/>
                  <a:pt x="19151" y="21600"/>
                </a:cubicBezTo>
                <a:cubicBezTo>
                  <a:pt x="13138" y="20969"/>
                  <a:pt x="6402" y="20023"/>
                  <a:pt x="1503" y="20812"/>
                </a:cubicBezTo>
                <a:cubicBezTo>
                  <a:pt x="3619" y="15136"/>
                  <a:pt x="3118" y="9618"/>
                  <a:pt x="0" y="5045"/>
                </a:cubicBezTo>
                <a:cubicBezTo>
                  <a:pt x="668" y="3469"/>
                  <a:pt x="1280" y="2207"/>
                  <a:pt x="1837" y="946"/>
                </a:cubicBezTo>
                <a:close/>
              </a:path>
            </a:pathLst>
          </a:custGeom>
          <a:solidFill>
            <a:srgbClr val="F9FCF7"/>
          </a:solidFill>
          <a:ln w="10160">
            <a:solidFill>
              <a:srgbClr val="A9D5B8"/>
            </a:solidFill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6300183" y="4584771"/>
            <a:ext cx="5887408" cy="164745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4685" y="1507"/>
                </a:moveTo>
                <a:cubicBezTo>
                  <a:pt x="9980" y="0"/>
                  <a:pt x="17570" y="1005"/>
                  <a:pt x="21600" y="6865"/>
                </a:cubicBezTo>
                <a:lnTo>
                  <a:pt x="21600" y="17414"/>
                </a:lnTo>
                <a:cubicBezTo>
                  <a:pt x="16259" y="21600"/>
                  <a:pt x="6653" y="21265"/>
                  <a:pt x="2249" y="16074"/>
                </a:cubicBezTo>
                <a:cubicBezTo>
                  <a:pt x="0" y="13395"/>
                  <a:pt x="1031" y="9377"/>
                  <a:pt x="2764" y="7033"/>
                </a:cubicBezTo>
                <a:cubicBezTo>
                  <a:pt x="3748" y="5526"/>
                  <a:pt x="4264" y="3516"/>
                  <a:pt x="4685" y="1507"/>
                </a:cubicBezTo>
                <a:close/>
              </a:path>
            </a:pathLst>
          </a:custGeom>
          <a:solidFill>
            <a:srgbClr val="F9FCF6"/>
          </a:solidFill>
          <a:ln w="10160">
            <a:solidFill>
              <a:srgbClr val="A9D5B8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3860931" y="2107207"/>
            <a:ext cx="3231050" cy="715173"/>
          </a:xfrm>
          <a:prstGeom prst="roundRect">
            <a:avLst>
              <a:gd name="adj" fmla="val 50000"/>
            </a:avLst>
          </a:prstGeom>
          <a:solidFill>
            <a:srgbClr val="FCFEFB"/>
          </a:solidFill>
          <a:ln w="7620">
            <a:solidFill>
              <a:srgbClr val="DEEEE0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3669367" y="2847922"/>
            <a:ext cx="3422615" cy="727944"/>
          </a:xfrm>
          <a:prstGeom prst="roundRect">
            <a:avLst>
              <a:gd name="adj" fmla="val 50000"/>
            </a:avLst>
          </a:prstGeom>
          <a:solidFill>
            <a:srgbClr val="FCFEFB"/>
          </a:solidFill>
          <a:ln w="7620">
            <a:solidFill>
              <a:srgbClr val="DEEEE0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3809848" y="3588637"/>
            <a:ext cx="3294905" cy="715173"/>
          </a:xfrm>
          <a:prstGeom prst="roundRect">
            <a:avLst>
              <a:gd name="adj" fmla="val 50000"/>
            </a:avLst>
          </a:prstGeom>
          <a:solidFill>
            <a:srgbClr val="FCFEFB"/>
          </a:solidFill>
          <a:ln w="7620">
            <a:solidFill>
              <a:srgbClr val="DEEEE0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4026954" y="4316581"/>
            <a:ext cx="3128883" cy="702402"/>
          </a:xfrm>
          <a:prstGeom prst="roundRect">
            <a:avLst>
              <a:gd name="adj" fmla="val 50000"/>
            </a:avLst>
          </a:prstGeom>
          <a:solidFill>
            <a:srgbClr val="FCFEFB"/>
          </a:solidFill>
          <a:ln w="7620">
            <a:solidFill>
              <a:srgbClr val="DEEEE0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9007624" y="3652492"/>
            <a:ext cx="0" cy="715173"/>
          </a:xfrm>
          <a:prstGeom prst="line">
            <a:avLst/>
          </a:prstGeom>
          <a:noFill/>
          <a:ln w="5080">
            <a:solidFill>
              <a:srgbClr val="E1EEE4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0003758" y="3652492"/>
            <a:ext cx="0" cy="715173"/>
          </a:xfrm>
          <a:prstGeom prst="line">
            <a:avLst/>
          </a:prstGeom>
          <a:noFill/>
          <a:ln w="5080">
            <a:solidFill>
              <a:srgbClr val="E1EEE4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1012663" y="3652492"/>
            <a:ext cx="0" cy="715173"/>
          </a:xfrm>
          <a:prstGeom prst="line">
            <a:avLst/>
          </a:prstGeom>
          <a:noFill/>
          <a:ln w="5080">
            <a:solidFill>
              <a:srgbClr val="E1EEE4"/>
            </a:solidFill>
          </a:ln>
        </p:spPr>
        <p:txBody>
          <a:bodyPr/>
          <a:lstStyle/>
          <a:p/>
        </p:txBody>
      </p:sp>
      <p:sp>
        <p:nvSpPr>
          <p:cNvPr id="32" name="Path 32"/>
          <p:cNvSpPr/>
          <p:nvPr/>
        </p:nvSpPr>
        <p:spPr>
          <a:xfrm>
            <a:off x="7998719" y="1724078"/>
            <a:ext cx="4188872" cy="63854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7639" y="-2160"/>
                  <a:pt x="16924" y="2592"/>
                  <a:pt x="21600" y="12528"/>
                </a:cubicBezTo>
                <a:lnTo>
                  <a:pt x="21600" y="21168"/>
                </a:lnTo>
                <a:cubicBezTo>
                  <a:pt x="15015" y="8640"/>
                  <a:pt x="6124" y="6912"/>
                  <a:pt x="0" y="9936"/>
                </a:cubicBezTo>
                <a:close/>
              </a:path>
            </a:pathLst>
          </a:custGeom>
          <a:solidFill>
            <a:srgbClr val="DFEEE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ath 33"/>
          <p:cNvSpPr/>
          <p:nvPr/>
        </p:nvSpPr>
        <p:spPr>
          <a:xfrm>
            <a:off x="7756071" y="3026715"/>
            <a:ext cx="4431520" cy="62577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8154" y="-2204"/>
                  <a:pt x="16869" y="3086"/>
                  <a:pt x="21600" y="14547"/>
                </a:cubicBezTo>
                <a:lnTo>
                  <a:pt x="21600" y="21159"/>
                </a:lnTo>
                <a:cubicBezTo>
                  <a:pt x="15064" y="9257"/>
                  <a:pt x="6038" y="7935"/>
                  <a:pt x="0" y="11020"/>
                </a:cubicBezTo>
                <a:close/>
              </a:path>
            </a:pathLst>
          </a:custGeom>
          <a:solidFill>
            <a:srgbClr val="DDEED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ath 34"/>
          <p:cNvSpPr/>
          <p:nvPr/>
        </p:nvSpPr>
        <p:spPr>
          <a:xfrm>
            <a:off x="7768842" y="4725251"/>
            <a:ext cx="4418749" cy="61300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8490" y="-2250"/>
                  <a:pt x="16668" y="3150"/>
                  <a:pt x="21600" y="14400"/>
                </a:cubicBezTo>
                <a:lnTo>
                  <a:pt x="21600" y="21600"/>
                </a:lnTo>
                <a:cubicBezTo>
                  <a:pt x="15108" y="10800"/>
                  <a:pt x="6492" y="8550"/>
                  <a:pt x="0" y="10800"/>
                </a:cubicBezTo>
                <a:close/>
              </a:path>
            </a:pathLst>
          </a:custGeom>
          <a:solidFill>
            <a:srgbClr val="DFEED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5" name="Original leaf and low green/gold heading swoosh, all 01/title/currency strokes and shadows remo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138393" y="1093989"/>
            <a:ext cx="3990212" cy="953675"/>
          </a:xfrm>
          <a:prstGeom prst="rect">
            <a:avLst/>
          </a:prstGeom>
        </p:spPr>
      </p:pic>
      <p:pic>
        <p:nvPicPr>
          <p:cNvPr id="36" name="Original leaf and heading swoosh, all 02/title strokes and shadows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6695249" y="615929"/>
            <a:ext cx="4663062" cy="1169080"/>
          </a:xfrm>
          <a:prstGeom prst="rect">
            <a:avLst/>
          </a:prstGeom>
        </p:spPr>
      </p:pic>
      <p:pic>
        <p:nvPicPr>
          <p:cNvPr id="37" name="Original green brush label fully blank; its ordinary copy is native."/>
          <p:cNvPicPr/>
          <p:nvPr/>
        </p:nvPicPr>
        <p:blipFill>
          <a:blip r:embed="rId6"/>
          <a:stretch>
            <a:fillRect/>
          </a:stretch>
        </p:blipFill>
        <p:spPr>
          <a:xfrm>
            <a:off x="462913" y="1845658"/>
            <a:ext cx="3063947" cy="816830"/>
          </a:xfrm>
          <a:prstGeom prst="rect">
            <a:avLst/>
          </a:prstGeom>
        </p:spPr>
      </p:pic>
      <p:pic>
        <p:nvPicPr>
          <p:cNvPr id="38" name="Original small corner two-leaf ornament."/>
          <p:cNvPicPr/>
          <p:nvPr/>
        </p:nvPicPr>
        <p:blipFill>
          <a:blip r:embed="rId7"/>
          <a:stretch>
            <a:fillRect/>
          </a:stretch>
        </p:blipFill>
        <p:spPr>
          <a:xfrm>
            <a:off x="11520733" y="258637"/>
            <a:ext cx="733481" cy="721508"/>
          </a:xfrm>
          <a:prstGeom prst="rect">
            <a:avLst/>
          </a:prstGeom>
        </p:spPr>
      </p:pic>
      <p:pic>
        <p:nvPicPr>
          <p:cNvPr id="39" name="Original source oval nondegradable white agricultural-film roll photograph, no text/card."/>
          <p:cNvPicPr/>
          <p:nvPr/>
        </p:nvPicPr>
        <p:blipFill>
          <a:blip r:embed="rId8"/>
          <a:stretch>
            <a:fillRect/>
          </a:stretch>
        </p:blipFill>
        <p:spPr>
          <a:xfrm>
            <a:off x="3839146" y="2174254"/>
            <a:ext cx="886454" cy="625777"/>
          </a:xfrm>
          <a:prstGeom prst="rect">
            <a:avLst/>
          </a:prstGeom>
        </p:spPr>
      </p:pic>
      <p:pic>
        <p:nvPicPr>
          <p:cNvPr id="40" name="Original source oval general white agricultural-film roll photograph, no text/card."/>
          <p:cNvPicPr/>
          <p:nvPr/>
        </p:nvPicPr>
        <p:blipFill>
          <a:blip r:embed="rId9"/>
          <a:stretch>
            <a:fillRect/>
          </a:stretch>
        </p:blipFill>
        <p:spPr>
          <a:xfrm>
            <a:off x="3686943" y="2893553"/>
            <a:ext cx="1050379" cy="674995"/>
          </a:xfrm>
          <a:prstGeom prst="rect">
            <a:avLst/>
          </a:prstGeom>
        </p:spPr>
      </p:pic>
      <p:pic>
        <p:nvPicPr>
          <p:cNvPr id="41" name="Original source oval thai white agricultural-film roll photograph, no text/card."/>
          <p:cNvPicPr/>
          <p:nvPr/>
        </p:nvPicPr>
        <p:blipFill>
          <a:blip r:embed="rId10"/>
          <a:stretch>
            <a:fillRect/>
          </a:stretch>
        </p:blipFill>
        <p:spPr>
          <a:xfrm>
            <a:off x="3818362" y="3626669"/>
            <a:ext cx="1004648" cy="632653"/>
          </a:xfrm>
          <a:prstGeom prst="rect">
            <a:avLst/>
          </a:prstGeom>
        </p:spPr>
      </p:pic>
      <p:pic>
        <p:nvPicPr>
          <p:cNvPr id="42" name="Original source oval europe white agricultural-film roll photograph, no text/card."/>
          <p:cNvPicPr/>
          <p:nvPr/>
        </p:nvPicPr>
        <p:blipFill>
          <a:blip r:embed="rId11"/>
          <a:stretch>
            <a:fillRect/>
          </a:stretch>
        </p:blipFill>
        <p:spPr>
          <a:xfrm>
            <a:off x="4041478" y="4317787"/>
            <a:ext cx="916003" cy="681401"/>
          </a:xfrm>
          <a:prstGeom prst="rect">
            <a:avLst/>
          </a:prstGeom>
        </p:spPr>
      </p:pic>
      <p:pic>
        <p:nvPicPr>
          <p:cNvPr id="43" name="Original green rising bars with gold upward arrow icon."/>
          <p:cNvPicPr/>
          <p:nvPr/>
        </p:nvPicPr>
        <p:blipFill>
          <a:blip r:embed="rId12"/>
          <a:stretch>
            <a:fillRect/>
          </a:stretch>
        </p:blipFill>
        <p:spPr>
          <a:xfrm>
            <a:off x="7854928" y="2103473"/>
            <a:ext cx="811192" cy="742881"/>
          </a:xfrm>
          <a:prstGeom prst="rect">
            <a:avLst/>
          </a:prstGeom>
        </p:spPr>
      </p:pic>
      <p:pic>
        <p:nvPicPr>
          <p:cNvPr id="44" name="Original source rice circular agricultural photo, independent from all readable pricing text."/>
          <p:cNvPicPr/>
          <p:nvPr/>
        </p:nvPicPr>
        <p:blipFill>
          <a:blip r:embed="rId13"/>
          <a:stretch>
            <a:fillRect/>
          </a:stretch>
        </p:blipFill>
        <p:spPr>
          <a:xfrm>
            <a:off x="8088788" y="3587324"/>
            <a:ext cx="726600" cy="628402"/>
          </a:xfrm>
          <a:prstGeom prst="rect">
            <a:avLst/>
          </a:prstGeom>
        </p:spPr>
      </p:pic>
      <p:pic>
        <p:nvPicPr>
          <p:cNvPr id="45" name="Original source vegetable circular agricultural photo, independent from all readable pricing text."/>
          <p:cNvPicPr/>
          <p:nvPr/>
        </p:nvPicPr>
        <p:blipFill>
          <a:blip r:embed="rId14"/>
          <a:stretch>
            <a:fillRect/>
          </a:stretch>
        </p:blipFill>
        <p:spPr>
          <a:xfrm>
            <a:off x="9072972" y="3584638"/>
            <a:ext cx="724959" cy="628402"/>
          </a:xfrm>
          <a:prstGeom prst="rect">
            <a:avLst/>
          </a:prstGeom>
        </p:spPr>
      </p:pic>
      <p:pic>
        <p:nvPicPr>
          <p:cNvPr id="46" name="Original source greenhouse circular agricultural photo, independent from all readable pricing text."/>
          <p:cNvPicPr/>
          <p:nvPr/>
        </p:nvPicPr>
        <p:blipFill>
          <a:blip r:embed="rId15"/>
          <a:stretch>
            <a:fillRect/>
          </a:stretch>
        </p:blipFill>
        <p:spPr>
          <a:xfrm>
            <a:off x="10081332" y="3584638"/>
            <a:ext cx="726048" cy="628402"/>
          </a:xfrm>
          <a:prstGeom prst="rect">
            <a:avLst/>
          </a:prstGeom>
        </p:spPr>
      </p:pic>
      <p:pic>
        <p:nvPicPr>
          <p:cNvPr id="47" name="Original source flower circular agricultural photo, independent from all readable pricing text."/>
          <p:cNvPicPr/>
          <p:nvPr/>
        </p:nvPicPr>
        <p:blipFill>
          <a:blip r:embed="rId16"/>
          <a:stretch>
            <a:fillRect/>
          </a:stretch>
        </p:blipFill>
        <p:spPr>
          <a:xfrm>
            <a:off x="11051370" y="3587198"/>
            <a:ext cx="727156" cy="631353"/>
          </a:xfrm>
          <a:prstGeom prst="rect">
            <a:avLst/>
          </a:prstGeom>
        </p:spPr>
      </p:pic>
      <p:pic>
        <p:nvPicPr>
          <p:cNvPr id="48" name="Original green rising bar chart, gold arrow and orange coin stack source icon."/>
          <p:cNvPicPr/>
          <p:nvPr/>
        </p:nvPicPr>
        <p:blipFill>
          <a:blip r:embed="rId17"/>
          <a:stretch>
            <a:fillRect/>
          </a:stretch>
        </p:blipFill>
        <p:spPr>
          <a:xfrm>
            <a:off x="6879133" y="5098361"/>
            <a:ext cx="1549542" cy="942369"/>
          </a:xfrm>
          <a:prstGeom prst="rect">
            <a:avLst/>
          </a:prstGeom>
        </p:spPr>
      </p:pic>
      <p:pic>
        <p:nvPicPr>
          <p:cNvPr id="49" name="Original calendar with gold rings and green leaf; no ordinary copy."/>
          <p:cNvPicPr/>
          <p:nvPr/>
        </p:nvPicPr>
        <p:blipFill>
          <a:blip r:embed="rId18"/>
          <a:stretch>
            <a:fillRect/>
          </a:stretch>
        </p:blipFill>
        <p:spPr>
          <a:xfrm>
            <a:off x="11070133" y="4954626"/>
            <a:ext cx="1021676" cy="1049514"/>
          </a:xfrm>
          <a:prstGeom prst="rect">
            <a:avLst/>
          </a:prstGeom>
        </p:spPr>
      </p:pic>
      <p:sp>
        <p:nvSpPr>
          <p:cNvPr id="50" name="Roundrect 50"/>
          <p:cNvSpPr/>
          <p:nvPr/>
        </p:nvSpPr>
        <p:spPr>
          <a:xfrm>
            <a:off x="5648864" y="2324313"/>
            <a:ext cx="1251553" cy="332045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5648864" y="3052257"/>
            <a:ext cx="1264324" cy="344816"/>
          </a:xfrm>
          <a:prstGeom prst="roundRect">
            <a:avLst>
              <a:gd name="adj" fmla="val 50000"/>
            </a:avLst>
          </a:prstGeom>
          <a:solidFill>
            <a:srgbClr val="D3EBD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oundrect 52"/>
          <p:cNvSpPr/>
          <p:nvPr/>
        </p:nvSpPr>
        <p:spPr>
          <a:xfrm>
            <a:off x="5648864" y="3792972"/>
            <a:ext cx="1277095" cy="332045"/>
          </a:xfrm>
          <a:prstGeom prst="roundRect">
            <a:avLst>
              <a:gd name="adj" fmla="val 50000"/>
            </a:avLst>
          </a:prstGeom>
          <a:solidFill>
            <a:srgbClr val="FFE0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5776574" y="4495374"/>
            <a:ext cx="1264324" cy="332045"/>
          </a:xfrm>
          <a:prstGeom prst="roundRect">
            <a:avLst>
              <a:gd name="adj" fmla="val 50000"/>
            </a:avLst>
          </a:prstGeom>
          <a:solidFill>
            <a:srgbClr val="FFE0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7781613" y="1596369"/>
            <a:ext cx="459754" cy="459754"/>
          </a:xfrm>
          <a:prstGeom prst="ellipse">
            <a:avLst/>
          </a:prstGeom>
          <a:solidFill>
            <a:srgbClr val="005C35"/>
          </a:solidFill>
          <a:ln w="12700">
            <a:solidFill>
              <a:srgbClr val="E2F3D9"/>
            </a:solidFill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7551736" y="2950089"/>
            <a:ext cx="459754" cy="459754"/>
          </a:xfrm>
          <a:prstGeom prst="ellipse">
            <a:avLst/>
          </a:prstGeom>
          <a:solidFill>
            <a:srgbClr val="005C35"/>
          </a:solidFill>
          <a:ln w="12700">
            <a:solidFill>
              <a:srgbClr val="E2F3D9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7551736" y="4674168"/>
            <a:ext cx="459754" cy="459754"/>
          </a:xfrm>
          <a:prstGeom prst="ellipse">
            <a:avLst/>
          </a:prstGeom>
          <a:solidFill>
            <a:srgbClr val="005C35"/>
          </a:solidFill>
          <a:ln w="12700">
            <a:solidFill>
              <a:srgbClr val="E2F3D9"/>
            </a:solidFill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8675579" y="2183832"/>
            <a:ext cx="51084" cy="51084"/>
          </a:xfrm>
          <a:prstGeom prst="ellipse">
            <a:avLst/>
          </a:prstGeom>
          <a:solidFill>
            <a:srgbClr val="4BA16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8675579" y="2413709"/>
            <a:ext cx="51084" cy="51084"/>
          </a:xfrm>
          <a:prstGeom prst="ellipse">
            <a:avLst/>
          </a:prstGeom>
          <a:solidFill>
            <a:srgbClr val="4BA16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8675579" y="2656358"/>
            <a:ext cx="51084" cy="51084"/>
          </a:xfrm>
          <a:prstGeom prst="ellipse">
            <a:avLst/>
          </a:prstGeom>
          <a:solidFill>
            <a:srgbClr val="4BA16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8407389" y="5274402"/>
            <a:ext cx="51084" cy="51084"/>
          </a:xfrm>
          <a:prstGeom prst="ellipse">
            <a:avLst/>
          </a:prstGeom>
          <a:solidFill>
            <a:srgbClr val="4BA16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8407389" y="5517050"/>
            <a:ext cx="51084" cy="51084"/>
          </a:xfrm>
          <a:prstGeom prst="ellipse">
            <a:avLst/>
          </a:prstGeom>
          <a:solidFill>
            <a:srgbClr val="4BA16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8407389" y="5759698"/>
            <a:ext cx="51084" cy="51084"/>
          </a:xfrm>
          <a:prstGeom prst="ellipse">
            <a:avLst/>
          </a:prstGeom>
          <a:solidFill>
            <a:srgbClr val="4BA16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extBox 63"/>
          <p:cNvSpPr txBox="1"/>
          <p:nvPr/>
        </p:nvSpPr>
        <p:spPr>
          <a:xfrm>
            <a:off x="834216" y="255419"/>
            <a:ext cx="2247687" cy="472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F8E5A5"/>
                </a:solidFill>
                <a:latin typeface="Microsoft YaHei"/>
                <a:ea typeface="Microsoft YaHei"/>
                <a:cs typeface="Microsoft YaHei"/>
              </a:rPr>
              <a:t>目标市场特性</a:t>
            </a:r>
            <a:endParaRPr lang="zh-CN" sz="2800"/>
          </a:p>
        </p:txBody>
      </p:sp>
      <p:sp>
        <p:nvSpPr>
          <p:cNvPr id="64" name="TextBox 64"/>
          <p:cNvSpPr txBox="1"/>
          <p:nvPr/>
        </p:nvSpPr>
        <p:spPr>
          <a:xfrm>
            <a:off x="3758764" y="293732"/>
            <a:ext cx="4291039" cy="4086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50">
                <a:solidFill>
                  <a:srgbClr val="005C35"/>
                </a:solidFill>
                <a:latin typeface="KaiTi"/>
                <a:ea typeface="KaiTi"/>
                <a:cs typeface="KaiTi"/>
              </a:rPr>
              <a:t>价格定位分析与定价策略</a:t>
            </a:r>
            <a:endParaRPr lang="zh-CN" sz="2350"/>
          </a:p>
        </p:txBody>
      </p:sp>
      <p:sp>
        <p:nvSpPr>
          <p:cNvPr id="65" name="TextBox 65"/>
          <p:cNvSpPr txBox="1"/>
          <p:nvPr/>
        </p:nvSpPr>
        <p:spPr>
          <a:xfrm>
            <a:off x="489401" y="919508"/>
            <a:ext cx="1008905" cy="90673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900" b="1" i="1">
                <a:solidFill>
                  <a:srgbClr val="005C35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5900"/>
          </a:p>
        </p:txBody>
      </p:sp>
      <p:sp>
        <p:nvSpPr>
          <p:cNvPr id="66" name="TextBox 66"/>
          <p:cNvSpPr txBox="1"/>
          <p:nvPr/>
        </p:nvSpPr>
        <p:spPr>
          <a:xfrm>
            <a:off x="1587702" y="1136615"/>
            <a:ext cx="2222145" cy="37035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市场价格分析</a:t>
            </a:r>
            <a:endParaRPr lang="zh-CN" sz="2000"/>
          </a:p>
        </p:txBody>
      </p:sp>
      <p:sp>
        <p:nvSpPr>
          <p:cNvPr id="67" name="TextBox 67"/>
          <p:cNvSpPr txBox="1"/>
          <p:nvPr/>
        </p:nvSpPr>
        <p:spPr>
          <a:xfrm>
            <a:off x="1613244" y="1494201"/>
            <a:ext cx="970592" cy="2171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43765B"/>
                </a:solidFill>
                <a:latin typeface="Microsoft YaHei"/>
                <a:ea typeface="Microsoft YaHei"/>
                <a:cs typeface="Microsoft YaHei"/>
              </a:rPr>
              <a:t>USD/吨</a:t>
            </a:r>
            <a:endParaRPr lang="zh-CN" sz="1150"/>
          </a:p>
        </p:txBody>
      </p:sp>
      <p:sp>
        <p:nvSpPr>
          <p:cNvPr id="68" name="TextBox 68"/>
          <p:cNvSpPr txBox="1"/>
          <p:nvPr/>
        </p:nvSpPr>
        <p:spPr>
          <a:xfrm>
            <a:off x="7258004" y="779028"/>
            <a:ext cx="1008905" cy="830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400" b="1" i="1">
                <a:solidFill>
                  <a:srgbClr val="005C35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5400"/>
          </a:p>
        </p:txBody>
      </p:sp>
      <p:sp>
        <p:nvSpPr>
          <p:cNvPr id="69" name="TextBox 69"/>
          <p:cNvSpPr txBox="1"/>
          <p:nvPr/>
        </p:nvSpPr>
        <p:spPr>
          <a:xfrm>
            <a:off x="8420160" y="996134"/>
            <a:ext cx="1660223" cy="3575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定价策略</a:t>
            </a:r>
            <a:endParaRPr lang="zh-CN" sz="2000"/>
          </a:p>
        </p:txBody>
      </p:sp>
      <p:sp>
        <p:nvSpPr>
          <p:cNvPr id="70" name="TextBox 70"/>
          <p:cNvSpPr txBox="1"/>
          <p:nvPr/>
        </p:nvSpPr>
        <p:spPr>
          <a:xfrm>
            <a:off x="744820" y="2030581"/>
            <a:ext cx="2426480" cy="472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中国出口PLA+PBAT降解农膜</a:t>
            </a:r>
            <a:endParaRPr lang="zh-CN" sz="1100"/>
          </a:p>
          <a:p>
            <a:pPr algn="ctr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（RCEP区域）</a:t>
            </a:r>
            <a:endParaRPr lang="zh-CN" sz="1100"/>
          </a:p>
        </p:txBody>
      </p:sp>
      <p:sp>
        <p:nvSpPr>
          <p:cNvPr id="71" name="TextBox 71"/>
          <p:cNvSpPr txBox="1"/>
          <p:nvPr/>
        </p:nvSpPr>
        <p:spPr>
          <a:xfrm>
            <a:off x="604339" y="3001173"/>
            <a:ext cx="1047218" cy="28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1900–2200</a:t>
            </a:r>
            <a:endParaRPr lang="zh-CN" sz="1550"/>
          </a:p>
        </p:txBody>
      </p:sp>
      <p:sp>
        <p:nvSpPr>
          <p:cNvPr id="72" name="TextBox 72"/>
          <p:cNvSpPr txBox="1"/>
          <p:nvPr/>
        </p:nvSpPr>
        <p:spPr>
          <a:xfrm>
            <a:off x="1906976" y="2618045"/>
            <a:ext cx="1085531" cy="293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2200–2450</a:t>
            </a:r>
            <a:endParaRPr lang="zh-CN" sz="1550"/>
          </a:p>
        </p:txBody>
      </p:sp>
      <p:sp>
        <p:nvSpPr>
          <p:cNvPr id="73" name="TextBox 73"/>
          <p:cNvSpPr txBox="1"/>
          <p:nvPr/>
        </p:nvSpPr>
        <p:spPr>
          <a:xfrm>
            <a:off x="655423" y="4367665"/>
            <a:ext cx="919508" cy="2681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通用款</a:t>
            </a:r>
            <a:endParaRPr lang="zh-CN" sz="1150"/>
          </a:p>
        </p:txBody>
      </p:sp>
      <p:sp>
        <p:nvSpPr>
          <p:cNvPr id="74" name="TextBox 74"/>
          <p:cNvSpPr txBox="1"/>
          <p:nvPr/>
        </p:nvSpPr>
        <p:spPr>
          <a:xfrm>
            <a:off x="1958060" y="4367665"/>
            <a:ext cx="919508" cy="2681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定制款</a:t>
            </a:r>
            <a:endParaRPr lang="zh-CN" sz="1150"/>
          </a:p>
        </p:txBody>
      </p:sp>
      <p:sp>
        <p:nvSpPr>
          <p:cNvPr id="75" name="TextBox 75"/>
          <p:cNvSpPr txBox="1"/>
          <p:nvPr/>
        </p:nvSpPr>
        <p:spPr>
          <a:xfrm>
            <a:off x="591568" y="4674168"/>
            <a:ext cx="1047218" cy="4214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国内普通款</a:t>
            </a:r>
            <a:endParaRPr lang="zh-CN" sz="1050"/>
          </a:p>
          <a:p>
            <a:pPr algn="ctr"/>
            <a:r>
              <a:rPr lang="zh-CN" sz="105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FOB价格区间</a:t>
            </a:r>
            <a:endParaRPr lang="zh-CN" sz="1050"/>
          </a:p>
        </p:txBody>
      </p:sp>
      <p:sp>
        <p:nvSpPr>
          <p:cNvPr id="76" name="TextBox 76"/>
          <p:cNvSpPr txBox="1"/>
          <p:nvPr/>
        </p:nvSpPr>
        <p:spPr>
          <a:xfrm>
            <a:off x="1894205" y="4674168"/>
            <a:ext cx="1047218" cy="4214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热带改性款</a:t>
            </a:r>
            <a:endParaRPr lang="zh-CN" sz="1050"/>
          </a:p>
          <a:p>
            <a:pPr algn="ctr"/>
            <a:r>
              <a:rPr lang="zh-CN" sz="105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FOB价格区间</a:t>
            </a:r>
            <a:endParaRPr lang="zh-CN" sz="1050"/>
          </a:p>
        </p:txBody>
      </p:sp>
      <p:sp>
        <p:nvSpPr>
          <p:cNvPr id="77" name="TextBox 77"/>
          <p:cNvSpPr txBox="1"/>
          <p:nvPr/>
        </p:nvSpPr>
        <p:spPr>
          <a:xfrm>
            <a:off x="4103579" y="1634682"/>
            <a:ext cx="2886235" cy="293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3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泰国市场各类农膜价格对比</a:t>
            </a:r>
            <a:endParaRPr lang="zh-CN" sz="1330"/>
          </a:p>
        </p:txBody>
      </p:sp>
      <p:sp>
        <p:nvSpPr>
          <p:cNvPr id="78" name="TextBox 78"/>
          <p:cNvSpPr txBox="1"/>
          <p:nvPr/>
        </p:nvSpPr>
        <p:spPr>
          <a:xfrm>
            <a:off x="4678272" y="1890101"/>
            <a:ext cx="1839017" cy="1915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（CIF，USD/吨）</a:t>
            </a:r>
            <a:endParaRPr lang="zh-CN" sz="1050"/>
          </a:p>
        </p:txBody>
      </p:sp>
      <p:sp>
        <p:nvSpPr>
          <p:cNvPr id="79" name="TextBox 79"/>
          <p:cNvSpPr txBox="1"/>
          <p:nvPr/>
        </p:nvSpPr>
        <p:spPr>
          <a:xfrm>
            <a:off x="4729356" y="2273229"/>
            <a:ext cx="919508" cy="383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传统PE地膜</a:t>
            </a:r>
            <a:endParaRPr lang="zh-CN" sz="980"/>
          </a:p>
          <a:p>
            <a:pPr algn="l"/>
            <a:r>
              <a:rPr lang="zh-CN" sz="980" b="1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（非降解）</a:t>
            </a:r>
            <a:endParaRPr lang="zh-CN" sz="980"/>
          </a:p>
        </p:txBody>
      </p:sp>
      <p:sp>
        <p:nvSpPr>
          <p:cNvPr id="80" name="TextBox 80"/>
          <p:cNvSpPr txBox="1"/>
          <p:nvPr/>
        </p:nvSpPr>
        <p:spPr>
          <a:xfrm>
            <a:off x="5648864" y="2324313"/>
            <a:ext cx="1251553" cy="3320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850–1100</a:t>
            </a:r>
            <a:endParaRPr lang="zh-CN" sz="1450"/>
          </a:p>
        </p:txBody>
      </p:sp>
      <p:sp>
        <p:nvSpPr>
          <p:cNvPr id="81" name="TextBox 81"/>
          <p:cNvSpPr txBox="1"/>
          <p:nvPr/>
        </p:nvSpPr>
        <p:spPr>
          <a:xfrm>
            <a:off x="4716585" y="3026715"/>
            <a:ext cx="945050" cy="3958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中国进口</a:t>
            </a:r>
            <a:endParaRPr lang="zh-CN" sz="980"/>
          </a:p>
          <a:p>
            <a:pPr algn="l"/>
            <a:r>
              <a:rPr lang="zh-CN" sz="980" b="1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通用降解农膜</a:t>
            </a:r>
            <a:endParaRPr lang="zh-CN" sz="980"/>
          </a:p>
        </p:txBody>
      </p:sp>
      <p:sp>
        <p:nvSpPr>
          <p:cNvPr id="82" name="TextBox 82"/>
          <p:cNvSpPr txBox="1"/>
          <p:nvPr/>
        </p:nvSpPr>
        <p:spPr>
          <a:xfrm>
            <a:off x="5648864" y="3052257"/>
            <a:ext cx="1264324" cy="3448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1900–2450</a:t>
            </a:r>
            <a:endParaRPr lang="zh-CN" sz="1450"/>
          </a:p>
        </p:txBody>
      </p:sp>
      <p:sp>
        <p:nvSpPr>
          <p:cNvPr id="83" name="TextBox 83"/>
          <p:cNvSpPr txBox="1"/>
          <p:nvPr/>
        </p:nvSpPr>
        <p:spPr>
          <a:xfrm>
            <a:off x="4869836" y="3754659"/>
            <a:ext cx="842883" cy="3958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泰国本土</a:t>
            </a:r>
            <a:endParaRPr lang="zh-CN" sz="980"/>
          </a:p>
          <a:p>
            <a:pPr algn="l"/>
            <a:r>
              <a:rPr lang="zh-CN" sz="980" b="1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降解农膜</a:t>
            </a:r>
            <a:endParaRPr lang="zh-CN" sz="980"/>
          </a:p>
        </p:txBody>
      </p:sp>
      <p:sp>
        <p:nvSpPr>
          <p:cNvPr id="84" name="TextBox 84"/>
          <p:cNvSpPr txBox="1"/>
          <p:nvPr/>
        </p:nvSpPr>
        <p:spPr>
          <a:xfrm>
            <a:off x="5648864" y="3792972"/>
            <a:ext cx="1277095" cy="3320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2100–2500</a:t>
            </a:r>
            <a:endParaRPr lang="zh-CN" sz="1450"/>
          </a:p>
        </p:txBody>
      </p:sp>
      <p:sp>
        <p:nvSpPr>
          <p:cNvPr id="85" name="TextBox 85"/>
          <p:cNvSpPr txBox="1"/>
          <p:nvPr/>
        </p:nvSpPr>
        <p:spPr>
          <a:xfrm>
            <a:off x="4972004" y="4469832"/>
            <a:ext cx="868425" cy="3958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欧美进口</a:t>
            </a:r>
            <a:endParaRPr lang="zh-CN" sz="980"/>
          </a:p>
          <a:p>
            <a:pPr algn="l"/>
            <a:r>
              <a:rPr lang="zh-CN" sz="980" b="1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高端降解农膜</a:t>
            </a:r>
            <a:endParaRPr lang="zh-CN" sz="980"/>
          </a:p>
        </p:txBody>
      </p:sp>
      <p:sp>
        <p:nvSpPr>
          <p:cNvPr id="86" name="TextBox 86"/>
          <p:cNvSpPr txBox="1"/>
          <p:nvPr/>
        </p:nvSpPr>
        <p:spPr>
          <a:xfrm>
            <a:off x="5776574" y="4495374"/>
            <a:ext cx="1264324" cy="3320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5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2800–3600</a:t>
            </a:r>
            <a:endParaRPr lang="zh-CN" sz="1450"/>
          </a:p>
        </p:txBody>
      </p:sp>
      <p:sp>
        <p:nvSpPr>
          <p:cNvPr id="87" name="TextBox 87"/>
          <p:cNvSpPr txBox="1"/>
          <p:nvPr/>
        </p:nvSpPr>
        <p:spPr>
          <a:xfrm>
            <a:off x="7781613" y="1596369"/>
            <a:ext cx="459754" cy="4597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1850"/>
          </a:p>
        </p:txBody>
      </p:sp>
      <p:sp>
        <p:nvSpPr>
          <p:cNvPr id="88" name="TextBox 88"/>
          <p:cNvSpPr txBox="1"/>
          <p:nvPr/>
        </p:nvSpPr>
        <p:spPr>
          <a:xfrm>
            <a:off x="8394619" y="1736849"/>
            <a:ext cx="2030581" cy="28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竞争性定价</a:t>
            </a:r>
            <a:endParaRPr lang="zh-CN" sz="1310"/>
          </a:p>
        </p:txBody>
      </p:sp>
      <p:sp>
        <p:nvSpPr>
          <p:cNvPr id="89" name="TextBox 89"/>
          <p:cNvSpPr txBox="1"/>
          <p:nvPr/>
        </p:nvSpPr>
        <p:spPr>
          <a:xfrm>
            <a:off x="7551736" y="2950089"/>
            <a:ext cx="459754" cy="4597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850"/>
          </a:p>
        </p:txBody>
      </p:sp>
      <p:sp>
        <p:nvSpPr>
          <p:cNvPr id="90" name="TextBox 90"/>
          <p:cNvSpPr txBox="1"/>
          <p:nvPr/>
        </p:nvSpPr>
        <p:spPr>
          <a:xfrm>
            <a:off x="8228596" y="3065028"/>
            <a:ext cx="2911777" cy="28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差异化分品类定价</a:t>
            </a:r>
            <a:endParaRPr lang="zh-CN" sz="1310"/>
          </a:p>
        </p:txBody>
      </p:sp>
      <p:sp>
        <p:nvSpPr>
          <p:cNvPr id="91" name="TextBox 91"/>
          <p:cNvSpPr txBox="1"/>
          <p:nvPr/>
        </p:nvSpPr>
        <p:spPr>
          <a:xfrm>
            <a:off x="7551736" y="4674168"/>
            <a:ext cx="459754" cy="4597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1850"/>
          </a:p>
        </p:txBody>
      </p:sp>
      <p:sp>
        <p:nvSpPr>
          <p:cNvPr id="92" name="TextBox 92"/>
          <p:cNvSpPr txBox="1"/>
          <p:nvPr/>
        </p:nvSpPr>
        <p:spPr>
          <a:xfrm>
            <a:off x="8305222" y="4789106"/>
            <a:ext cx="3256592" cy="2809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10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订单阶梯与季节弹性定价</a:t>
            </a:r>
            <a:endParaRPr lang="zh-CN" sz="1310"/>
          </a:p>
        </p:txBody>
      </p:sp>
      <p:sp>
        <p:nvSpPr>
          <p:cNvPr id="93" name="TextBox 93"/>
          <p:cNvSpPr txBox="1"/>
          <p:nvPr/>
        </p:nvSpPr>
        <p:spPr>
          <a:xfrm>
            <a:off x="8816060" y="2094436"/>
            <a:ext cx="1570827" cy="2298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对标本土竞品，小幅溢价</a:t>
            </a:r>
            <a:endParaRPr lang="zh-CN" sz="980"/>
          </a:p>
        </p:txBody>
      </p:sp>
      <p:sp>
        <p:nvSpPr>
          <p:cNvPr id="94" name="TextBox 94"/>
          <p:cNvSpPr txBox="1"/>
          <p:nvPr/>
        </p:nvSpPr>
        <p:spPr>
          <a:xfrm>
            <a:off x="10233635" y="2043352"/>
            <a:ext cx="932279" cy="293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8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3%–8%</a:t>
            </a:r>
            <a:endParaRPr lang="zh-CN" sz="1480"/>
          </a:p>
        </p:txBody>
      </p:sp>
      <p:sp>
        <p:nvSpPr>
          <p:cNvPr id="95" name="TextBox 95"/>
          <p:cNvSpPr txBox="1"/>
          <p:nvPr/>
        </p:nvSpPr>
        <p:spPr>
          <a:xfrm>
            <a:off x="8816060" y="2337084"/>
            <a:ext cx="1813475" cy="2298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育苗花卉高端款为欧美产品的</a:t>
            </a:r>
            <a:endParaRPr lang="zh-CN" sz="980"/>
          </a:p>
        </p:txBody>
      </p:sp>
      <p:sp>
        <p:nvSpPr>
          <p:cNvPr id="96" name="TextBox 96"/>
          <p:cNvSpPr txBox="1"/>
          <p:nvPr/>
        </p:nvSpPr>
        <p:spPr>
          <a:xfrm>
            <a:off x="10514596" y="2286000"/>
            <a:ext cx="1123844" cy="293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8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50%–60%</a:t>
            </a:r>
            <a:endParaRPr lang="zh-CN" sz="1480"/>
          </a:p>
        </p:txBody>
      </p:sp>
      <p:sp>
        <p:nvSpPr>
          <p:cNvPr id="97" name="TextBox 97"/>
          <p:cNvSpPr txBox="1"/>
          <p:nvPr/>
        </p:nvSpPr>
        <p:spPr>
          <a:xfrm>
            <a:off x="8816060" y="2566961"/>
            <a:ext cx="2528648" cy="2298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打造热带适配、可控降解等综合优势</a:t>
            </a:r>
            <a:endParaRPr lang="zh-CN" sz="980"/>
          </a:p>
        </p:txBody>
      </p:sp>
      <p:sp>
        <p:nvSpPr>
          <p:cNvPr id="98" name="TextBox 98"/>
          <p:cNvSpPr txBox="1"/>
          <p:nvPr/>
        </p:nvSpPr>
        <p:spPr>
          <a:xfrm>
            <a:off x="8037032" y="3409844"/>
            <a:ext cx="957821" cy="2298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水稻大田通用膜</a:t>
            </a:r>
            <a:endParaRPr lang="zh-CN" sz="869"/>
          </a:p>
        </p:txBody>
      </p:sp>
      <p:sp>
        <p:nvSpPr>
          <p:cNvPr id="99" name="TextBox 99"/>
          <p:cNvSpPr txBox="1"/>
          <p:nvPr/>
        </p:nvSpPr>
        <p:spPr>
          <a:xfrm>
            <a:off x="8139200" y="4163330"/>
            <a:ext cx="625777" cy="2554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2120</a:t>
            </a:r>
            <a:endParaRPr lang="zh-CN" sz="1480"/>
          </a:p>
        </p:txBody>
      </p:sp>
      <p:sp>
        <p:nvSpPr>
          <p:cNvPr id="100" name="TextBox 100"/>
          <p:cNvSpPr txBox="1"/>
          <p:nvPr/>
        </p:nvSpPr>
        <p:spPr>
          <a:xfrm>
            <a:off x="8139200" y="4380436"/>
            <a:ext cx="625777" cy="1660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90">
                <a:solidFill>
                  <a:srgbClr val="44745E"/>
                </a:solidFill>
                <a:latin typeface="Microsoft YaHei"/>
                <a:ea typeface="Microsoft YaHei"/>
                <a:cs typeface="Microsoft YaHei"/>
              </a:rPr>
              <a:t>USD/吨</a:t>
            </a:r>
            <a:endParaRPr lang="zh-CN" sz="790"/>
          </a:p>
        </p:txBody>
      </p:sp>
      <p:sp>
        <p:nvSpPr>
          <p:cNvPr id="101" name="TextBox 101"/>
          <p:cNvSpPr txBox="1"/>
          <p:nvPr/>
        </p:nvSpPr>
        <p:spPr>
          <a:xfrm>
            <a:off x="9020395" y="3409844"/>
            <a:ext cx="957821" cy="2298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热带果蔬专用膜</a:t>
            </a:r>
            <a:endParaRPr lang="zh-CN" sz="869"/>
          </a:p>
        </p:txBody>
      </p:sp>
      <p:sp>
        <p:nvSpPr>
          <p:cNvPr id="102" name="TextBox 102"/>
          <p:cNvSpPr txBox="1"/>
          <p:nvPr/>
        </p:nvSpPr>
        <p:spPr>
          <a:xfrm>
            <a:off x="9122563" y="4163330"/>
            <a:ext cx="625777" cy="2554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2300</a:t>
            </a:r>
            <a:endParaRPr lang="zh-CN" sz="1480"/>
          </a:p>
        </p:txBody>
      </p:sp>
      <p:sp>
        <p:nvSpPr>
          <p:cNvPr id="103" name="TextBox 103"/>
          <p:cNvSpPr txBox="1"/>
          <p:nvPr/>
        </p:nvSpPr>
        <p:spPr>
          <a:xfrm>
            <a:off x="9122563" y="4380436"/>
            <a:ext cx="625777" cy="1660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90">
                <a:solidFill>
                  <a:srgbClr val="44745E"/>
                </a:solidFill>
                <a:latin typeface="Microsoft YaHei"/>
                <a:ea typeface="Microsoft YaHei"/>
                <a:cs typeface="Microsoft YaHei"/>
              </a:rPr>
              <a:t>USD/吨</a:t>
            </a:r>
            <a:endParaRPr lang="zh-CN" sz="790"/>
          </a:p>
        </p:txBody>
      </p:sp>
      <p:sp>
        <p:nvSpPr>
          <p:cNvPr id="104" name="TextBox 104"/>
          <p:cNvSpPr txBox="1"/>
          <p:nvPr/>
        </p:nvSpPr>
        <p:spPr>
          <a:xfrm>
            <a:off x="10029300" y="3409844"/>
            <a:ext cx="957821" cy="2298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苗圃育苗长效膜</a:t>
            </a:r>
            <a:endParaRPr lang="zh-CN" sz="869"/>
          </a:p>
        </p:txBody>
      </p:sp>
      <p:sp>
        <p:nvSpPr>
          <p:cNvPr id="105" name="TextBox 105"/>
          <p:cNvSpPr txBox="1"/>
          <p:nvPr/>
        </p:nvSpPr>
        <p:spPr>
          <a:xfrm>
            <a:off x="10131468" y="4163330"/>
            <a:ext cx="625777" cy="2554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2520</a:t>
            </a:r>
            <a:endParaRPr lang="zh-CN" sz="1480"/>
          </a:p>
        </p:txBody>
      </p:sp>
      <p:sp>
        <p:nvSpPr>
          <p:cNvPr id="106" name="TextBox 106"/>
          <p:cNvSpPr txBox="1"/>
          <p:nvPr/>
        </p:nvSpPr>
        <p:spPr>
          <a:xfrm>
            <a:off x="10131468" y="4380436"/>
            <a:ext cx="625777" cy="1660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90">
                <a:solidFill>
                  <a:srgbClr val="44745E"/>
                </a:solidFill>
                <a:latin typeface="Microsoft YaHei"/>
                <a:ea typeface="Microsoft YaHei"/>
                <a:cs typeface="Microsoft YaHei"/>
              </a:rPr>
              <a:t>USD/吨</a:t>
            </a:r>
            <a:endParaRPr lang="zh-CN" sz="790"/>
          </a:p>
        </p:txBody>
      </p:sp>
      <p:sp>
        <p:nvSpPr>
          <p:cNvPr id="107" name="TextBox 107"/>
          <p:cNvSpPr txBox="1"/>
          <p:nvPr/>
        </p:nvSpPr>
        <p:spPr>
          <a:xfrm>
            <a:off x="10999892" y="3409844"/>
            <a:ext cx="957821" cy="2298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005C35"/>
                </a:solidFill>
                <a:latin typeface="Microsoft YaHei"/>
                <a:ea typeface="Microsoft YaHei"/>
                <a:cs typeface="Microsoft YaHei"/>
              </a:rPr>
              <a:t>花卉景观专用膜</a:t>
            </a:r>
            <a:endParaRPr lang="zh-CN" sz="869"/>
          </a:p>
        </p:txBody>
      </p:sp>
      <p:sp>
        <p:nvSpPr>
          <p:cNvPr id="108" name="TextBox 108"/>
          <p:cNvSpPr txBox="1"/>
          <p:nvPr/>
        </p:nvSpPr>
        <p:spPr>
          <a:xfrm>
            <a:off x="11102060" y="4163330"/>
            <a:ext cx="625777" cy="2554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2680</a:t>
            </a:r>
            <a:endParaRPr lang="zh-CN" sz="1480"/>
          </a:p>
        </p:txBody>
      </p:sp>
      <p:sp>
        <p:nvSpPr>
          <p:cNvPr id="109" name="TextBox 109"/>
          <p:cNvSpPr txBox="1"/>
          <p:nvPr/>
        </p:nvSpPr>
        <p:spPr>
          <a:xfrm>
            <a:off x="11102060" y="4380436"/>
            <a:ext cx="625777" cy="16602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90">
                <a:solidFill>
                  <a:srgbClr val="44745E"/>
                </a:solidFill>
                <a:latin typeface="Microsoft YaHei"/>
                <a:ea typeface="Microsoft YaHei"/>
                <a:cs typeface="Microsoft YaHei"/>
              </a:rPr>
              <a:t>USD/吨</a:t>
            </a:r>
            <a:endParaRPr lang="zh-CN" sz="790"/>
          </a:p>
        </p:txBody>
      </p:sp>
      <p:sp>
        <p:nvSpPr>
          <p:cNvPr id="110" name="TextBox 110"/>
          <p:cNvSpPr txBox="1"/>
          <p:nvPr/>
        </p:nvSpPr>
        <p:spPr>
          <a:xfrm>
            <a:off x="8547870" y="5172235"/>
            <a:ext cx="2605274" cy="2426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采购量阶梯折扣，年底返点，绑定长期合作</a:t>
            </a:r>
            <a:endParaRPr lang="zh-CN" sz="980"/>
          </a:p>
        </p:txBody>
      </p:sp>
      <p:sp>
        <p:nvSpPr>
          <p:cNvPr id="111" name="TextBox 111"/>
          <p:cNvSpPr txBox="1"/>
          <p:nvPr/>
        </p:nvSpPr>
        <p:spPr>
          <a:xfrm>
            <a:off x="8547870" y="5414883"/>
            <a:ext cx="2579732" cy="2426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旺季（11月–4月）维持基准价</a:t>
            </a:r>
            <a:endParaRPr lang="zh-CN" sz="980"/>
          </a:p>
        </p:txBody>
      </p:sp>
      <p:sp>
        <p:nvSpPr>
          <p:cNvPr id="112" name="TextBox 112"/>
          <p:cNvSpPr txBox="1"/>
          <p:nvPr/>
        </p:nvSpPr>
        <p:spPr>
          <a:xfrm>
            <a:off x="8547870" y="5657531"/>
            <a:ext cx="1494201" cy="2426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淡季（5月–10月）给予</a:t>
            </a:r>
            <a:endParaRPr lang="zh-CN" sz="980"/>
          </a:p>
        </p:txBody>
      </p:sp>
      <p:sp>
        <p:nvSpPr>
          <p:cNvPr id="113" name="TextBox 113"/>
          <p:cNvSpPr txBox="1"/>
          <p:nvPr/>
        </p:nvSpPr>
        <p:spPr>
          <a:xfrm>
            <a:off x="9990987" y="5606447"/>
            <a:ext cx="804570" cy="2937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80" b="1">
                <a:solidFill>
                  <a:srgbClr val="FF7500"/>
                </a:solidFill>
                <a:latin typeface="Microsoft YaHei"/>
                <a:ea typeface="Microsoft YaHei"/>
                <a:cs typeface="Microsoft YaHei"/>
              </a:rPr>
              <a:t>5%–7%</a:t>
            </a:r>
            <a:endParaRPr lang="zh-CN" sz="1480"/>
          </a:p>
        </p:txBody>
      </p:sp>
      <p:sp>
        <p:nvSpPr>
          <p:cNvPr id="114" name="TextBox 114"/>
          <p:cNvSpPr txBox="1"/>
          <p:nvPr/>
        </p:nvSpPr>
        <p:spPr>
          <a:xfrm>
            <a:off x="10718931" y="5657531"/>
            <a:ext cx="395899" cy="2426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>
                <a:solidFill>
                  <a:srgbClr val="25434C"/>
                </a:solidFill>
                <a:latin typeface="Microsoft YaHei"/>
                <a:ea typeface="Microsoft YaHei"/>
                <a:cs typeface="Microsoft YaHei"/>
              </a:rPr>
              <a:t>优惠</a:t>
            </a:r>
            <a:endParaRPr lang="zh-CN" sz="980"/>
          </a:p>
        </p:txBody>
      </p:sp>
      <p:sp>
        <p:nvSpPr>
          <p:cNvPr id="115" name="Path 115"/>
          <p:cNvSpPr/>
          <p:nvPr/>
        </p:nvSpPr>
        <p:spPr>
          <a:xfrm>
            <a:off x="4105" y="6168369"/>
            <a:ext cx="12183486" cy="140480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178"/>
                </a:moveTo>
                <a:cubicBezTo>
                  <a:pt x="4528" y="4713"/>
                  <a:pt x="9011" y="11193"/>
                  <a:pt x="10800" y="12960"/>
                </a:cubicBezTo>
                <a:cubicBezTo>
                  <a:pt x="14128" y="11782"/>
                  <a:pt x="18679" y="5105"/>
                  <a:pt x="21600" y="0"/>
                </a:cubicBezTo>
                <a:lnTo>
                  <a:pt x="21600" y="22975"/>
                </a:lnTo>
                <a:lnTo>
                  <a:pt x="0" y="22975"/>
                </a:lnTo>
                <a:close/>
              </a:path>
            </a:pathLst>
          </a:custGeom>
          <a:solidFill>
            <a:srgbClr val="FBFF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Path 116"/>
          <p:cNvSpPr/>
          <p:nvPr/>
        </p:nvSpPr>
        <p:spPr>
          <a:xfrm>
            <a:off x="4105" y="6270536"/>
            <a:ext cx="12183486" cy="140480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178"/>
                </a:moveTo>
                <a:cubicBezTo>
                  <a:pt x="4528" y="4713"/>
                  <a:pt x="9011" y="11193"/>
                  <a:pt x="10800" y="12960"/>
                </a:cubicBezTo>
                <a:cubicBezTo>
                  <a:pt x="14128" y="11782"/>
                  <a:pt x="18679" y="5105"/>
                  <a:pt x="21600" y="0"/>
                </a:cubicBezTo>
                <a:lnTo>
                  <a:pt x="21600" y="21404"/>
                </a:lnTo>
                <a:lnTo>
                  <a:pt x="0" y="21404"/>
                </a:lnTo>
                <a:close/>
              </a:path>
            </a:pathLst>
          </a:custGeom>
          <a:solidFill>
            <a:srgbClr val="228B5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Path 117"/>
          <p:cNvSpPr/>
          <p:nvPr/>
        </p:nvSpPr>
        <p:spPr>
          <a:xfrm>
            <a:off x="4105" y="6615352"/>
            <a:ext cx="12183486" cy="140480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982"/>
                </a:moveTo>
                <a:cubicBezTo>
                  <a:pt x="4528" y="4516"/>
                  <a:pt x="9011" y="8444"/>
                  <a:pt x="10800" y="10211"/>
                </a:cubicBezTo>
                <a:cubicBezTo>
                  <a:pt x="14128" y="9033"/>
                  <a:pt x="18679" y="5105"/>
                  <a:pt x="21600" y="0"/>
                </a:cubicBezTo>
                <a:lnTo>
                  <a:pt x="21600" y="16102"/>
                </a:lnTo>
                <a:lnTo>
                  <a:pt x="0" y="16102"/>
                </a:lnTo>
                <a:close/>
              </a:path>
            </a:pathLst>
          </a:custGeom>
          <a:solidFill>
            <a:srgbClr val="A4B93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Path 118"/>
          <p:cNvSpPr/>
          <p:nvPr/>
        </p:nvSpPr>
        <p:spPr>
          <a:xfrm>
            <a:off x="4105" y="6832458"/>
            <a:ext cx="12183486" cy="140480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393"/>
                </a:moveTo>
                <a:cubicBezTo>
                  <a:pt x="4528" y="3927"/>
                  <a:pt x="9011" y="7265"/>
                  <a:pt x="10800" y="9033"/>
                </a:cubicBezTo>
                <a:cubicBezTo>
                  <a:pt x="14128" y="7855"/>
                  <a:pt x="18679" y="5105"/>
                  <a:pt x="21600" y="0"/>
                </a:cubicBezTo>
                <a:lnTo>
                  <a:pt x="21600" y="12764"/>
                </a:lnTo>
                <a:lnTo>
                  <a:pt x="0" y="12764"/>
                </a:lnTo>
                <a:close/>
              </a:path>
            </a:pathLst>
          </a:custGeom>
          <a:solidFill>
            <a:srgbClr val="147540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mint fibrous paper over original sunlit mulched farm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055"/>
            <a:ext cx="12191695" cy="685589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42887" y="249232"/>
            <a:ext cx="4017365" cy="49635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34" y="0"/>
                </a:moveTo>
                <a:lnTo>
                  <a:pt x="21600" y="0"/>
                </a:lnTo>
                <a:lnTo>
                  <a:pt x="2059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3DC8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4498208" y="264743"/>
            <a:ext cx="2047460" cy="4808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473" y="0"/>
                </a:moveTo>
                <a:lnTo>
                  <a:pt x="21600" y="0"/>
                </a:lnTo>
                <a:lnTo>
                  <a:pt x="2012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4F3EB"/>
          </a:solidFill>
          <a:ln w="7620">
            <a:solidFill>
              <a:srgbClr val="D1E9DC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10221" y="931719"/>
            <a:ext cx="4203498" cy="2280126"/>
          </a:xfrm>
          <a:prstGeom prst="roundRect">
            <a:avLst>
              <a:gd name="adj" fmla="val 16327"/>
            </a:avLst>
          </a:prstGeom>
          <a:solidFill>
            <a:srgbClr val="F0FCF5"/>
          </a:solidFill>
          <a:ln w="9525">
            <a:solidFill>
              <a:srgbClr val="B6E4CC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310221" y="3382467"/>
            <a:ext cx="4637808" cy="2264615"/>
          </a:xfrm>
          <a:prstGeom prst="roundRect">
            <a:avLst>
              <a:gd name="adj" fmla="val 15753"/>
            </a:avLst>
          </a:prstGeom>
          <a:solidFill>
            <a:srgbClr val="E8F3E7"/>
          </a:solidFill>
          <a:ln w="10160">
            <a:solidFill>
              <a:srgbClr val="D7EED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081264" y="885186"/>
            <a:ext cx="3846744" cy="2311148"/>
          </a:xfrm>
          <a:prstGeom prst="roundRect">
            <a:avLst>
              <a:gd name="adj" fmla="val 8725"/>
            </a:avLst>
          </a:prstGeom>
          <a:solidFill>
            <a:srgbClr val="EDF9F1"/>
          </a:solidFill>
          <a:ln w="1079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003708" y="3397978"/>
            <a:ext cx="3924299" cy="2233593"/>
          </a:xfrm>
          <a:prstGeom prst="roundRect">
            <a:avLst>
              <a:gd name="adj" fmla="val 9028"/>
            </a:avLst>
          </a:prstGeom>
          <a:solidFill>
            <a:srgbClr val="DDEEDD"/>
          </a:solidFill>
          <a:ln w="10160">
            <a:solidFill>
              <a:srgbClr val="E4F2E9"/>
            </a:solidFill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666976" y="249232"/>
            <a:ext cx="3769188" cy="4808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00" y="0"/>
                </a:moveTo>
                <a:lnTo>
                  <a:pt x="21600" y="0"/>
                </a:lnTo>
                <a:lnTo>
                  <a:pt x="2071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7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4637808" y="450876"/>
            <a:ext cx="124089" cy="124089"/>
          </a:xfrm>
          <a:prstGeom prst="ellipse">
            <a:avLst/>
          </a:prstGeom>
          <a:solidFill>
            <a:srgbClr val="07994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620443" y="1366029"/>
            <a:ext cx="3396923" cy="542887"/>
          </a:xfrm>
          <a:prstGeom prst="roundRect">
            <a:avLst>
              <a:gd name="adj" fmla="val 45714"/>
            </a:avLst>
          </a:prstGeom>
          <a:solidFill>
            <a:srgbClr val="FAFFFC"/>
          </a:solidFill>
          <a:ln w="5715">
            <a:solidFill>
              <a:srgbClr val="D7EDD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620443" y="1970960"/>
            <a:ext cx="3396923" cy="542887"/>
          </a:xfrm>
          <a:prstGeom prst="roundRect">
            <a:avLst>
              <a:gd name="adj" fmla="val 45714"/>
            </a:avLst>
          </a:prstGeom>
          <a:solidFill>
            <a:srgbClr val="FAFFFC"/>
          </a:solidFill>
          <a:ln w="5715">
            <a:solidFill>
              <a:srgbClr val="D7EDDF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620443" y="2575892"/>
            <a:ext cx="3396923" cy="542887"/>
          </a:xfrm>
          <a:prstGeom prst="roundRect">
            <a:avLst>
              <a:gd name="adj" fmla="val 45714"/>
            </a:avLst>
          </a:prstGeom>
          <a:solidFill>
            <a:srgbClr val="FAFFFC"/>
          </a:solidFill>
          <a:ln w="5715">
            <a:solidFill>
              <a:srgbClr val="D7EDDF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8189841" y="2405270"/>
            <a:ext cx="1163330" cy="697998"/>
          </a:xfrm>
          <a:prstGeom prst="roundRect">
            <a:avLst>
              <a:gd name="adj" fmla="val 35556"/>
            </a:avLst>
          </a:prstGeom>
          <a:solidFill>
            <a:srgbClr val="F9FFF8"/>
          </a:solidFill>
          <a:ln w="6985">
            <a:solidFill>
              <a:srgbClr val="CDEAD8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9461748" y="2405270"/>
            <a:ext cx="1163330" cy="697998"/>
          </a:xfrm>
          <a:prstGeom prst="roundRect">
            <a:avLst>
              <a:gd name="adj" fmla="val 35556"/>
            </a:avLst>
          </a:prstGeom>
          <a:solidFill>
            <a:srgbClr val="F9FFF8"/>
          </a:solidFill>
          <a:ln w="6985">
            <a:solidFill>
              <a:srgbClr val="CDEAD8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0718144" y="2405270"/>
            <a:ext cx="1163330" cy="697998"/>
          </a:xfrm>
          <a:prstGeom prst="roundRect">
            <a:avLst>
              <a:gd name="adj" fmla="val 35556"/>
            </a:avLst>
          </a:prstGeom>
          <a:solidFill>
            <a:srgbClr val="F9FFF8"/>
          </a:solidFill>
          <a:ln w="6985">
            <a:solidFill>
              <a:srgbClr val="CDEAD8"/>
            </a:solidFill>
          </a:ln>
        </p:spPr>
        <p:txBody>
          <a:bodyPr/>
          <a:lstStyle/>
          <a:p/>
        </p:txBody>
      </p:sp>
      <p:sp>
        <p:nvSpPr>
          <p:cNvPr id="17" name="Path 17"/>
          <p:cNvSpPr/>
          <p:nvPr/>
        </p:nvSpPr>
        <p:spPr>
          <a:xfrm>
            <a:off x="666976" y="931719"/>
            <a:ext cx="1395996" cy="35675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00" y="0"/>
                </a:moveTo>
                <a:lnTo>
                  <a:pt x="21600" y="0"/>
                </a:lnTo>
                <a:lnTo>
                  <a:pt x="204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4CB6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th 18"/>
          <p:cNvSpPr/>
          <p:nvPr/>
        </p:nvSpPr>
        <p:spPr>
          <a:xfrm>
            <a:off x="729020" y="3382467"/>
            <a:ext cx="1333951" cy="37226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56" y="0"/>
                </a:moveTo>
                <a:lnTo>
                  <a:pt x="21600" y="0"/>
                </a:lnTo>
                <a:lnTo>
                  <a:pt x="2034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4CB6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8282907" y="916208"/>
            <a:ext cx="1411507" cy="38777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87" y="0"/>
                </a:moveTo>
                <a:lnTo>
                  <a:pt x="21600" y="0"/>
                </a:lnTo>
                <a:lnTo>
                  <a:pt x="2041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4CB6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8298418" y="3444511"/>
            <a:ext cx="1395996" cy="37226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00" y="0"/>
                </a:moveTo>
                <a:lnTo>
                  <a:pt x="21600" y="0"/>
                </a:lnTo>
                <a:lnTo>
                  <a:pt x="204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4CB6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ath 21"/>
          <p:cNvSpPr/>
          <p:nvPr/>
        </p:nvSpPr>
        <p:spPr>
          <a:xfrm>
            <a:off x="1551106" y="3847799"/>
            <a:ext cx="1923372" cy="44982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9684" y="0"/>
                </a:lnTo>
                <a:lnTo>
                  <a:pt x="21600" y="11172"/>
                </a:lnTo>
                <a:lnTo>
                  <a:pt x="196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8FFF8"/>
          </a:solidFill>
          <a:ln w="7620">
            <a:solidFill>
              <a:srgbClr val="E1F1E4"/>
            </a:solidFill>
          </a:ln>
        </p:spPr>
        <p:txBody>
          <a:bodyPr/>
          <a:lstStyle/>
          <a:p/>
        </p:txBody>
      </p:sp>
      <p:sp>
        <p:nvSpPr>
          <p:cNvPr id="22" name="Path 22"/>
          <p:cNvSpPr/>
          <p:nvPr/>
        </p:nvSpPr>
        <p:spPr>
          <a:xfrm>
            <a:off x="2187060" y="4483752"/>
            <a:ext cx="1876839" cy="44982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9636" y="0"/>
                </a:lnTo>
                <a:lnTo>
                  <a:pt x="21600" y="11172"/>
                </a:lnTo>
                <a:lnTo>
                  <a:pt x="1963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8FFF8"/>
          </a:solidFill>
          <a:ln w="7620">
            <a:solidFill>
              <a:srgbClr val="E1F1E4"/>
            </a:solidFill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2916080" y="5104195"/>
            <a:ext cx="1008219" cy="44982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7945" y="0"/>
                </a:lnTo>
                <a:lnTo>
                  <a:pt x="21600" y="11172"/>
                </a:lnTo>
                <a:lnTo>
                  <a:pt x="1794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8FFF8"/>
          </a:solidFill>
          <a:ln w="7620">
            <a:solidFill>
              <a:srgbClr val="E1F1E4"/>
            </a:solidFill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651465" y="931719"/>
            <a:ext cx="1349462" cy="3412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41" y="0"/>
                </a:moveTo>
                <a:lnTo>
                  <a:pt x="21600" y="0"/>
                </a:lnTo>
                <a:lnTo>
                  <a:pt x="2011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8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Path 25"/>
          <p:cNvSpPr/>
          <p:nvPr/>
        </p:nvSpPr>
        <p:spPr>
          <a:xfrm>
            <a:off x="713509" y="3382467"/>
            <a:ext cx="1287418" cy="35675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301" y="0"/>
                </a:moveTo>
                <a:lnTo>
                  <a:pt x="21600" y="0"/>
                </a:lnTo>
                <a:lnTo>
                  <a:pt x="2003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8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ath 26"/>
          <p:cNvSpPr/>
          <p:nvPr/>
        </p:nvSpPr>
        <p:spPr>
          <a:xfrm>
            <a:off x="8267396" y="916208"/>
            <a:ext cx="1364974" cy="37226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27" y="0"/>
                </a:moveTo>
                <a:lnTo>
                  <a:pt x="21600" y="0"/>
                </a:lnTo>
                <a:lnTo>
                  <a:pt x="2012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8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Path 27"/>
          <p:cNvSpPr/>
          <p:nvPr/>
        </p:nvSpPr>
        <p:spPr>
          <a:xfrm>
            <a:off x="8282907" y="3444511"/>
            <a:ext cx="1349462" cy="35675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41" y="0"/>
                </a:moveTo>
                <a:lnTo>
                  <a:pt x="21600" y="0"/>
                </a:lnTo>
                <a:lnTo>
                  <a:pt x="2011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8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ath 28"/>
          <p:cNvSpPr/>
          <p:nvPr/>
        </p:nvSpPr>
        <p:spPr>
          <a:xfrm>
            <a:off x="8096775" y="3754732"/>
            <a:ext cx="3210790" cy="4808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878" y="3484"/>
                </a:moveTo>
                <a:lnTo>
                  <a:pt x="20452" y="0"/>
                </a:lnTo>
                <a:lnTo>
                  <a:pt x="21600" y="11148"/>
                </a:lnTo>
                <a:lnTo>
                  <a:pt x="20348" y="20206"/>
                </a:lnTo>
                <a:lnTo>
                  <a:pt x="835" y="21600"/>
                </a:lnTo>
                <a:lnTo>
                  <a:pt x="0" y="11845"/>
                </a:lnTo>
                <a:close/>
              </a:path>
            </a:pathLst>
          </a:custGeom>
          <a:solidFill>
            <a:srgbClr val="F8FFF8"/>
          </a:solidFill>
          <a:ln w="7620">
            <a:solidFill>
              <a:srgbClr val="B9E3CA"/>
            </a:solidFill>
          </a:ln>
        </p:spPr>
        <p:txBody>
          <a:bodyPr/>
          <a:lstStyle/>
          <a:p/>
        </p:txBody>
      </p:sp>
      <p:sp>
        <p:nvSpPr>
          <p:cNvPr id="29" name="Path 29"/>
          <p:cNvSpPr/>
          <p:nvPr/>
        </p:nvSpPr>
        <p:spPr>
          <a:xfrm>
            <a:off x="7941664" y="4189042"/>
            <a:ext cx="3350390" cy="4808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800" y="3484"/>
                </a:moveTo>
                <a:lnTo>
                  <a:pt x="20500" y="0"/>
                </a:lnTo>
                <a:lnTo>
                  <a:pt x="21600" y="11148"/>
                </a:lnTo>
                <a:lnTo>
                  <a:pt x="20400" y="20206"/>
                </a:lnTo>
                <a:lnTo>
                  <a:pt x="800" y="21600"/>
                </a:lnTo>
                <a:lnTo>
                  <a:pt x="0" y="11845"/>
                </a:lnTo>
                <a:close/>
              </a:path>
            </a:pathLst>
          </a:custGeom>
          <a:solidFill>
            <a:srgbClr val="F8FFF8"/>
          </a:solidFill>
          <a:ln w="7620">
            <a:solidFill>
              <a:srgbClr val="B9E3CA"/>
            </a:solidFill>
          </a:ln>
        </p:spPr>
        <p:txBody>
          <a:bodyPr/>
          <a:lstStyle/>
          <a:p/>
        </p:txBody>
      </p:sp>
      <p:sp>
        <p:nvSpPr>
          <p:cNvPr id="30" name="Path 30"/>
          <p:cNvSpPr/>
          <p:nvPr/>
        </p:nvSpPr>
        <p:spPr>
          <a:xfrm>
            <a:off x="7802064" y="4623352"/>
            <a:ext cx="3505500" cy="4808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20" y="3484"/>
                </a:moveTo>
                <a:lnTo>
                  <a:pt x="20549" y="0"/>
                </a:lnTo>
                <a:lnTo>
                  <a:pt x="21600" y="11148"/>
                </a:lnTo>
                <a:lnTo>
                  <a:pt x="20453" y="20206"/>
                </a:lnTo>
                <a:lnTo>
                  <a:pt x="765" y="21600"/>
                </a:lnTo>
                <a:lnTo>
                  <a:pt x="0" y="11845"/>
                </a:lnTo>
                <a:close/>
              </a:path>
            </a:pathLst>
          </a:custGeom>
          <a:solidFill>
            <a:srgbClr val="F8FFF8"/>
          </a:solidFill>
          <a:ln w="7620">
            <a:solidFill>
              <a:srgbClr val="B9E3CA"/>
            </a:solidFill>
          </a:ln>
        </p:spPr>
        <p:txBody>
          <a:bodyPr/>
          <a:lstStyle/>
          <a:p/>
        </p:txBody>
      </p:sp>
      <p:sp>
        <p:nvSpPr>
          <p:cNvPr id="31" name="Path 31"/>
          <p:cNvSpPr/>
          <p:nvPr/>
        </p:nvSpPr>
        <p:spPr>
          <a:xfrm>
            <a:off x="7662465" y="5057662"/>
            <a:ext cx="3784699" cy="48084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593" y="3484"/>
                </a:moveTo>
                <a:lnTo>
                  <a:pt x="20626" y="0"/>
                </a:lnTo>
                <a:lnTo>
                  <a:pt x="21600" y="11148"/>
                </a:lnTo>
                <a:lnTo>
                  <a:pt x="20538" y="20206"/>
                </a:lnTo>
                <a:lnTo>
                  <a:pt x="708" y="21600"/>
                </a:lnTo>
                <a:lnTo>
                  <a:pt x="0" y="11845"/>
                </a:lnTo>
                <a:close/>
              </a:path>
            </a:pathLst>
          </a:custGeom>
          <a:solidFill>
            <a:srgbClr val="F8FFF8"/>
          </a:solidFill>
          <a:ln w="7620">
            <a:solidFill>
              <a:srgbClr val="B9E3CA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3350390" y="3956376"/>
            <a:ext cx="868620" cy="356754"/>
          </a:xfrm>
          <a:prstGeom prst="roundRect">
            <a:avLst>
              <a:gd name="adj" fmla="val 50000"/>
            </a:avLst>
          </a:prstGeom>
          <a:solidFill>
            <a:srgbClr val="C4EAC0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3939810" y="4592330"/>
            <a:ext cx="635954" cy="356754"/>
          </a:xfrm>
          <a:prstGeom prst="roundRect">
            <a:avLst>
              <a:gd name="adj" fmla="val 50000"/>
            </a:avLst>
          </a:prstGeom>
          <a:solidFill>
            <a:srgbClr val="C4EAC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3753677" y="5212772"/>
            <a:ext cx="666976" cy="356754"/>
          </a:xfrm>
          <a:prstGeom prst="roundRect">
            <a:avLst>
              <a:gd name="adj" fmla="val 50000"/>
            </a:avLst>
          </a:prstGeom>
          <a:solidFill>
            <a:srgbClr val="C4EAC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ath 35"/>
          <p:cNvSpPr/>
          <p:nvPr/>
        </p:nvSpPr>
        <p:spPr>
          <a:xfrm>
            <a:off x="3179768" y="4002909"/>
            <a:ext cx="186133" cy="12408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66B84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ath 36"/>
          <p:cNvSpPr/>
          <p:nvPr/>
        </p:nvSpPr>
        <p:spPr>
          <a:xfrm>
            <a:off x="3769188" y="4638863"/>
            <a:ext cx="186133" cy="12408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66B84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ath 37"/>
          <p:cNvSpPr/>
          <p:nvPr/>
        </p:nvSpPr>
        <p:spPr>
          <a:xfrm>
            <a:off x="3583055" y="5259305"/>
            <a:ext cx="186133" cy="12408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66B84C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8" name="Original source globe visual, all ordinary copy/numerals removed. Preserves source material, shape and identity."/>
          <p:cNvPicPr/>
          <p:nvPr/>
        </p:nvPicPr>
        <p:blipFill>
          <a:blip r:embed="rId10"/>
          <a:stretch>
            <a:fillRect/>
          </a:stretch>
        </p:blipFill>
        <p:spPr>
          <a:xfrm>
            <a:off x="3723237" y="980989"/>
            <a:ext cx="4683177" cy="4204106"/>
          </a:xfrm>
          <a:prstGeom prst="rect">
            <a:avLst/>
          </a:prstGeom>
        </p:spPr>
      </p:pic>
      <p:pic>
        <p:nvPicPr>
          <p:cNvPr id="39" name="Original source header-enterprise-leaves visual, all ordinary copy/numerals removed. Preserves source material, shape and identity."/>
          <p:cNvPicPr/>
          <p:nvPr/>
        </p:nvPicPr>
        <p:blipFill>
          <a:blip r:embed="rId3"/>
          <a:stretch>
            <a:fillRect/>
          </a:stretch>
        </p:blipFill>
        <p:spPr>
          <a:xfrm>
            <a:off x="140793" y="841371"/>
            <a:ext cx="649078" cy="754605"/>
          </a:xfrm>
          <a:prstGeom prst="rect">
            <a:avLst/>
          </a:prstGeom>
        </p:spPr>
      </p:pic>
      <p:pic>
        <p:nvPicPr>
          <p:cNvPr id="40" name="Original source header-target-leaves visual, all ordinary copy/numerals removed. Preserves source material, shape and identity."/>
          <p:cNvPicPr/>
          <p:nvPr/>
        </p:nvPicPr>
        <p:blipFill>
          <a:blip r:embed="rId4"/>
          <a:stretch>
            <a:fillRect/>
          </a:stretch>
        </p:blipFill>
        <p:spPr>
          <a:xfrm>
            <a:off x="187661" y="3290943"/>
            <a:ext cx="632897" cy="756956"/>
          </a:xfrm>
          <a:prstGeom prst="rect">
            <a:avLst/>
          </a:prstGeom>
        </p:spPr>
      </p:pic>
      <p:pic>
        <p:nvPicPr>
          <p:cNvPr id="41" name="Original source header-product-leaves visual, all ordinary copy/numerals removed. Preserves source material, shape and identity."/>
          <p:cNvPicPr/>
          <p:nvPr/>
        </p:nvPicPr>
        <p:blipFill>
          <a:blip r:embed="rId5"/>
          <a:stretch>
            <a:fillRect/>
          </a:stretch>
        </p:blipFill>
        <p:spPr>
          <a:xfrm>
            <a:off x="7833398" y="843215"/>
            <a:ext cx="635330" cy="766429"/>
          </a:xfrm>
          <a:prstGeom prst="rect">
            <a:avLst/>
          </a:prstGeom>
        </p:spPr>
      </p:pic>
      <p:pic>
        <p:nvPicPr>
          <p:cNvPr id="42" name="Original source header-competitive-leaves visual, all ordinary copy/numerals removed. Preserves source material, shape and identity."/>
          <p:cNvPicPr/>
          <p:nvPr/>
        </p:nvPicPr>
        <p:blipFill>
          <a:blip r:embed="rId6"/>
          <a:stretch>
            <a:fillRect/>
          </a:stretch>
        </p:blipFill>
        <p:spPr>
          <a:xfrm>
            <a:off x="7990975" y="3370854"/>
            <a:ext cx="614886" cy="721223"/>
          </a:xfrm>
          <a:prstGeom prst="rect">
            <a:avLst/>
          </a:prstGeom>
        </p:spPr>
      </p:pic>
      <p:pic>
        <p:nvPicPr>
          <p:cNvPr id="43" name="Original source pyramid visual, all ordinary copy/numerals removed. Preserves source material, shape and identity."/>
          <p:cNvPicPr/>
          <p:nvPr/>
        </p:nvPicPr>
        <p:blipFill>
          <a:blip r:embed="rId16"/>
          <a:stretch>
            <a:fillRect/>
          </a:stretch>
        </p:blipFill>
        <p:spPr>
          <a:xfrm>
            <a:off x="311608" y="3705983"/>
            <a:ext cx="2024584" cy="2144958"/>
          </a:xfrm>
          <a:prstGeom prst="rect">
            <a:avLst/>
          </a:prstGeom>
        </p:spPr>
      </p:pic>
      <p:pic>
        <p:nvPicPr>
          <p:cNvPr id="44" name="Original source growth-arrow visual, all ordinary copy/numerals removed. Preserves source material, shape and identity."/>
          <p:cNvPicPr/>
          <p:nvPr/>
        </p:nvPicPr>
        <p:blipFill>
          <a:blip r:embed="rId21"/>
          <a:stretch>
            <a:fillRect/>
          </a:stretch>
        </p:blipFill>
        <p:spPr>
          <a:xfrm>
            <a:off x="10953372" y="3581470"/>
            <a:ext cx="1003096" cy="1990696"/>
          </a:xfrm>
          <a:prstGeom prst="rect">
            <a:avLst/>
          </a:prstGeom>
        </p:spPr>
      </p:pic>
      <p:pic>
        <p:nvPicPr>
          <p:cNvPr id="45" name="Original source enterprise-product semantic pictogram/medallion; complete with original source color and symbol relationships."/>
          <p:cNvPicPr/>
          <p:nvPr/>
        </p:nvPicPr>
        <p:blipFill>
          <a:blip r:embed="rId7"/>
          <a:stretch>
            <a:fillRect/>
          </a:stretch>
        </p:blipFill>
        <p:spPr>
          <a:xfrm>
            <a:off x="547541" y="1293971"/>
            <a:ext cx="688691" cy="671492"/>
          </a:xfrm>
          <a:prstGeom prst="rect">
            <a:avLst/>
          </a:prstGeom>
        </p:spPr>
      </p:pic>
      <p:pic>
        <p:nvPicPr>
          <p:cNvPr id="46" name="Original source enterprise-output semantic pictogram/medallion; complete with original source color and symbol relationships."/>
          <p:cNvPicPr/>
          <p:nvPr/>
        </p:nvPicPr>
        <p:blipFill>
          <a:blip r:embed="rId8"/>
          <a:stretch>
            <a:fillRect/>
          </a:stretch>
        </p:blipFill>
        <p:spPr>
          <a:xfrm>
            <a:off x="547779" y="1898663"/>
            <a:ext cx="688215" cy="671971"/>
          </a:xfrm>
          <a:prstGeom prst="rect">
            <a:avLst/>
          </a:prstGeom>
        </p:spPr>
      </p:pic>
      <p:pic>
        <p:nvPicPr>
          <p:cNvPr id="47" name="Original source enterprise-role semantic pictogram/medallion; complete with original source color and symbol relationships."/>
          <p:cNvPicPr/>
          <p:nvPr/>
        </p:nvPicPr>
        <p:blipFill>
          <a:blip r:embed="rId9"/>
          <a:stretch>
            <a:fillRect/>
          </a:stretch>
        </p:blipFill>
        <p:spPr>
          <a:xfrm>
            <a:off x="548015" y="2504071"/>
            <a:ext cx="687743" cy="671016"/>
          </a:xfrm>
          <a:prstGeom prst="rect">
            <a:avLst/>
          </a:prstGeom>
        </p:spPr>
      </p:pic>
      <p:pic>
        <p:nvPicPr>
          <p:cNvPr id="48" name="Original source heat semantic pictogram/medallion; complete with original source color and symbol relationships."/>
          <p:cNvPicPr/>
          <p:nvPr/>
        </p:nvPicPr>
        <p:blipFill>
          <a:blip r:embed="rId13"/>
          <a:stretch>
            <a:fillRect/>
          </a:stretch>
        </p:blipFill>
        <p:spPr>
          <a:xfrm>
            <a:off x="8080647" y="1315650"/>
            <a:ext cx="1366206" cy="1171021"/>
          </a:xfrm>
          <a:prstGeom prst="rect">
            <a:avLst/>
          </a:prstGeom>
        </p:spPr>
      </p:pic>
      <p:pic>
        <p:nvPicPr>
          <p:cNvPr id="49" name="Original source degradation semantic pictogram/medallion; complete with original source color and symbol relationships."/>
          <p:cNvPicPr/>
          <p:nvPr/>
        </p:nvPicPr>
        <p:blipFill>
          <a:blip r:embed="rId14"/>
          <a:stretch>
            <a:fillRect/>
          </a:stretch>
        </p:blipFill>
        <p:spPr>
          <a:xfrm>
            <a:off x="9354080" y="1318751"/>
            <a:ext cx="1313236" cy="1164819"/>
          </a:xfrm>
          <a:prstGeom prst="rect">
            <a:avLst/>
          </a:prstGeom>
        </p:spPr>
      </p:pic>
      <p:pic>
        <p:nvPicPr>
          <p:cNvPr id="50" name="Original source coins semantic pictogram/medallion; complete with original source color and symbol relationships."/>
          <p:cNvPicPr/>
          <p:nvPr/>
        </p:nvPicPr>
        <p:blipFill>
          <a:blip r:embed="rId15"/>
          <a:stretch>
            <a:fillRect/>
          </a:stretch>
        </p:blipFill>
        <p:spPr>
          <a:xfrm>
            <a:off x="10610476" y="1317612"/>
            <a:ext cx="1363155" cy="1167098"/>
          </a:xfrm>
          <a:prstGeom prst="rect">
            <a:avLst/>
          </a:prstGeom>
        </p:spPr>
      </p:pic>
      <p:pic>
        <p:nvPicPr>
          <p:cNvPr id="51" name="Original source factory semantic pictogram/medallion; complete with original source color and symbol relationships."/>
          <p:cNvPicPr/>
          <p:nvPr/>
        </p:nvPicPr>
        <p:blipFill>
          <a:blip r:embed="rId17"/>
          <a:stretch>
            <a:fillRect/>
          </a:stretch>
        </p:blipFill>
        <p:spPr>
          <a:xfrm>
            <a:off x="8192912" y="3831727"/>
            <a:ext cx="443679" cy="419920"/>
          </a:xfrm>
          <a:prstGeom prst="rect">
            <a:avLst/>
          </a:prstGeom>
        </p:spPr>
      </p:pic>
      <p:pic>
        <p:nvPicPr>
          <p:cNvPr id="52" name="Original source market-globe semantic pictogram/medallion; complete with original source color and symbol relationships."/>
          <p:cNvPicPr/>
          <p:nvPr/>
        </p:nvPicPr>
        <p:blipFill>
          <a:blip r:embed="rId18"/>
          <a:stretch>
            <a:fillRect/>
          </a:stretch>
        </p:blipFill>
        <p:spPr>
          <a:xfrm>
            <a:off x="8042696" y="4274237"/>
            <a:ext cx="433891" cy="403519"/>
          </a:xfrm>
          <a:prstGeom prst="rect">
            <a:avLst/>
          </a:prstGeom>
        </p:spPr>
      </p:pic>
      <p:pic>
        <p:nvPicPr>
          <p:cNvPr id="53" name="Original source nodes semantic pictogram/medallion; complete with original source color and symbol relationships."/>
          <p:cNvPicPr/>
          <p:nvPr/>
        </p:nvPicPr>
        <p:blipFill>
          <a:blip r:embed="rId19"/>
          <a:stretch>
            <a:fillRect/>
          </a:stretch>
        </p:blipFill>
        <p:spPr>
          <a:xfrm>
            <a:off x="7903946" y="4709491"/>
            <a:ext cx="432192" cy="401631"/>
          </a:xfrm>
          <a:prstGeom prst="rect">
            <a:avLst/>
          </a:prstGeom>
        </p:spPr>
      </p:pic>
      <p:pic>
        <p:nvPicPr>
          <p:cNvPr id="54" name="Original source shield semantic pictogram/medallion; complete with original source color and symbol relationships."/>
          <p:cNvPicPr/>
          <p:nvPr/>
        </p:nvPicPr>
        <p:blipFill>
          <a:blip r:embed="rId20"/>
          <a:stretch>
            <a:fillRect/>
          </a:stretch>
        </p:blipFill>
        <p:spPr>
          <a:xfrm>
            <a:off x="7758156" y="5144875"/>
            <a:ext cx="444571" cy="399483"/>
          </a:xfrm>
          <a:prstGeom prst="rect">
            <a:avLst/>
          </a:prstGeom>
        </p:spPr>
      </p:pic>
      <p:sp>
        <p:nvSpPr>
          <p:cNvPr id="55" name="Roundrect 55"/>
          <p:cNvSpPr/>
          <p:nvPr/>
        </p:nvSpPr>
        <p:spPr>
          <a:xfrm>
            <a:off x="5366828" y="3599622"/>
            <a:ext cx="1644173" cy="791064"/>
          </a:xfrm>
          <a:prstGeom prst="roundRect">
            <a:avLst>
              <a:gd name="adj" fmla="val 50000"/>
            </a:avLst>
          </a:prstGeom>
          <a:solidFill>
            <a:srgbClr val="006B36"/>
          </a:solidFill>
          <a:ln w="19050">
            <a:solidFill>
              <a:srgbClr val="E5CF74"/>
            </a:solidFill>
          </a:ln>
        </p:spPr>
        <p:txBody>
          <a:bodyPr/>
          <a:lstStyle/>
          <a:p/>
        </p:txBody>
      </p:sp>
      <p:pic>
        <p:nvPicPr>
          <p:cNvPr id="56" name="Original source bottom-ribbon visual, all ordinary copy/numerals removed. Preserves source material, shape and identity."/>
          <p:cNvPicPr/>
          <p:nvPr/>
        </p:nvPicPr>
        <p:blipFill>
          <a:blip r:embed="rId22"/>
          <a:stretch>
            <a:fillRect/>
          </a:stretch>
        </p:blipFill>
        <p:spPr>
          <a:xfrm>
            <a:off x="3261553" y="5684013"/>
            <a:ext cx="5699610" cy="856802"/>
          </a:xfrm>
          <a:prstGeom prst="rect">
            <a:avLst/>
          </a:prstGeom>
        </p:spPr>
      </p:pic>
      <p:pic>
        <p:nvPicPr>
          <p:cNvPr id="57" name="Original source metric-growth semantic pictogram/medallion; complete with original source color and symbol relationships."/>
          <p:cNvPicPr/>
          <p:nvPr/>
        </p:nvPicPr>
        <p:blipFill>
          <a:blip r:embed="rId11"/>
          <a:stretch>
            <a:fillRect/>
          </a:stretch>
        </p:blipFill>
        <p:spPr>
          <a:xfrm>
            <a:off x="4998584" y="3524863"/>
            <a:ext cx="891599" cy="909559"/>
          </a:xfrm>
          <a:prstGeom prst="rect">
            <a:avLst/>
          </a:prstGeom>
        </p:spPr>
      </p:pic>
      <p:pic>
        <p:nvPicPr>
          <p:cNvPr id="58" name="Original tiny gold curved upward arrow beside54%, separately source-edited; no character strokes retained."/>
          <p:cNvPicPr/>
          <p:nvPr/>
        </p:nvPicPr>
        <p:blipFill>
          <a:blip r:embed="rId12"/>
          <a:stretch>
            <a:fillRect/>
          </a:stretch>
        </p:blipFill>
        <p:spPr>
          <a:xfrm>
            <a:off x="6656280" y="3881037"/>
            <a:ext cx="352686" cy="476411"/>
          </a:xfrm>
          <a:prstGeom prst="rect">
            <a:avLst/>
          </a:prstGeom>
        </p:spPr>
      </p:pic>
      <p:sp>
        <p:nvSpPr>
          <p:cNvPr id="59" name="TextBox 59"/>
          <p:cNvSpPr txBox="1"/>
          <p:nvPr/>
        </p:nvSpPr>
        <p:spPr>
          <a:xfrm>
            <a:off x="806575" y="218210"/>
            <a:ext cx="3567544" cy="542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50" b="1" i="1">
                <a:solidFill>
                  <a:srgbClr val="F6DA87"/>
                </a:solidFill>
                <a:latin typeface="Microsoft YaHei"/>
                <a:ea typeface="Microsoft YaHei"/>
                <a:cs typeface="Microsoft YaHei"/>
              </a:rPr>
              <a:t>品牌建设与市场营销</a:t>
            </a:r>
            <a:endParaRPr lang="zh-CN" sz="2950"/>
          </a:p>
        </p:txBody>
      </p:sp>
      <p:sp>
        <p:nvSpPr>
          <p:cNvPr id="60" name="TextBox 60"/>
          <p:cNvSpPr txBox="1"/>
          <p:nvPr/>
        </p:nvSpPr>
        <p:spPr>
          <a:xfrm>
            <a:off x="4963540" y="311276"/>
            <a:ext cx="1364974" cy="4187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064D3F"/>
                </a:solidFill>
                <a:latin typeface="KaiTi"/>
                <a:ea typeface="KaiTi"/>
                <a:cs typeface="KaiTi"/>
              </a:rPr>
              <a:t>品牌定位</a:t>
            </a:r>
            <a:endParaRPr lang="zh-CN" sz="2400"/>
          </a:p>
        </p:txBody>
      </p:sp>
      <p:sp>
        <p:nvSpPr>
          <p:cNvPr id="61" name="TextBox 61"/>
          <p:cNvSpPr txBox="1"/>
          <p:nvPr/>
        </p:nvSpPr>
        <p:spPr>
          <a:xfrm>
            <a:off x="806575" y="916208"/>
            <a:ext cx="1147819" cy="372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FFFAE5"/>
                </a:solidFill>
                <a:latin typeface="Microsoft YaHei"/>
                <a:ea typeface="Microsoft YaHei"/>
                <a:cs typeface="Microsoft YaHei"/>
              </a:rPr>
              <a:t>企业定位</a:t>
            </a:r>
            <a:endParaRPr lang="zh-CN" sz="1950"/>
          </a:p>
        </p:txBody>
      </p:sp>
      <p:sp>
        <p:nvSpPr>
          <p:cNvPr id="62" name="TextBox 62"/>
          <p:cNvSpPr txBox="1"/>
          <p:nvPr/>
        </p:nvSpPr>
        <p:spPr>
          <a:xfrm>
            <a:off x="868620" y="3366956"/>
            <a:ext cx="1085774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FFFAE5"/>
                </a:solidFill>
                <a:latin typeface="Microsoft YaHei"/>
                <a:ea typeface="Microsoft YaHei"/>
                <a:cs typeface="Microsoft YaHei"/>
              </a:rPr>
              <a:t>目标客群</a:t>
            </a:r>
            <a:endParaRPr lang="zh-CN" sz="1950"/>
          </a:p>
        </p:txBody>
      </p:sp>
      <p:sp>
        <p:nvSpPr>
          <p:cNvPr id="63" name="TextBox 63"/>
          <p:cNvSpPr txBox="1"/>
          <p:nvPr/>
        </p:nvSpPr>
        <p:spPr>
          <a:xfrm>
            <a:off x="8422507" y="900697"/>
            <a:ext cx="1163330" cy="4032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FFFAE5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  <a:endParaRPr lang="zh-CN" sz="1950"/>
          </a:p>
        </p:txBody>
      </p:sp>
      <p:sp>
        <p:nvSpPr>
          <p:cNvPr id="64" name="TextBox 64"/>
          <p:cNvSpPr txBox="1"/>
          <p:nvPr/>
        </p:nvSpPr>
        <p:spPr>
          <a:xfrm>
            <a:off x="8438018" y="3429000"/>
            <a:ext cx="1147819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FFFAE5"/>
                </a:solidFill>
                <a:latin typeface="Microsoft YaHei"/>
                <a:ea typeface="Microsoft YaHei"/>
                <a:cs typeface="Microsoft YaHei"/>
              </a:rPr>
              <a:t>竞争定位</a:t>
            </a:r>
            <a:endParaRPr lang="zh-CN" sz="1950"/>
          </a:p>
        </p:txBody>
      </p:sp>
      <p:sp>
        <p:nvSpPr>
          <p:cNvPr id="65" name="TextBox 65"/>
          <p:cNvSpPr txBox="1"/>
          <p:nvPr/>
        </p:nvSpPr>
        <p:spPr>
          <a:xfrm>
            <a:off x="1395996" y="1381540"/>
            <a:ext cx="2249104" cy="263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核心产品：</a:t>
            </a:r>
            <a:endParaRPr lang="zh-CN" sz="1400"/>
          </a:p>
        </p:txBody>
      </p:sp>
      <p:sp>
        <p:nvSpPr>
          <p:cNvPr id="66" name="TextBox 66"/>
          <p:cNvSpPr txBox="1"/>
          <p:nvPr/>
        </p:nvSpPr>
        <p:spPr>
          <a:xfrm>
            <a:off x="1395996" y="1614206"/>
            <a:ext cx="2574836" cy="2326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0">
                <a:solidFill>
                  <a:srgbClr val="243E3A"/>
                </a:solidFill>
                <a:latin typeface="Microsoft YaHei"/>
                <a:ea typeface="Microsoft YaHei"/>
                <a:cs typeface="Microsoft YaHei"/>
              </a:rPr>
              <a:t>PLA+PBAT全生物降解农用地膜</a:t>
            </a:r>
            <a:endParaRPr lang="zh-CN" sz="1120"/>
          </a:p>
        </p:txBody>
      </p:sp>
      <p:sp>
        <p:nvSpPr>
          <p:cNvPr id="67" name="TextBox 67"/>
          <p:cNvSpPr txBox="1"/>
          <p:nvPr/>
        </p:nvSpPr>
        <p:spPr>
          <a:xfrm>
            <a:off x="1395996" y="1986471"/>
            <a:ext cx="2249104" cy="263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输出内容：</a:t>
            </a:r>
            <a:endParaRPr lang="zh-CN" sz="1400"/>
          </a:p>
        </p:txBody>
      </p:sp>
      <p:sp>
        <p:nvSpPr>
          <p:cNvPr id="68" name="TextBox 68"/>
          <p:cNvSpPr txBox="1"/>
          <p:nvPr/>
        </p:nvSpPr>
        <p:spPr>
          <a:xfrm>
            <a:off x="1395996" y="2219137"/>
            <a:ext cx="2574836" cy="2326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0">
                <a:solidFill>
                  <a:srgbClr val="243E3A"/>
                </a:solidFill>
                <a:latin typeface="Microsoft YaHei"/>
                <a:ea typeface="Microsoft YaHei"/>
                <a:cs typeface="Microsoft YaHei"/>
              </a:rPr>
              <a:t>产品 + 定制降解方案 + 农技服务</a:t>
            </a:r>
            <a:endParaRPr lang="zh-CN" sz="1120"/>
          </a:p>
        </p:txBody>
      </p:sp>
      <p:sp>
        <p:nvSpPr>
          <p:cNvPr id="69" name="TextBox 69"/>
          <p:cNvSpPr txBox="1"/>
          <p:nvPr/>
        </p:nvSpPr>
        <p:spPr>
          <a:xfrm>
            <a:off x="1395996" y="2591403"/>
            <a:ext cx="2249104" cy="263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目标角色：</a:t>
            </a:r>
            <a:endParaRPr lang="zh-CN" sz="1400"/>
          </a:p>
        </p:txBody>
      </p:sp>
      <p:sp>
        <p:nvSpPr>
          <p:cNvPr id="70" name="TextBox 70"/>
          <p:cNvSpPr txBox="1"/>
          <p:nvPr/>
        </p:nvSpPr>
        <p:spPr>
          <a:xfrm>
            <a:off x="1395996" y="2824069"/>
            <a:ext cx="2574836" cy="2326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0">
                <a:solidFill>
                  <a:srgbClr val="243E3A"/>
                </a:solidFill>
                <a:latin typeface="Microsoft YaHei"/>
                <a:ea typeface="Microsoft YaHei"/>
                <a:cs typeface="Microsoft YaHei"/>
              </a:rPr>
              <a:t>中泰绿色农业合作标杆品牌</a:t>
            </a:r>
            <a:endParaRPr lang="zh-CN" sz="1120"/>
          </a:p>
        </p:txBody>
      </p:sp>
      <p:sp>
        <p:nvSpPr>
          <p:cNvPr id="71" name="TextBox 71"/>
          <p:cNvSpPr txBox="1"/>
          <p:nvPr/>
        </p:nvSpPr>
        <p:spPr>
          <a:xfrm>
            <a:off x="5134162" y="1784827"/>
            <a:ext cx="1845816" cy="4032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FFFCE8"/>
                </a:solidFill>
                <a:latin typeface="KaiTi"/>
                <a:ea typeface="KaiTi"/>
                <a:cs typeface="KaiTi"/>
              </a:rPr>
              <a:t>品牌核心定位</a:t>
            </a:r>
            <a:endParaRPr lang="zh-CN" sz="2300"/>
          </a:p>
        </p:txBody>
      </p:sp>
      <p:sp>
        <p:nvSpPr>
          <p:cNvPr id="72" name="TextBox 72"/>
          <p:cNvSpPr txBox="1"/>
          <p:nvPr/>
        </p:nvSpPr>
        <p:spPr>
          <a:xfrm>
            <a:off x="4498208" y="2296692"/>
            <a:ext cx="1458040" cy="4963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50" b="1" i="1">
                <a:solidFill>
                  <a:srgbClr val="062D1E"/>
                </a:solidFill>
                <a:latin typeface="Microsoft YaHei"/>
                <a:ea typeface="Microsoft YaHei"/>
                <a:cs typeface="Microsoft YaHei"/>
              </a:rPr>
              <a:t>中国技术</a:t>
            </a:r>
            <a:endParaRPr lang="zh-CN" sz="2750"/>
          </a:p>
        </p:txBody>
      </p:sp>
      <p:sp>
        <p:nvSpPr>
          <p:cNvPr id="73" name="TextBox 73"/>
          <p:cNvSpPr txBox="1"/>
          <p:nvPr/>
        </p:nvSpPr>
        <p:spPr>
          <a:xfrm>
            <a:off x="5925226" y="2281181"/>
            <a:ext cx="418799" cy="5118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 b="1" i="1">
                <a:solidFill>
                  <a:srgbClr val="ECA118"/>
                </a:solidFill>
                <a:latin typeface="Liberation Sans"/>
                <a:ea typeface="Liberation Sans"/>
                <a:cs typeface="Liberation Sans"/>
              </a:rPr>
              <a:t>+</a:t>
            </a:r>
            <a:endParaRPr lang="zh-CN" sz="3300"/>
          </a:p>
        </p:txBody>
      </p:sp>
      <p:sp>
        <p:nvSpPr>
          <p:cNvPr id="74" name="TextBox 74"/>
          <p:cNvSpPr txBox="1"/>
          <p:nvPr/>
        </p:nvSpPr>
        <p:spPr>
          <a:xfrm>
            <a:off x="6313002" y="2296692"/>
            <a:ext cx="1473551" cy="4963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50" b="1" i="1">
                <a:solidFill>
                  <a:srgbClr val="062D1E"/>
                </a:solidFill>
                <a:latin typeface="Microsoft YaHei"/>
                <a:ea typeface="Microsoft YaHei"/>
                <a:cs typeface="Microsoft YaHei"/>
              </a:rPr>
              <a:t>泰国应用</a:t>
            </a:r>
            <a:endParaRPr lang="zh-CN" sz="2750"/>
          </a:p>
        </p:txBody>
      </p:sp>
      <p:sp>
        <p:nvSpPr>
          <p:cNvPr id="75" name="TextBox 75"/>
          <p:cNvSpPr txBox="1"/>
          <p:nvPr/>
        </p:nvSpPr>
        <p:spPr>
          <a:xfrm>
            <a:off x="4684341" y="2839580"/>
            <a:ext cx="2838524" cy="2791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294334"/>
                </a:solidFill>
                <a:latin typeface="Microsoft YaHei"/>
                <a:ea typeface="Microsoft YaHei"/>
                <a:cs typeface="Microsoft YaHei"/>
              </a:rPr>
              <a:t>热带农业降解地膜解决方案引领者</a:t>
            </a:r>
            <a:endParaRPr lang="zh-CN" sz="1250"/>
          </a:p>
        </p:txBody>
      </p:sp>
      <p:sp>
        <p:nvSpPr>
          <p:cNvPr id="76" name="TextBox 76"/>
          <p:cNvSpPr txBox="1"/>
          <p:nvPr/>
        </p:nvSpPr>
        <p:spPr>
          <a:xfrm>
            <a:off x="5816648" y="3646155"/>
            <a:ext cx="1163330" cy="2481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FFFBE5"/>
                </a:solidFill>
                <a:latin typeface="Microsoft YaHei"/>
                <a:ea typeface="Microsoft YaHei"/>
                <a:cs typeface="Microsoft YaHei"/>
              </a:rPr>
              <a:t>东南亚进口份额</a:t>
            </a:r>
            <a:endParaRPr lang="zh-CN" sz="1150"/>
          </a:p>
        </p:txBody>
      </p:sp>
      <p:sp>
        <p:nvSpPr>
          <p:cNvPr id="77" name="TextBox 77"/>
          <p:cNvSpPr txBox="1"/>
          <p:nvPr/>
        </p:nvSpPr>
        <p:spPr>
          <a:xfrm>
            <a:off x="5816648" y="3847799"/>
            <a:ext cx="961686" cy="4963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400" b="1" i="1">
                <a:solidFill>
                  <a:srgbClr val="FFE39A"/>
                </a:solidFill>
                <a:latin typeface="Liberation Sans"/>
                <a:ea typeface="Liberation Sans"/>
                <a:cs typeface="Liberation Sans"/>
              </a:rPr>
              <a:t>54%</a:t>
            </a:r>
            <a:endParaRPr lang="zh-CN" sz="3400"/>
          </a:p>
        </p:txBody>
      </p:sp>
      <p:sp>
        <p:nvSpPr>
          <p:cNvPr id="78" name="TextBox 78"/>
          <p:cNvSpPr txBox="1"/>
          <p:nvPr/>
        </p:nvSpPr>
        <p:spPr>
          <a:xfrm>
            <a:off x="8236374" y="2405270"/>
            <a:ext cx="1085774" cy="294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 i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热带适配</a:t>
            </a:r>
            <a:endParaRPr lang="zh-CN" sz="1400"/>
          </a:p>
        </p:txBody>
      </p:sp>
      <p:sp>
        <p:nvSpPr>
          <p:cNvPr id="79" name="TextBox 79"/>
          <p:cNvSpPr txBox="1"/>
          <p:nvPr/>
        </p:nvSpPr>
        <p:spPr>
          <a:xfrm>
            <a:off x="8236374" y="2715491"/>
            <a:ext cx="1085774" cy="3412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2C453E"/>
                </a:solidFill>
                <a:latin typeface="Microsoft YaHei"/>
                <a:ea typeface="Microsoft YaHei"/>
                <a:cs typeface="Microsoft YaHei"/>
              </a:rPr>
              <a:t>高温高湿稳定使用</a:t>
            </a:r>
            <a:endParaRPr lang="zh-CN" sz="919"/>
          </a:p>
        </p:txBody>
      </p:sp>
      <p:sp>
        <p:nvSpPr>
          <p:cNvPr id="80" name="TextBox 80"/>
          <p:cNvSpPr txBox="1"/>
          <p:nvPr/>
        </p:nvSpPr>
        <p:spPr>
          <a:xfrm>
            <a:off x="9508281" y="2405270"/>
            <a:ext cx="1085774" cy="294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 i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精准降解</a:t>
            </a:r>
            <a:endParaRPr lang="zh-CN" sz="1400"/>
          </a:p>
        </p:txBody>
      </p:sp>
      <p:sp>
        <p:nvSpPr>
          <p:cNvPr id="81" name="TextBox 81"/>
          <p:cNvSpPr txBox="1"/>
          <p:nvPr/>
        </p:nvSpPr>
        <p:spPr>
          <a:xfrm>
            <a:off x="9508281" y="2715491"/>
            <a:ext cx="1085774" cy="3412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2C453E"/>
                </a:solidFill>
                <a:latin typeface="Microsoft YaHei"/>
                <a:ea typeface="Microsoft YaHei"/>
                <a:cs typeface="Microsoft YaHei"/>
              </a:rPr>
              <a:t>60 / 90 / 120天</a:t>
            </a:r>
            <a:endParaRPr lang="zh-CN" sz="919"/>
          </a:p>
          <a:p>
            <a:pPr algn="ctr"/>
            <a:r>
              <a:rPr lang="zh-CN" sz="919">
                <a:solidFill>
                  <a:srgbClr val="2C453E"/>
                </a:solidFill>
                <a:latin typeface="Microsoft YaHei"/>
                <a:ea typeface="Microsoft YaHei"/>
                <a:cs typeface="Microsoft YaHei"/>
              </a:rPr>
              <a:t>可定制</a:t>
            </a:r>
            <a:endParaRPr lang="zh-CN" sz="919"/>
          </a:p>
        </p:txBody>
      </p:sp>
      <p:sp>
        <p:nvSpPr>
          <p:cNvPr id="82" name="TextBox 82"/>
          <p:cNvSpPr txBox="1"/>
          <p:nvPr/>
        </p:nvSpPr>
        <p:spPr>
          <a:xfrm>
            <a:off x="10764677" y="2405270"/>
            <a:ext cx="1085774" cy="294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 b="1" i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高性价比</a:t>
            </a:r>
            <a:endParaRPr lang="zh-CN" sz="1400"/>
          </a:p>
        </p:txBody>
      </p:sp>
      <p:sp>
        <p:nvSpPr>
          <p:cNvPr id="83" name="TextBox 83"/>
          <p:cNvSpPr txBox="1"/>
          <p:nvPr/>
        </p:nvSpPr>
        <p:spPr>
          <a:xfrm>
            <a:off x="10764677" y="2715491"/>
            <a:ext cx="1085774" cy="3412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>
                <a:solidFill>
                  <a:srgbClr val="2C453E"/>
                </a:solidFill>
                <a:latin typeface="Microsoft YaHei"/>
                <a:ea typeface="Microsoft YaHei"/>
                <a:cs typeface="Microsoft YaHei"/>
              </a:rPr>
              <a:t>成本优于欧美同类</a:t>
            </a:r>
            <a:endParaRPr lang="zh-CN" sz="919"/>
          </a:p>
        </p:txBody>
      </p:sp>
      <p:sp>
        <p:nvSpPr>
          <p:cNvPr id="84" name="TextBox 84"/>
          <p:cNvSpPr txBox="1"/>
          <p:nvPr/>
        </p:nvSpPr>
        <p:spPr>
          <a:xfrm>
            <a:off x="1644173" y="3863310"/>
            <a:ext cx="1737239" cy="2326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20" b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核心客户</a:t>
            </a:r>
            <a:endParaRPr lang="zh-CN" sz="1220"/>
          </a:p>
        </p:txBody>
      </p:sp>
      <p:sp>
        <p:nvSpPr>
          <p:cNvPr id="85" name="TextBox 85"/>
          <p:cNvSpPr txBox="1"/>
          <p:nvPr/>
        </p:nvSpPr>
        <p:spPr>
          <a:xfrm>
            <a:off x="1644173" y="4080465"/>
            <a:ext cx="1752750" cy="18613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0">
                <a:solidFill>
                  <a:srgbClr val="38503F"/>
                </a:solidFill>
                <a:latin typeface="Microsoft YaHei"/>
                <a:ea typeface="Microsoft YaHei"/>
                <a:cs typeface="Microsoft YaHei"/>
              </a:rPr>
              <a:t>规模化农场 / 农业合作社</a:t>
            </a:r>
            <a:endParaRPr lang="zh-CN" sz="840"/>
          </a:p>
        </p:txBody>
      </p:sp>
      <p:sp>
        <p:nvSpPr>
          <p:cNvPr id="86" name="TextBox 86"/>
          <p:cNvSpPr txBox="1"/>
          <p:nvPr/>
        </p:nvSpPr>
        <p:spPr>
          <a:xfrm>
            <a:off x="3396923" y="3956376"/>
            <a:ext cx="775553" cy="3412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50" b="1">
                <a:solidFill>
                  <a:srgbClr val="216537"/>
                </a:solidFill>
                <a:latin typeface="Microsoft YaHei"/>
                <a:ea typeface="Microsoft YaHei"/>
                <a:cs typeface="Microsoft YaHei"/>
              </a:rPr>
              <a:t>吨级直采</a:t>
            </a:r>
            <a:endParaRPr lang="zh-CN" sz="1150"/>
          </a:p>
        </p:txBody>
      </p:sp>
      <p:sp>
        <p:nvSpPr>
          <p:cNvPr id="87" name="TextBox 87"/>
          <p:cNvSpPr txBox="1"/>
          <p:nvPr/>
        </p:nvSpPr>
        <p:spPr>
          <a:xfrm>
            <a:off x="2280126" y="4499263"/>
            <a:ext cx="1690706" cy="2326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20" b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关键影响者</a:t>
            </a:r>
            <a:endParaRPr lang="zh-CN" sz="1220"/>
          </a:p>
        </p:txBody>
      </p:sp>
      <p:sp>
        <p:nvSpPr>
          <p:cNvPr id="88" name="TextBox 88"/>
          <p:cNvSpPr txBox="1"/>
          <p:nvPr/>
        </p:nvSpPr>
        <p:spPr>
          <a:xfrm>
            <a:off x="2280126" y="4716418"/>
            <a:ext cx="1706217" cy="18613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0">
                <a:solidFill>
                  <a:srgbClr val="38503F"/>
                </a:solidFill>
                <a:latin typeface="Microsoft YaHei"/>
                <a:ea typeface="Microsoft YaHei"/>
                <a:cs typeface="Microsoft YaHei"/>
              </a:rPr>
              <a:t>农技推广机构 / KOL / 合作社渠道</a:t>
            </a:r>
            <a:endParaRPr lang="zh-CN" sz="840"/>
          </a:p>
        </p:txBody>
      </p:sp>
      <p:sp>
        <p:nvSpPr>
          <p:cNvPr id="89" name="TextBox 89"/>
          <p:cNvSpPr txBox="1"/>
          <p:nvPr/>
        </p:nvSpPr>
        <p:spPr>
          <a:xfrm>
            <a:off x="3986343" y="4592330"/>
            <a:ext cx="542887" cy="3412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70" b="1">
                <a:solidFill>
                  <a:srgbClr val="216537"/>
                </a:solidFill>
                <a:latin typeface="Microsoft YaHei"/>
                <a:ea typeface="Microsoft YaHei"/>
                <a:cs typeface="Microsoft YaHei"/>
              </a:rPr>
              <a:t>示范带动</a:t>
            </a:r>
            <a:endParaRPr lang="zh-CN" sz="1070"/>
          </a:p>
        </p:txBody>
      </p:sp>
      <p:sp>
        <p:nvSpPr>
          <p:cNvPr id="90" name="TextBox 90"/>
          <p:cNvSpPr txBox="1"/>
          <p:nvPr/>
        </p:nvSpPr>
        <p:spPr>
          <a:xfrm>
            <a:off x="3009146" y="5119706"/>
            <a:ext cx="822086" cy="2326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20" b="1">
                <a:solidFill>
                  <a:srgbClr val="00672E"/>
                </a:solidFill>
                <a:latin typeface="Microsoft YaHei"/>
                <a:ea typeface="Microsoft YaHei"/>
                <a:cs typeface="Microsoft YaHei"/>
              </a:rPr>
              <a:t>终端受益者</a:t>
            </a:r>
            <a:endParaRPr lang="zh-CN" sz="1220"/>
          </a:p>
        </p:txBody>
      </p:sp>
      <p:sp>
        <p:nvSpPr>
          <p:cNvPr id="91" name="TextBox 91"/>
          <p:cNvSpPr txBox="1"/>
          <p:nvPr/>
        </p:nvSpPr>
        <p:spPr>
          <a:xfrm>
            <a:off x="3009146" y="5336861"/>
            <a:ext cx="837597" cy="18613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0">
                <a:solidFill>
                  <a:srgbClr val="38503F"/>
                </a:solidFill>
                <a:latin typeface="Microsoft YaHei"/>
                <a:ea typeface="Microsoft YaHei"/>
                <a:cs typeface="Microsoft YaHei"/>
              </a:rPr>
              <a:t>中小农户</a:t>
            </a:r>
            <a:endParaRPr lang="zh-CN" sz="840"/>
          </a:p>
        </p:txBody>
      </p:sp>
      <p:sp>
        <p:nvSpPr>
          <p:cNvPr id="92" name="TextBox 92"/>
          <p:cNvSpPr txBox="1"/>
          <p:nvPr/>
        </p:nvSpPr>
        <p:spPr>
          <a:xfrm>
            <a:off x="3800210" y="5212772"/>
            <a:ext cx="573909" cy="3412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" b="1">
                <a:solidFill>
                  <a:srgbClr val="216537"/>
                </a:solidFill>
                <a:latin typeface="Microsoft YaHei"/>
                <a:ea typeface="Microsoft YaHei"/>
                <a:cs typeface="Microsoft YaHei"/>
              </a:rPr>
              <a:t>培训转化</a:t>
            </a:r>
            <a:endParaRPr lang="zh-CN" sz="1130"/>
          </a:p>
        </p:txBody>
      </p:sp>
      <p:sp>
        <p:nvSpPr>
          <p:cNvPr id="93" name="TextBox 93"/>
          <p:cNvSpPr txBox="1"/>
          <p:nvPr/>
        </p:nvSpPr>
        <p:spPr>
          <a:xfrm>
            <a:off x="8670684" y="3816777"/>
            <a:ext cx="1070263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235B36"/>
                </a:solidFill>
                <a:latin typeface="Microsoft YaHei"/>
                <a:ea typeface="Microsoft YaHei"/>
                <a:cs typeface="Microsoft YaHei"/>
              </a:rPr>
              <a:t>对本土企业：</a:t>
            </a:r>
            <a:endParaRPr lang="zh-CN" sz="1060"/>
          </a:p>
        </p:txBody>
      </p:sp>
      <p:sp>
        <p:nvSpPr>
          <p:cNvPr id="94" name="TextBox 94"/>
          <p:cNvSpPr txBox="1"/>
          <p:nvPr/>
        </p:nvSpPr>
        <p:spPr>
          <a:xfrm>
            <a:off x="9740947" y="3816777"/>
            <a:ext cx="1395996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EB811F"/>
                </a:solidFill>
                <a:latin typeface="Microsoft YaHei"/>
                <a:ea typeface="Microsoft YaHei"/>
                <a:cs typeface="Microsoft YaHei"/>
              </a:rPr>
              <a:t>技术代差</a:t>
            </a:r>
            <a:endParaRPr lang="zh-CN" sz="1070"/>
          </a:p>
        </p:txBody>
      </p:sp>
      <p:sp>
        <p:nvSpPr>
          <p:cNvPr id="95" name="TextBox 95"/>
          <p:cNvSpPr txBox="1"/>
          <p:nvPr/>
        </p:nvSpPr>
        <p:spPr>
          <a:xfrm>
            <a:off x="8515573" y="4251086"/>
            <a:ext cx="1070263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235B36"/>
                </a:solidFill>
                <a:latin typeface="Microsoft YaHei"/>
                <a:ea typeface="Microsoft YaHei"/>
                <a:cs typeface="Microsoft YaHei"/>
              </a:rPr>
              <a:t>对国际巨头：</a:t>
            </a:r>
            <a:endParaRPr lang="zh-CN" sz="1060"/>
          </a:p>
        </p:txBody>
      </p:sp>
      <p:sp>
        <p:nvSpPr>
          <p:cNvPr id="96" name="TextBox 96"/>
          <p:cNvSpPr txBox="1"/>
          <p:nvPr/>
        </p:nvSpPr>
        <p:spPr>
          <a:xfrm>
            <a:off x="9585837" y="4251086"/>
            <a:ext cx="1395996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EB811F"/>
                </a:solidFill>
                <a:latin typeface="Microsoft YaHei"/>
                <a:ea typeface="Microsoft YaHei"/>
                <a:cs typeface="Microsoft YaHei"/>
              </a:rPr>
              <a:t>本地化更深</a:t>
            </a:r>
            <a:endParaRPr lang="zh-CN" sz="1070"/>
          </a:p>
        </p:txBody>
      </p:sp>
      <p:sp>
        <p:nvSpPr>
          <p:cNvPr id="97" name="TextBox 97"/>
          <p:cNvSpPr txBox="1"/>
          <p:nvPr/>
        </p:nvSpPr>
        <p:spPr>
          <a:xfrm>
            <a:off x="8531084" y="4669885"/>
            <a:ext cx="1008219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9" b="1">
                <a:solidFill>
                  <a:srgbClr val="235B36"/>
                </a:solidFill>
                <a:latin typeface="Microsoft YaHei"/>
                <a:ea typeface="Microsoft YaHei"/>
                <a:cs typeface="Microsoft YaHei"/>
              </a:rPr>
              <a:t>对一般出口商：</a:t>
            </a:r>
            <a:endParaRPr lang="zh-CN" sz="1019"/>
          </a:p>
        </p:txBody>
      </p:sp>
      <p:sp>
        <p:nvSpPr>
          <p:cNvPr id="98" name="TextBox 98"/>
          <p:cNvSpPr txBox="1"/>
          <p:nvPr/>
        </p:nvSpPr>
        <p:spPr>
          <a:xfrm>
            <a:off x="9492770" y="4669885"/>
            <a:ext cx="1613151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EC811D"/>
                </a:solidFill>
                <a:latin typeface="Microsoft YaHei"/>
                <a:ea typeface="Microsoft YaHei"/>
                <a:cs typeface="Microsoft YaHei"/>
              </a:rPr>
              <a:t>产品+技术+服务一体化</a:t>
            </a:r>
            <a:endParaRPr lang="zh-CN" sz="980"/>
          </a:p>
        </p:txBody>
      </p:sp>
      <p:sp>
        <p:nvSpPr>
          <p:cNvPr id="99" name="TextBox 99"/>
          <p:cNvSpPr txBox="1"/>
          <p:nvPr/>
        </p:nvSpPr>
        <p:spPr>
          <a:xfrm>
            <a:off x="8500062" y="5119706"/>
            <a:ext cx="806575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80" b="1">
                <a:solidFill>
                  <a:srgbClr val="235B36"/>
                </a:solidFill>
                <a:latin typeface="Microsoft YaHei"/>
                <a:ea typeface="Microsoft YaHei"/>
                <a:cs typeface="Microsoft YaHei"/>
              </a:rPr>
              <a:t>认证壁垒：</a:t>
            </a:r>
            <a:endParaRPr lang="zh-CN" sz="1080"/>
          </a:p>
        </p:txBody>
      </p:sp>
      <p:sp>
        <p:nvSpPr>
          <p:cNvPr id="100" name="TextBox 100"/>
          <p:cNvSpPr txBox="1"/>
          <p:nvPr/>
        </p:nvSpPr>
        <p:spPr>
          <a:xfrm>
            <a:off x="9244593" y="5119706"/>
            <a:ext cx="1845816" cy="38777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10">
                <a:solidFill>
                  <a:srgbClr val="284639"/>
                </a:solidFill>
                <a:latin typeface="Microsoft YaHei"/>
                <a:ea typeface="Microsoft YaHei"/>
                <a:cs typeface="Microsoft YaHei"/>
              </a:rPr>
              <a:t>TIS / EN13432 / ASTM D6400</a:t>
            </a:r>
            <a:endParaRPr lang="zh-CN" sz="1010"/>
          </a:p>
        </p:txBody>
      </p:sp>
      <p:sp>
        <p:nvSpPr>
          <p:cNvPr id="101" name="TextBox 101"/>
          <p:cNvSpPr txBox="1"/>
          <p:nvPr/>
        </p:nvSpPr>
        <p:spPr>
          <a:xfrm>
            <a:off x="4094921" y="5848726"/>
            <a:ext cx="4110432" cy="4808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90">
                <a:solidFill>
                  <a:srgbClr val="FFF1A9"/>
                </a:solidFill>
                <a:latin typeface="KaiTi"/>
                <a:ea typeface="KaiTi"/>
                <a:cs typeface="KaiTi"/>
              </a:rPr>
              <a:t>从卖产品，升级为卖解决方案</a:t>
            </a:r>
            <a:endParaRPr lang="zh-CN" sz="2490"/>
          </a:p>
        </p:txBody>
      </p:sp>
      <p:sp>
        <p:nvSpPr>
          <p:cNvPr id="102" name="Path 102"/>
          <p:cNvSpPr/>
          <p:nvPr/>
        </p:nvSpPr>
        <p:spPr>
          <a:xfrm>
            <a:off x="0" y="6267524"/>
            <a:ext cx="12191695" cy="179928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397" y="1303"/>
                  <a:pt x="7365" y="6703"/>
                  <a:pt x="10800" y="10800"/>
                </a:cubicBezTo>
                <a:cubicBezTo>
                  <a:pt x="14840" y="5214"/>
                  <a:pt x="18082" y="2048"/>
                  <a:pt x="21600" y="18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Path 103"/>
          <p:cNvSpPr/>
          <p:nvPr/>
        </p:nvSpPr>
        <p:spPr>
          <a:xfrm>
            <a:off x="0" y="6360591"/>
            <a:ext cx="12191695" cy="17062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397" y="1375"/>
                  <a:pt x="7365" y="7069"/>
                  <a:pt x="10800" y="11389"/>
                </a:cubicBezTo>
                <a:cubicBezTo>
                  <a:pt x="14840" y="5498"/>
                  <a:pt x="18082" y="2160"/>
                  <a:pt x="21600" y="19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88F4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Path 104"/>
          <p:cNvSpPr/>
          <p:nvPr/>
        </p:nvSpPr>
        <p:spPr>
          <a:xfrm>
            <a:off x="0" y="6717345"/>
            <a:ext cx="12191695" cy="134946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397" y="1738"/>
                  <a:pt x="7365" y="8938"/>
                  <a:pt x="10800" y="14400"/>
                </a:cubicBezTo>
                <a:cubicBezTo>
                  <a:pt x="14840" y="6952"/>
                  <a:pt x="18082" y="2731"/>
                  <a:pt x="21600" y="24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79F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Path 105"/>
          <p:cNvSpPr/>
          <p:nvPr/>
        </p:nvSpPr>
        <p:spPr>
          <a:xfrm>
            <a:off x="0" y="6794901"/>
            <a:ext cx="12191695" cy="127190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397" y="1844"/>
                  <a:pt x="7365" y="9483"/>
                  <a:pt x="10800" y="15278"/>
                </a:cubicBezTo>
                <a:cubicBezTo>
                  <a:pt x="14840" y="7376"/>
                  <a:pt x="18082" y="2898"/>
                  <a:pt x="21600" y="263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132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 mint fibrous paper and original mulched agricultural panorama"/>
          <p:cNvPicPr/>
          <p:nvPr/>
        </p:nvPicPr>
        <p:blipFill>
          <a:blip r:embed="rId2"/>
          <a:stretch>
            <a:fillRect/>
          </a:stretch>
        </p:blipFill>
        <p:spPr>
          <a:xfrm>
            <a:off x="11680" y="0"/>
            <a:ext cx="12168335" cy="6858000"/>
          </a:xfrm>
          <a:prstGeom prst="rect">
            <a:avLst/>
          </a:prstGeom>
        </p:spPr>
      </p:pic>
      <p:pic>
        <p:nvPicPr>
          <p:cNvPr id="3" name="Original lower-left panorama, source-preserving cleanup without film roll or waves"/>
          <p:cNvPicPr/>
          <p:nvPr/>
        </p:nvPicPr>
        <p:blipFill>
          <a:blip r:embed="rId3"/>
          <a:stretch>
            <a:fillRect/>
          </a:stretch>
        </p:blipFill>
        <p:spPr>
          <a:xfrm>
            <a:off x="309854" y="5196745"/>
            <a:ext cx="5480720" cy="1661255"/>
          </a:xfrm>
          <a:prstGeom prst="rect">
            <a:avLst/>
          </a:prstGeom>
        </p:spPr>
      </p:pic>
      <p:sp>
        <p:nvSpPr>
          <p:cNvPr id="4" name="Roundrect 4"/>
          <p:cNvSpPr/>
          <p:nvPr/>
        </p:nvSpPr>
        <p:spPr>
          <a:xfrm>
            <a:off x="295655" y="1079106"/>
            <a:ext cx="5509118" cy="5750497"/>
          </a:xfrm>
          <a:prstGeom prst="roundRect">
            <a:avLst>
              <a:gd name="adj" fmla="val 3351"/>
            </a:avLst>
          </a:prstGeom>
          <a:noFill/>
          <a:ln w="5715">
            <a:solidFill>
              <a:srgbClr val="86C9AA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5946761" y="1093304"/>
            <a:ext cx="5963478" cy="5068957"/>
          </a:xfrm>
          <a:prstGeom prst="roundRect">
            <a:avLst>
              <a:gd name="adj" fmla="val 3922"/>
            </a:avLst>
          </a:prstGeom>
          <a:solidFill>
            <a:srgbClr val="F1FBF3"/>
          </a:solidFill>
          <a:ln w="5715">
            <a:solidFill>
              <a:srgbClr val="92D1AC"/>
            </a:solidFill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309854" y="1093304"/>
            <a:ext cx="5480720" cy="417443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27" y="0"/>
                </a:moveTo>
                <a:lnTo>
                  <a:pt x="20873" y="0"/>
                </a:lnTo>
                <a:quadBezTo>
                  <a:pt x="21600" y="0"/>
                  <a:pt x="21600" y="955"/>
                </a:quadBezTo>
                <a:lnTo>
                  <a:pt x="21600" y="21600"/>
                </a:lnTo>
                <a:lnTo>
                  <a:pt x="0" y="21600"/>
                </a:lnTo>
                <a:lnTo>
                  <a:pt x="0" y="955"/>
                </a:lnTo>
                <a:quadBezTo>
                  <a:pt x="0" y="0"/>
                  <a:pt x="727" y="0"/>
                </a:quadBezTo>
                <a:close/>
              </a:path>
            </a:pathLst>
          </a:custGeom>
          <a:solidFill>
            <a:srgbClr val="FBFFF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480239" y="283975"/>
            <a:ext cx="4060845" cy="49695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55" y="0"/>
                </a:moveTo>
                <a:lnTo>
                  <a:pt x="21600" y="0"/>
                </a:lnTo>
                <a:lnTo>
                  <a:pt x="2084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6D86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593829" y="283975"/>
            <a:ext cx="3776870" cy="49695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12" y="0"/>
                </a:moveTo>
                <a:lnTo>
                  <a:pt x="21600" y="0"/>
                </a:lnTo>
                <a:lnTo>
                  <a:pt x="2078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23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4541084" y="298174"/>
            <a:ext cx="3535491" cy="48275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81" y="0"/>
                </a:moveTo>
                <a:lnTo>
                  <a:pt x="21600" y="0"/>
                </a:lnTo>
                <a:lnTo>
                  <a:pt x="2081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7F3E9"/>
          </a:solidFill>
          <a:ln w="6350">
            <a:solidFill>
              <a:srgbClr val="82BE9E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3916338" y="1845839"/>
            <a:ext cx="1789043" cy="610547"/>
          </a:xfrm>
          <a:prstGeom prst="roundRect">
            <a:avLst>
              <a:gd name="adj" fmla="val 50000"/>
            </a:avLst>
          </a:prstGeom>
          <a:solidFill>
            <a:srgbClr val="E8F6ED"/>
          </a:solidFill>
          <a:ln w="5715">
            <a:solidFill>
              <a:srgbClr val="C1E7D3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916338" y="2527379"/>
            <a:ext cx="1789043" cy="610547"/>
          </a:xfrm>
          <a:prstGeom prst="roundRect">
            <a:avLst>
              <a:gd name="adj" fmla="val 50000"/>
            </a:avLst>
          </a:prstGeom>
          <a:solidFill>
            <a:srgbClr val="E8F6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916338" y="3208919"/>
            <a:ext cx="1789043" cy="610547"/>
          </a:xfrm>
          <a:prstGeom prst="roundRect">
            <a:avLst>
              <a:gd name="adj" fmla="val 50000"/>
            </a:avLst>
          </a:prstGeom>
          <a:solidFill>
            <a:srgbClr val="E8F6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916338" y="3890460"/>
            <a:ext cx="1789043" cy="610547"/>
          </a:xfrm>
          <a:prstGeom prst="roundRect">
            <a:avLst>
              <a:gd name="adj" fmla="val 50000"/>
            </a:avLst>
          </a:prstGeom>
          <a:solidFill>
            <a:srgbClr val="E8F6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3916338" y="4572000"/>
            <a:ext cx="1789043" cy="610547"/>
          </a:xfrm>
          <a:prstGeom prst="roundRect">
            <a:avLst>
              <a:gd name="adj" fmla="val 50000"/>
            </a:avLst>
          </a:prstGeom>
          <a:solidFill>
            <a:srgbClr val="E8F6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017754" y="1732248"/>
            <a:ext cx="2868149" cy="2115615"/>
          </a:xfrm>
          <a:prstGeom prst="roundRect">
            <a:avLst>
              <a:gd name="adj" fmla="val 11409"/>
            </a:avLst>
          </a:prstGeom>
          <a:solidFill>
            <a:srgbClr val="FAFFFB"/>
          </a:solidFill>
          <a:ln w="5715">
            <a:solidFill>
              <a:srgbClr val="C4EBD4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9098885" y="1732248"/>
            <a:ext cx="2726161" cy="2115615"/>
          </a:xfrm>
          <a:prstGeom prst="roundRect">
            <a:avLst>
              <a:gd name="adj" fmla="val 11409"/>
            </a:avLst>
          </a:prstGeom>
          <a:solidFill>
            <a:srgbClr val="FAFFFB"/>
          </a:solidFill>
          <a:ln w="5715">
            <a:solidFill>
              <a:srgbClr val="C4EBD4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6017754" y="4046646"/>
            <a:ext cx="3024335" cy="2115615"/>
          </a:xfrm>
          <a:prstGeom prst="roundRect">
            <a:avLst>
              <a:gd name="adj" fmla="val 11409"/>
            </a:avLst>
          </a:prstGeom>
          <a:solidFill>
            <a:srgbClr val="FAFFFB"/>
          </a:solidFill>
          <a:ln w="5715">
            <a:solidFill>
              <a:srgbClr val="C4EBD4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9198276" y="4046646"/>
            <a:ext cx="2626770" cy="2115615"/>
          </a:xfrm>
          <a:prstGeom prst="roundRect">
            <a:avLst>
              <a:gd name="adj" fmla="val 11409"/>
            </a:avLst>
          </a:prstGeom>
          <a:solidFill>
            <a:srgbClr val="FAFFFB"/>
          </a:solidFill>
          <a:ln w="5715">
            <a:solidFill>
              <a:srgbClr val="C4EBD4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522835" y="4288025"/>
            <a:ext cx="3152124" cy="0"/>
          </a:xfrm>
          <a:prstGeom prst="line">
            <a:avLst/>
          </a:prstGeom>
          <a:noFill/>
          <a:ln w="10160">
            <a:solidFill>
              <a:srgbClr val="BDE3CD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792612" y="3549689"/>
            <a:ext cx="553752" cy="738335"/>
          </a:xfrm>
          <a:prstGeom prst="rect">
            <a:avLst/>
          </a:prstGeom>
          <a:solidFill>
            <a:srgbClr val="55B352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829121" y="3336708"/>
            <a:ext cx="539553" cy="951317"/>
          </a:xfrm>
          <a:prstGeom prst="rect">
            <a:avLst/>
          </a:prstGeom>
          <a:solidFill>
            <a:srgbClr val="55B352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2879829" y="2981739"/>
            <a:ext cx="539553" cy="1306286"/>
          </a:xfrm>
          <a:prstGeom prst="rect">
            <a:avLst/>
          </a:prstGeom>
          <a:solidFill>
            <a:srgbClr val="55B35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565431" y="1079106"/>
            <a:ext cx="2981739" cy="44016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2057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A8F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6244935" y="1107503"/>
            <a:ext cx="2243404" cy="44016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2023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A8F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Path 25"/>
          <p:cNvSpPr/>
          <p:nvPr/>
        </p:nvSpPr>
        <p:spPr>
          <a:xfrm>
            <a:off x="480239" y="1703851"/>
            <a:ext cx="3464497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2071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8652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ath 26"/>
          <p:cNvSpPr/>
          <p:nvPr/>
        </p:nvSpPr>
        <p:spPr>
          <a:xfrm>
            <a:off x="6401121" y="1746447"/>
            <a:ext cx="1817441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1991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A8F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Path 27"/>
          <p:cNvSpPr/>
          <p:nvPr/>
        </p:nvSpPr>
        <p:spPr>
          <a:xfrm>
            <a:off x="9496450" y="1746447"/>
            <a:ext cx="1860037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19951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A8F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ath 28"/>
          <p:cNvSpPr/>
          <p:nvPr/>
        </p:nvSpPr>
        <p:spPr>
          <a:xfrm>
            <a:off x="6401121" y="4046646"/>
            <a:ext cx="1845839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199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A8F4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Path 29"/>
          <p:cNvSpPr/>
          <p:nvPr/>
        </p:nvSpPr>
        <p:spPr>
          <a:xfrm>
            <a:off x="10334177" y="4046646"/>
            <a:ext cx="1448273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194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A8F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Path 30"/>
          <p:cNvSpPr/>
          <p:nvPr/>
        </p:nvSpPr>
        <p:spPr>
          <a:xfrm>
            <a:off x="3263195" y="1079106"/>
            <a:ext cx="312373" cy="44016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818" y="0"/>
                </a:moveTo>
                <a:lnTo>
                  <a:pt x="21600" y="0"/>
                </a:lnTo>
                <a:lnTo>
                  <a:pt x="117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7D29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Path 31"/>
          <p:cNvSpPr/>
          <p:nvPr/>
        </p:nvSpPr>
        <p:spPr>
          <a:xfrm>
            <a:off x="8204363" y="1107503"/>
            <a:ext cx="312373" cy="44016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818" y="0"/>
                </a:moveTo>
                <a:lnTo>
                  <a:pt x="21600" y="0"/>
                </a:lnTo>
                <a:lnTo>
                  <a:pt x="117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7D29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Path 32"/>
          <p:cNvSpPr/>
          <p:nvPr/>
        </p:nvSpPr>
        <p:spPr>
          <a:xfrm>
            <a:off x="3660761" y="1703851"/>
            <a:ext cx="312373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818" y="0"/>
                </a:moveTo>
                <a:lnTo>
                  <a:pt x="21600" y="0"/>
                </a:lnTo>
                <a:lnTo>
                  <a:pt x="117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7D29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ath 33"/>
          <p:cNvSpPr/>
          <p:nvPr/>
        </p:nvSpPr>
        <p:spPr>
          <a:xfrm>
            <a:off x="7934587" y="1746447"/>
            <a:ext cx="312373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818" y="0"/>
                </a:moveTo>
                <a:lnTo>
                  <a:pt x="21600" y="0"/>
                </a:lnTo>
                <a:lnTo>
                  <a:pt x="117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7D29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ath 34"/>
          <p:cNvSpPr/>
          <p:nvPr/>
        </p:nvSpPr>
        <p:spPr>
          <a:xfrm>
            <a:off x="11072512" y="1746447"/>
            <a:ext cx="312373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818" y="0"/>
                </a:moveTo>
                <a:lnTo>
                  <a:pt x="21600" y="0"/>
                </a:lnTo>
                <a:lnTo>
                  <a:pt x="117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7D29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ath 35"/>
          <p:cNvSpPr/>
          <p:nvPr/>
        </p:nvSpPr>
        <p:spPr>
          <a:xfrm>
            <a:off x="7962984" y="4046646"/>
            <a:ext cx="312373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818" y="0"/>
                </a:moveTo>
                <a:lnTo>
                  <a:pt x="21600" y="0"/>
                </a:lnTo>
                <a:lnTo>
                  <a:pt x="117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7D29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ath 36"/>
          <p:cNvSpPr/>
          <p:nvPr/>
        </p:nvSpPr>
        <p:spPr>
          <a:xfrm>
            <a:off x="11498475" y="4046646"/>
            <a:ext cx="312373" cy="3265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818" y="0"/>
                </a:moveTo>
                <a:lnTo>
                  <a:pt x="21600" y="0"/>
                </a:lnTo>
                <a:lnTo>
                  <a:pt x="1178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7D29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4683071" y="482758"/>
            <a:ext cx="113590" cy="113590"/>
          </a:xfrm>
          <a:prstGeom prst="ellipse">
            <a:avLst/>
          </a:prstGeom>
          <a:solidFill>
            <a:srgbClr val="009955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ath 38"/>
          <p:cNvSpPr/>
          <p:nvPr/>
        </p:nvSpPr>
        <p:spPr>
          <a:xfrm>
            <a:off x="622226" y="2612571"/>
            <a:ext cx="2797155" cy="83772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cubicBezTo>
                  <a:pt x="7456" y="20136"/>
                  <a:pt x="14363" y="12814"/>
                  <a:pt x="19407" y="2563"/>
                </a:cubicBezTo>
                <a:lnTo>
                  <a:pt x="18749" y="0"/>
                </a:lnTo>
                <a:lnTo>
                  <a:pt x="21600" y="0"/>
                </a:lnTo>
                <a:lnTo>
                  <a:pt x="19846" y="8420"/>
                </a:lnTo>
                <a:lnTo>
                  <a:pt x="19736" y="5125"/>
                </a:lnTo>
                <a:cubicBezTo>
                  <a:pt x="13815" y="15376"/>
                  <a:pt x="7017" y="21234"/>
                  <a:pt x="0" y="21600"/>
                </a:cubicBezTo>
                <a:close/>
              </a:path>
            </a:pathLst>
          </a:custGeom>
          <a:solidFill>
            <a:srgbClr val="50B65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9" name="Original source film-roll visual; compliant separation then layout-only repack, ordinary copy removed. Brand wordmarks inside emblems remain identity text."/>
          <p:cNvPicPr/>
          <p:nvPr/>
        </p:nvPicPr>
        <p:blipFill>
          <a:blip r:embed="rId20"/>
          <a:stretch>
            <a:fillRect/>
          </a:stretch>
        </p:blipFill>
        <p:spPr>
          <a:xfrm>
            <a:off x="145335" y="5443429"/>
            <a:ext cx="3438565" cy="1309874"/>
          </a:xfrm>
          <a:prstGeom prst="rect">
            <a:avLst/>
          </a:prstGeom>
        </p:spPr>
      </p:pic>
      <p:sp>
        <p:nvSpPr>
          <p:cNvPr id="40" name="Roundrect 40"/>
          <p:cNvSpPr/>
          <p:nvPr/>
        </p:nvSpPr>
        <p:spPr>
          <a:xfrm>
            <a:off x="6173941" y="3365106"/>
            <a:ext cx="2044621" cy="255578"/>
          </a:xfrm>
          <a:prstGeom prst="roundRect">
            <a:avLst>
              <a:gd name="adj" fmla="val 50000"/>
            </a:avLst>
          </a:prstGeom>
          <a:solidFill>
            <a:srgbClr val="F5FCDF"/>
          </a:solidFill>
          <a:ln w="5715">
            <a:solidFill>
              <a:srgbClr val="D0E4A8"/>
            </a:solidFill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10561357" y="2995938"/>
            <a:ext cx="1093304" cy="212981"/>
          </a:xfrm>
          <a:prstGeom prst="roundRect">
            <a:avLst>
              <a:gd name="adj" fmla="val 46667"/>
            </a:avLst>
          </a:prstGeom>
          <a:solidFill>
            <a:srgbClr val="FBFFFC"/>
          </a:solidFill>
          <a:ln w="5715">
            <a:solidFill>
              <a:srgbClr val="8CBDA7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10561357" y="3251516"/>
            <a:ext cx="1093304" cy="212981"/>
          </a:xfrm>
          <a:prstGeom prst="roundRect">
            <a:avLst>
              <a:gd name="adj" fmla="val 46667"/>
            </a:avLst>
          </a:prstGeom>
          <a:solidFill>
            <a:srgbClr val="FBFFFC"/>
          </a:solidFill>
          <a:ln w="5715">
            <a:solidFill>
              <a:srgbClr val="8CBDA7"/>
            </a:solidFill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10561357" y="3507093"/>
            <a:ext cx="1093304" cy="212981"/>
          </a:xfrm>
          <a:prstGeom prst="roundRect">
            <a:avLst>
              <a:gd name="adj" fmla="val 46667"/>
            </a:avLst>
          </a:prstGeom>
          <a:solidFill>
            <a:srgbClr val="FBFFFC"/>
          </a:solidFill>
          <a:ln w="5715">
            <a:solidFill>
              <a:srgbClr val="8CBDA7"/>
            </a:solidFill>
          </a:ln>
        </p:spPr>
        <p:txBody>
          <a:bodyPr/>
          <a:lstStyle/>
          <a:p/>
        </p:txBody>
      </p:sp>
      <p:pic>
        <p:nvPicPr>
          <p:cNvPr id="44" name="Original source first botanical growth-curve marker."/>
          <p:cNvPicPr/>
          <p:nvPr/>
        </p:nvPicPr>
        <p:blipFill>
          <a:blip r:embed="rId7"/>
          <a:stretch>
            <a:fillRect/>
          </a:stretch>
        </p:blipFill>
        <p:spPr>
          <a:xfrm>
            <a:off x="965568" y="3248328"/>
            <a:ext cx="207839" cy="247754"/>
          </a:xfrm>
          <a:prstGeom prst="rect">
            <a:avLst/>
          </a:prstGeom>
        </p:spPr>
      </p:pic>
      <p:pic>
        <p:nvPicPr>
          <p:cNvPr id="45" name="Original source second botanical growth-curve marker."/>
          <p:cNvPicPr/>
          <p:nvPr/>
        </p:nvPicPr>
        <p:blipFill>
          <a:blip r:embed="rId8"/>
          <a:stretch>
            <a:fillRect/>
          </a:stretch>
        </p:blipFill>
        <p:spPr>
          <a:xfrm>
            <a:off x="1987848" y="3035287"/>
            <a:ext cx="207900" cy="247873"/>
          </a:xfrm>
          <a:prstGeom prst="rect">
            <a:avLst/>
          </a:prstGeom>
        </p:spPr>
      </p:pic>
      <p:pic>
        <p:nvPicPr>
          <p:cNvPr id="46" name="Original source coin-stacks visual; compliant separation then layout-only repack, ordinary copy removed. Brand wordmarks inside emblems remain identity text."/>
          <p:cNvPicPr/>
          <p:nvPr/>
        </p:nvPicPr>
        <p:blipFill>
          <a:blip r:embed="rId28"/>
          <a:stretch>
            <a:fillRect/>
          </a:stretch>
        </p:blipFill>
        <p:spPr>
          <a:xfrm>
            <a:off x="10004239" y="2229589"/>
            <a:ext cx="1866771" cy="794363"/>
          </a:xfrm>
          <a:prstGeom prst="rect">
            <a:avLst/>
          </a:prstGeom>
        </p:spPr>
      </p:pic>
      <p:pic>
        <p:nvPicPr>
          <p:cNvPr id="47" name="Original source header-leaves semantic icon; preserved source colors and symbol identity."/>
          <p:cNvPicPr/>
          <p:nvPr/>
        </p:nvPicPr>
        <p:blipFill>
          <a:blip r:embed="rId4"/>
          <a:stretch>
            <a:fillRect/>
          </a:stretch>
        </p:blipFill>
        <p:spPr>
          <a:xfrm>
            <a:off x="253283" y="1037061"/>
            <a:ext cx="709489" cy="588215"/>
          </a:xfrm>
          <a:prstGeom prst="rect">
            <a:avLst/>
          </a:prstGeom>
        </p:spPr>
      </p:pic>
      <p:pic>
        <p:nvPicPr>
          <p:cNvPr id="48" name="Original source header-leaves semantic icon; preserved source colors and symbol identity."/>
          <p:cNvPicPr/>
          <p:nvPr/>
        </p:nvPicPr>
        <p:blipFill>
          <a:blip r:embed="rId5"/>
          <a:stretch>
            <a:fillRect/>
          </a:stretch>
        </p:blipFill>
        <p:spPr>
          <a:xfrm>
            <a:off x="6005127" y="1082965"/>
            <a:ext cx="692596" cy="553614"/>
          </a:xfrm>
          <a:prstGeom prst="rect">
            <a:avLst/>
          </a:prstGeom>
        </p:spPr>
      </p:pic>
      <p:pic>
        <p:nvPicPr>
          <p:cNvPr id="49" name="Original source rocket semantic icon; preserved source colors and symbol identity."/>
          <p:cNvPicPr/>
          <p:nvPr/>
        </p:nvPicPr>
        <p:blipFill>
          <a:blip r:embed="rId6"/>
          <a:stretch>
            <a:fillRect/>
          </a:stretch>
        </p:blipFill>
        <p:spPr>
          <a:xfrm>
            <a:off x="515955" y="1753435"/>
            <a:ext cx="212542" cy="213204"/>
          </a:xfrm>
          <a:prstGeom prst="rect">
            <a:avLst/>
          </a:prstGeom>
        </p:spPr>
      </p:pic>
      <p:pic>
        <p:nvPicPr>
          <p:cNvPr id="50" name="Original source customer semantic icon; preserved source colors and symbol identity."/>
          <p:cNvPicPr/>
          <p:nvPr/>
        </p:nvPicPr>
        <p:blipFill>
          <a:blip r:embed="rId9"/>
          <a:stretch>
            <a:fillRect/>
          </a:stretch>
        </p:blipFill>
        <p:spPr>
          <a:xfrm>
            <a:off x="536529" y="4585581"/>
            <a:ext cx="270785" cy="271011"/>
          </a:xfrm>
          <a:prstGeom prst="rect">
            <a:avLst/>
          </a:prstGeom>
        </p:spPr>
      </p:pic>
      <p:pic>
        <p:nvPicPr>
          <p:cNvPr id="51" name="Original source demo semantic icon; preserved source colors and symbol identity."/>
          <p:cNvPicPr/>
          <p:nvPr/>
        </p:nvPicPr>
        <p:blipFill>
          <a:blip r:embed="rId10"/>
          <a:stretch>
            <a:fillRect/>
          </a:stretch>
        </p:blipFill>
        <p:spPr>
          <a:xfrm>
            <a:off x="536567" y="4954749"/>
            <a:ext cx="270711" cy="271011"/>
          </a:xfrm>
          <a:prstGeom prst="rect">
            <a:avLst/>
          </a:prstGeom>
        </p:spPr>
      </p:pic>
      <p:pic>
        <p:nvPicPr>
          <p:cNvPr id="52" name="Original source customer semantic icon; preserved source colors and symbol identity."/>
          <p:cNvPicPr/>
          <p:nvPr/>
        </p:nvPicPr>
        <p:blipFill>
          <a:blip r:embed="rId11"/>
          <a:stretch>
            <a:fillRect/>
          </a:stretch>
        </p:blipFill>
        <p:spPr>
          <a:xfrm>
            <a:off x="1615635" y="4585581"/>
            <a:ext cx="270785" cy="271011"/>
          </a:xfrm>
          <a:prstGeom prst="rect">
            <a:avLst/>
          </a:prstGeom>
        </p:spPr>
      </p:pic>
      <p:pic>
        <p:nvPicPr>
          <p:cNvPr id="53" name="Original source demo semantic icon; preserved source colors and symbol identity."/>
          <p:cNvPicPr/>
          <p:nvPr/>
        </p:nvPicPr>
        <p:blipFill>
          <a:blip r:embed="rId12"/>
          <a:stretch>
            <a:fillRect/>
          </a:stretch>
        </p:blipFill>
        <p:spPr>
          <a:xfrm>
            <a:off x="1615672" y="4954749"/>
            <a:ext cx="270711" cy="271011"/>
          </a:xfrm>
          <a:prstGeom prst="rect">
            <a:avLst/>
          </a:prstGeom>
        </p:spPr>
      </p:pic>
      <p:pic>
        <p:nvPicPr>
          <p:cNvPr id="54" name="Original source customer semantic icon; preserved source colors and symbol identity."/>
          <p:cNvPicPr/>
          <p:nvPr/>
        </p:nvPicPr>
        <p:blipFill>
          <a:blip r:embed="rId13"/>
          <a:stretch>
            <a:fillRect/>
          </a:stretch>
        </p:blipFill>
        <p:spPr>
          <a:xfrm>
            <a:off x="2737337" y="4585581"/>
            <a:ext cx="270785" cy="271011"/>
          </a:xfrm>
          <a:prstGeom prst="rect">
            <a:avLst/>
          </a:prstGeom>
        </p:spPr>
      </p:pic>
      <p:pic>
        <p:nvPicPr>
          <p:cNvPr id="55" name="Original source demo semantic icon; preserved source colors and symbol identity."/>
          <p:cNvPicPr/>
          <p:nvPr/>
        </p:nvPicPr>
        <p:blipFill>
          <a:blip r:embed="rId14"/>
          <a:stretch>
            <a:fillRect/>
          </a:stretch>
        </p:blipFill>
        <p:spPr>
          <a:xfrm>
            <a:off x="2737374" y="4954749"/>
            <a:ext cx="270711" cy="271011"/>
          </a:xfrm>
          <a:prstGeom prst="rect">
            <a:avLst/>
          </a:prstGeom>
        </p:spPr>
      </p:pic>
      <p:pic>
        <p:nvPicPr>
          <p:cNvPr id="56" name="Original source growth semantic icon; preserved source colors and symbol identity."/>
          <p:cNvPicPr/>
          <p:nvPr/>
        </p:nvPicPr>
        <p:blipFill>
          <a:blip r:embed="rId15"/>
          <a:stretch>
            <a:fillRect/>
          </a:stretch>
        </p:blipFill>
        <p:spPr>
          <a:xfrm>
            <a:off x="3990230" y="1876857"/>
            <a:ext cx="547956" cy="548509"/>
          </a:xfrm>
          <a:prstGeom prst="rect">
            <a:avLst/>
          </a:prstGeom>
        </p:spPr>
      </p:pic>
      <p:pic>
        <p:nvPicPr>
          <p:cNvPr id="57" name="Original source pie semantic icon; preserved source colors and symbol identity."/>
          <p:cNvPicPr/>
          <p:nvPr/>
        </p:nvPicPr>
        <p:blipFill>
          <a:blip r:embed="rId16"/>
          <a:stretch>
            <a:fillRect/>
          </a:stretch>
        </p:blipFill>
        <p:spPr>
          <a:xfrm>
            <a:off x="3989392" y="2558398"/>
            <a:ext cx="549632" cy="548509"/>
          </a:xfrm>
          <a:prstGeom prst="rect">
            <a:avLst/>
          </a:prstGeom>
        </p:spPr>
      </p:pic>
      <p:pic>
        <p:nvPicPr>
          <p:cNvPr id="58" name="Original source people semantic icon; preserved source colors and symbol identity."/>
          <p:cNvPicPr/>
          <p:nvPr/>
        </p:nvPicPr>
        <p:blipFill>
          <a:blip r:embed="rId17"/>
          <a:stretch>
            <a:fillRect/>
          </a:stretch>
        </p:blipFill>
        <p:spPr>
          <a:xfrm>
            <a:off x="3989953" y="3239659"/>
            <a:ext cx="548509" cy="549067"/>
          </a:xfrm>
          <a:prstGeom prst="rect">
            <a:avLst/>
          </a:prstGeom>
        </p:spPr>
      </p:pic>
      <p:pic>
        <p:nvPicPr>
          <p:cNvPr id="59" name="Original source sprout semantic icon; preserved source colors and symbol identity."/>
          <p:cNvPicPr/>
          <p:nvPr/>
        </p:nvPicPr>
        <p:blipFill>
          <a:blip r:embed="rId18"/>
          <a:stretch>
            <a:fillRect/>
          </a:stretch>
        </p:blipFill>
        <p:spPr>
          <a:xfrm>
            <a:off x="3992088" y="3923613"/>
            <a:ext cx="544239" cy="544239"/>
          </a:xfrm>
          <a:prstGeom prst="rect">
            <a:avLst/>
          </a:prstGeom>
        </p:spPr>
      </p:pic>
      <p:pic>
        <p:nvPicPr>
          <p:cNvPr id="60" name="Original source heart semantic icon; preserved source colors and symbol identity."/>
          <p:cNvPicPr/>
          <p:nvPr/>
        </p:nvPicPr>
        <p:blipFill>
          <a:blip r:embed="rId19"/>
          <a:stretch>
            <a:fillRect/>
          </a:stretch>
        </p:blipFill>
        <p:spPr>
          <a:xfrm>
            <a:off x="3991571" y="4604373"/>
            <a:ext cx="545275" cy="545800"/>
          </a:xfrm>
          <a:prstGeom prst="rect">
            <a:avLst/>
          </a:prstGeom>
        </p:spPr>
      </p:pic>
      <p:pic>
        <p:nvPicPr>
          <p:cNvPr id="61" name="Original source package semantic icon; preserved source colors and symbol identity."/>
          <p:cNvPicPr/>
          <p:nvPr/>
        </p:nvPicPr>
        <p:blipFill>
          <a:blip r:embed="rId21"/>
          <a:stretch>
            <a:fillRect/>
          </a:stretch>
        </p:blipFill>
        <p:spPr>
          <a:xfrm>
            <a:off x="6126493" y="1655138"/>
            <a:ext cx="634449" cy="636978"/>
          </a:xfrm>
          <a:prstGeom prst="rect">
            <a:avLst/>
          </a:prstGeom>
        </p:spPr>
      </p:pic>
      <p:pic>
        <p:nvPicPr>
          <p:cNvPr id="62" name="Original source coins semantic icon; preserved source colors and symbol identity."/>
          <p:cNvPicPr/>
          <p:nvPr/>
        </p:nvPicPr>
        <p:blipFill>
          <a:blip r:embed="rId22"/>
          <a:stretch>
            <a:fillRect/>
          </a:stretch>
        </p:blipFill>
        <p:spPr>
          <a:xfrm>
            <a:off x="9179839" y="1655777"/>
            <a:ext cx="633222" cy="635701"/>
          </a:xfrm>
          <a:prstGeom prst="rect">
            <a:avLst/>
          </a:prstGeom>
        </p:spPr>
      </p:pic>
      <p:pic>
        <p:nvPicPr>
          <p:cNvPr id="63" name="Original source channel semantic icon; preserved source colors and symbol identity."/>
          <p:cNvPicPr/>
          <p:nvPr/>
        </p:nvPicPr>
        <p:blipFill>
          <a:blip r:embed="rId23"/>
          <a:stretch>
            <a:fillRect/>
          </a:stretch>
        </p:blipFill>
        <p:spPr>
          <a:xfrm>
            <a:off x="6158145" y="3988107"/>
            <a:ext cx="571144" cy="571439"/>
          </a:xfrm>
          <a:prstGeom prst="rect">
            <a:avLst/>
          </a:prstGeom>
        </p:spPr>
      </p:pic>
      <p:pic>
        <p:nvPicPr>
          <p:cNvPr id="64" name="Original source megaphone semantic icon; preserved source colors and symbol identity."/>
          <p:cNvPicPr/>
          <p:nvPr/>
        </p:nvPicPr>
        <p:blipFill>
          <a:blip r:embed="rId24"/>
          <a:stretch>
            <a:fillRect/>
          </a:stretch>
        </p:blipFill>
        <p:spPr>
          <a:xfrm>
            <a:off x="10046565" y="3977356"/>
            <a:ext cx="632020" cy="613386"/>
          </a:xfrm>
          <a:prstGeom prst="rect">
            <a:avLst/>
          </a:prstGeom>
        </p:spPr>
      </p:pic>
      <p:pic>
        <p:nvPicPr>
          <p:cNvPr id="65" name="Original source rice visual; compliant separation then layout-only repack, ordinary copy removed. Brand wordmarks inside emblems remain identity text."/>
          <p:cNvPicPr/>
          <p:nvPr/>
        </p:nvPicPr>
        <p:blipFill>
          <a:blip r:embed="rId25"/>
          <a:stretch>
            <a:fillRect/>
          </a:stretch>
        </p:blipFill>
        <p:spPr>
          <a:xfrm>
            <a:off x="6118225" y="2625186"/>
            <a:ext cx="721977" cy="712710"/>
          </a:xfrm>
          <a:prstGeom prst="rect">
            <a:avLst/>
          </a:prstGeom>
        </p:spPr>
      </p:pic>
      <p:pic>
        <p:nvPicPr>
          <p:cNvPr id="66" name="Original source vegetables visual; compliant separation then layout-only repack, ordinary copy removed. Brand wordmarks inside emblems remain identity text."/>
          <p:cNvPicPr/>
          <p:nvPr/>
        </p:nvPicPr>
        <p:blipFill>
          <a:blip r:embed="rId26"/>
          <a:stretch>
            <a:fillRect/>
          </a:stretch>
        </p:blipFill>
        <p:spPr>
          <a:xfrm>
            <a:off x="6814593" y="2626549"/>
            <a:ext cx="720720" cy="700822"/>
          </a:xfrm>
          <a:prstGeom prst="rect">
            <a:avLst/>
          </a:prstGeom>
        </p:spPr>
      </p:pic>
      <p:pic>
        <p:nvPicPr>
          <p:cNvPr id="67" name="Original source sugarcane visual; compliant separation then layout-only repack, ordinary copy removed. Brand wordmarks inside emblems remain identity text."/>
          <p:cNvPicPr/>
          <p:nvPr/>
        </p:nvPicPr>
        <p:blipFill>
          <a:blip r:embed="rId27"/>
          <a:stretch>
            <a:fillRect/>
          </a:stretch>
        </p:blipFill>
        <p:spPr>
          <a:xfrm>
            <a:off x="7524737" y="2626326"/>
            <a:ext cx="720308" cy="703560"/>
          </a:xfrm>
          <a:prstGeom prst="rect">
            <a:avLst/>
          </a:prstGeom>
        </p:spPr>
      </p:pic>
      <p:pic>
        <p:nvPicPr>
          <p:cNvPr id="68" name="Original source handshake visual; compliant separation then layout-only repack, ordinary copy removed. Brand wordmarks inside emblems remain identity text."/>
          <p:cNvPicPr/>
          <p:nvPr/>
        </p:nvPicPr>
        <p:blipFill>
          <a:blip r:embed="rId29"/>
          <a:stretch>
            <a:fillRect/>
          </a:stretch>
        </p:blipFill>
        <p:spPr>
          <a:xfrm>
            <a:off x="6062059" y="4898128"/>
            <a:ext cx="720720" cy="705944"/>
          </a:xfrm>
          <a:prstGeom prst="rect">
            <a:avLst/>
          </a:prstGeom>
        </p:spPr>
      </p:pic>
      <p:pic>
        <p:nvPicPr>
          <p:cNvPr id="69" name="Original source greenhouse visual; compliant separation then layout-only repack, ordinary copy removed. Brand wordmarks inside emblems remain identity text."/>
          <p:cNvPicPr/>
          <p:nvPr/>
        </p:nvPicPr>
        <p:blipFill>
          <a:blip r:embed="rId30"/>
          <a:stretch>
            <a:fillRect/>
          </a:stretch>
        </p:blipFill>
        <p:spPr>
          <a:xfrm>
            <a:off x="6785778" y="4900091"/>
            <a:ext cx="721555" cy="703510"/>
          </a:xfrm>
          <a:prstGeom prst="rect">
            <a:avLst/>
          </a:prstGeom>
        </p:spPr>
      </p:pic>
      <p:pic>
        <p:nvPicPr>
          <p:cNvPr id="70" name="Original source ecommerce visual; compliant separation then layout-only repack, ordinary copy removed. Brand wordmarks inside emblems remain identity text."/>
          <p:cNvPicPr/>
          <p:nvPr/>
        </p:nvPicPr>
        <p:blipFill>
          <a:blip r:embed="rId31"/>
          <a:stretch>
            <a:fillRect/>
          </a:stretch>
        </p:blipFill>
        <p:spPr>
          <a:xfrm>
            <a:off x="7508843" y="4903247"/>
            <a:ext cx="723698" cy="694931"/>
          </a:xfrm>
          <a:prstGeom prst="rect">
            <a:avLst/>
          </a:prstGeom>
        </p:spPr>
      </p:pic>
      <p:pic>
        <p:nvPicPr>
          <p:cNvPr id="71" name="Original source field visual; compliant separation then layout-only repack, ordinary copy removed. Brand wordmarks inside emblems remain identity text."/>
          <p:cNvPicPr/>
          <p:nvPr/>
        </p:nvPicPr>
        <p:blipFill>
          <a:blip r:embed="rId32"/>
          <a:stretch>
            <a:fillRect/>
          </a:stretch>
        </p:blipFill>
        <p:spPr>
          <a:xfrm>
            <a:off x="8276857" y="4903875"/>
            <a:ext cx="721136" cy="686558"/>
          </a:xfrm>
          <a:prstGeom prst="rect">
            <a:avLst/>
          </a:prstGeom>
        </p:spPr>
      </p:pic>
      <p:pic>
        <p:nvPicPr>
          <p:cNvPr id="72" name="Original source promotion-people semantic icon; preserved source colors and symbol identity."/>
          <p:cNvPicPr/>
          <p:nvPr/>
        </p:nvPicPr>
        <p:blipFill>
          <a:blip r:embed="rId33"/>
          <a:stretch>
            <a:fillRect/>
          </a:stretch>
        </p:blipFill>
        <p:spPr>
          <a:xfrm>
            <a:off x="9227576" y="4941935"/>
            <a:ext cx="523549" cy="523819"/>
          </a:xfrm>
          <a:prstGeom prst="rect">
            <a:avLst/>
          </a:prstGeom>
        </p:spPr>
      </p:pic>
      <p:pic>
        <p:nvPicPr>
          <p:cNvPr id="73" name="Original source social visual; compliant separation then layout-only repack, ordinary copy removed. Brand wordmarks inside emblems remain identity text."/>
          <p:cNvPicPr/>
          <p:nvPr/>
        </p:nvPicPr>
        <p:blipFill>
          <a:blip r:embed="rId34"/>
          <a:stretch>
            <a:fillRect/>
          </a:stretch>
        </p:blipFill>
        <p:spPr>
          <a:xfrm>
            <a:off x="9804145" y="4929318"/>
            <a:ext cx="776089" cy="534854"/>
          </a:xfrm>
          <a:prstGeom prst="rect">
            <a:avLst/>
          </a:prstGeom>
        </p:spPr>
      </p:pic>
      <p:pic>
        <p:nvPicPr>
          <p:cNvPr id="74" name="Original source farm semantic icon; preserved source colors and symbol identity."/>
          <p:cNvPicPr/>
          <p:nvPr/>
        </p:nvPicPr>
        <p:blipFill>
          <a:blip r:embed="rId35"/>
          <a:stretch>
            <a:fillRect/>
          </a:stretch>
        </p:blipFill>
        <p:spPr>
          <a:xfrm>
            <a:off x="10577495" y="4939852"/>
            <a:ext cx="578270" cy="553128"/>
          </a:xfrm>
          <a:prstGeom prst="rect">
            <a:avLst/>
          </a:prstGeom>
        </p:spPr>
      </p:pic>
      <p:pic>
        <p:nvPicPr>
          <p:cNvPr id="75" name="Original source globe-icon semantic icon; preserved source colors and symbol identity."/>
          <p:cNvPicPr/>
          <p:nvPr/>
        </p:nvPicPr>
        <p:blipFill>
          <a:blip r:embed="rId36"/>
          <a:stretch>
            <a:fillRect/>
          </a:stretch>
        </p:blipFill>
        <p:spPr>
          <a:xfrm>
            <a:off x="11273234" y="4939852"/>
            <a:ext cx="578270" cy="553128"/>
          </a:xfrm>
          <a:prstGeom prst="rect">
            <a:avLst/>
          </a:prstGeom>
        </p:spPr>
      </p:pic>
      <p:pic>
        <p:nvPicPr>
          <p:cNvPr id="76" name="Original source circular Asia globe with original leaf orbit and two blank ribbons; isolated source-faithful repair preserves source 1:1 proportions."/>
          <p:cNvPicPr/>
          <p:nvPr/>
        </p:nvPicPr>
        <p:blipFill>
          <a:blip r:embed="rId37"/>
          <a:stretch>
            <a:fillRect/>
          </a:stretch>
        </p:blipFill>
        <p:spPr>
          <a:xfrm>
            <a:off x="7884455" y="2475303"/>
            <a:ext cx="2343668" cy="2375953"/>
          </a:xfrm>
          <a:prstGeom prst="rect">
            <a:avLst/>
          </a:prstGeom>
        </p:spPr>
      </p:pic>
      <p:sp>
        <p:nvSpPr>
          <p:cNvPr id="77" name="TextBox 77"/>
          <p:cNvSpPr txBox="1"/>
          <p:nvPr/>
        </p:nvSpPr>
        <p:spPr>
          <a:xfrm>
            <a:off x="735817" y="255578"/>
            <a:ext cx="3578087" cy="53955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900" b="1" i="1">
                <a:solidFill>
                  <a:srgbClr val="F6E9B0"/>
                </a:solidFill>
                <a:latin typeface="Microsoft YaHei"/>
                <a:ea typeface="Microsoft YaHei"/>
                <a:cs typeface="Microsoft YaHei"/>
              </a:rPr>
              <a:t>品牌建设与市场营销</a:t>
            </a:r>
            <a:endParaRPr lang="zh-CN" sz="2900"/>
          </a:p>
        </p:txBody>
      </p:sp>
      <p:sp>
        <p:nvSpPr>
          <p:cNvPr id="78" name="TextBox 78"/>
          <p:cNvSpPr txBox="1"/>
          <p:nvPr/>
        </p:nvSpPr>
        <p:spPr>
          <a:xfrm>
            <a:off x="4995444" y="312373"/>
            <a:ext cx="2910745" cy="4543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005B37"/>
                </a:solidFill>
                <a:latin typeface="KaiTi"/>
                <a:ea typeface="KaiTi"/>
                <a:cs typeface="KaiTi"/>
              </a:rPr>
              <a:t>营销目标和营销策略</a:t>
            </a:r>
            <a:endParaRPr lang="zh-CN" sz="2400"/>
          </a:p>
        </p:txBody>
      </p:sp>
      <p:sp>
        <p:nvSpPr>
          <p:cNvPr id="79" name="TextBox 79"/>
          <p:cNvSpPr txBox="1"/>
          <p:nvPr/>
        </p:nvSpPr>
        <p:spPr>
          <a:xfrm>
            <a:off x="1033990" y="1079106"/>
            <a:ext cx="1774845" cy="4543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2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营销目标</a:t>
            </a:r>
            <a:endParaRPr lang="zh-CN" sz="2520"/>
          </a:p>
        </p:txBody>
      </p:sp>
      <p:sp>
        <p:nvSpPr>
          <p:cNvPr id="80" name="TextBox 80"/>
          <p:cNvSpPr txBox="1"/>
          <p:nvPr/>
        </p:nvSpPr>
        <p:spPr>
          <a:xfrm>
            <a:off x="6741891" y="1121702"/>
            <a:ext cx="1703851" cy="4401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2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营销策略</a:t>
            </a:r>
            <a:endParaRPr lang="zh-CN" sz="2520"/>
          </a:p>
        </p:txBody>
      </p:sp>
      <p:sp>
        <p:nvSpPr>
          <p:cNvPr id="81" name="TextBox 81"/>
          <p:cNvSpPr txBox="1"/>
          <p:nvPr/>
        </p:nvSpPr>
        <p:spPr>
          <a:xfrm>
            <a:off x="8658723" y="1221093"/>
            <a:ext cx="3066932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30">
                <a:solidFill>
                  <a:srgbClr val="005B37"/>
                </a:solidFill>
                <a:latin typeface="KaiTi"/>
                <a:ea typeface="KaiTi"/>
                <a:cs typeface="KaiTi"/>
              </a:rPr>
              <a:t>多元联动 · 精准触达 · 品牌出海</a:t>
            </a:r>
            <a:endParaRPr lang="zh-CN" sz="1230"/>
          </a:p>
        </p:txBody>
      </p:sp>
      <p:sp>
        <p:nvSpPr>
          <p:cNvPr id="82" name="TextBox 82"/>
          <p:cNvSpPr txBox="1"/>
          <p:nvPr/>
        </p:nvSpPr>
        <p:spPr>
          <a:xfrm>
            <a:off x="735817" y="1718050"/>
            <a:ext cx="1135901" cy="28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4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三年目标</a:t>
            </a:r>
            <a:endParaRPr lang="zh-CN" sz="1440"/>
          </a:p>
        </p:txBody>
      </p:sp>
      <p:sp>
        <p:nvSpPr>
          <p:cNvPr id="83" name="TextBox 83"/>
          <p:cNvSpPr txBox="1"/>
          <p:nvPr/>
        </p:nvSpPr>
        <p:spPr>
          <a:xfrm>
            <a:off x="1814922" y="1732248"/>
            <a:ext cx="2058820" cy="25557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逐步突破，持续增长</a:t>
            </a:r>
            <a:endParaRPr lang="zh-CN" sz="1160"/>
          </a:p>
        </p:txBody>
      </p:sp>
      <p:sp>
        <p:nvSpPr>
          <p:cNvPr id="84" name="TextBox 84"/>
          <p:cNvSpPr txBox="1"/>
          <p:nvPr/>
        </p:nvSpPr>
        <p:spPr>
          <a:xfrm>
            <a:off x="792612" y="3791068"/>
            <a:ext cx="553752" cy="3123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 i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5%</a:t>
            </a:r>
            <a:endParaRPr lang="zh-CN" sz="1500"/>
          </a:p>
        </p:txBody>
      </p:sp>
      <p:sp>
        <p:nvSpPr>
          <p:cNvPr id="85" name="TextBox 85"/>
          <p:cNvSpPr txBox="1"/>
          <p:nvPr/>
        </p:nvSpPr>
        <p:spPr>
          <a:xfrm>
            <a:off x="664823" y="4316422"/>
            <a:ext cx="809329" cy="2271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4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第1年</a:t>
            </a:r>
            <a:endParaRPr lang="zh-CN" sz="1140"/>
          </a:p>
        </p:txBody>
      </p:sp>
      <p:sp>
        <p:nvSpPr>
          <p:cNvPr id="86" name="TextBox 86"/>
          <p:cNvSpPr txBox="1"/>
          <p:nvPr/>
        </p:nvSpPr>
        <p:spPr>
          <a:xfrm>
            <a:off x="1829121" y="3684578"/>
            <a:ext cx="539553" cy="3123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 i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10%</a:t>
            </a:r>
            <a:endParaRPr lang="zh-CN" sz="1500"/>
          </a:p>
        </p:txBody>
      </p:sp>
      <p:sp>
        <p:nvSpPr>
          <p:cNvPr id="87" name="TextBox 87"/>
          <p:cNvSpPr txBox="1"/>
          <p:nvPr/>
        </p:nvSpPr>
        <p:spPr>
          <a:xfrm>
            <a:off x="1701332" y="4316422"/>
            <a:ext cx="795130" cy="2271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4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第2年</a:t>
            </a:r>
            <a:endParaRPr lang="zh-CN" sz="1140"/>
          </a:p>
        </p:txBody>
      </p:sp>
      <p:sp>
        <p:nvSpPr>
          <p:cNvPr id="88" name="TextBox 88"/>
          <p:cNvSpPr txBox="1"/>
          <p:nvPr/>
        </p:nvSpPr>
        <p:spPr>
          <a:xfrm>
            <a:off x="2879829" y="3507093"/>
            <a:ext cx="539553" cy="31237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 i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15%</a:t>
            </a:r>
            <a:endParaRPr lang="zh-CN" sz="1500"/>
          </a:p>
        </p:txBody>
      </p:sp>
      <p:sp>
        <p:nvSpPr>
          <p:cNvPr id="89" name="TextBox 89"/>
          <p:cNvSpPr txBox="1"/>
          <p:nvPr/>
        </p:nvSpPr>
        <p:spPr>
          <a:xfrm>
            <a:off x="2752040" y="4316422"/>
            <a:ext cx="795130" cy="2271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4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第3年</a:t>
            </a:r>
            <a:endParaRPr lang="zh-CN" sz="1140"/>
          </a:p>
        </p:txBody>
      </p:sp>
      <p:sp>
        <p:nvSpPr>
          <p:cNvPr id="90" name="TextBox 90"/>
          <p:cNvSpPr txBox="1"/>
          <p:nvPr/>
        </p:nvSpPr>
        <p:spPr>
          <a:xfrm>
            <a:off x="721618" y="2612571"/>
            <a:ext cx="653143" cy="4117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D78100"/>
                </a:solidFill>
                <a:latin typeface="Liberation Serif"/>
                <a:ea typeface="Liberation Serif"/>
                <a:cs typeface="Liberation Serif"/>
              </a:rPr>
              <a:t>50</a:t>
            </a:r>
            <a:endParaRPr lang="zh-CN" sz="3000"/>
          </a:p>
        </p:txBody>
      </p:sp>
      <p:sp>
        <p:nvSpPr>
          <p:cNvPr id="91" name="TextBox 91"/>
          <p:cNvSpPr txBox="1"/>
          <p:nvPr/>
        </p:nvSpPr>
        <p:spPr>
          <a:xfrm>
            <a:off x="1701332" y="2385391"/>
            <a:ext cx="809329" cy="4259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D78100"/>
                </a:solidFill>
                <a:latin typeface="Liberation Serif"/>
                <a:ea typeface="Liberation Serif"/>
                <a:cs typeface="Liberation Serif"/>
              </a:rPr>
              <a:t>120</a:t>
            </a:r>
            <a:endParaRPr lang="zh-CN" sz="3000"/>
          </a:p>
        </p:txBody>
      </p:sp>
      <p:sp>
        <p:nvSpPr>
          <p:cNvPr id="92" name="TextBox 92"/>
          <p:cNvSpPr txBox="1"/>
          <p:nvPr/>
        </p:nvSpPr>
        <p:spPr>
          <a:xfrm>
            <a:off x="2723643" y="2144012"/>
            <a:ext cx="837727" cy="4259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 i="1">
                <a:solidFill>
                  <a:srgbClr val="D78100"/>
                </a:solidFill>
                <a:latin typeface="Liberation Serif"/>
                <a:ea typeface="Liberation Serif"/>
                <a:cs typeface="Liberation Serif"/>
              </a:rPr>
              <a:t>250</a:t>
            </a:r>
            <a:endParaRPr lang="zh-CN" sz="3000"/>
          </a:p>
        </p:txBody>
      </p:sp>
      <p:sp>
        <p:nvSpPr>
          <p:cNvPr id="93" name="TextBox 93"/>
          <p:cNvSpPr txBox="1"/>
          <p:nvPr/>
        </p:nvSpPr>
        <p:spPr>
          <a:xfrm>
            <a:off x="721618" y="2981739"/>
            <a:ext cx="596348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9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090"/>
          </a:p>
        </p:txBody>
      </p:sp>
      <p:sp>
        <p:nvSpPr>
          <p:cNvPr id="94" name="TextBox 94"/>
          <p:cNvSpPr txBox="1"/>
          <p:nvPr/>
        </p:nvSpPr>
        <p:spPr>
          <a:xfrm>
            <a:off x="1729730" y="2768758"/>
            <a:ext cx="638944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9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090"/>
          </a:p>
        </p:txBody>
      </p:sp>
      <p:sp>
        <p:nvSpPr>
          <p:cNvPr id="95" name="TextBox 95"/>
          <p:cNvSpPr txBox="1"/>
          <p:nvPr/>
        </p:nvSpPr>
        <p:spPr>
          <a:xfrm>
            <a:off x="3291593" y="2300199"/>
            <a:ext cx="496957" cy="2271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950"/>
          </a:p>
        </p:txBody>
      </p:sp>
      <p:sp>
        <p:nvSpPr>
          <p:cNvPr id="96" name="TextBox 96"/>
          <p:cNvSpPr txBox="1"/>
          <p:nvPr/>
        </p:nvSpPr>
        <p:spPr>
          <a:xfrm>
            <a:off x="849407" y="4543602"/>
            <a:ext cx="851925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开发客户</a:t>
            </a:r>
            <a:endParaRPr lang="zh-CN" sz="950"/>
          </a:p>
        </p:txBody>
      </p:sp>
      <p:sp>
        <p:nvSpPr>
          <p:cNvPr id="97" name="TextBox 97"/>
          <p:cNvSpPr txBox="1"/>
          <p:nvPr/>
        </p:nvSpPr>
        <p:spPr>
          <a:xfrm>
            <a:off x="849407" y="4699789"/>
            <a:ext cx="880323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≥30家</a:t>
            </a:r>
            <a:endParaRPr lang="zh-CN" sz="1030"/>
          </a:p>
        </p:txBody>
      </p:sp>
      <p:sp>
        <p:nvSpPr>
          <p:cNvPr id="98" name="TextBox 98"/>
          <p:cNvSpPr txBox="1"/>
          <p:nvPr/>
        </p:nvSpPr>
        <p:spPr>
          <a:xfrm>
            <a:off x="849407" y="4912770"/>
            <a:ext cx="851925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示范田</a:t>
            </a:r>
            <a:endParaRPr lang="zh-CN" sz="950"/>
          </a:p>
        </p:txBody>
      </p:sp>
      <p:sp>
        <p:nvSpPr>
          <p:cNvPr id="99" name="TextBox 99"/>
          <p:cNvSpPr txBox="1"/>
          <p:nvPr/>
        </p:nvSpPr>
        <p:spPr>
          <a:xfrm>
            <a:off x="849407" y="5068957"/>
            <a:ext cx="880323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≥15块</a:t>
            </a:r>
            <a:endParaRPr lang="zh-CN" sz="1030"/>
          </a:p>
        </p:txBody>
      </p:sp>
      <p:sp>
        <p:nvSpPr>
          <p:cNvPr id="100" name="TextBox 100"/>
          <p:cNvSpPr txBox="1"/>
          <p:nvPr/>
        </p:nvSpPr>
        <p:spPr>
          <a:xfrm>
            <a:off x="1928512" y="4543602"/>
            <a:ext cx="851925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开发客户</a:t>
            </a:r>
            <a:endParaRPr lang="zh-CN" sz="950"/>
          </a:p>
        </p:txBody>
      </p:sp>
      <p:sp>
        <p:nvSpPr>
          <p:cNvPr id="101" name="TextBox 101"/>
          <p:cNvSpPr txBox="1"/>
          <p:nvPr/>
        </p:nvSpPr>
        <p:spPr>
          <a:xfrm>
            <a:off x="1928512" y="4699789"/>
            <a:ext cx="880323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≥60家</a:t>
            </a:r>
            <a:endParaRPr lang="zh-CN" sz="1030"/>
          </a:p>
        </p:txBody>
      </p:sp>
      <p:sp>
        <p:nvSpPr>
          <p:cNvPr id="102" name="TextBox 102"/>
          <p:cNvSpPr txBox="1"/>
          <p:nvPr/>
        </p:nvSpPr>
        <p:spPr>
          <a:xfrm>
            <a:off x="1928512" y="4912770"/>
            <a:ext cx="851925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示范田</a:t>
            </a:r>
            <a:endParaRPr lang="zh-CN" sz="950"/>
          </a:p>
        </p:txBody>
      </p:sp>
      <p:sp>
        <p:nvSpPr>
          <p:cNvPr id="103" name="TextBox 103"/>
          <p:cNvSpPr txBox="1"/>
          <p:nvPr/>
        </p:nvSpPr>
        <p:spPr>
          <a:xfrm>
            <a:off x="1928512" y="5068957"/>
            <a:ext cx="880323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≥30块</a:t>
            </a:r>
            <a:endParaRPr lang="zh-CN" sz="1030"/>
          </a:p>
        </p:txBody>
      </p:sp>
      <p:sp>
        <p:nvSpPr>
          <p:cNvPr id="104" name="TextBox 104"/>
          <p:cNvSpPr txBox="1"/>
          <p:nvPr/>
        </p:nvSpPr>
        <p:spPr>
          <a:xfrm>
            <a:off x="3050214" y="4543602"/>
            <a:ext cx="851925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开发客户</a:t>
            </a:r>
            <a:endParaRPr lang="zh-CN" sz="950"/>
          </a:p>
        </p:txBody>
      </p:sp>
      <p:sp>
        <p:nvSpPr>
          <p:cNvPr id="105" name="TextBox 105"/>
          <p:cNvSpPr txBox="1"/>
          <p:nvPr/>
        </p:nvSpPr>
        <p:spPr>
          <a:xfrm>
            <a:off x="3050214" y="4699789"/>
            <a:ext cx="880323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≥100家</a:t>
            </a:r>
            <a:endParaRPr lang="zh-CN" sz="1030"/>
          </a:p>
        </p:txBody>
      </p:sp>
      <p:sp>
        <p:nvSpPr>
          <p:cNvPr id="106" name="TextBox 106"/>
          <p:cNvSpPr txBox="1"/>
          <p:nvPr/>
        </p:nvSpPr>
        <p:spPr>
          <a:xfrm>
            <a:off x="3050214" y="4912770"/>
            <a:ext cx="851925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示范田</a:t>
            </a:r>
            <a:endParaRPr lang="zh-CN" sz="950"/>
          </a:p>
        </p:txBody>
      </p:sp>
      <p:sp>
        <p:nvSpPr>
          <p:cNvPr id="107" name="TextBox 107"/>
          <p:cNvSpPr txBox="1"/>
          <p:nvPr/>
        </p:nvSpPr>
        <p:spPr>
          <a:xfrm>
            <a:off x="3050214" y="5068957"/>
            <a:ext cx="880323" cy="1845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≥50块</a:t>
            </a:r>
            <a:endParaRPr lang="zh-CN" sz="1030"/>
          </a:p>
        </p:txBody>
      </p:sp>
      <p:sp>
        <p:nvSpPr>
          <p:cNvPr id="108" name="TextBox 108"/>
          <p:cNvSpPr txBox="1"/>
          <p:nvPr/>
        </p:nvSpPr>
        <p:spPr>
          <a:xfrm>
            <a:off x="4597879" y="1902634"/>
            <a:ext cx="1079106" cy="1987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出口销售额</a:t>
            </a:r>
            <a:endParaRPr lang="zh-CN" sz="1030"/>
          </a:p>
        </p:txBody>
      </p:sp>
      <p:sp>
        <p:nvSpPr>
          <p:cNvPr id="109" name="TextBox 109"/>
          <p:cNvSpPr txBox="1"/>
          <p:nvPr/>
        </p:nvSpPr>
        <p:spPr>
          <a:xfrm>
            <a:off x="4597879" y="2073019"/>
            <a:ext cx="1107503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50→120→250</a:t>
            </a:r>
            <a:endParaRPr lang="zh-CN" sz="1130"/>
          </a:p>
        </p:txBody>
      </p:sp>
      <p:sp>
        <p:nvSpPr>
          <p:cNvPr id="110" name="TextBox 110"/>
          <p:cNvSpPr txBox="1"/>
          <p:nvPr/>
        </p:nvSpPr>
        <p:spPr>
          <a:xfrm>
            <a:off x="4597879" y="2257602"/>
            <a:ext cx="951317" cy="1703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000"/>
          </a:p>
        </p:txBody>
      </p:sp>
      <p:sp>
        <p:nvSpPr>
          <p:cNvPr id="111" name="TextBox 111"/>
          <p:cNvSpPr txBox="1"/>
          <p:nvPr/>
        </p:nvSpPr>
        <p:spPr>
          <a:xfrm>
            <a:off x="4597879" y="2584174"/>
            <a:ext cx="1079106" cy="1987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市场份额</a:t>
            </a:r>
            <a:endParaRPr lang="zh-CN" sz="1030"/>
          </a:p>
        </p:txBody>
      </p:sp>
      <p:sp>
        <p:nvSpPr>
          <p:cNvPr id="112" name="TextBox 112"/>
          <p:cNvSpPr txBox="1"/>
          <p:nvPr/>
        </p:nvSpPr>
        <p:spPr>
          <a:xfrm>
            <a:off x="4597879" y="2754559"/>
            <a:ext cx="1107503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7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5%→15%+</a:t>
            </a:r>
            <a:endParaRPr lang="zh-CN" sz="1270"/>
          </a:p>
        </p:txBody>
      </p:sp>
      <p:sp>
        <p:nvSpPr>
          <p:cNvPr id="113" name="TextBox 113"/>
          <p:cNvSpPr txBox="1"/>
          <p:nvPr/>
        </p:nvSpPr>
        <p:spPr>
          <a:xfrm>
            <a:off x="4597879" y="3265714"/>
            <a:ext cx="1079106" cy="1987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海外社媒粉丝</a:t>
            </a:r>
            <a:endParaRPr lang="zh-CN" sz="1030"/>
          </a:p>
        </p:txBody>
      </p:sp>
      <p:sp>
        <p:nvSpPr>
          <p:cNvPr id="114" name="TextBox 114"/>
          <p:cNvSpPr txBox="1"/>
          <p:nvPr/>
        </p:nvSpPr>
        <p:spPr>
          <a:xfrm>
            <a:off x="4597879" y="3436099"/>
            <a:ext cx="1107503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7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5万→20万</a:t>
            </a:r>
            <a:endParaRPr lang="zh-CN" sz="1270"/>
          </a:p>
        </p:txBody>
      </p:sp>
      <p:sp>
        <p:nvSpPr>
          <p:cNvPr id="115" name="TextBox 115"/>
          <p:cNvSpPr txBox="1"/>
          <p:nvPr/>
        </p:nvSpPr>
        <p:spPr>
          <a:xfrm>
            <a:off x="4597879" y="3947255"/>
            <a:ext cx="1079106" cy="1987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示范田降解率</a:t>
            </a:r>
            <a:endParaRPr lang="zh-CN" sz="1030"/>
          </a:p>
        </p:txBody>
      </p:sp>
      <p:sp>
        <p:nvSpPr>
          <p:cNvPr id="116" name="TextBox 116"/>
          <p:cNvSpPr txBox="1"/>
          <p:nvPr/>
        </p:nvSpPr>
        <p:spPr>
          <a:xfrm>
            <a:off x="4597879" y="4117640"/>
            <a:ext cx="1107503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7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≥90%</a:t>
            </a:r>
            <a:endParaRPr lang="zh-CN" sz="1270"/>
          </a:p>
        </p:txBody>
      </p:sp>
      <p:sp>
        <p:nvSpPr>
          <p:cNvPr id="117" name="TextBox 117"/>
          <p:cNvSpPr txBox="1"/>
          <p:nvPr/>
        </p:nvSpPr>
        <p:spPr>
          <a:xfrm>
            <a:off x="4597879" y="4628795"/>
            <a:ext cx="1079106" cy="1987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3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客户满意度</a:t>
            </a:r>
            <a:endParaRPr lang="zh-CN" sz="1030"/>
          </a:p>
        </p:txBody>
      </p:sp>
      <p:sp>
        <p:nvSpPr>
          <p:cNvPr id="118" name="TextBox 118"/>
          <p:cNvSpPr txBox="1"/>
          <p:nvPr/>
        </p:nvSpPr>
        <p:spPr>
          <a:xfrm>
            <a:off x="4597879" y="4799180"/>
            <a:ext cx="1107503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7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≥90%</a:t>
            </a:r>
            <a:endParaRPr lang="zh-CN" sz="1270"/>
          </a:p>
        </p:txBody>
      </p:sp>
      <p:sp>
        <p:nvSpPr>
          <p:cNvPr id="119" name="TextBox 119"/>
          <p:cNvSpPr txBox="1"/>
          <p:nvPr/>
        </p:nvSpPr>
        <p:spPr>
          <a:xfrm>
            <a:off x="6827084" y="1746447"/>
            <a:ext cx="1561863" cy="3407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产品策略</a:t>
            </a:r>
            <a:endParaRPr lang="zh-CN" sz="1800"/>
          </a:p>
        </p:txBody>
      </p:sp>
      <p:sp>
        <p:nvSpPr>
          <p:cNvPr id="120" name="TextBox 120"/>
          <p:cNvSpPr txBox="1"/>
          <p:nvPr/>
        </p:nvSpPr>
        <p:spPr>
          <a:xfrm>
            <a:off x="9894015" y="1746447"/>
            <a:ext cx="1576062" cy="3407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价格策略</a:t>
            </a:r>
            <a:endParaRPr lang="zh-CN" sz="1800"/>
          </a:p>
        </p:txBody>
      </p:sp>
      <p:sp>
        <p:nvSpPr>
          <p:cNvPr id="121" name="TextBox 121"/>
          <p:cNvSpPr txBox="1"/>
          <p:nvPr/>
        </p:nvSpPr>
        <p:spPr>
          <a:xfrm>
            <a:off x="6827084" y="4046646"/>
            <a:ext cx="1590261" cy="3407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渠道策略</a:t>
            </a:r>
            <a:endParaRPr lang="zh-CN" sz="1800"/>
          </a:p>
        </p:txBody>
      </p:sp>
      <p:sp>
        <p:nvSpPr>
          <p:cNvPr id="122" name="TextBox 122"/>
          <p:cNvSpPr txBox="1"/>
          <p:nvPr/>
        </p:nvSpPr>
        <p:spPr>
          <a:xfrm>
            <a:off x="10632351" y="4046646"/>
            <a:ext cx="1192696" cy="3407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促销策略</a:t>
            </a:r>
            <a:endParaRPr lang="zh-CN" sz="1800"/>
          </a:p>
        </p:txBody>
      </p:sp>
      <p:sp>
        <p:nvSpPr>
          <p:cNvPr id="123" name="TextBox 123"/>
          <p:cNvSpPr txBox="1"/>
          <p:nvPr/>
        </p:nvSpPr>
        <p:spPr>
          <a:xfrm>
            <a:off x="6855481" y="2144012"/>
            <a:ext cx="1306286" cy="2271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6AAB85"/>
                </a:solidFill>
                <a:latin typeface="Microsoft YaHei"/>
                <a:ea typeface="Microsoft YaHei"/>
                <a:cs typeface="Microsoft YaHei"/>
              </a:rPr>
              <a:t>分级定制</a:t>
            </a:r>
            <a:endParaRPr lang="zh-CN" sz="1340"/>
          </a:p>
        </p:txBody>
      </p:sp>
      <p:sp>
        <p:nvSpPr>
          <p:cNvPr id="124" name="TextBox 124"/>
          <p:cNvSpPr txBox="1"/>
          <p:nvPr/>
        </p:nvSpPr>
        <p:spPr>
          <a:xfrm>
            <a:off x="6855481" y="2342795"/>
            <a:ext cx="1306286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精准适配</a:t>
            </a:r>
            <a:endParaRPr lang="zh-CN" sz="1340"/>
          </a:p>
        </p:txBody>
      </p:sp>
      <p:sp>
        <p:nvSpPr>
          <p:cNvPr id="125" name="TextBox 125"/>
          <p:cNvSpPr txBox="1"/>
          <p:nvPr/>
        </p:nvSpPr>
        <p:spPr>
          <a:xfrm>
            <a:off x="6244935" y="3350907"/>
            <a:ext cx="1916832" cy="2839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水稻级 | 果蔬级 | 定制级</a:t>
            </a:r>
            <a:endParaRPr lang="zh-CN" sz="1050"/>
          </a:p>
        </p:txBody>
      </p:sp>
      <p:sp>
        <p:nvSpPr>
          <p:cNvPr id="126" name="TextBox 126"/>
          <p:cNvSpPr txBox="1"/>
          <p:nvPr/>
        </p:nvSpPr>
        <p:spPr>
          <a:xfrm>
            <a:off x="9837220" y="2144012"/>
            <a:ext cx="1249491" cy="2271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6AAB85"/>
                </a:solidFill>
                <a:latin typeface="Microsoft YaHei"/>
                <a:ea typeface="Microsoft YaHei"/>
                <a:cs typeface="Microsoft YaHei"/>
              </a:rPr>
              <a:t>价值导向</a:t>
            </a:r>
            <a:endParaRPr lang="zh-CN" sz="1340"/>
          </a:p>
        </p:txBody>
      </p:sp>
      <p:sp>
        <p:nvSpPr>
          <p:cNvPr id="127" name="TextBox 127"/>
          <p:cNvSpPr txBox="1"/>
          <p:nvPr/>
        </p:nvSpPr>
        <p:spPr>
          <a:xfrm>
            <a:off x="9837220" y="2342795"/>
            <a:ext cx="1249491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梯度定价</a:t>
            </a:r>
            <a:endParaRPr lang="zh-CN" sz="1340"/>
          </a:p>
        </p:txBody>
      </p:sp>
      <p:sp>
        <p:nvSpPr>
          <p:cNvPr id="128" name="TextBox 128"/>
          <p:cNvSpPr txBox="1"/>
          <p:nvPr/>
        </p:nvSpPr>
        <p:spPr>
          <a:xfrm>
            <a:off x="10589754" y="2981739"/>
            <a:ext cx="1036509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RCEP关税优势</a:t>
            </a:r>
            <a:endParaRPr lang="zh-CN" sz="950"/>
          </a:p>
        </p:txBody>
      </p:sp>
      <p:sp>
        <p:nvSpPr>
          <p:cNvPr id="129" name="TextBox 129"/>
          <p:cNvSpPr txBox="1"/>
          <p:nvPr/>
        </p:nvSpPr>
        <p:spPr>
          <a:xfrm>
            <a:off x="10589754" y="3237317"/>
            <a:ext cx="1036509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批量阶梯折扣</a:t>
            </a:r>
            <a:endParaRPr lang="zh-CN" sz="950"/>
          </a:p>
        </p:txBody>
      </p:sp>
      <p:sp>
        <p:nvSpPr>
          <p:cNvPr id="130" name="TextBox 130"/>
          <p:cNvSpPr txBox="1"/>
          <p:nvPr/>
        </p:nvSpPr>
        <p:spPr>
          <a:xfrm>
            <a:off x="10589754" y="3492894"/>
            <a:ext cx="1036509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长期合作优惠</a:t>
            </a:r>
            <a:endParaRPr lang="zh-CN" sz="950"/>
          </a:p>
        </p:txBody>
      </p:sp>
      <p:sp>
        <p:nvSpPr>
          <p:cNvPr id="131" name="TextBox 131"/>
          <p:cNvSpPr txBox="1"/>
          <p:nvPr/>
        </p:nvSpPr>
        <p:spPr>
          <a:xfrm>
            <a:off x="6855481" y="4444211"/>
            <a:ext cx="1150099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6AAB85"/>
                </a:solidFill>
                <a:latin typeface="Microsoft YaHei"/>
                <a:ea typeface="Microsoft YaHei"/>
                <a:cs typeface="Microsoft YaHei"/>
              </a:rPr>
              <a:t>多元立体</a:t>
            </a:r>
            <a:endParaRPr lang="zh-CN" sz="1340"/>
          </a:p>
        </p:txBody>
      </p:sp>
      <p:sp>
        <p:nvSpPr>
          <p:cNvPr id="132" name="TextBox 132"/>
          <p:cNvSpPr txBox="1"/>
          <p:nvPr/>
        </p:nvSpPr>
        <p:spPr>
          <a:xfrm>
            <a:off x="6855481" y="4642994"/>
            <a:ext cx="1150099" cy="25557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B端优先</a:t>
            </a:r>
            <a:endParaRPr lang="zh-CN" sz="1340"/>
          </a:p>
        </p:txBody>
      </p:sp>
      <p:sp>
        <p:nvSpPr>
          <p:cNvPr id="133" name="TextBox 133"/>
          <p:cNvSpPr txBox="1"/>
          <p:nvPr/>
        </p:nvSpPr>
        <p:spPr>
          <a:xfrm>
            <a:off x="6074549" y="5580112"/>
            <a:ext cx="695739" cy="4117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进口商</a:t>
            </a:r>
            <a:endParaRPr lang="zh-CN" sz="1000"/>
          </a:p>
          <a:p>
            <a:pPr algn="ctr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代理商</a:t>
            </a:r>
            <a:endParaRPr lang="zh-CN" sz="1000"/>
          </a:p>
        </p:txBody>
      </p:sp>
      <p:sp>
        <p:nvSpPr>
          <p:cNvPr id="134" name="TextBox 134"/>
          <p:cNvSpPr txBox="1"/>
          <p:nvPr/>
        </p:nvSpPr>
        <p:spPr>
          <a:xfrm>
            <a:off x="6770289" y="5580112"/>
            <a:ext cx="738335" cy="4117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大型农场</a:t>
            </a:r>
            <a:endParaRPr lang="zh-CN" sz="1000"/>
          </a:p>
          <a:p>
            <a:pPr algn="ctr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合作社</a:t>
            </a:r>
            <a:endParaRPr lang="zh-CN" sz="1000"/>
          </a:p>
        </p:txBody>
      </p:sp>
      <p:sp>
        <p:nvSpPr>
          <p:cNvPr id="135" name="TextBox 135"/>
          <p:cNvSpPr txBox="1"/>
          <p:nvPr/>
        </p:nvSpPr>
        <p:spPr>
          <a:xfrm>
            <a:off x="7494425" y="5580112"/>
            <a:ext cx="738335" cy="4117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跨境电商</a:t>
            </a:r>
            <a:endParaRPr lang="zh-CN" sz="1000"/>
          </a:p>
          <a:p>
            <a:pPr algn="ctr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平台</a:t>
            </a:r>
            <a:endParaRPr lang="zh-CN" sz="1000"/>
          </a:p>
        </p:txBody>
      </p:sp>
      <p:sp>
        <p:nvSpPr>
          <p:cNvPr id="136" name="TextBox 136"/>
          <p:cNvSpPr txBox="1"/>
          <p:nvPr/>
        </p:nvSpPr>
        <p:spPr>
          <a:xfrm>
            <a:off x="8232761" y="5580112"/>
            <a:ext cx="780932" cy="4117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海外</a:t>
            </a:r>
            <a:endParaRPr lang="zh-CN" sz="1000"/>
          </a:p>
          <a:p>
            <a:pPr algn="ctr"/>
            <a:r>
              <a:rPr lang="zh-CN" sz="100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示范田</a:t>
            </a:r>
            <a:endParaRPr lang="zh-CN" sz="1000"/>
          </a:p>
        </p:txBody>
      </p:sp>
      <p:sp>
        <p:nvSpPr>
          <p:cNvPr id="137" name="TextBox 137"/>
          <p:cNvSpPr txBox="1"/>
          <p:nvPr/>
        </p:nvSpPr>
        <p:spPr>
          <a:xfrm>
            <a:off x="10632351" y="4430012"/>
            <a:ext cx="1150099" cy="2413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6AAB85"/>
                </a:solidFill>
                <a:latin typeface="Microsoft YaHei"/>
                <a:ea typeface="Microsoft YaHei"/>
                <a:cs typeface="Microsoft YaHei"/>
              </a:rPr>
              <a:t>示范引领</a:t>
            </a:r>
            <a:endParaRPr lang="zh-CN" sz="1340"/>
          </a:p>
        </p:txBody>
      </p:sp>
      <p:sp>
        <p:nvSpPr>
          <p:cNvPr id="138" name="TextBox 138"/>
          <p:cNvSpPr txBox="1"/>
          <p:nvPr/>
        </p:nvSpPr>
        <p:spPr>
          <a:xfrm>
            <a:off x="10632351" y="4628795"/>
            <a:ext cx="1150099" cy="25557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数字驱动</a:t>
            </a:r>
            <a:endParaRPr lang="zh-CN" sz="1340"/>
          </a:p>
        </p:txBody>
      </p:sp>
      <p:sp>
        <p:nvSpPr>
          <p:cNvPr id="139" name="TextBox 139"/>
          <p:cNvSpPr txBox="1"/>
          <p:nvPr/>
        </p:nvSpPr>
        <p:spPr>
          <a:xfrm>
            <a:off x="9212475" y="5452323"/>
            <a:ext cx="582149" cy="3833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海外展会</a:t>
            </a:r>
            <a:endParaRPr lang="zh-CN" sz="919"/>
          </a:p>
          <a:p>
            <a:pPr algn="ctr"/>
            <a:r>
              <a:rPr lang="zh-CN" sz="919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贸易拓展</a:t>
            </a:r>
            <a:endParaRPr lang="zh-CN" sz="919"/>
          </a:p>
        </p:txBody>
      </p:sp>
      <p:sp>
        <p:nvSpPr>
          <p:cNvPr id="140" name="TextBox 140"/>
          <p:cNvSpPr txBox="1"/>
          <p:nvPr/>
        </p:nvSpPr>
        <p:spPr>
          <a:xfrm>
            <a:off x="9780425" y="5452323"/>
            <a:ext cx="908720" cy="3833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69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社媒+直播+KOL</a:t>
            </a:r>
            <a:endParaRPr lang="zh-CN" sz="869"/>
          </a:p>
          <a:p>
            <a:pPr algn="ctr"/>
            <a:r>
              <a:rPr lang="zh-CN" sz="869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数字营销</a:t>
            </a:r>
            <a:endParaRPr lang="zh-CN" sz="869"/>
          </a:p>
        </p:txBody>
      </p:sp>
      <p:sp>
        <p:nvSpPr>
          <p:cNvPr id="141" name="TextBox 141"/>
          <p:cNvSpPr txBox="1"/>
          <p:nvPr/>
        </p:nvSpPr>
        <p:spPr>
          <a:xfrm>
            <a:off x="10646549" y="5452323"/>
            <a:ext cx="553752" cy="3833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示范田</a:t>
            </a:r>
            <a:endParaRPr lang="zh-CN" sz="919"/>
          </a:p>
          <a:p>
            <a:pPr algn="ctr"/>
            <a:r>
              <a:rPr lang="zh-CN" sz="919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农技输出</a:t>
            </a:r>
            <a:endParaRPr lang="zh-CN" sz="919"/>
          </a:p>
        </p:txBody>
      </p:sp>
      <p:sp>
        <p:nvSpPr>
          <p:cNvPr id="142" name="TextBox 142"/>
          <p:cNvSpPr txBox="1"/>
          <p:nvPr/>
        </p:nvSpPr>
        <p:spPr>
          <a:xfrm>
            <a:off x="11228699" y="5452323"/>
            <a:ext cx="596348" cy="3833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19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品牌传播</a:t>
            </a:r>
            <a:endParaRPr lang="zh-CN" sz="919"/>
          </a:p>
          <a:p>
            <a:pPr algn="ctr"/>
            <a:r>
              <a:rPr lang="zh-CN" sz="919" b="1">
                <a:solidFill>
                  <a:srgbClr val="174A43"/>
                </a:solidFill>
                <a:latin typeface="Microsoft YaHei"/>
                <a:ea typeface="Microsoft YaHei"/>
                <a:cs typeface="Microsoft YaHei"/>
              </a:rPr>
              <a:t>建立信任</a:t>
            </a:r>
            <a:endParaRPr lang="zh-CN" sz="919"/>
          </a:p>
        </p:txBody>
      </p:sp>
      <p:sp>
        <p:nvSpPr>
          <p:cNvPr id="143" name="TextBox 143"/>
          <p:cNvSpPr txBox="1"/>
          <p:nvPr/>
        </p:nvSpPr>
        <p:spPr>
          <a:xfrm>
            <a:off x="8076574" y="3620683"/>
            <a:ext cx="1973627" cy="3833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1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中国技术 + 泰国应用</a:t>
            </a:r>
            <a:endParaRPr lang="zh-CN" sz="1410"/>
          </a:p>
        </p:txBody>
      </p:sp>
      <p:sp>
        <p:nvSpPr>
          <p:cNvPr id="144" name="TextBox 144"/>
          <p:cNvSpPr txBox="1"/>
          <p:nvPr/>
        </p:nvSpPr>
        <p:spPr>
          <a:xfrm>
            <a:off x="8346351" y="3975652"/>
            <a:ext cx="1490870" cy="2981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0" b="1">
                <a:solidFill>
                  <a:srgbClr val="005B37"/>
                </a:solidFill>
                <a:latin typeface="Microsoft YaHei"/>
                <a:ea typeface="Microsoft YaHei"/>
                <a:cs typeface="Microsoft YaHei"/>
              </a:rPr>
              <a:t>绿色农资品牌</a:t>
            </a:r>
            <a:endParaRPr lang="zh-CN" sz="1280"/>
          </a:p>
        </p:txBody>
      </p:sp>
      <p:sp>
        <p:nvSpPr>
          <p:cNvPr id="145" name="Path 145"/>
          <p:cNvSpPr/>
          <p:nvPr/>
        </p:nvSpPr>
        <p:spPr>
          <a:xfrm>
            <a:off x="11680" y="6275851"/>
            <a:ext cx="12168335" cy="58214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184" y="5795"/>
                  <a:pt x="6553" y="16859"/>
                  <a:pt x="8469" y="21600"/>
                </a:cubicBezTo>
                <a:lnTo>
                  <a:pt x="13862" y="21600"/>
                </a:lnTo>
                <a:cubicBezTo>
                  <a:pt x="16559" y="11063"/>
                  <a:pt x="19432" y="3688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BFF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Path 146"/>
          <p:cNvSpPr/>
          <p:nvPr/>
        </p:nvSpPr>
        <p:spPr>
          <a:xfrm>
            <a:off x="11680" y="6361043"/>
            <a:ext cx="12168335" cy="49695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184" y="6789"/>
                  <a:pt x="6553" y="19749"/>
                  <a:pt x="8065" y="21600"/>
                </a:cubicBezTo>
                <a:lnTo>
                  <a:pt x="14316" y="21600"/>
                </a:lnTo>
                <a:cubicBezTo>
                  <a:pt x="16887" y="11109"/>
                  <a:pt x="19533" y="3703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98D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Path 147"/>
          <p:cNvSpPr/>
          <p:nvPr/>
        </p:nvSpPr>
        <p:spPr>
          <a:xfrm>
            <a:off x="11680" y="6758609"/>
            <a:ext cx="12168335" cy="9939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8514"/>
                </a:moveTo>
                <a:cubicBezTo>
                  <a:pt x="756" y="6171"/>
                  <a:pt x="1764" y="0"/>
                  <a:pt x="2672" y="2160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6B748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mint fibrous cloudy background and lower defocused green agricultural field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96885" y="342977"/>
            <a:ext cx="3505112" cy="46988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83" y="0"/>
                </a:moveTo>
                <a:lnTo>
                  <a:pt x="21600" y="0"/>
                </a:lnTo>
                <a:lnTo>
                  <a:pt x="20583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6E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4051199" y="368377"/>
            <a:ext cx="4228994" cy="44448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49" y="0"/>
                </a:moveTo>
                <a:lnTo>
                  <a:pt x="21600" y="0"/>
                </a:lnTo>
                <a:lnTo>
                  <a:pt x="2088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CF8EF"/>
          </a:solidFill>
          <a:ln w="8890">
            <a:solidFill>
              <a:srgbClr val="A4DAC6"/>
            </a:solidFill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749281" y="342977"/>
            <a:ext cx="3187620" cy="46988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61" y="0"/>
                </a:moveTo>
                <a:lnTo>
                  <a:pt x="21600" y="0"/>
                </a:lnTo>
                <a:lnTo>
                  <a:pt x="2056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13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Original complex source geographic map fragment. Retains original map silhouette/country boundaries, highlighted Thailand, 3 green-yellow route arrows, and 4 red/white/blue/yellow identity flag pins. All ordinary country labels removed for native text. Magenta keyed WITHOUT despill so flag reds remain red."/>
          <p:cNvPicPr/>
          <p:nvPr/>
        </p:nvPicPr>
        <p:blipFill>
          <a:blip r:embed="rId3"/>
          <a:stretch>
            <a:fillRect/>
          </a:stretch>
        </p:blipFill>
        <p:spPr>
          <a:xfrm>
            <a:off x="1473668" y="648315"/>
            <a:ext cx="10153657" cy="2306442"/>
          </a:xfrm>
          <a:prstGeom prst="rect">
            <a:avLst/>
          </a:prstGeom>
        </p:spPr>
      </p:pic>
      <p:sp>
        <p:nvSpPr>
          <p:cNvPr id="7" name="Ellipse 7"/>
          <p:cNvSpPr/>
          <p:nvPr/>
        </p:nvSpPr>
        <p:spPr>
          <a:xfrm>
            <a:off x="4203595" y="533472"/>
            <a:ext cx="114297" cy="114297"/>
          </a:xfrm>
          <a:prstGeom prst="ellipse">
            <a:avLst/>
          </a:prstGeom>
          <a:solidFill>
            <a:srgbClr val="13984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2705032" y="6083234"/>
            <a:ext cx="7124522" cy="0"/>
          </a:xfrm>
          <a:prstGeom prst="line">
            <a:avLst/>
          </a:prstGeom>
          <a:noFill/>
          <a:ln w="12700">
            <a:solidFill>
              <a:srgbClr val="77B756"/>
            </a:solidFill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4482988" y="6051484"/>
            <a:ext cx="57149" cy="57149"/>
          </a:xfrm>
          <a:prstGeom prst="ellipse">
            <a:avLst/>
          </a:prstGeom>
          <a:solidFill>
            <a:srgbClr val="00804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7099123" y="6051484"/>
            <a:ext cx="57149" cy="57149"/>
          </a:xfrm>
          <a:prstGeom prst="ellipse">
            <a:avLst/>
          </a:prstGeom>
          <a:solidFill>
            <a:srgbClr val="00804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55591" y="2705118"/>
            <a:ext cx="3809905" cy="2946326"/>
          </a:xfrm>
          <a:prstGeom prst="roundRect">
            <a:avLst>
              <a:gd name="adj" fmla="val 5172"/>
            </a:avLst>
          </a:prstGeom>
          <a:solidFill>
            <a:srgbClr val="FCF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279793" y="2705118"/>
            <a:ext cx="3670208" cy="2946326"/>
          </a:xfrm>
          <a:prstGeom prst="roundRect">
            <a:avLst>
              <a:gd name="adj" fmla="val 5172"/>
            </a:avLst>
          </a:prstGeom>
          <a:solidFill>
            <a:srgbClr val="FCF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8089698" y="2705118"/>
            <a:ext cx="3809905" cy="2946326"/>
          </a:xfrm>
          <a:prstGeom prst="roundRect">
            <a:avLst>
              <a:gd name="adj" fmla="val 5172"/>
            </a:avLst>
          </a:prstGeom>
          <a:solidFill>
            <a:srgbClr val="FCFFF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4" name="Original source vietnam scene. Same temple/karst bay, pagoda/lake, or Petronas skyline framing, lighting and composition. No card/title screenshot."/>
          <p:cNvPicPr/>
          <p:nvPr/>
        </p:nvPicPr>
        <p:blipFill>
          <a:blip r:embed="rId6"/>
          <a:stretch>
            <a:fillRect/>
          </a:stretch>
        </p:blipFill>
        <p:spPr>
          <a:xfrm>
            <a:off x="235307" y="2639330"/>
            <a:ext cx="3995064" cy="1423237"/>
          </a:xfrm>
          <a:prstGeom prst="rect">
            <a:avLst/>
          </a:prstGeom>
        </p:spPr>
      </p:pic>
      <p:pic>
        <p:nvPicPr>
          <p:cNvPr id="15" name="Original source indonesia scene. Same temple/karst bay, pagoda/lake, or Petronas skyline framing, lighting and composition. No card/title screenshot."/>
          <p:cNvPicPr/>
          <p:nvPr/>
        </p:nvPicPr>
        <p:blipFill>
          <a:blip r:embed="rId10"/>
          <a:stretch>
            <a:fillRect/>
          </a:stretch>
        </p:blipFill>
        <p:spPr>
          <a:xfrm>
            <a:off x="4227600" y="2639330"/>
            <a:ext cx="3769187" cy="1423237"/>
          </a:xfrm>
          <a:prstGeom prst="rect">
            <a:avLst/>
          </a:prstGeom>
        </p:spPr>
      </p:pic>
      <p:pic>
        <p:nvPicPr>
          <p:cNvPr id="16" name="Original source malaysia scene. Same temple/karst bay, pagoda/lake, or Petronas skyline framing, lighting and composition. No card/title screenshot."/>
          <p:cNvPicPr/>
          <p:nvPr/>
        </p:nvPicPr>
        <p:blipFill>
          <a:blip r:embed="rId14"/>
          <a:stretch>
            <a:fillRect/>
          </a:stretch>
        </p:blipFill>
        <p:spPr>
          <a:xfrm>
            <a:off x="8019161" y="2639330"/>
            <a:ext cx="4000921" cy="1423237"/>
          </a:xfrm>
          <a:prstGeom prst="rect">
            <a:avLst/>
          </a:prstGeom>
        </p:spPr>
      </p:pic>
      <p:sp>
        <p:nvSpPr>
          <p:cNvPr id="17" name="Path 17"/>
          <p:cNvSpPr/>
          <p:nvPr/>
        </p:nvSpPr>
        <p:spPr>
          <a:xfrm>
            <a:off x="355591" y="2705118"/>
            <a:ext cx="152396" cy="1523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cubicBezTo>
                  <a:pt x="9720" y="0"/>
                  <a:pt x="0" y="9720"/>
                  <a:pt x="0" y="21600"/>
                </a:cubicBezTo>
                <a:close/>
              </a:path>
            </a:pathLst>
          </a:custGeom>
          <a:solidFill>
            <a:srgbClr val="EFF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ath 18"/>
          <p:cNvSpPr/>
          <p:nvPr/>
        </p:nvSpPr>
        <p:spPr>
          <a:xfrm>
            <a:off x="4013100" y="2705118"/>
            <a:ext cx="152396" cy="1523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cubicBezTo>
                  <a:pt x="21600" y="9720"/>
                  <a:pt x="11880" y="0"/>
                  <a:pt x="0" y="0"/>
                </a:cubicBezTo>
                <a:close/>
              </a:path>
            </a:pathLst>
          </a:custGeom>
          <a:solidFill>
            <a:srgbClr val="EFF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4279793" y="2705118"/>
            <a:ext cx="152396" cy="1523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cubicBezTo>
                  <a:pt x="9720" y="0"/>
                  <a:pt x="0" y="9720"/>
                  <a:pt x="0" y="21600"/>
                </a:cubicBezTo>
                <a:close/>
              </a:path>
            </a:pathLst>
          </a:custGeom>
          <a:solidFill>
            <a:srgbClr val="EFF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7797605" y="2705118"/>
            <a:ext cx="152396" cy="1523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cubicBezTo>
                  <a:pt x="21600" y="9720"/>
                  <a:pt x="11880" y="0"/>
                  <a:pt x="0" y="0"/>
                </a:cubicBezTo>
                <a:close/>
              </a:path>
            </a:pathLst>
          </a:custGeom>
          <a:solidFill>
            <a:srgbClr val="EFF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ath 21"/>
          <p:cNvSpPr/>
          <p:nvPr/>
        </p:nvSpPr>
        <p:spPr>
          <a:xfrm>
            <a:off x="8089698" y="2705118"/>
            <a:ext cx="152396" cy="1523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cubicBezTo>
                  <a:pt x="9720" y="0"/>
                  <a:pt x="0" y="9720"/>
                  <a:pt x="0" y="21600"/>
                </a:cubicBezTo>
                <a:close/>
              </a:path>
            </a:pathLst>
          </a:custGeom>
          <a:solidFill>
            <a:srgbClr val="EFF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ath 22"/>
          <p:cNvSpPr/>
          <p:nvPr/>
        </p:nvSpPr>
        <p:spPr>
          <a:xfrm>
            <a:off x="11747206" y="2705118"/>
            <a:ext cx="152396" cy="1523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cubicBezTo>
                  <a:pt x="21600" y="9720"/>
                  <a:pt x="11880" y="0"/>
                  <a:pt x="0" y="0"/>
                </a:cubicBezTo>
                <a:close/>
              </a:path>
            </a:pathLst>
          </a:custGeom>
          <a:solidFill>
            <a:srgbClr val="EFF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355591" y="2705118"/>
            <a:ext cx="3809905" cy="2946326"/>
          </a:xfrm>
          <a:prstGeom prst="roundRect">
            <a:avLst>
              <a:gd name="adj" fmla="val 5172"/>
            </a:avLst>
          </a:prstGeom>
          <a:noFill/>
          <a:ln w="10160">
            <a:solidFill>
              <a:srgbClr val="ADD9BE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4279793" y="2705118"/>
            <a:ext cx="3670208" cy="2946326"/>
          </a:xfrm>
          <a:prstGeom prst="roundRect">
            <a:avLst>
              <a:gd name="adj" fmla="val 5172"/>
            </a:avLst>
          </a:prstGeom>
          <a:noFill/>
          <a:ln w="10160">
            <a:solidFill>
              <a:srgbClr val="ADD9BE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8089698" y="2705118"/>
            <a:ext cx="3809905" cy="2946326"/>
          </a:xfrm>
          <a:prstGeom prst="roundRect">
            <a:avLst>
              <a:gd name="adj" fmla="val 5172"/>
            </a:avLst>
          </a:prstGeom>
          <a:noFill/>
          <a:ln w="10160">
            <a:solidFill>
              <a:srgbClr val="ADD9BE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520687" y="3898888"/>
            <a:ext cx="3479713" cy="1181070"/>
          </a:xfrm>
          <a:prstGeom prst="roundRect">
            <a:avLst>
              <a:gd name="adj" fmla="val 10753"/>
            </a:avLst>
          </a:prstGeom>
          <a:solidFill>
            <a:srgbClr val="FAFF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4444889" y="3898888"/>
            <a:ext cx="3340016" cy="1181070"/>
          </a:xfrm>
          <a:prstGeom prst="roundRect">
            <a:avLst>
              <a:gd name="adj" fmla="val 10753"/>
            </a:avLst>
          </a:prstGeom>
          <a:solidFill>
            <a:srgbClr val="FAFF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8254794" y="3898888"/>
            <a:ext cx="3479713" cy="1181070"/>
          </a:xfrm>
          <a:prstGeom prst="roundRect">
            <a:avLst>
              <a:gd name="adj" fmla="val 10753"/>
            </a:avLst>
          </a:prstGeom>
          <a:solidFill>
            <a:srgbClr val="FAFFF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634984" y="3936987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2374841" y="3936987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634984" y="4521173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2374841" y="4521173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4559186" y="3936987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6222844" y="3936987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4559186" y="4521173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6" name="Ellipse 36"/>
          <p:cNvSpPr/>
          <p:nvPr/>
        </p:nvSpPr>
        <p:spPr>
          <a:xfrm>
            <a:off x="6222844" y="4521173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7" name="Ellipse 37"/>
          <p:cNvSpPr/>
          <p:nvPr/>
        </p:nvSpPr>
        <p:spPr>
          <a:xfrm>
            <a:off x="8330992" y="3936987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8" name="Ellipse 38"/>
          <p:cNvSpPr/>
          <p:nvPr/>
        </p:nvSpPr>
        <p:spPr>
          <a:xfrm>
            <a:off x="9969251" y="3936987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8330992" y="4521173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40" name="Ellipse 40"/>
          <p:cNvSpPr/>
          <p:nvPr/>
        </p:nvSpPr>
        <p:spPr>
          <a:xfrm>
            <a:off x="9969251" y="4521173"/>
            <a:ext cx="444489" cy="444489"/>
          </a:xfrm>
          <a:prstGeom prst="ellipse">
            <a:avLst/>
          </a:prstGeom>
          <a:solidFill>
            <a:srgbClr val="EAF9ED"/>
          </a:solidFill>
          <a:ln w="6350">
            <a:solidFill>
              <a:srgbClr val="9EDDB4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571486" y="4457674"/>
            <a:ext cx="3365416" cy="0"/>
          </a:xfrm>
          <a:prstGeom prst="line">
            <a:avLst/>
          </a:prstGeom>
          <a:noFill/>
          <a:ln w="6350">
            <a:solidFill>
              <a:srgbClr val="C6DFCE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2247844" y="3975086"/>
            <a:ext cx="0" cy="977876"/>
          </a:xfrm>
          <a:prstGeom prst="line">
            <a:avLst/>
          </a:prstGeom>
          <a:noFill/>
          <a:ln w="6350">
            <a:solidFill>
              <a:srgbClr val="D4E4D8"/>
            </a:solidFill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927077" y="5105358"/>
            <a:ext cx="2743131" cy="406390"/>
          </a:xfrm>
          <a:prstGeom prst="roundRect">
            <a:avLst>
              <a:gd name="adj" fmla="val 50000"/>
            </a:avLst>
          </a:prstGeom>
          <a:solidFill>
            <a:srgbClr val="087A3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4495688" y="4457674"/>
            <a:ext cx="3225719" cy="0"/>
          </a:xfrm>
          <a:prstGeom prst="line">
            <a:avLst/>
          </a:prstGeom>
          <a:noFill/>
          <a:ln w="6350">
            <a:solidFill>
              <a:srgbClr val="C6DFCE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6172046" y="3975086"/>
            <a:ext cx="0" cy="977876"/>
          </a:xfrm>
          <a:prstGeom prst="line">
            <a:avLst/>
          </a:prstGeom>
          <a:noFill/>
          <a:ln w="6350">
            <a:solidFill>
              <a:srgbClr val="D4E4D8"/>
            </a:solidFill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4851279" y="5105358"/>
            <a:ext cx="2603435" cy="406390"/>
          </a:xfrm>
          <a:prstGeom prst="roundRect">
            <a:avLst>
              <a:gd name="adj" fmla="val 50000"/>
            </a:avLst>
          </a:prstGeom>
          <a:solidFill>
            <a:srgbClr val="087A3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8305592" y="4457674"/>
            <a:ext cx="3365416" cy="0"/>
          </a:xfrm>
          <a:prstGeom prst="line">
            <a:avLst/>
          </a:prstGeom>
          <a:noFill/>
          <a:ln w="6350">
            <a:solidFill>
              <a:srgbClr val="C6DFCE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9981950" y="3975086"/>
            <a:ext cx="0" cy="977876"/>
          </a:xfrm>
          <a:prstGeom prst="line">
            <a:avLst/>
          </a:prstGeom>
          <a:noFill/>
          <a:ln w="6350">
            <a:solidFill>
              <a:srgbClr val="D4E4D8"/>
            </a:solidFill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8661183" y="5105358"/>
            <a:ext cx="2743131" cy="406390"/>
          </a:xfrm>
          <a:prstGeom prst="roundRect">
            <a:avLst>
              <a:gd name="adj" fmla="val 50000"/>
            </a:avLst>
          </a:prstGeom>
          <a:solidFill>
            <a:srgbClr val="087A3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Ellipse 50"/>
          <p:cNvSpPr/>
          <p:nvPr/>
        </p:nvSpPr>
        <p:spPr>
          <a:xfrm>
            <a:off x="2451039" y="5791141"/>
            <a:ext cx="571486" cy="571486"/>
          </a:xfrm>
          <a:prstGeom prst="ellipse">
            <a:avLst/>
          </a:prstGeom>
          <a:solidFill>
            <a:srgbClr val="EAF9ED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5092573" y="5791141"/>
            <a:ext cx="571486" cy="571486"/>
          </a:xfrm>
          <a:prstGeom prst="ellipse">
            <a:avLst/>
          </a:prstGeom>
          <a:solidFill>
            <a:srgbClr val="EAF9ED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2" name="Ellipse 52"/>
          <p:cNvSpPr/>
          <p:nvPr/>
        </p:nvSpPr>
        <p:spPr>
          <a:xfrm>
            <a:off x="7543611" y="5791141"/>
            <a:ext cx="571486" cy="571486"/>
          </a:xfrm>
          <a:prstGeom prst="ellipse">
            <a:avLst/>
          </a:prstGeom>
          <a:solidFill>
            <a:srgbClr val="EAF9ED"/>
          </a:solidFill>
          <a:ln w="63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3" name="Path 53"/>
          <p:cNvSpPr/>
          <p:nvPr/>
        </p:nvSpPr>
        <p:spPr>
          <a:xfrm>
            <a:off x="482588" y="3479799"/>
            <a:ext cx="2108147" cy="2793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41" y="0"/>
                </a:moveTo>
                <a:lnTo>
                  <a:pt x="21600" y="0"/>
                </a:lnTo>
                <a:lnTo>
                  <a:pt x="2055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8347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Path 54"/>
          <p:cNvSpPr/>
          <p:nvPr/>
        </p:nvSpPr>
        <p:spPr>
          <a:xfrm>
            <a:off x="4406790" y="3479799"/>
            <a:ext cx="2044649" cy="2793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73" y="0"/>
                </a:moveTo>
                <a:lnTo>
                  <a:pt x="21600" y="0"/>
                </a:lnTo>
                <a:lnTo>
                  <a:pt x="2052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8347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Path 55"/>
          <p:cNvSpPr/>
          <p:nvPr/>
        </p:nvSpPr>
        <p:spPr>
          <a:xfrm>
            <a:off x="8216695" y="3479799"/>
            <a:ext cx="2044649" cy="2793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73" y="0"/>
                </a:moveTo>
                <a:lnTo>
                  <a:pt x="21600" y="0"/>
                </a:lnTo>
                <a:lnTo>
                  <a:pt x="2052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68347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Path 56"/>
          <p:cNvSpPr/>
          <p:nvPr/>
        </p:nvSpPr>
        <p:spPr>
          <a:xfrm>
            <a:off x="482588" y="3479799"/>
            <a:ext cx="190495" cy="2793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520" y="0"/>
                </a:moveTo>
                <a:lnTo>
                  <a:pt x="21600" y="0"/>
                </a:lnTo>
                <a:lnTo>
                  <a:pt x="100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4D26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Path 57"/>
          <p:cNvSpPr/>
          <p:nvPr/>
        </p:nvSpPr>
        <p:spPr>
          <a:xfrm>
            <a:off x="4406790" y="3479799"/>
            <a:ext cx="190495" cy="2793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520" y="0"/>
                </a:moveTo>
                <a:lnTo>
                  <a:pt x="21600" y="0"/>
                </a:lnTo>
                <a:lnTo>
                  <a:pt x="100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4D26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Path 58"/>
          <p:cNvSpPr/>
          <p:nvPr/>
        </p:nvSpPr>
        <p:spPr>
          <a:xfrm>
            <a:off x="8216695" y="3479799"/>
            <a:ext cx="190495" cy="2793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520" y="0"/>
                </a:moveTo>
                <a:lnTo>
                  <a:pt x="21600" y="0"/>
                </a:lnTo>
                <a:lnTo>
                  <a:pt x="1008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4D26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9" name="Original source floating-left-leaf leaf artwork separated by image editing, without ordinary text/numeral strokes."/>
          <p:cNvPicPr/>
          <p:nvPr/>
        </p:nvPicPr>
        <p:blipFill>
          <a:blip r:embed="rId4"/>
          <a:stretch>
            <a:fillRect/>
          </a:stretch>
        </p:blipFill>
        <p:spPr>
          <a:xfrm>
            <a:off x="1031477" y="1431455"/>
            <a:ext cx="794475" cy="693172"/>
          </a:xfrm>
          <a:prstGeom prst="rect">
            <a:avLst/>
          </a:prstGeom>
        </p:spPr>
      </p:pic>
      <p:pic>
        <p:nvPicPr>
          <p:cNvPr id="60" name="Original source floating-right-leaf leaf artwork separated by image editing, without ordinary text/numeral strokes."/>
          <p:cNvPicPr/>
          <p:nvPr/>
        </p:nvPicPr>
        <p:blipFill>
          <a:blip r:embed="rId5"/>
          <a:stretch>
            <a:fillRect/>
          </a:stretch>
        </p:blipFill>
        <p:spPr>
          <a:xfrm>
            <a:off x="10241955" y="374442"/>
            <a:ext cx="902356" cy="902246"/>
          </a:xfrm>
          <a:prstGeom prst="rect">
            <a:avLst/>
          </a:prstGeom>
        </p:spPr>
      </p:pic>
      <p:pic>
        <p:nvPicPr>
          <p:cNvPr id="61" name="Original source database semantic pictogram, complete and separate, with source color and internal cutouts."/>
          <p:cNvPicPr/>
          <p:nvPr/>
        </p:nvPicPr>
        <p:blipFill>
          <a:blip r:embed="rId18"/>
          <a:stretch>
            <a:fillRect/>
          </a:stretch>
        </p:blipFill>
        <p:spPr>
          <a:xfrm>
            <a:off x="699934" y="3973421"/>
            <a:ext cx="314589" cy="371622"/>
          </a:xfrm>
          <a:prstGeom prst="rect">
            <a:avLst/>
          </a:prstGeom>
        </p:spPr>
      </p:pic>
      <p:pic>
        <p:nvPicPr>
          <p:cNvPr id="62" name="Original source climate-sprout semantic pictogram, complete and separate, with source color and internal cutouts."/>
          <p:cNvPicPr/>
          <p:nvPr/>
        </p:nvPicPr>
        <p:blipFill>
          <a:blip r:embed="rId19"/>
          <a:stretch>
            <a:fillRect/>
          </a:stretch>
        </p:blipFill>
        <p:spPr>
          <a:xfrm>
            <a:off x="2450531" y="3968534"/>
            <a:ext cx="318508" cy="372093"/>
          </a:xfrm>
          <a:prstGeom prst="rect">
            <a:avLst/>
          </a:prstGeom>
        </p:spPr>
      </p:pic>
      <p:pic>
        <p:nvPicPr>
          <p:cNvPr id="63" name="Original source warehouse semantic pictogram, complete and separate, with source color and internal cutouts."/>
          <p:cNvPicPr/>
          <p:nvPr/>
        </p:nvPicPr>
        <p:blipFill>
          <a:blip r:embed="rId20"/>
          <a:stretch>
            <a:fillRect/>
          </a:stretch>
        </p:blipFill>
        <p:spPr>
          <a:xfrm>
            <a:off x="692742" y="4559272"/>
            <a:ext cx="354373" cy="368291"/>
          </a:xfrm>
          <a:prstGeom prst="rect">
            <a:avLst/>
          </a:prstGeom>
        </p:spPr>
      </p:pic>
      <p:pic>
        <p:nvPicPr>
          <p:cNvPr id="64" name="Original source document semantic pictogram, complete and separate, with source color and internal cutouts."/>
          <p:cNvPicPr/>
          <p:nvPr/>
        </p:nvPicPr>
        <p:blipFill>
          <a:blip r:embed="rId21"/>
          <a:stretch>
            <a:fillRect/>
          </a:stretch>
        </p:blipFill>
        <p:spPr>
          <a:xfrm>
            <a:off x="2453412" y="4558884"/>
            <a:ext cx="312745" cy="381766"/>
          </a:xfrm>
          <a:prstGeom prst="rect">
            <a:avLst/>
          </a:prstGeom>
        </p:spPr>
      </p:pic>
      <p:pic>
        <p:nvPicPr>
          <p:cNvPr id="65" name="Original source growth semantic pictogram, complete and separate, with source color and internal cutouts."/>
          <p:cNvPicPr/>
          <p:nvPr/>
        </p:nvPicPr>
        <p:blipFill>
          <a:blip r:embed="rId22"/>
          <a:stretch>
            <a:fillRect/>
          </a:stretch>
        </p:blipFill>
        <p:spPr>
          <a:xfrm>
            <a:off x="4602978" y="3997509"/>
            <a:ext cx="395004" cy="360155"/>
          </a:xfrm>
          <a:prstGeom prst="rect">
            <a:avLst/>
          </a:prstGeom>
        </p:spPr>
      </p:pic>
      <p:pic>
        <p:nvPicPr>
          <p:cNvPr id="66" name="Original source palm semantic pictogram, complete and separate, with source color and internal cutouts."/>
          <p:cNvPicPr/>
          <p:nvPr/>
        </p:nvPicPr>
        <p:blipFill>
          <a:blip r:embed="rId23"/>
          <a:stretch>
            <a:fillRect/>
          </a:stretch>
        </p:blipFill>
        <p:spPr>
          <a:xfrm>
            <a:off x="6277707" y="3999373"/>
            <a:ext cx="385562" cy="346692"/>
          </a:xfrm>
          <a:prstGeom prst="rect">
            <a:avLst/>
          </a:prstGeom>
        </p:spPr>
      </p:pic>
      <p:pic>
        <p:nvPicPr>
          <p:cNvPr id="67" name="Original source flask semantic pictogram, complete and separate, with source color and internal cutouts."/>
          <p:cNvPicPr/>
          <p:nvPr/>
        </p:nvPicPr>
        <p:blipFill>
          <a:blip r:embed="rId24"/>
          <a:stretch>
            <a:fillRect/>
          </a:stretch>
        </p:blipFill>
        <p:spPr>
          <a:xfrm>
            <a:off x="4639292" y="4571385"/>
            <a:ext cx="322377" cy="365360"/>
          </a:xfrm>
          <a:prstGeom prst="rect">
            <a:avLst/>
          </a:prstGeom>
        </p:spPr>
      </p:pic>
      <p:pic>
        <p:nvPicPr>
          <p:cNvPr id="68" name="Original source mulch-roll semantic pictogram, complete and separate, with source color and internal cutouts."/>
          <p:cNvPicPr/>
          <p:nvPr/>
        </p:nvPicPr>
        <p:blipFill>
          <a:blip r:embed="rId25"/>
          <a:stretch>
            <a:fillRect/>
          </a:stretch>
        </p:blipFill>
        <p:spPr>
          <a:xfrm>
            <a:off x="6260228" y="4578671"/>
            <a:ext cx="407821" cy="356991"/>
          </a:xfrm>
          <a:prstGeom prst="rect">
            <a:avLst/>
          </a:prstGeom>
        </p:spPr>
      </p:pic>
      <p:pic>
        <p:nvPicPr>
          <p:cNvPr id="69" name="Original source diamond semantic pictogram, complete and separate, with source color and internal cutouts."/>
          <p:cNvPicPr/>
          <p:nvPr/>
        </p:nvPicPr>
        <p:blipFill>
          <a:blip r:embed="rId26"/>
          <a:stretch>
            <a:fillRect/>
          </a:stretch>
        </p:blipFill>
        <p:spPr>
          <a:xfrm>
            <a:off x="8370867" y="3976016"/>
            <a:ext cx="390138" cy="368601"/>
          </a:xfrm>
          <a:prstGeom prst="rect">
            <a:avLst/>
          </a:prstGeom>
        </p:spPr>
      </p:pic>
      <p:pic>
        <p:nvPicPr>
          <p:cNvPr id="70" name="Original source organic-leaf semantic pictogram, complete and separate, with source color and internal cutouts."/>
          <p:cNvPicPr/>
          <p:nvPr/>
        </p:nvPicPr>
        <p:blipFill>
          <a:blip r:embed="rId27"/>
          <a:stretch>
            <a:fillRect/>
          </a:stretch>
        </p:blipFill>
        <p:spPr>
          <a:xfrm>
            <a:off x="10050796" y="4011422"/>
            <a:ext cx="306798" cy="349241"/>
          </a:xfrm>
          <a:prstGeom prst="rect">
            <a:avLst/>
          </a:prstGeom>
        </p:spPr>
      </p:pic>
      <p:pic>
        <p:nvPicPr>
          <p:cNvPr id="71" name="Original source certificate semantic pictogram, complete and separate, with source color and internal cutouts."/>
          <p:cNvPicPr/>
          <p:nvPr/>
        </p:nvPicPr>
        <p:blipFill>
          <a:blip r:embed="rId28"/>
          <a:stretch>
            <a:fillRect/>
          </a:stretch>
        </p:blipFill>
        <p:spPr>
          <a:xfrm>
            <a:off x="8407984" y="4569236"/>
            <a:ext cx="366703" cy="371808"/>
          </a:xfrm>
          <a:prstGeom prst="rect">
            <a:avLst/>
          </a:prstGeom>
        </p:spPr>
      </p:pic>
      <p:pic>
        <p:nvPicPr>
          <p:cNvPr id="72" name="Original source sun semantic pictogram, complete and separate, with source color and internal cutouts."/>
          <p:cNvPicPr/>
          <p:nvPr/>
        </p:nvPicPr>
        <p:blipFill>
          <a:blip r:embed="rId29"/>
          <a:stretch>
            <a:fillRect/>
          </a:stretch>
        </p:blipFill>
        <p:spPr>
          <a:xfrm>
            <a:off x="10030091" y="4582306"/>
            <a:ext cx="373607" cy="346833"/>
          </a:xfrm>
          <a:prstGeom prst="rect">
            <a:avLst/>
          </a:prstGeom>
        </p:spPr>
      </p:pic>
      <p:pic>
        <p:nvPicPr>
          <p:cNvPr id="73" name="Original source target semantic pictogram, complete and separate, with source color and internal cutouts."/>
          <p:cNvPicPr/>
          <p:nvPr/>
        </p:nvPicPr>
        <p:blipFill>
          <a:blip r:embed="rId30"/>
          <a:stretch>
            <a:fillRect/>
          </a:stretch>
        </p:blipFill>
        <p:spPr>
          <a:xfrm>
            <a:off x="1037354" y="5100538"/>
            <a:ext cx="427130" cy="428730"/>
          </a:xfrm>
          <a:prstGeom prst="rect">
            <a:avLst/>
          </a:prstGeom>
        </p:spPr>
      </p:pic>
      <p:pic>
        <p:nvPicPr>
          <p:cNvPr id="74" name="Original source handshake semantic pictogram, complete and separate, with source color and internal cutouts."/>
          <p:cNvPicPr/>
          <p:nvPr/>
        </p:nvPicPr>
        <p:blipFill>
          <a:blip r:embed="rId31"/>
          <a:stretch>
            <a:fillRect/>
          </a:stretch>
        </p:blipFill>
        <p:spPr>
          <a:xfrm>
            <a:off x="5020896" y="5126594"/>
            <a:ext cx="460846" cy="382448"/>
          </a:xfrm>
          <a:prstGeom prst="rect">
            <a:avLst/>
          </a:prstGeom>
        </p:spPr>
      </p:pic>
      <p:pic>
        <p:nvPicPr>
          <p:cNvPr id="75" name="Original source globe semantic pictogram, complete and separate, with source color and internal cutouts."/>
          <p:cNvPicPr/>
          <p:nvPr/>
        </p:nvPicPr>
        <p:blipFill>
          <a:blip r:embed="rId32"/>
          <a:stretch>
            <a:fillRect/>
          </a:stretch>
        </p:blipFill>
        <p:spPr>
          <a:xfrm>
            <a:off x="8757137" y="5103178"/>
            <a:ext cx="430378" cy="414635"/>
          </a:xfrm>
          <a:prstGeom prst="rect">
            <a:avLst/>
          </a:prstGeom>
        </p:spPr>
      </p:pic>
      <p:pic>
        <p:nvPicPr>
          <p:cNvPr id="76" name="Original source bottom-leaf semantic pictogram, complete and separate, with source color and internal cutouts."/>
          <p:cNvPicPr/>
          <p:nvPr/>
        </p:nvPicPr>
        <p:blipFill>
          <a:blip r:embed="rId33"/>
          <a:stretch>
            <a:fillRect/>
          </a:stretch>
        </p:blipFill>
        <p:spPr>
          <a:xfrm>
            <a:off x="2527126" y="5894885"/>
            <a:ext cx="432010" cy="395300"/>
          </a:xfrm>
          <a:prstGeom prst="rect">
            <a:avLst/>
          </a:prstGeom>
        </p:spPr>
      </p:pic>
      <p:pic>
        <p:nvPicPr>
          <p:cNvPr id="77" name="Original source bottom-seedling semantic pictogram, complete and separate, with source color and internal cutouts."/>
          <p:cNvPicPr/>
          <p:nvPr/>
        </p:nvPicPr>
        <p:blipFill>
          <a:blip r:embed="rId34"/>
          <a:stretch>
            <a:fillRect/>
          </a:stretch>
        </p:blipFill>
        <p:spPr>
          <a:xfrm>
            <a:off x="5173749" y="5878515"/>
            <a:ext cx="421833" cy="433212"/>
          </a:xfrm>
          <a:prstGeom prst="rect">
            <a:avLst/>
          </a:prstGeom>
        </p:spPr>
      </p:pic>
      <p:pic>
        <p:nvPicPr>
          <p:cNvPr id="78" name="Original source bottom-growth semantic pictogram, complete and separate, with source color and internal cutouts."/>
          <p:cNvPicPr/>
          <p:nvPr/>
        </p:nvPicPr>
        <p:blipFill>
          <a:blip r:embed="rId35"/>
          <a:stretch>
            <a:fillRect/>
          </a:stretch>
        </p:blipFill>
        <p:spPr>
          <a:xfrm>
            <a:off x="7620247" y="5887182"/>
            <a:ext cx="430913" cy="423058"/>
          </a:xfrm>
          <a:prstGeom prst="rect">
            <a:avLst/>
          </a:prstGeom>
        </p:spPr>
      </p:pic>
      <p:pic>
        <p:nvPicPr>
          <p:cNvPr id="79" name="Original source floating-right-leaf leaf artwork separated by image editing, without ordinary text/numeral strokes."/>
          <p:cNvPicPr/>
          <p:nvPr/>
        </p:nvPicPr>
        <p:blipFill>
          <a:blip r:embed="rId9"/>
          <a:stretch>
            <a:fillRect/>
          </a:stretch>
        </p:blipFill>
        <p:spPr>
          <a:xfrm>
            <a:off x="1314659" y="2673464"/>
            <a:ext cx="329707" cy="418900"/>
          </a:xfrm>
          <a:prstGeom prst="rect">
            <a:avLst/>
          </a:prstGeom>
        </p:spPr>
      </p:pic>
      <p:pic>
        <p:nvPicPr>
          <p:cNvPr id="80" name="Original source floating-right-leaf leaf artwork separated by image editing, without ordinary text/numeral strokes."/>
          <p:cNvPicPr/>
          <p:nvPr/>
        </p:nvPicPr>
        <p:blipFill>
          <a:blip r:embed="rId13"/>
          <a:stretch>
            <a:fillRect/>
          </a:stretch>
        </p:blipFill>
        <p:spPr>
          <a:xfrm>
            <a:off x="5238861" y="2673464"/>
            <a:ext cx="329707" cy="418900"/>
          </a:xfrm>
          <a:prstGeom prst="rect">
            <a:avLst/>
          </a:prstGeom>
        </p:spPr>
      </p:pic>
      <p:pic>
        <p:nvPicPr>
          <p:cNvPr id="81" name="Original source floating-right-leaf leaf artwork separated by image editing, without ordinary text/numeral strokes."/>
          <p:cNvPicPr/>
          <p:nvPr/>
        </p:nvPicPr>
        <p:blipFill>
          <a:blip r:embed="rId17"/>
          <a:stretch>
            <a:fillRect/>
          </a:stretch>
        </p:blipFill>
        <p:spPr>
          <a:xfrm>
            <a:off x="9048766" y="2673464"/>
            <a:ext cx="329707" cy="418900"/>
          </a:xfrm>
          <a:prstGeom prst="rect">
            <a:avLst/>
          </a:prstGeom>
        </p:spPr>
      </p:pic>
      <p:pic>
        <p:nvPicPr>
          <p:cNvPr id="82" name="Original source paired-leaves leaf artwork separated by image editing, without ordinary text/numeral strokes."/>
          <p:cNvPicPr/>
          <p:nvPr/>
        </p:nvPicPr>
        <p:blipFill>
          <a:blip r:embed="rId7"/>
          <a:stretch>
            <a:fillRect/>
          </a:stretch>
        </p:blipFill>
        <p:spPr>
          <a:xfrm>
            <a:off x="335366" y="5069799"/>
            <a:ext cx="510339" cy="464808"/>
          </a:xfrm>
          <a:prstGeom prst="rect">
            <a:avLst/>
          </a:prstGeom>
        </p:spPr>
      </p:pic>
      <p:pic>
        <p:nvPicPr>
          <p:cNvPr id="83" name="Original source paired-leaves leaf artwork separated by image editing, without ordinary text/numeral strokes."/>
          <p:cNvPicPr/>
          <p:nvPr/>
        </p:nvPicPr>
        <p:blipFill>
          <a:blip r:embed="rId8"/>
          <a:stretch>
            <a:fillRect/>
          </a:stretch>
        </p:blipFill>
        <p:spPr>
          <a:xfrm>
            <a:off x="3671619" y="4837964"/>
            <a:ext cx="543264" cy="673171"/>
          </a:xfrm>
          <a:prstGeom prst="rect">
            <a:avLst/>
          </a:prstGeom>
        </p:spPr>
      </p:pic>
      <p:pic>
        <p:nvPicPr>
          <p:cNvPr id="84" name="Original source paired-leaves leaf artwork separated by image editing, without ordinary text/numeral strokes."/>
          <p:cNvPicPr/>
          <p:nvPr/>
        </p:nvPicPr>
        <p:blipFill>
          <a:blip r:embed="rId11"/>
          <a:stretch>
            <a:fillRect/>
          </a:stretch>
        </p:blipFill>
        <p:spPr>
          <a:xfrm>
            <a:off x="4259568" y="5069799"/>
            <a:ext cx="510339" cy="464808"/>
          </a:xfrm>
          <a:prstGeom prst="rect">
            <a:avLst/>
          </a:prstGeom>
        </p:spPr>
      </p:pic>
      <p:pic>
        <p:nvPicPr>
          <p:cNvPr id="85" name="Original source paired-leaves leaf artwork separated by image editing, without ordinary text/numeral strokes."/>
          <p:cNvPicPr/>
          <p:nvPr/>
        </p:nvPicPr>
        <p:blipFill>
          <a:blip r:embed="rId12"/>
          <a:stretch>
            <a:fillRect/>
          </a:stretch>
        </p:blipFill>
        <p:spPr>
          <a:xfrm>
            <a:off x="7456125" y="4837964"/>
            <a:ext cx="543264" cy="673171"/>
          </a:xfrm>
          <a:prstGeom prst="rect">
            <a:avLst/>
          </a:prstGeom>
        </p:spPr>
      </p:pic>
      <p:pic>
        <p:nvPicPr>
          <p:cNvPr id="86" name="Original source paired-leaves leaf artwork separated by image editing, without ordinary text/numeral strokes."/>
          <p:cNvPicPr/>
          <p:nvPr/>
        </p:nvPicPr>
        <p:blipFill>
          <a:blip r:embed="rId15"/>
          <a:stretch>
            <a:fillRect/>
          </a:stretch>
        </p:blipFill>
        <p:spPr>
          <a:xfrm>
            <a:off x="8069472" y="5069799"/>
            <a:ext cx="510339" cy="464808"/>
          </a:xfrm>
          <a:prstGeom prst="rect">
            <a:avLst/>
          </a:prstGeom>
        </p:spPr>
      </p:pic>
      <p:pic>
        <p:nvPicPr>
          <p:cNvPr id="87" name="Original source paired-leaves leaf artwork separated by image editing, without ordinary text/numeral strokes."/>
          <p:cNvPicPr/>
          <p:nvPr/>
        </p:nvPicPr>
        <p:blipFill>
          <a:blip r:embed="rId16"/>
          <a:stretch>
            <a:fillRect/>
          </a:stretch>
        </p:blipFill>
        <p:spPr>
          <a:xfrm>
            <a:off x="11405726" y="4837964"/>
            <a:ext cx="543264" cy="673171"/>
          </a:xfrm>
          <a:prstGeom prst="rect">
            <a:avLst/>
          </a:prstGeom>
        </p:spPr>
      </p:pic>
      <p:sp>
        <p:nvSpPr>
          <p:cNvPr id="88" name="TextBox 88"/>
          <p:cNvSpPr txBox="1"/>
          <p:nvPr/>
        </p:nvSpPr>
        <p:spPr>
          <a:xfrm>
            <a:off x="888978" y="342977"/>
            <a:ext cx="1219170" cy="4698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新市场</a:t>
            </a:r>
            <a:endParaRPr lang="zh-CN" sz="2850"/>
          </a:p>
        </p:txBody>
      </p:sp>
      <p:sp>
        <p:nvSpPr>
          <p:cNvPr id="89" name="TextBox 89"/>
          <p:cNvSpPr txBox="1"/>
          <p:nvPr/>
        </p:nvSpPr>
        <p:spPr>
          <a:xfrm>
            <a:off x="2095448" y="342977"/>
            <a:ext cx="1777956" cy="4698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50" b="1" i="1">
                <a:solidFill>
                  <a:srgbClr val="F2D985"/>
                </a:solidFill>
                <a:latin typeface="Microsoft YaHei"/>
                <a:ea typeface="Microsoft YaHei"/>
                <a:cs typeface="Microsoft YaHei"/>
              </a:rPr>
              <a:t>拓展计划</a:t>
            </a:r>
            <a:endParaRPr lang="zh-CN" sz="2850"/>
          </a:p>
        </p:txBody>
      </p:sp>
      <p:sp>
        <p:nvSpPr>
          <p:cNvPr id="90" name="TextBox 90"/>
          <p:cNvSpPr txBox="1"/>
          <p:nvPr/>
        </p:nvSpPr>
        <p:spPr>
          <a:xfrm>
            <a:off x="4508387" y="393776"/>
            <a:ext cx="3682908" cy="3936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>
                <a:solidFill>
                  <a:srgbClr val="005F32"/>
                </a:solidFill>
                <a:latin typeface="KaiTi"/>
                <a:ea typeface="KaiTi"/>
                <a:cs typeface="KaiTi"/>
              </a:rPr>
              <a:t>以泰国为标杆 · RCEP分层布局</a:t>
            </a:r>
            <a:endParaRPr lang="zh-CN" sz="2000"/>
          </a:p>
        </p:txBody>
      </p:sp>
      <p:sp>
        <p:nvSpPr>
          <p:cNvPr id="91" name="TextBox 91"/>
          <p:cNvSpPr txBox="1"/>
          <p:nvPr/>
        </p:nvSpPr>
        <p:spPr>
          <a:xfrm>
            <a:off x="4140096" y="1600246"/>
            <a:ext cx="698483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泰国</a:t>
            </a:r>
            <a:endParaRPr lang="zh-CN" sz="1500"/>
          </a:p>
        </p:txBody>
      </p:sp>
      <p:sp>
        <p:nvSpPr>
          <p:cNvPr id="92" name="TextBox 92"/>
          <p:cNvSpPr txBox="1"/>
          <p:nvPr/>
        </p:nvSpPr>
        <p:spPr>
          <a:xfrm>
            <a:off x="3962301" y="1841540"/>
            <a:ext cx="901677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(标杆市场)</a:t>
            </a:r>
            <a:endParaRPr lang="zh-CN" sz="1150"/>
          </a:p>
        </p:txBody>
      </p:sp>
      <p:sp>
        <p:nvSpPr>
          <p:cNvPr id="93" name="TextBox 93"/>
          <p:cNvSpPr txBox="1"/>
          <p:nvPr/>
        </p:nvSpPr>
        <p:spPr>
          <a:xfrm>
            <a:off x="6743531" y="1079559"/>
            <a:ext cx="634984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越南</a:t>
            </a:r>
            <a:endParaRPr lang="zh-CN" sz="1450"/>
          </a:p>
        </p:txBody>
      </p:sp>
      <p:sp>
        <p:nvSpPr>
          <p:cNvPr id="94" name="TextBox 94"/>
          <p:cNvSpPr txBox="1"/>
          <p:nvPr/>
        </p:nvSpPr>
        <p:spPr>
          <a:xfrm>
            <a:off x="7099123" y="2133632"/>
            <a:ext cx="1282668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印度尼西亚</a:t>
            </a:r>
            <a:endParaRPr lang="zh-CN" sz="1450"/>
          </a:p>
        </p:txBody>
      </p:sp>
      <p:sp>
        <p:nvSpPr>
          <p:cNvPr id="95" name="TextBox 95"/>
          <p:cNvSpPr txBox="1"/>
          <p:nvPr/>
        </p:nvSpPr>
        <p:spPr>
          <a:xfrm>
            <a:off x="9689858" y="1803441"/>
            <a:ext cx="1130272" cy="304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50" b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马来西亚</a:t>
            </a:r>
            <a:endParaRPr lang="zh-CN" sz="1450"/>
          </a:p>
        </p:txBody>
      </p:sp>
      <p:sp>
        <p:nvSpPr>
          <p:cNvPr id="96" name="TextBox 96"/>
          <p:cNvSpPr txBox="1"/>
          <p:nvPr/>
        </p:nvSpPr>
        <p:spPr>
          <a:xfrm>
            <a:off x="546086" y="2743217"/>
            <a:ext cx="1041374" cy="800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100" b="1" i="1">
                <a:solidFill>
                  <a:srgbClr val="087143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6100"/>
          </a:p>
        </p:txBody>
      </p:sp>
      <p:sp>
        <p:nvSpPr>
          <p:cNvPr id="97" name="TextBox 97"/>
          <p:cNvSpPr txBox="1"/>
          <p:nvPr/>
        </p:nvSpPr>
        <p:spPr>
          <a:xfrm>
            <a:off x="1638259" y="2946412"/>
            <a:ext cx="2501837" cy="4444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越南</a:t>
            </a:r>
            <a:endParaRPr lang="zh-CN" sz="2400"/>
          </a:p>
        </p:txBody>
      </p:sp>
      <p:sp>
        <p:nvSpPr>
          <p:cNvPr id="98" name="TextBox 98"/>
          <p:cNvSpPr txBox="1"/>
          <p:nvPr/>
        </p:nvSpPr>
        <p:spPr>
          <a:xfrm>
            <a:off x="736582" y="3467099"/>
            <a:ext cx="1816055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一级核心拓展市场</a:t>
            </a:r>
            <a:endParaRPr lang="zh-CN" sz="1400"/>
          </a:p>
        </p:txBody>
      </p:sp>
      <p:sp>
        <p:nvSpPr>
          <p:cNvPr id="99" name="TextBox 99"/>
          <p:cNvSpPr txBox="1"/>
          <p:nvPr/>
        </p:nvSpPr>
        <p:spPr>
          <a:xfrm>
            <a:off x="4470288" y="2743217"/>
            <a:ext cx="1041374" cy="800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100" b="1" i="1">
                <a:solidFill>
                  <a:srgbClr val="087143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6100"/>
          </a:p>
        </p:txBody>
      </p:sp>
      <p:sp>
        <p:nvSpPr>
          <p:cNvPr id="100" name="TextBox 100"/>
          <p:cNvSpPr txBox="1"/>
          <p:nvPr/>
        </p:nvSpPr>
        <p:spPr>
          <a:xfrm>
            <a:off x="5562461" y="2946412"/>
            <a:ext cx="2362141" cy="4444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印度尼西亚</a:t>
            </a:r>
            <a:endParaRPr lang="zh-CN" sz="2400"/>
          </a:p>
        </p:txBody>
      </p:sp>
      <p:sp>
        <p:nvSpPr>
          <p:cNvPr id="101" name="TextBox 101"/>
          <p:cNvSpPr txBox="1"/>
          <p:nvPr/>
        </p:nvSpPr>
        <p:spPr>
          <a:xfrm>
            <a:off x="4660783" y="3467099"/>
            <a:ext cx="1752556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二级潜力拓展市场</a:t>
            </a:r>
            <a:endParaRPr lang="zh-CN" sz="1400"/>
          </a:p>
        </p:txBody>
      </p:sp>
      <p:sp>
        <p:nvSpPr>
          <p:cNvPr id="102" name="TextBox 102"/>
          <p:cNvSpPr txBox="1"/>
          <p:nvPr/>
        </p:nvSpPr>
        <p:spPr>
          <a:xfrm>
            <a:off x="8280193" y="2743217"/>
            <a:ext cx="1041374" cy="800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100" b="1" i="1">
                <a:solidFill>
                  <a:srgbClr val="087143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6100"/>
          </a:p>
        </p:txBody>
      </p:sp>
      <p:sp>
        <p:nvSpPr>
          <p:cNvPr id="103" name="TextBox 103"/>
          <p:cNvSpPr txBox="1"/>
          <p:nvPr/>
        </p:nvSpPr>
        <p:spPr>
          <a:xfrm>
            <a:off x="9372366" y="2946412"/>
            <a:ext cx="2501837" cy="4444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马来西亚</a:t>
            </a:r>
            <a:endParaRPr lang="zh-CN" sz="2400"/>
          </a:p>
        </p:txBody>
      </p:sp>
      <p:sp>
        <p:nvSpPr>
          <p:cNvPr id="104" name="TextBox 104"/>
          <p:cNvSpPr txBox="1"/>
          <p:nvPr/>
        </p:nvSpPr>
        <p:spPr>
          <a:xfrm>
            <a:off x="8470688" y="3467099"/>
            <a:ext cx="1752556" cy="3174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三级近期培育市场</a:t>
            </a:r>
            <a:endParaRPr lang="zh-CN" sz="1400"/>
          </a:p>
        </p:txBody>
      </p:sp>
      <p:sp>
        <p:nvSpPr>
          <p:cNvPr id="105" name="TextBox 105"/>
          <p:cNvSpPr txBox="1"/>
          <p:nvPr/>
        </p:nvSpPr>
        <p:spPr>
          <a:xfrm>
            <a:off x="1168371" y="4025885"/>
            <a:ext cx="1041374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复制泰国模式</a:t>
            </a:r>
            <a:endParaRPr lang="zh-CN" sz="1150"/>
          </a:p>
        </p:txBody>
      </p:sp>
      <p:sp>
        <p:nvSpPr>
          <p:cNvPr id="106" name="TextBox 106"/>
          <p:cNvSpPr txBox="1"/>
          <p:nvPr/>
        </p:nvSpPr>
        <p:spPr>
          <a:xfrm>
            <a:off x="2908227" y="4025885"/>
            <a:ext cx="1117572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气候作物匹配</a:t>
            </a:r>
            <a:endParaRPr lang="zh-CN" sz="1150"/>
          </a:p>
        </p:txBody>
      </p:sp>
      <p:sp>
        <p:nvSpPr>
          <p:cNvPr id="107" name="TextBox 107"/>
          <p:cNvSpPr txBox="1"/>
          <p:nvPr/>
        </p:nvSpPr>
        <p:spPr>
          <a:xfrm>
            <a:off x="1168371" y="4597371"/>
            <a:ext cx="1066773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前置仓布局</a:t>
            </a:r>
            <a:endParaRPr lang="zh-CN" sz="1150"/>
          </a:p>
        </p:txBody>
      </p:sp>
      <p:sp>
        <p:nvSpPr>
          <p:cNvPr id="108" name="TextBox 108"/>
          <p:cNvSpPr txBox="1"/>
          <p:nvPr/>
        </p:nvSpPr>
        <p:spPr>
          <a:xfrm>
            <a:off x="2908227" y="4597371"/>
            <a:ext cx="1142971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适配TCV标准</a:t>
            </a:r>
            <a:endParaRPr lang="zh-CN" sz="1150"/>
          </a:p>
        </p:txBody>
      </p:sp>
      <p:sp>
        <p:nvSpPr>
          <p:cNvPr id="109" name="TextBox 109"/>
          <p:cNvSpPr txBox="1"/>
          <p:nvPr/>
        </p:nvSpPr>
        <p:spPr>
          <a:xfrm>
            <a:off x="5067173" y="4025885"/>
            <a:ext cx="1079473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重点培育市场</a:t>
            </a:r>
            <a:endParaRPr lang="zh-CN" sz="1150"/>
          </a:p>
        </p:txBody>
      </p:sp>
      <p:sp>
        <p:nvSpPr>
          <p:cNvPr id="110" name="TextBox 110"/>
          <p:cNvSpPr txBox="1"/>
          <p:nvPr/>
        </p:nvSpPr>
        <p:spPr>
          <a:xfrm>
            <a:off x="6756231" y="4025885"/>
            <a:ext cx="1104872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经济作物规模大</a:t>
            </a:r>
            <a:endParaRPr lang="zh-CN" sz="1150"/>
          </a:p>
        </p:txBody>
      </p:sp>
      <p:sp>
        <p:nvSpPr>
          <p:cNvPr id="111" name="TextBox 111"/>
          <p:cNvSpPr txBox="1"/>
          <p:nvPr/>
        </p:nvSpPr>
        <p:spPr>
          <a:xfrm>
            <a:off x="5067173" y="4597371"/>
            <a:ext cx="1092173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多地块示范试验</a:t>
            </a:r>
            <a:endParaRPr lang="zh-CN" sz="1150"/>
          </a:p>
        </p:txBody>
      </p:sp>
      <p:sp>
        <p:nvSpPr>
          <p:cNvPr id="112" name="TextBox 112"/>
          <p:cNvSpPr txBox="1"/>
          <p:nvPr/>
        </p:nvSpPr>
        <p:spPr>
          <a:xfrm>
            <a:off x="6781630" y="4521173"/>
            <a:ext cx="596885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3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150–180</a:t>
            </a:r>
            <a:endParaRPr lang="zh-CN" sz="1130"/>
          </a:p>
        </p:txBody>
      </p:sp>
      <p:sp>
        <p:nvSpPr>
          <p:cNvPr id="113" name="TextBox 113"/>
          <p:cNvSpPr txBox="1"/>
          <p:nvPr/>
        </p:nvSpPr>
        <p:spPr>
          <a:xfrm>
            <a:off x="7403915" y="4521173"/>
            <a:ext cx="190495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天</a:t>
            </a:r>
            <a:endParaRPr lang="zh-CN" sz="1150"/>
          </a:p>
        </p:txBody>
      </p:sp>
      <p:sp>
        <p:nvSpPr>
          <p:cNvPr id="114" name="TextBox 114"/>
          <p:cNvSpPr txBox="1"/>
          <p:nvPr/>
        </p:nvSpPr>
        <p:spPr>
          <a:xfrm>
            <a:off x="6781630" y="4724368"/>
            <a:ext cx="1054074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地膜产品线</a:t>
            </a:r>
            <a:endParaRPr lang="zh-CN" sz="1150"/>
          </a:p>
        </p:txBody>
      </p:sp>
      <p:sp>
        <p:nvSpPr>
          <p:cNvPr id="115" name="TextBox 115"/>
          <p:cNvSpPr txBox="1"/>
          <p:nvPr/>
        </p:nvSpPr>
        <p:spPr>
          <a:xfrm>
            <a:off x="8864378" y="4025885"/>
            <a:ext cx="1054074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高端细分市场</a:t>
            </a:r>
            <a:endParaRPr lang="zh-CN" sz="1150"/>
          </a:p>
        </p:txBody>
      </p:sp>
      <p:sp>
        <p:nvSpPr>
          <p:cNvPr id="116" name="TextBox 116"/>
          <p:cNvSpPr txBox="1"/>
          <p:nvPr/>
        </p:nvSpPr>
        <p:spPr>
          <a:xfrm>
            <a:off x="10502637" y="4025885"/>
            <a:ext cx="1092173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有机种植切入</a:t>
            </a:r>
            <a:endParaRPr lang="zh-CN" sz="1150"/>
          </a:p>
        </p:txBody>
      </p:sp>
      <p:sp>
        <p:nvSpPr>
          <p:cNvPr id="117" name="TextBox 117"/>
          <p:cNvSpPr txBox="1"/>
          <p:nvPr/>
        </p:nvSpPr>
        <p:spPr>
          <a:xfrm>
            <a:off x="8864378" y="4597371"/>
            <a:ext cx="1054074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完成MS认证</a:t>
            </a:r>
            <a:endParaRPr lang="zh-CN" sz="1150"/>
          </a:p>
        </p:txBody>
      </p:sp>
      <p:sp>
        <p:nvSpPr>
          <p:cNvPr id="118" name="TextBox 118"/>
          <p:cNvSpPr txBox="1"/>
          <p:nvPr/>
        </p:nvSpPr>
        <p:spPr>
          <a:xfrm>
            <a:off x="10502637" y="4597371"/>
            <a:ext cx="1219170" cy="2920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18292E"/>
                </a:solidFill>
                <a:latin typeface="Microsoft YaHei"/>
                <a:ea typeface="Microsoft YaHei"/>
                <a:cs typeface="Microsoft YaHei"/>
              </a:rPr>
              <a:t>高透光轻量化定制</a:t>
            </a:r>
            <a:endParaRPr lang="zh-CN" sz="1150"/>
          </a:p>
        </p:txBody>
      </p:sp>
      <p:sp>
        <p:nvSpPr>
          <p:cNvPr id="119" name="TextBox 119"/>
          <p:cNvSpPr txBox="1"/>
          <p:nvPr/>
        </p:nvSpPr>
        <p:spPr>
          <a:xfrm>
            <a:off x="1485863" y="5143457"/>
            <a:ext cx="431789" cy="3301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8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</a:t>
            </a:r>
            <a:endParaRPr lang="zh-CN" sz="1580"/>
          </a:p>
        </p:txBody>
      </p:sp>
      <p:sp>
        <p:nvSpPr>
          <p:cNvPr id="120" name="TextBox 120"/>
          <p:cNvSpPr txBox="1"/>
          <p:nvPr/>
        </p:nvSpPr>
        <p:spPr>
          <a:xfrm>
            <a:off x="1917652" y="5067259"/>
            <a:ext cx="190495" cy="43178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F9DE6D"/>
                </a:solidFill>
                <a:latin typeface="Liberation Serif"/>
                <a:ea typeface="Liberation Serif"/>
                <a:cs typeface="Liberation Serif"/>
              </a:rPr>
              <a:t>5</a:t>
            </a:r>
            <a:endParaRPr lang="zh-CN" sz="2400"/>
          </a:p>
        </p:txBody>
      </p:sp>
      <p:sp>
        <p:nvSpPr>
          <p:cNvPr id="121" name="TextBox 121"/>
          <p:cNvSpPr txBox="1"/>
          <p:nvPr/>
        </p:nvSpPr>
        <p:spPr>
          <a:xfrm>
            <a:off x="2120847" y="5143457"/>
            <a:ext cx="1473163" cy="3301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8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大核心农业产区</a:t>
            </a:r>
            <a:endParaRPr lang="zh-CN" sz="1580"/>
          </a:p>
        </p:txBody>
      </p:sp>
      <p:sp>
        <p:nvSpPr>
          <p:cNvPr id="122" name="TextBox 122"/>
          <p:cNvSpPr txBox="1"/>
          <p:nvPr/>
        </p:nvSpPr>
        <p:spPr>
          <a:xfrm>
            <a:off x="5562461" y="5143457"/>
            <a:ext cx="1828754" cy="3301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8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达成长期示范合作</a:t>
            </a:r>
            <a:endParaRPr lang="zh-CN" sz="1580"/>
          </a:p>
        </p:txBody>
      </p:sp>
      <p:sp>
        <p:nvSpPr>
          <p:cNvPr id="123" name="TextBox 123"/>
          <p:cNvSpPr txBox="1"/>
          <p:nvPr/>
        </p:nvSpPr>
        <p:spPr>
          <a:xfrm>
            <a:off x="9308867" y="5143457"/>
            <a:ext cx="1930352" cy="3301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80" b="1" i="1">
                <a:solidFill>
                  <a:srgbClr val="F6E29A"/>
                </a:solidFill>
                <a:latin typeface="Microsoft YaHei"/>
                <a:ea typeface="Microsoft YaHei"/>
                <a:cs typeface="Microsoft YaHei"/>
              </a:rPr>
              <a:t>探索高附加值出口</a:t>
            </a:r>
            <a:endParaRPr lang="zh-CN" sz="1580"/>
          </a:p>
        </p:txBody>
      </p:sp>
      <p:sp>
        <p:nvSpPr>
          <p:cNvPr id="124" name="TextBox 124"/>
          <p:cNvSpPr txBox="1"/>
          <p:nvPr/>
        </p:nvSpPr>
        <p:spPr>
          <a:xfrm>
            <a:off x="3111422" y="5905438"/>
            <a:ext cx="1269968" cy="3555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越南重点突破</a:t>
            </a:r>
            <a:endParaRPr lang="zh-CN" sz="1350"/>
          </a:p>
        </p:txBody>
      </p:sp>
      <p:sp>
        <p:nvSpPr>
          <p:cNvPr id="125" name="TextBox 125"/>
          <p:cNvSpPr txBox="1"/>
          <p:nvPr/>
        </p:nvSpPr>
        <p:spPr>
          <a:xfrm>
            <a:off x="5765656" y="5905438"/>
            <a:ext cx="1269968" cy="3555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印尼稳步培育</a:t>
            </a:r>
            <a:endParaRPr lang="zh-CN" sz="1350"/>
          </a:p>
        </p:txBody>
      </p:sp>
      <p:sp>
        <p:nvSpPr>
          <p:cNvPr id="126" name="TextBox 126"/>
          <p:cNvSpPr txBox="1"/>
          <p:nvPr/>
        </p:nvSpPr>
        <p:spPr>
          <a:xfrm>
            <a:off x="8242094" y="5905438"/>
            <a:ext cx="1841454" cy="3555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>
                <a:solidFill>
                  <a:srgbClr val="005F32"/>
                </a:solidFill>
                <a:latin typeface="Microsoft YaHei"/>
                <a:ea typeface="Microsoft YaHei"/>
                <a:cs typeface="Microsoft YaHei"/>
              </a:rPr>
              <a:t>马来西亚高端布局</a:t>
            </a:r>
            <a:endParaRPr lang="zh-CN" sz="1350"/>
          </a:p>
        </p:txBody>
      </p:sp>
      <p:sp>
        <p:nvSpPr>
          <p:cNvPr id="127" name="Path 127"/>
          <p:cNvSpPr/>
          <p:nvPr/>
        </p:nvSpPr>
        <p:spPr>
          <a:xfrm>
            <a:off x="0" y="6261029"/>
            <a:ext cx="12191695" cy="11429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4725" y="4800"/>
                  <a:pt x="7425" y="10560"/>
                  <a:pt x="10732" y="14640"/>
                </a:cubicBezTo>
                <a:cubicBezTo>
                  <a:pt x="14625" y="10560"/>
                  <a:pt x="17640" y="4800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Path 128"/>
          <p:cNvSpPr/>
          <p:nvPr/>
        </p:nvSpPr>
        <p:spPr>
          <a:xfrm>
            <a:off x="0" y="6261029"/>
            <a:ext cx="12191695" cy="11429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440"/>
                </a:moveTo>
                <a:cubicBezTo>
                  <a:pt x="4725" y="6240"/>
                  <a:pt x="7425" y="12000"/>
                  <a:pt x="10732" y="16080"/>
                </a:cubicBezTo>
                <a:cubicBezTo>
                  <a:pt x="14625" y="12000"/>
                  <a:pt x="17640" y="6240"/>
                  <a:pt x="21600" y="144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18C5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Path 129"/>
          <p:cNvSpPr/>
          <p:nvPr/>
        </p:nvSpPr>
        <p:spPr>
          <a:xfrm>
            <a:off x="0" y="6261029"/>
            <a:ext cx="12191695" cy="11429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8880"/>
                </a:moveTo>
                <a:cubicBezTo>
                  <a:pt x="4725" y="13680"/>
                  <a:pt x="7425" y="19440"/>
                  <a:pt x="10732" y="23520"/>
                </a:cubicBezTo>
                <a:cubicBezTo>
                  <a:pt x="14625" y="19440"/>
                  <a:pt x="17640" y="13680"/>
                  <a:pt x="21600" y="888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6AF3C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mint paper/sky and green farm crop-row panorama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874"/>
            <a:ext cx="12191695" cy="6854251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529452" y="273755"/>
            <a:ext cx="2031949" cy="47221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521" y="0"/>
                </a:moveTo>
                <a:lnTo>
                  <a:pt x="21600" y="0"/>
                </a:lnTo>
                <a:lnTo>
                  <a:pt x="2007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DC8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Path 4"/>
          <p:cNvSpPr/>
          <p:nvPr/>
        </p:nvSpPr>
        <p:spPr>
          <a:xfrm>
            <a:off x="2547091" y="302374"/>
            <a:ext cx="3491518" cy="44359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08" y="0"/>
                </a:moveTo>
                <a:lnTo>
                  <a:pt x="21600" y="0"/>
                </a:lnTo>
                <a:lnTo>
                  <a:pt x="2124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2F3E6"/>
          </a:solidFill>
          <a:ln w="7620">
            <a:solidFill>
              <a:srgbClr val="74B38C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101832" y="960611"/>
            <a:ext cx="9959413" cy="1173379"/>
          </a:xfrm>
          <a:prstGeom prst="roundRect">
            <a:avLst>
              <a:gd name="adj" fmla="val 20732"/>
            </a:avLst>
          </a:prstGeom>
          <a:solidFill>
            <a:srgbClr val="FAFFFA"/>
          </a:solidFill>
          <a:ln w="6985">
            <a:solidFill>
              <a:srgbClr val="D5EDDE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14976" y="2305704"/>
            <a:ext cx="5595015" cy="3205328"/>
          </a:xfrm>
          <a:prstGeom prst="roundRect">
            <a:avLst>
              <a:gd name="adj" fmla="val 4018"/>
            </a:avLst>
          </a:prstGeom>
          <a:solidFill>
            <a:srgbClr val="F9FEF8"/>
          </a:solidFill>
          <a:ln w="6985">
            <a:solidFill>
              <a:srgbClr val="E2F2D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181705" y="2305704"/>
            <a:ext cx="5609325" cy="3319804"/>
          </a:xfrm>
          <a:prstGeom prst="roundRect">
            <a:avLst>
              <a:gd name="adj" fmla="val 3879"/>
            </a:avLst>
          </a:prstGeom>
          <a:solidFill>
            <a:srgbClr val="FAFEF8"/>
          </a:solidFill>
          <a:ln w="6985">
            <a:solidFill>
              <a:srgbClr val="E2F2DF"/>
            </a:solidFill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629618" y="273755"/>
            <a:ext cx="1831616" cy="472214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688" y="0"/>
                </a:moveTo>
                <a:lnTo>
                  <a:pt x="21600" y="0"/>
                </a:lnTo>
                <a:lnTo>
                  <a:pt x="1991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03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686856" y="2348633"/>
            <a:ext cx="2661567" cy="34342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394" y="0"/>
                </a:moveTo>
                <a:lnTo>
                  <a:pt x="21600" y="0"/>
                </a:lnTo>
                <a:cubicBezTo>
                  <a:pt x="21135" y="21600"/>
                  <a:pt x="20671" y="21600"/>
                  <a:pt x="18697" y="21600"/>
                </a:cubicBezTo>
                <a:lnTo>
                  <a:pt x="0" y="21600"/>
                </a:lnTo>
                <a:cubicBezTo>
                  <a:pt x="0" y="7200"/>
                  <a:pt x="581" y="0"/>
                  <a:pt x="1394" y="0"/>
                </a:cubicBezTo>
                <a:close/>
              </a:path>
            </a:pathLst>
          </a:custGeom>
          <a:solidFill>
            <a:srgbClr val="3296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6424966" y="2348633"/>
            <a:ext cx="2890519" cy="34342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83" y="0"/>
                </a:moveTo>
                <a:lnTo>
                  <a:pt x="21600" y="0"/>
                </a:lnTo>
                <a:cubicBezTo>
                  <a:pt x="21172" y="21600"/>
                  <a:pt x="20745" y="21600"/>
                  <a:pt x="18927" y="21600"/>
                </a:cubicBezTo>
                <a:lnTo>
                  <a:pt x="0" y="21600"/>
                </a:lnTo>
                <a:cubicBezTo>
                  <a:pt x="0" y="7200"/>
                  <a:pt x="535" y="0"/>
                  <a:pt x="1283" y="0"/>
                </a:cubicBezTo>
                <a:close/>
              </a:path>
            </a:pathLst>
          </a:custGeom>
          <a:solidFill>
            <a:srgbClr val="3296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586690" y="2777918"/>
            <a:ext cx="1345093" cy="973046"/>
          </a:xfrm>
          <a:prstGeom prst="roundRect">
            <a:avLst>
              <a:gd name="adj" fmla="val 11765"/>
            </a:avLst>
          </a:prstGeom>
          <a:solidFill>
            <a:srgbClr val="F7FCF7"/>
          </a:solidFill>
          <a:ln w="6985">
            <a:solidFill>
              <a:srgbClr val="D5EDE0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1989021" y="2777918"/>
            <a:ext cx="1259236" cy="973046"/>
          </a:xfrm>
          <a:prstGeom prst="roundRect">
            <a:avLst>
              <a:gd name="adj" fmla="val 11765"/>
            </a:avLst>
          </a:prstGeom>
          <a:solidFill>
            <a:srgbClr val="F7FCF7"/>
          </a:solidFill>
          <a:ln w="6985">
            <a:solidFill>
              <a:srgbClr val="D5EDE0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305495" y="2777918"/>
            <a:ext cx="1187689" cy="973046"/>
          </a:xfrm>
          <a:prstGeom prst="roundRect">
            <a:avLst>
              <a:gd name="adj" fmla="val 11765"/>
            </a:avLst>
          </a:prstGeom>
          <a:solidFill>
            <a:srgbClr val="F7FCF7"/>
          </a:solidFill>
          <a:ln w="6985">
            <a:solidFill>
              <a:srgbClr val="D5EDE0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593350" y="2777918"/>
            <a:ext cx="1244927" cy="973046"/>
          </a:xfrm>
          <a:prstGeom prst="roundRect">
            <a:avLst>
              <a:gd name="adj" fmla="val 11765"/>
            </a:avLst>
          </a:prstGeom>
          <a:solidFill>
            <a:srgbClr val="F7FCF7"/>
          </a:solidFill>
          <a:ln w="6985">
            <a:solidFill>
              <a:srgbClr val="D5EDE0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86690" y="3865440"/>
            <a:ext cx="5251587" cy="1516807"/>
          </a:xfrm>
          <a:prstGeom prst="roundRect">
            <a:avLst>
              <a:gd name="adj" fmla="val 7547"/>
            </a:avLst>
          </a:prstGeom>
          <a:solidFill>
            <a:srgbClr val="FCFF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6353419" y="2763608"/>
            <a:ext cx="1616974" cy="643928"/>
          </a:xfrm>
          <a:prstGeom prst="roundRect">
            <a:avLst>
              <a:gd name="adj" fmla="val 17778"/>
            </a:avLst>
          </a:prstGeom>
          <a:solidFill>
            <a:srgbClr val="F8FDF8"/>
          </a:solidFill>
          <a:ln w="6985">
            <a:solidFill>
              <a:srgbClr val="D8EDE2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8041940" y="2763608"/>
            <a:ext cx="1616974" cy="643928"/>
          </a:xfrm>
          <a:prstGeom prst="roundRect">
            <a:avLst>
              <a:gd name="adj" fmla="val 17778"/>
            </a:avLst>
          </a:prstGeom>
          <a:solidFill>
            <a:srgbClr val="F8FDF8"/>
          </a:solidFill>
          <a:ln w="6985">
            <a:solidFill>
              <a:srgbClr val="D8EDE2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9730461" y="2763608"/>
            <a:ext cx="1616974" cy="643928"/>
          </a:xfrm>
          <a:prstGeom prst="roundRect">
            <a:avLst>
              <a:gd name="adj" fmla="val 17778"/>
            </a:avLst>
          </a:prstGeom>
          <a:solidFill>
            <a:srgbClr val="F8FDF8"/>
          </a:solidFill>
          <a:ln w="6985">
            <a:solidFill>
              <a:srgbClr val="D8EDE2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6353419" y="3479083"/>
            <a:ext cx="1616974" cy="643928"/>
          </a:xfrm>
          <a:prstGeom prst="roundRect">
            <a:avLst>
              <a:gd name="adj" fmla="val 17778"/>
            </a:avLst>
          </a:prstGeom>
          <a:solidFill>
            <a:srgbClr val="F8FDF8"/>
          </a:solidFill>
          <a:ln w="6985">
            <a:solidFill>
              <a:srgbClr val="D8EDE2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041940" y="3479083"/>
            <a:ext cx="1616974" cy="643928"/>
          </a:xfrm>
          <a:prstGeom prst="roundRect">
            <a:avLst>
              <a:gd name="adj" fmla="val 17778"/>
            </a:avLst>
          </a:prstGeom>
          <a:solidFill>
            <a:srgbClr val="F8FDF8"/>
          </a:solidFill>
          <a:ln w="6985">
            <a:solidFill>
              <a:srgbClr val="D8EDE2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9730461" y="3479083"/>
            <a:ext cx="1616974" cy="643928"/>
          </a:xfrm>
          <a:prstGeom prst="roundRect">
            <a:avLst>
              <a:gd name="adj" fmla="val 17778"/>
            </a:avLst>
          </a:prstGeom>
          <a:solidFill>
            <a:srgbClr val="F8FDF8"/>
          </a:solidFill>
          <a:ln w="6985">
            <a:solidFill>
              <a:srgbClr val="D8EDE2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6353419" y="4165939"/>
            <a:ext cx="5265897" cy="1345093"/>
          </a:xfrm>
          <a:prstGeom prst="roundRect">
            <a:avLst>
              <a:gd name="adj" fmla="val 8511"/>
            </a:avLst>
          </a:prstGeom>
          <a:solidFill>
            <a:srgbClr val="FCFFF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3" name="Original pale lime leaf accent at source market heading."/>
          <p:cNvPicPr/>
          <p:nvPr/>
        </p:nvPicPr>
        <p:blipFill>
          <a:blip r:embed="rId8"/>
          <a:stretch>
            <a:fillRect/>
          </a:stretch>
        </p:blipFill>
        <p:spPr>
          <a:xfrm>
            <a:off x="6235009" y="2281855"/>
            <a:ext cx="351295" cy="434055"/>
          </a:xfrm>
          <a:prstGeom prst="rect">
            <a:avLst/>
          </a:prstGeom>
        </p:spPr>
      </p:pic>
      <p:sp>
        <p:nvSpPr>
          <p:cNvPr id="24" name="Line 24"/>
          <p:cNvSpPr/>
          <p:nvPr/>
        </p:nvSpPr>
        <p:spPr>
          <a:xfrm>
            <a:off x="872880" y="4924343"/>
            <a:ext cx="2804662" cy="0"/>
          </a:xfrm>
          <a:prstGeom prst="line">
            <a:avLst/>
          </a:prstGeom>
          <a:noFill/>
          <a:ln w="5715">
            <a:solidFill>
              <a:srgbClr val="E0E5E1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872880" y="4700161"/>
            <a:ext cx="2804662" cy="0"/>
          </a:xfrm>
          <a:prstGeom prst="line">
            <a:avLst/>
          </a:prstGeom>
          <a:noFill/>
          <a:ln w="5715">
            <a:solidFill>
              <a:srgbClr val="E0E5E1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872880" y="4475979"/>
            <a:ext cx="2804662" cy="0"/>
          </a:xfrm>
          <a:prstGeom prst="line">
            <a:avLst/>
          </a:prstGeom>
          <a:noFill/>
          <a:ln w="5715">
            <a:solidFill>
              <a:srgbClr val="E0E5E1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872880" y="4251796"/>
            <a:ext cx="2804662" cy="0"/>
          </a:xfrm>
          <a:prstGeom prst="line">
            <a:avLst/>
          </a:prstGeom>
          <a:noFill/>
          <a:ln w="5715">
            <a:solidFill>
              <a:srgbClr val="E0E5E1"/>
            </a:solidFill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2733115" y="459778"/>
            <a:ext cx="114476" cy="114476"/>
          </a:xfrm>
          <a:prstGeom prst="ellipse">
            <a:avLst/>
          </a:prstGeom>
          <a:solidFill>
            <a:srgbClr val="039D5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6181705" y="1261111"/>
            <a:ext cx="0" cy="629618"/>
          </a:xfrm>
          <a:prstGeom prst="line">
            <a:avLst/>
          </a:prstGeom>
          <a:noFill/>
          <a:ln w="8890">
            <a:solidFill>
              <a:srgbClr val="95C8AD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8442606" y="1261111"/>
            <a:ext cx="0" cy="615309"/>
          </a:xfrm>
          <a:prstGeom prst="line">
            <a:avLst/>
          </a:prstGeom>
          <a:noFill/>
          <a:ln w="8890">
            <a:solidFill>
              <a:srgbClr val="95C8AD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872880" y="4251796"/>
            <a:ext cx="0" cy="672547"/>
          </a:xfrm>
          <a:prstGeom prst="line">
            <a:avLst/>
          </a:prstGeom>
          <a:noFill/>
          <a:ln w="8890">
            <a:solidFill>
              <a:srgbClr val="A0C7B1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872880" y="4924343"/>
            <a:ext cx="2804662" cy="0"/>
          </a:xfrm>
          <a:prstGeom prst="line">
            <a:avLst/>
          </a:prstGeom>
          <a:noFill/>
          <a:ln w="8890">
            <a:solidFill>
              <a:srgbClr val="A0C7B1"/>
            </a:solidFill>
          </a:ln>
        </p:spPr>
        <p:txBody>
          <a:bodyPr/>
          <a:lstStyle/>
          <a:p/>
        </p:txBody>
      </p:sp>
      <p:pic>
        <p:nvPicPr>
          <p:cNvPr id="33" name="Original source footer-left-leaf leaf/seedling ornament, no readable ordinary text retained."/>
          <p:cNvPicPr/>
          <p:nvPr/>
        </p:nvPicPr>
        <p:blipFill>
          <a:blip r:embed="rId27"/>
          <a:stretch>
            <a:fillRect/>
          </a:stretch>
        </p:blipFill>
        <p:spPr>
          <a:xfrm>
            <a:off x="755729" y="5820935"/>
            <a:ext cx="921157" cy="668049"/>
          </a:xfrm>
          <a:prstGeom prst="rect">
            <a:avLst/>
          </a:prstGeom>
        </p:spPr>
      </p:pic>
      <p:sp>
        <p:nvSpPr>
          <p:cNvPr id="34" name="Rect 34"/>
          <p:cNvSpPr/>
          <p:nvPr/>
        </p:nvSpPr>
        <p:spPr>
          <a:xfrm>
            <a:off x="1087522" y="4768312"/>
            <a:ext cx="314809" cy="156031"/>
          </a:xfrm>
          <a:prstGeom prst="rect">
            <a:avLst/>
          </a:prstGeom>
          <a:solidFill>
            <a:srgbClr val="60B6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760069" y="4861931"/>
            <a:ext cx="314809" cy="62412"/>
          </a:xfrm>
          <a:prstGeom prst="rect">
            <a:avLst/>
          </a:prstGeom>
          <a:solidFill>
            <a:srgbClr val="60B6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2475544" y="4378235"/>
            <a:ext cx="314809" cy="546108"/>
          </a:xfrm>
          <a:prstGeom prst="rect">
            <a:avLst/>
          </a:prstGeom>
          <a:solidFill>
            <a:srgbClr val="60B6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3176709" y="4534266"/>
            <a:ext cx="314809" cy="390077"/>
          </a:xfrm>
          <a:prstGeom prst="rect">
            <a:avLst/>
          </a:prstGeom>
          <a:solidFill>
            <a:srgbClr val="60B64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1116141" y="5897389"/>
            <a:ext cx="9759080" cy="500833"/>
          </a:xfrm>
          <a:prstGeom prst="roundRect">
            <a:avLst>
              <a:gd name="adj" fmla="val 48571"/>
            </a:avLst>
          </a:prstGeom>
          <a:solidFill>
            <a:srgbClr val="FAFFF6"/>
          </a:solidFill>
          <a:ln w="6985">
            <a:solidFill>
              <a:srgbClr val="E0EBD2"/>
            </a:solidFill>
          </a:ln>
        </p:spPr>
        <p:txBody>
          <a:bodyPr/>
          <a:lstStyle/>
          <a:p/>
        </p:txBody>
      </p:sp>
      <p:sp>
        <p:nvSpPr>
          <p:cNvPr id="39" name="Path 39"/>
          <p:cNvSpPr/>
          <p:nvPr/>
        </p:nvSpPr>
        <p:spPr>
          <a:xfrm>
            <a:off x="6854251" y="4537986"/>
            <a:ext cx="944427" cy="94442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800" y="0"/>
                </a:moveTo>
                <a:cubicBezTo>
                  <a:pt x="16626" y="0"/>
                  <a:pt x="21402" y="4621"/>
                  <a:pt x="21594" y="10444"/>
                </a:cubicBezTo>
                <a:cubicBezTo>
                  <a:pt x="21786" y="16267"/>
                  <a:pt x="17325" y="21193"/>
                  <a:pt x="11511" y="21577"/>
                </a:cubicBezTo>
                <a:lnTo>
                  <a:pt x="11119" y="15633"/>
                </a:lnTo>
                <a:cubicBezTo>
                  <a:pt x="13726" y="15461"/>
                  <a:pt x="15727" y="13252"/>
                  <a:pt x="15641" y="10640"/>
                </a:cubicBezTo>
                <a:cubicBezTo>
                  <a:pt x="15555" y="8029"/>
                  <a:pt x="13413" y="5956"/>
                  <a:pt x="10800" y="5956"/>
                </a:cubicBezTo>
                <a:close/>
              </a:path>
            </a:pathLst>
          </a:custGeom>
          <a:solidFill>
            <a:srgbClr val="45A879"/>
          </a:solidFill>
          <a:ln w="317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0" name="Path 40"/>
          <p:cNvSpPr/>
          <p:nvPr/>
        </p:nvSpPr>
        <p:spPr>
          <a:xfrm>
            <a:off x="6854251" y="4537986"/>
            <a:ext cx="944427" cy="94442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511" y="21577"/>
                </a:moveTo>
                <a:cubicBezTo>
                  <a:pt x="7970" y="21810"/>
                  <a:pt x="4539" y="20289"/>
                  <a:pt x="2335" y="17507"/>
                </a:cubicBezTo>
                <a:lnTo>
                  <a:pt x="7004" y="13808"/>
                </a:lnTo>
                <a:cubicBezTo>
                  <a:pt x="7992" y="15056"/>
                  <a:pt x="9531" y="15738"/>
                  <a:pt x="11119" y="15633"/>
                </a:cubicBezTo>
                <a:close/>
              </a:path>
            </a:pathLst>
          </a:custGeom>
          <a:solidFill>
            <a:srgbClr val="31965F"/>
          </a:solidFill>
          <a:ln w="317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1" name="Path 41"/>
          <p:cNvSpPr/>
          <p:nvPr/>
        </p:nvSpPr>
        <p:spPr>
          <a:xfrm>
            <a:off x="6854251" y="4537986"/>
            <a:ext cx="944427" cy="94442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2335" y="17507"/>
                </a:moveTo>
                <a:cubicBezTo>
                  <a:pt x="-506" y="13922"/>
                  <a:pt x="-780" y="8936"/>
                  <a:pt x="1651" y="5061"/>
                </a:cubicBezTo>
                <a:lnTo>
                  <a:pt x="6697" y="8226"/>
                </a:lnTo>
                <a:cubicBezTo>
                  <a:pt x="5607" y="9964"/>
                  <a:pt x="5730" y="12200"/>
                  <a:pt x="7004" y="13808"/>
                </a:cubicBezTo>
                <a:close/>
              </a:path>
            </a:pathLst>
          </a:custGeom>
          <a:solidFill>
            <a:srgbClr val="70B94A"/>
          </a:solidFill>
          <a:ln w="317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2" name="Path 42"/>
          <p:cNvSpPr/>
          <p:nvPr/>
        </p:nvSpPr>
        <p:spPr>
          <a:xfrm>
            <a:off x="6854251" y="4537986"/>
            <a:ext cx="944427" cy="94442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651" y="5061"/>
                </a:moveTo>
                <a:cubicBezTo>
                  <a:pt x="2580" y="3580"/>
                  <a:pt x="3855" y="2347"/>
                  <a:pt x="5366" y="1467"/>
                </a:cubicBezTo>
                <a:lnTo>
                  <a:pt x="8363" y="6614"/>
                </a:lnTo>
                <a:cubicBezTo>
                  <a:pt x="7685" y="7009"/>
                  <a:pt x="7113" y="7562"/>
                  <a:pt x="6697" y="8226"/>
                </a:cubicBezTo>
                <a:close/>
              </a:path>
            </a:pathLst>
          </a:custGeom>
          <a:solidFill>
            <a:srgbClr val="F8D356"/>
          </a:solidFill>
          <a:ln w="317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3" name="Path 43"/>
          <p:cNvSpPr/>
          <p:nvPr/>
        </p:nvSpPr>
        <p:spPr>
          <a:xfrm>
            <a:off x="6854251" y="4537986"/>
            <a:ext cx="944427" cy="94442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5366" y="1467"/>
                </a:moveTo>
                <a:cubicBezTo>
                  <a:pt x="6393" y="868"/>
                  <a:pt x="7513" y="444"/>
                  <a:pt x="8678" y="210"/>
                </a:cubicBezTo>
                <a:lnTo>
                  <a:pt x="9849" y="6051"/>
                </a:lnTo>
                <a:cubicBezTo>
                  <a:pt x="9326" y="6155"/>
                  <a:pt x="8824" y="6346"/>
                  <a:pt x="8363" y="6614"/>
                </a:cubicBezTo>
                <a:close/>
              </a:path>
            </a:pathLst>
          </a:custGeom>
          <a:solidFill>
            <a:srgbClr val="F6B531"/>
          </a:solidFill>
          <a:ln w="317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4" name="Path 44"/>
          <p:cNvSpPr/>
          <p:nvPr/>
        </p:nvSpPr>
        <p:spPr>
          <a:xfrm>
            <a:off x="6854251" y="4537986"/>
            <a:ext cx="944427" cy="94442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8678" y="210"/>
                </a:moveTo>
                <a:cubicBezTo>
                  <a:pt x="9377" y="70"/>
                  <a:pt x="10088" y="0"/>
                  <a:pt x="10800" y="0"/>
                </a:cubicBezTo>
                <a:lnTo>
                  <a:pt x="10800" y="5956"/>
                </a:lnTo>
                <a:cubicBezTo>
                  <a:pt x="10481" y="5956"/>
                  <a:pt x="10162" y="5988"/>
                  <a:pt x="9849" y="6051"/>
                </a:cubicBezTo>
                <a:close/>
              </a:path>
            </a:pathLst>
          </a:custGeom>
          <a:solidFill>
            <a:srgbClr val="B7BDBD"/>
          </a:solidFill>
          <a:ln w="3175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 flipH="1">
            <a:off x="7655583" y="4666772"/>
            <a:ext cx="85857" cy="114476"/>
          </a:xfrm>
          <a:prstGeom prst="line">
            <a:avLst/>
          </a:prstGeom>
          <a:noFill/>
          <a:ln w="6350">
            <a:solidFill>
              <a:srgbClr val="C8D2C9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H="1" flipV="1">
            <a:off x="7655583" y="5196223"/>
            <a:ext cx="100167" cy="71548"/>
          </a:xfrm>
          <a:prstGeom prst="line">
            <a:avLst/>
          </a:prstGeom>
          <a:noFill/>
          <a:ln w="6350">
            <a:solidFill>
              <a:srgbClr val="C8D2C9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 flipV="1">
            <a:off x="6868561" y="5253461"/>
            <a:ext cx="114476" cy="71548"/>
          </a:xfrm>
          <a:prstGeom prst="line">
            <a:avLst/>
          </a:prstGeom>
          <a:noFill/>
          <a:ln w="6350">
            <a:solidFill>
              <a:srgbClr val="C8D2C9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6768394" y="4967271"/>
            <a:ext cx="100167" cy="0"/>
          </a:xfrm>
          <a:prstGeom prst="line">
            <a:avLst/>
          </a:prstGeom>
          <a:noFill/>
          <a:ln w="6350">
            <a:solidFill>
              <a:srgbClr val="C8D2C9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6797013" y="4752629"/>
            <a:ext cx="100167" cy="42929"/>
          </a:xfrm>
          <a:prstGeom prst="line">
            <a:avLst/>
          </a:prstGeom>
          <a:noFill/>
          <a:ln w="6350">
            <a:solidFill>
              <a:srgbClr val="C8D2C9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7111822" y="4566605"/>
            <a:ext cx="71548" cy="114476"/>
          </a:xfrm>
          <a:prstGeom prst="line">
            <a:avLst/>
          </a:prstGeom>
          <a:noFill/>
          <a:ln w="6350">
            <a:solidFill>
              <a:srgbClr val="C8D2C9"/>
            </a:solidFill>
          </a:ln>
        </p:spPr>
        <p:txBody>
          <a:bodyPr/>
          <a:lstStyle/>
          <a:p/>
        </p:txBody>
      </p:sp>
      <p:pic>
        <p:nvPicPr>
          <p:cNvPr id="51" name="Original source seedling-coins-arrow leaf/seedling ornament, no readable ordinary text retained."/>
          <p:cNvPicPr/>
          <p:nvPr/>
        </p:nvPicPr>
        <p:blipFill>
          <a:blip r:embed="rId3"/>
          <a:stretch>
            <a:fillRect/>
          </a:stretch>
        </p:blipFill>
        <p:spPr>
          <a:xfrm>
            <a:off x="809509" y="741514"/>
            <a:ext cx="3103118" cy="1511406"/>
          </a:xfrm>
          <a:prstGeom prst="rect">
            <a:avLst/>
          </a:prstGeom>
        </p:spPr>
      </p:pic>
      <p:sp>
        <p:nvSpPr>
          <p:cNvPr id="52" name="Roundrect 52"/>
          <p:cNvSpPr/>
          <p:nvPr/>
        </p:nvSpPr>
        <p:spPr>
          <a:xfrm>
            <a:off x="3920803" y="4165939"/>
            <a:ext cx="1946092" cy="1116141"/>
          </a:xfrm>
          <a:prstGeom prst="roundRect">
            <a:avLst>
              <a:gd name="adj" fmla="val 46154"/>
            </a:avLst>
          </a:prstGeom>
          <a:solidFill>
            <a:srgbClr val="13854F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9887865" y="4380582"/>
            <a:ext cx="1774378" cy="1044594"/>
          </a:xfrm>
          <a:prstGeom prst="roundRect">
            <a:avLst>
              <a:gd name="adj" fmla="val 47945"/>
            </a:avLst>
          </a:prstGeom>
          <a:solidFill>
            <a:srgbClr val="148D50"/>
          </a:solidFill>
          <a:ln w="1905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4" name="Ellipse 54"/>
          <p:cNvSpPr/>
          <p:nvPr/>
        </p:nvSpPr>
        <p:spPr>
          <a:xfrm>
            <a:off x="3949422" y="4165939"/>
            <a:ext cx="901499" cy="958737"/>
          </a:xfrm>
          <a:prstGeom prst="ellipse">
            <a:avLst/>
          </a:prstGeom>
          <a:solidFill>
            <a:srgbClr val="8EC84A"/>
          </a:solidFill>
          <a:ln w="3810">
            <a:solidFill>
              <a:srgbClr val="D8F1C6"/>
            </a:solidFill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8442606" y="4423510"/>
            <a:ext cx="100167" cy="100167"/>
          </a:xfrm>
          <a:prstGeom prst="ellipse">
            <a:avLst/>
          </a:prstGeom>
          <a:solidFill>
            <a:srgbClr val="37A7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8442606" y="4599517"/>
            <a:ext cx="100167" cy="100167"/>
          </a:xfrm>
          <a:prstGeom prst="ellipse">
            <a:avLst/>
          </a:prstGeom>
          <a:solidFill>
            <a:srgbClr val="FEB81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8442606" y="4775524"/>
            <a:ext cx="100167" cy="100167"/>
          </a:xfrm>
          <a:prstGeom prst="ellipse">
            <a:avLst/>
          </a:prstGeom>
          <a:solidFill>
            <a:srgbClr val="58AE4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8442606" y="4951531"/>
            <a:ext cx="100167" cy="100167"/>
          </a:xfrm>
          <a:prstGeom prst="ellipse">
            <a:avLst/>
          </a:prstGeom>
          <a:solidFill>
            <a:srgbClr val="9ACB6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8442606" y="5127538"/>
            <a:ext cx="100167" cy="100167"/>
          </a:xfrm>
          <a:prstGeom prst="ellipse">
            <a:avLst/>
          </a:prstGeom>
          <a:solidFill>
            <a:srgbClr val="81CFD2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8442606" y="5303545"/>
            <a:ext cx="100167" cy="100167"/>
          </a:xfrm>
          <a:prstGeom prst="ellipse">
            <a:avLst/>
          </a:prstGeom>
          <a:solidFill>
            <a:srgbClr val="BCBDB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9902175" y="4366272"/>
            <a:ext cx="844261" cy="829951"/>
          </a:xfrm>
          <a:prstGeom prst="ellipse">
            <a:avLst/>
          </a:prstGeom>
          <a:solidFill>
            <a:srgbClr val="8AC54D"/>
          </a:solidFill>
          <a:ln w="3810">
            <a:solidFill>
              <a:srgbClr val="D8F1C6"/>
            </a:solidFill>
          </a:ln>
        </p:spPr>
        <p:txBody>
          <a:bodyPr/>
          <a:lstStyle/>
          <a:p/>
        </p:txBody>
      </p:sp>
      <p:pic>
        <p:nvPicPr>
          <p:cNvPr id="62" name="Original source top-leaf leaf/seedling ornament, no readable ordinary text retained."/>
          <p:cNvPicPr/>
          <p:nvPr/>
        </p:nvPicPr>
        <p:blipFill>
          <a:blip r:embed="rId4"/>
          <a:stretch>
            <a:fillRect/>
          </a:stretch>
        </p:blipFill>
        <p:spPr>
          <a:xfrm>
            <a:off x="10390487" y="957749"/>
            <a:ext cx="983778" cy="1236341"/>
          </a:xfrm>
          <a:prstGeom prst="rect">
            <a:avLst/>
          </a:prstGeom>
        </p:spPr>
      </p:pic>
      <p:pic>
        <p:nvPicPr>
          <p:cNvPr id="63" name="Original source header-leaf leaf/seedling ornament, no readable ordinary text retained."/>
          <p:cNvPicPr/>
          <p:nvPr/>
        </p:nvPicPr>
        <p:blipFill>
          <a:blip r:embed="rId7"/>
          <a:stretch>
            <a:fillRect/>
          </a:stretch>
        </p:blipFill>
        <p:spPr>
          <a:xfrm>
            <a:off x="542848" y="2315299"/>
            <a:ext cx="431112" cy="438714"/>
          </a:xfrm>
          <a:prstGeom prst="rect">
            <a:avLst/>
          </a:prstGeom>
        </p:spPr>
      </p:pic>
      <p:sp>
        <p:nvSpPr>
          <p:cNvPr id="64" name="Line 64"/>
          <p:cNvSpPr/>
          <p:nvPr/>
        </p:nvSpPr>
        <p:spPr>
          <a:xfrm>
            <a:off x="6181705" y="5997556"/>
            <a:ext cx="0" cy="314809"/>
          </a:xfrm>
          <a:prstGeom prst="line">
            <a:avLst/>
          </a:prstGeom>
          <a:noFill/>
          <a:ln w="10160">
            <a:solidFill>
              <a:srgbClr val="82B89F"/>
            </a:solidFill>
          </a:ln>
        </p:spPr>
        <p:txBody>
          <a:bodyPr/>
          <a:lstStyle/>
          <a:p/>
        </p:txBody>
      </p:sp>
      <p:pic>
        <p:nvPicPr>
          <p:cNvPr id="65" name="Original source top-bars semantic pictogram including its source circular base, source green/gold/white colors and complete strokes."/>
          <p:cNvPicPr/>
          <p:nvPr/>
        </p:nvPicPr>
        <p:blipFill>
          <a:blip r:embed="rId5"/>
          <a:stretch>
            <a:fillRect/>
          </a:stretch>
        </p:blipFill>
        <p:spPr>
          <a:xfrm>
            <a:off x="6181705" y="1114695"/>
            <a:ext cx="829951" cy="850901"/>
          </a:xfrm>
          <a:prstGeom prst="rect">
            <a:avLst/>
          </a:prstGeom>
        </p:spPr>
      </p:pic>
      <p:pic>
        <p:nvPicPr>
          <p:cNvPr id="66" name="Original source top-truck semantic pictogram including its source circular base, source green/gold/white colors and complete strokes."/>
          <p:cNvPicPr/>
          <p:nvPr/>
        </p:nvPicPr>
        <p:blipFill>
          <a:blip r:embed="rId6"/>
          <a:stretch>
            <a:fillRect/>
          </a:stretch>
        </p:blipFill>
        <p:spPr>
          <a:xfrm>
            <a:off x="8443070" y="1129495"/>
            <a:ext cx="829023" cy="849921"/>
          </a:xfrm>
          <a:prstGeom prst="rect">
            <a:avLst/>
          </a:prstGeom>
        </p:spPr>
      </p:pic>
      <p:pic>
        <p:nvPicPr>
          <p:cNvPr id="67" name="Original source heading-bars semantic pictogram including its source circular base, source green/gold/white colors and complete strokes."/>
          <p:cNvPicPr/>
          <p:nvPr/>
        </p:nvPicPr>
        <p:blipFill>
          <a:blip r:embed="rId9"/>
          <a:stretch>
            <a:fillRect/>
          </a:stretch>
        </p:blipFill>
        <p:spPr>
          <a:xfrm>
            <a:off x="6427010" y="2346588"/>
            <a:ext cx="382268" cy="404754"/>
          </a:xfrm>
          <a:prstGeom prst="rect">
            <a:avLst/>
          </a:prstGeom>
        </p:spPr>
      </p:pic>
      <p:pic>
        <p:nvPicPr>
          <p:cNvPr id="68" name="Original source customs-anchor semantic pictogram including its source circular base, source green/gold/white colors and complete strokes."/>
          <p:cNvPicPr/>
          <p:nvPr/>
        </p:nvPicPr>
        <p:blipFill>
          <a:blip r:embed="rId10"/>
          <a:stretch>
            <a:fillRect/>
          </a:stretch>
        </p:blipFill>
        <p:spPr>
          <a:xfrm>
            <a:off x="593264" y="2811675"/>
            <a:ext cx="630778" cy="633650"/>
          </a:xfrm>
          <a:prstGeom prst="rect">
            <a:avLst/>
          </a:prstGeom>
        </p:spPr>
      </p:pic>
      <p:pic>
        <p:nvPicPr>
          <p:cNvPr id="69" name="Original source inspection-shield semantic pictogram including its source circular base, source green/gold/white colors and complete strokes."/>
          <p:cNvPicPr/>
          <p:nvPr/>
        </p:nvPicPr>
        <p:blipFill>
          <a:blip r:embed="rId11"/>
          <a:stretch>
            <a:fillRect/>
          </a:stretch>
        </p:blipFill>
        <p:spPr>
          <a:xfrm>
            <a:off x="1995242" y="2811675"/>
            <a:ext cx="631485" cy="633650"/>
          </a:xfrm>
          <a:prstGeom prst="rect">
            <a:avLst/>
          </a:prstGeom>
        </p:spPr>
      </p:pic>
      <p:pic>
        <p:nvPicPr>
          <p:cNvPr id="70" name="Original source transport-cargo semantic pictogram including its source circular base, source green/gold/white colors and complete strokes."/>
          <p:cNvPicPr/>
          <p:nvPr/>
        </p:nvPicPr>
        <p:blipFill>
          <a:blip r:embed="rId12"/>
          <a:stretch>
            <a:fillRect/>
          </a:stretch>
        </p:blipFill>
        <p:spPr>
          <a:xfrm>
            <a:off x="3312419" y="2811675"/>
            <a:ext cx="630080" cy="633650"/>
          </a:xfrm>
          <a:prstGeom prst="rect">
            <a:avLst/>
          </a:prstGeom>
        </p:spPr>
      </p:pic>
      <p:pic>
        <p:nvPicPr>
          <p:cNvPr id="71" name="Original source cost-coins semantic pictogram including its source circular base, source green/gold/white colors and complete strokes."/>
          <p:cNvPicPr/>
          <p:nvPr/>
        </p:nvPicPr>
        <p:blipFill>
          <a:blip r:embed="rId13"/>
          <a:stretch>
            <a:fillRect/>
          </a:stretch>
        </p:blipFill>
        <p:spPr>
          <a:xfrm>
            <a:off x="4598854" y="2811675"/>
            <a:ext cx="632920" cy="633650"/>
          </a:xfrm>
          <a:prstGeom prst="rect">
            <a:avLst/>
          </a:prstGeom>
        </p:spPr>
      </p:pic>
      <p:pic>
        <p:nvPicPr>
          <p:cNvPr id="72" name="Original source total-coins semantic pictogram including its source circular base, source green/gold/white colors and complete strokes."/>
          <p:cNvPicPr/>
          <p:nvPr/>
        </p:nvPicPr>
        <p:blipFill>
          <a:blip r:embed="rId14"/>
          <a:stretch>
            <a:fillRect/>
          </a:stretch>
        </p:blipFill>
        <p:spPr>
          <a:xfrm>
            <a:off x="3898689" y="4108859"/>
            <a:ext cx="917109" cy="958422"/>
          </a:xfrm>
          <a:prstGeom prst="rect">
            <a:avLst/>
          </a:prstGeom>
        </p:spPr>
      </p:pic>
      <p:pic>
        <p:nvPicPr>
          <p:cNvPr id="73" name="Original source research-target semantic pictogram including its source circular base, source green/gold/white colors and complete strokes."/>
          <p:cNvPicPr/>
          <p:nvPr/>
        </p:nvPicPr>
        <p:blipFill>
          <a:blip r:embed="rId18"/>
          <a:stretch>
            <a:fillRect/>
          </a:stretch>
        </p:blipFill>
        <p:spPr>
          <a:xfrm>
            <a:off x="6359283" y="2772194"/>
            <a:ext cx="632198" cy="598137"/>
          </a:xfrm>
          <a:prstGeom prst="rect">
            <a:avLst/>
          </a:prstGeom>
        </p:spPr>
      </p:pic>
      <p:pic>
        <p:nvPicPr>
          <p:cNvPr id="74" name="Original source search-magnifier semantic pictogram including its source circular base, source green/gold/white colors and complete strokes."/>
          <p:cNvPicPr/>
          <p:nvPr/>
        </p:nvPicPr>
        <p:blipFill>
          <a:blip r:embed="rId19"/>
          <a:stretch>
            <a:fillRect/>
          </a:stretch>
        </p:blipFill>
        <p:spPr>
          <a:xfrm>
            <a:off x="8047079" y="2772542"/>
            <a:ext cx="633650" cy="597441"/>
          </a:xfrm>
          <a:prstGeom prst="rect">
            <a:avLst/>
          </a:prstGeom>
        </p:spPr>
      </p:pic>
      <p:pic>
        <p:nvPicPr>
          <p:cNvPr id="75" name="Original source social-thumb semantic pictogram including its source circular base, source green/gold/white colors and complete strokes."/>
          <p:cNvPicPr/>
          <p:nvPr/>
        </p:nvPicPr>
        <p:blipFill>
          <a:blip r:embed="rId20"/>
          <a:stretch>
            <a:fillRect/>
          </a:stretch>
        </p:blipFill>
        <p:spPr>
          <a:xfrm>
            <a:off x="9736326" y="2772542"/>
            <a:ext cx="632198" cy="597441"/>
          </a:xfrm>
          <a:prstGeom prst="rect">
            <a:avLst/>
          </a:prstGeom>
        </p:spPr>
      </p:pic>
      <p:pic>
        <p:nvPicPr>
          <p:cNvPr id="76" name="Original source content-document semantic pictogram including its source circular base, source green/gold/white colors and complete strokes."/>
          <p:cNvPicPr/>
          <p:nvPr/>
        </p:nvPicPr>
        <p:blipFill>
          <a:blip r:embed="rId21"/>
          <a:stretch>
            <a:fillRect/>
          </a:stretch>
        </p:blipFill>
        <p:spPr>
          <a:xfrm>
            <a:off x="6358557" y="3487669"/>
            <a:ext cx="633650" cy="598137"/>
          </a:xfrm>
          <a:prstGeom prst="rect">
            <a:avLst/>
          </a:prstGeom>
        </p:spPr>
      </p:pic>
      <p:pic>
        <p:nvPicPr>
          <p:cNvPr id="77" name="Original source email-envelope semantic pictogram including its source circular base, source green/gold/white colors and complete strokes."/>
          <p:cNvPicPr/>
          <p:nvPr/>
        </p:nvPicPr>
        <p:blipFill>
          <a:blip r:embed="rId22"/>
          <a:stretch>
            <a:fillRect/>
          </a:stretch>
        </p:blipFill>
        <p:spPr>
          <a:xfrm>
            <a:off x="8047804" y="3488361"/>
            <a:ext cx="632198" cy="596753"/>
          </a:xfrm>
          <a:prstGeom prst="rect">
            <a:avLst/>
          </a:prstGeom>
        </p:spPr>
      </p:pic>
      <p:pic>
        <p:nvPicPr>
          <p:cNvPr id="78" name="Original source analytics-bars semantic pictogram including its source circular base, source green/gold/white colors and complete strokes."/>
          <p:cNvPicPr/>
          <p:nvPr/>
        </p:nvPicPr>
        <p:blipFill>
          <a:blip r:embed="rId23"/>
          <a:stretch>
            <a:fillRect/>
          </a:stretch>
        </p:blipFill>
        <p:spPr>
          <a:xfrm>
            <a:off x="9736326" y="3488361"/>
            <a:ext cx="632198" cy="596753"/>
          </a:xfrm>
          <a:prstGeom prst="rect">
            <a:avLst/>
          </a:prstGeom>
        </p:spPr>
      </p:pic>
      <p:pic>
        <p:nvPicPr>
          <p:cNvPr id="79" name="Original source total-growth semantic pictogram including its source circular base, source green/gold/white colors and complete strokes."/>
          <p:cNvPicPr/>
          <p:nvPr/>
        </p:nvPicPr>
        <p:blipFill>
          <a:blip r:embed="rId24"/>
          <a:stretch>
            <a:fillRect/>
          </a:stretch>
        </p:blipFill>
        <p:spPr>
          <a:xfrm>
            <a:off x="9881261" y="4331049"/>
            <a:ext cx="886088" cy="886088"/>
          </a:xfrm>
          <a:prstGeom prst="rect">
            <a:avLst/>
          </a:prstGeom>
        </p:spPr>
      </p:pic>
      <p:pic>
        <p:nvPicPr>
          <p:cNvPr id="80" name="Original source footer-right-leaf leaf/seedling ornament, no readable ordinary text retained."/>
          <p:cNvPicPr/>
          <p:nvPr/>
        </p:nvPicPr>
        <p:blipFill>
          <a:blip r:embed="rId28"/>
          <a:stretch>
            <a:fillRect/>
          </a:stretch>
        </p:blipFill>
        <p:spPr>
          <a:xfrm>
            <a:off x="10636102" y="5754501"/>
            <a:ext cx="778738" cy="757989"/>
          </a:xfrm>
          <a:prstGeom prst="rect">
            <a:avLst/>
          </a:prstGeom>
        </p:spPr>
      </p:pic>
      <p:pic>
        <p:nvPicPr>
          <p:cNvPr id="81" name="Original source footer-ship semantic pictogram including its source circular base, source green/gold/white colors and complete strokes."/>
          <p:cNvPicPr/>
          <p:nvPr/>
        </p:nvPicPr>
        <p:blipFill>
          <a:blip r:embed="rId29"/>
          <a:stretch>
            <a:fillRect/>
          </a:stretch>
        </p:blipFill>
        <p:spPr>
          <a:xfrm>
            <a:off x="1421257" y="5701233"/>
            <a:ext cx="792100" cy="792978"/>
          </a:xfrm>
          <a:prstGeom prst="rect">
            <a:avLst/>
          </a:prstGeom>
        </p:spPr>
      </p:pic>
      <p:pic>
        <p:nvPicPr>
          <p:cNvPr id="82" name="Original source footer-target semantic pictogram including its source circular base, source green/gold/white colors and complete strokes."/>
          <p:cNvPicPr/>
          <p:nvPr/>
        </p:nvPicPr>
        <p:blipFill>
          <a:blip r:embed="rId30"/>
          <a:stretch>
            <a:fillRect/>
          </a:stretch>
        </p:blipFill>
        <p:spPr>
          <a:xfrm>
            <a:off x="6323158" y="5766961"/>
            <a:ext cx="704450" cy="704450"/>
          </a:xfrm>
          <a:prstGeom prst="rect">
            <a:avLst/>
          </a:prstGeom>
        </p:spPr>
      </p:pic>
      <p:pic>
        <p:nvPicPr>
          <p:cNvPr id="83" name="Original source left-total-left-leaf leaf/seedling ornament, no readable ordinary text retain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3800749" y="4014365"/>
            <a:ext cx="454751" cy="575030"/>
          </a:xfrm>
          <a:prstGeom prst="rect">
            <a:avLst/>
          </a:prstGeom>
        </p:spPr>
      </p:pic>
      <p:pic>
        <p:nvPicPr>
          <p:cNvPr id="84" name="Original source left-total-right-leaf leaf/seedling ornament, no readable ordinary text retain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5607735" y="4011397"/>
            <a:ext cx="389536" cy="609585"/>
          </a:xfrm>
          <a:prstGeom prst="rect">
            <a:avLst/>
          </a:prstGeom>
        </p:spPr>
      </p:pic>
      <p:pic>
        <p:nvPicPr>
          <p:cNvPr id="85" name="Original source green leaf and thin curved stem under left total capsule."/>
          <p:cNvPicPr/>
          <p:nvPr/>
        </p:nvPicPr>
        <p:blipFill>
          <a:blip r:embed="rId17"/>
          <a:stretch>
            <a:fillRect/>
          </a:stretch>
        </p:blipFill>
        <p:spPr>
          <a:xfrm>
            <a:off x="5228321" y="5062714"/>
            <a:ext cx="704769" cy="495970"/>
          </a:xfrm>
          <a:prstGeom prst="rect">
            <a:avLst/>
          </a:prstGeom>
        </p:spPr>
      </p:pic>
      <p:pic>
        <p:nvPicPr>
          <p:cNvPr id="86" name="Original source right-total-left-leaf leaf/seedling ornament, no readable ordinary text retained."/>
          <p:cNvPicPr/>
          <p:nvPr/>
        </p:nvPicPr>
        <p:blipFill>
          <a:blip r:embed="rId25"/>
          <a:stretch>
            <a:fillRect/>
          </a:stretch>
        </p:blipFill>
        <p:spPr>
          <a:xfrm>
            <a:off x="9756591" y="4262127"/>
            <a:ext cx="520119" cy="482754"/>
          </a:xfrm>
          <a:prstGeom prst="rect">
            <a:avLst/>
          </a:prstGeom>
        </p:spPr>
      </p:pic>
      <p:pic>
        <p:nvPicPr>
          <p:cNvPr id="87" name="Original source right-total-right-leaf leaf/seedling ornament, no readable ordinary text retained."/>
          <p:cNvPicPr/>
          <p:nvPr/>
        </p:nvPicPr>
        <p:blipFill>
          <a:blip r:embed="rId26"/>
          <a:stretch>
            <a:fillRect/>
          </a:stretch>
        </p:blipFill>
        <p:spPr>
          <a:xfrm>
            <a:off x="11327974" y="4241125"/>
            <a:ext cx="396659" cy="636652"/>
          </a:xfrm>
          <a:prstGeom prst="rect">
            <a:avLst/>
          </a:prstGeom>
        </p:spPr>
      </p:pic>
      <p:graphicFrame>
        <p:nvGraphicFramePr>
          <p:cNvPr id="88" name="Table 88"/>
          <p:cNvGraphicFramePr/>
          <p:nvPr/>
        </p:nvGraphicFramePr>
        <p:xfrm>
          <a:off x="8614320" y="4380582"/>
          <a:ext cx="1001665" cy="1058903"/>
        </p:xfrm>
        <a:graphic>
          <a:graphicData uri="http://schemas.openxmlformats.org/drawingml/2006/table">
            <a:tbl>
              <a:tblPr/>
              <a:tblGrid>
                <a:gridCol w="740361"/>
                <a:gridCol w="261304"/>
              </a:tblGrid>
              <a:tr h="176484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780">
                          <a:solidFill>
                            <a:srgbClr val="2637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市场调研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r"/>
                      <a:r>
                        <a:rPr lang="zh-CN" sz="780">
                          <a:solidFill>
                            <a:srgbClr val="26372D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7.00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6484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780">
                          <a:solidFill>
                            <a:srgbClr val="2637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搜索引擎广告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r"/>
                      <a:r>
                        <a:rPr lang="zh-CN" sz="780">
                          <a:solidFill>
                            <a:srgbClr val="26372D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2.20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6484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780">
                          <a:solidFill>
                            <a:srgbClr val="2637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社交媒体广告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r"/>
                      <a:r>
                        <a:rPr lang="zh-CN" sz="780">
                          <a:solidFill>
                            <a:srgbClr val="26372D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2.80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6484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780">
                          <a:solidFill>
                            <a:srgbClr val="2637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内容营销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r"/>
                      <a:r>
                        <a:rPr lang="zh-CN" sz="780">
                          <a:solidFill>
                            <a:srgbClr val="26372D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1.10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6484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780">
                          <a:solidFill>
                            <a:srgbClr val="2637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电子邮件营销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r"/>
                      <a:r>
                        <a:rPr lang="zh-CN" sz="780">
                          <a:solidFill>
                            <a:srgbClr val="26372D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0.75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6484"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l"/>
                      <a:r>
                        <a:rPr lang="zh-CN" sz="750">
                          <a:solidFill>
                            <a:srgbClr val="2637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数据分析与优化</a:t>
                      </a:r>
                      <a:endParaRPr lang="zh-CN" sz="75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none" anchor="ctr" lIns="0" tIns="0" rIns="0" bIns="0">
                      <a:noAutofit/>
                    </a:bodyPr>
                    <a:lstStyle/>
                    <a:p>
                      <a:pPr algn="r"/>
                      <a:r>
                        <a:rPr lang="zh-CN" sz="780">
                          <a:solidFill>
                            <a:srgbClr val="26372D"/>
                          </a:solidFill>
                          <a:latin typeface="Liberation Serif"/>
                          <a:ea typeface="Liberation Serif"/>
                          <a:cs typeface="Liberation Serif"/>
                        </a:rPr>
                        <a:t>0.45</a:t>
                      </a:r>
                      <a:endParaRPr lang="zh-CN" sz="78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9" name="TextBox 89"/>
          <p:cNvSpPr txBox="1"/>
          <p:nvPr/>
        </p:nvSpPr>
        <p:spPr>
          <a:xfrm>
            <a:off x="801332" y="288064"/>
            <a:ext cx="1545426" cy="4435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 b="1" i="1">
                <a:solidFill>
                  <a:srgbClr val="FFE59C"/>
                </a:solidFill>
                <a:latin typeface="SimSun"/>
                <a:ea typeface="SimSun"/>
                <a:cs typeface="SimSun"/>
              </a:rPr>
              <a:t>资金预算</a:t>
            </a:r>
            <a:endParaRPr lang="zh-CN" sz="2650"/>
          </a:p>
        </p:txBody>
      </p:sp>
      <p:sp>
        <p:nvSpPr>
          <p:cNvPr id="90" name="TextBox 90"/>
          <p:cNvSpPr txBox="1"/>
          <p:nvPr/>
        </p:nvSpPr>
        <p:spPr>
          <a:xfrm>
            <a:off x="3076543" y="345302"/>
            <a:ext cx="2818972" cy="3577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>
                <a:solidFill>
                  <a:srgbClr val="005C38"/>
                </a:solidFill>
                <a:latin typeface="KaiTi"/>
                <a:ea typeface="KaiTi"/>
                <a:cs typeface="KaiTi"/>
              </a:rPr>
              <a:t>启动资金与费用构成</a:t>
            </a:r>
            <a:endParaRPr lang="zh-CN" sz="1850"/>
          </a:p>
        </p:txBody>
      </p:sp>
      <p:sp>
        <p:nvSpPr>
          <p:cNvPr id="91" name="TextBox 91"/>
          <p:cNvSpPr txBox="1"/>
          <p:nvPr/>
        </p:nvSpPr>
        <p:spPr>
          <a:xfrm>
            <a:off x="3963732" y="1060778"/>
            <a:ext cx="1989021" cy="3434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 i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项目开拓启动资金</a:t>
            </a:r>
            <a:endParaRPr lang="zh-CN" sz="1850"/>
          </a:p>
        </p:txBody>
      </p:sp>
      <p:sp>
        <p:nvSpPr>
          <p:cNvPr id="92" name="TextBox 92"/>
          <p:cNvSpPr txBox="1"/>
          <p:nvPr/>
        </p:nvSpPr>
        <p:spPr>
          <a:xfrm>
            <a:off x="3820637" y="1275420"/>
            <a:ext cx="1402331" cy="8299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40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130</a:t>
            </a:r>
            <a:endParaRPr lang="zh-CN" sz="6400"/>
          </a:p>
        </p:txBody>
      </p:sp>
      <p:sp>
        <p:nvSpPr>
          <p:cNvPr id="93" name="TextBox 93"/>
          <p:cNvSpPr txBox="1"/>
          <p:nvPr/>
        </p:nvSpPr>
        <p:spPr>
          <a:xfrm>
            <a:off x="5180040" y="1604539"/>
            <a:ext cx="815642" cy="4435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140" b="1" i="1">
                <a:solidFill>
                  <a:srgbClr val="AC740D"/>
                </a:solidFill>
                <a:latin typeface="SimSun"/>
                <a:ea typeface="SimSun"/>
                <a:cs typeface="SimSun"/>
              </a:rPr>
              <a:t>万美元</a:t>
            </a:r>
            <a:endParaRPr lang="zh-CN" sz="2140"/>
          </a:p>
        </p:txBody>
      </p:sp>
      <p:sp>
        <p:nvSpPr>
          <p:cNvPr id="94" name="TextBox 94"/>
          <p:cNvSpPr txBox="1"/>
          <p:nvPr/>
        </p:nvSpPr>
        <p:spPr>
          <a:xfrm>
            <a:off x="7097513" y="1232492"/>
            <a:ext cx="1259236" cy="2575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预计首年出口额</a:t>
            </a:r>
            <a:endParaRPr lang="zh-CN" sz="1340"/>
          </a:p>
        </p:txBody>
      </p:sp>
      <p:sp>
        <p:nvSpPr>
          <p:cNvPr id="95" name="TextBox 95"/>
          <p:cNvSpPr txBox="1"/>
          <p:nvPr/>
        </p:nvSpPr>
        <p:spPr>
          <a:xfrm>
            <a:off x="7083203" y="1490063"/>
            <a:ext cx="672547" cy="4579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 b="1" i="1">
                <a:solidFill>
                  <a:srgbClr val="005C38"/>
                </a:solidFill>
                <a:latin typeface="Liberation Serif"/>
                <a:ea typeface="Liberation Serif"/>
                <a:cs typeface="Liberation Serif"/>
              </a:rPr>
              <a:t>348</a:t>
            </a:r>
            <a:endParaRPr lang="zh-CN" sz="3300"/>
          </a:p>
        </p:txBody>
      </p:sp>
      <p:sp>
        <p:nvSpPr>
          <p:cNvPr id="96" name="TextBox 96"/>
          <p:cNvSpPr txBox="1"/>
          <p:nvPr/>
        </p:nvSpPr>
        <p:spPr>
          <a:xfrm>
            <a:off x="7755750" y="1604539"/>
            <a:ext cx="558071" cy="329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60" b="1" i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460"/>
          </a:p>
        </p:txBody>
      </p:sp>
      <p:sp>
        <p:nvSpPr>
          <p:cNvPr id="97" name="TextBox 97"/>
          <p:cNvSpPr txBox="1"/>
          <p:nvPr/>
        </p:nvSpPr>
        <p:spPr>
          <a:xfrm>
            <a:off x="9286866" y="1232492"/>
            <a:ext cx="1173379" cy="2575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4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计划出口泰国</a:t>
            </a:r>
            <a:endParaRPr lang="zh-CN" sz="1340"/>
          </a:p>
        </p:txBody>
      </p:sp>
      <p:sp>
        <p:nvSpPr>
          <p:cNvPr id="98" name="TextBox 98"/>
          <p:cNvSpPr txBox="1"/>
          <p:nvPr/>
        </p:nvSpPr>
        <p:spPr>
          <a:xfrm>
            <a:off x="9272557" y="1504372"/>
            <a:ext cx="844261" cy="4722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00" b="1" i="1">
                <a:solidFill>
                  <a:srgbClr val="005C38"/>
                </a:solidFill>
                <a:latin typeface="Liberation Serif"/>
                <a:ea typeface="Liberation Serif"/>
                <a:cs typeface="Liberation Serif"/>
              </a:rPr>
              <a:t>1200</a:t>
            </a:r>
            <a:endParaRPr lang="zh-CN" sz="3200"/>
          </a:p>
        </p:txBody>
      </p:sp>
      <p:sp>
        <p:nvSpPr>
          <p:cNvPr id="99" name="TextBox 99"/>
          <p:cNvSpPr txBox="1"/>
          <p:nvPr/>
        </p:nvSpPr>
        <p:spPr>
          <a:xfrm>
            <a:off x="10145436" y="1618848"/>
            <a:ext cx="300500" cy="329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 i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吨</a:t>
            </a:r>
            <a:endParaRPr lang="zh-CN" sz="1700"/>
          </a:p>
        </p:txBody>
      </p:sp>
      <p:sp>
        <p:nvSpPr>
          <p:cNvPr id="100" name="TextBox 100"/>
          <p:cNvSpPr txBox="1"/>
          <p:nvPr/>
        </p:nvSpPr>
        <p:spPr>
          <a:xfrm>
            <a:off x="1044594" y="2334323"/>
            <a:ext cx="1087522" cy="3577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出口费用</a:t>
            </a:r>
            <a:endParaRPr lang="zh-CN" sz="1900"/>
          </a:p>
        </p:txBody>
      </p:sp>
      <p:sp>
        <p:nvSpPr>
          <p:cNvPr id="101" name="TextBox 101"/>
          <p:cNvSpPr txBox="1"/>
          <p:nvPr/>
        </p:nvSpPr>
        <p:spPr>
          <a:xfrm>
            <a:off x="2132116" y="2334323"/>
            <a:ext cx="586690" cy="3577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 i="1">
                <a:solidFill>
                  <a:srgbClr val="F8D586"/>
                </a:solidFill>
                <a:latin typeface="Microsoft YaHei"/>
                <a:ea typeface="Microsoft YaHei"/>
                <a:cs typeface="Microsoft YaHei"/>
              </a:rPr>
              <a:t>预算</a:t>
            </a:r>
            <a:endParaRPr lang="zh-CN" sz="1900"/>
          </a:p>
        </p:txBody>
      </p:sp>
      <p:sp>
        <p:nvSpPr>
          <p:cNvPr id="102" name="TextBox 102"/>
          <p:cNvSpPr txBox="1"/>
          <p:nvPr/>
        </p:nvSpPr>
        <p:spPr>
          <a:xfrm>
            <a:off x="6882870" y="2334323"/>
            <a:ext cx="1116141" cy="3577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市场初期</a:t>
            </a:r>
            <a:endParaRPr lang="zh-CN" sz="1900"/>
          </a:p>
        </p:txBody>
      </p:sp>
      <p:sp>
        <p:nvSpPr>
          <p:cNvPr id="103" name="TextBox 103"/>
          <p:cNvSpPr txBox="1"/>
          <p:nvPr/>
        </p:nvSpPr>
        <p:spPr>
          <a:xfrm>
            <a:off x="8013321" y="2334323"/>
            <a:ext cx="1144760" cy="3577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 i="1">
                <a:solidFill>
                  <a:srgbClr val="F8D586"/>
                </a:solidFill>
                <a:latin typeface="Microsoft YaHei"/>
                <a:ea typeface="Microsoft YaHei"/>
                <a:cs typeface="Microsoft YaHei"/>
              </a:rPr>
              <a:t>开拓预算</a:t>
            </a:r>
            <a:endParaRPr lang="zh-CN" sz="1900"/>
          </a:p>
        </p:txBody>
      </p:sp>
      <p:sp>
        <p:nvSpPr>
          <p:cNvPr id="104" name="TextBox 104"/>
          <p:cNvSpPr txBox="1"/>
          <p:nvPr/>
        </p:nvSpPr>
        <p:spPr>
          <a:xfrm>
            <a:off x="1230617" y="2906703"/>
            <a:ext cx="658237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报关手续费</a:t>
            </a:r>
            <a:endParaRPr lang="zh-CN" sz="950"/>
          </a:p>
        </p:txBody>
      </p:sp>
      <p:sp>
        <p:nvSpPr>
          <p:cNvPr id="105" name="TextBox 105"/>
          <p:cNvSpPr txBox="1"/>
          <p:nvPr/>
        </p:nvSpPr>
        <p:spPr>
          <a:xfrm>
            <a:off x="1201998" y="3149965"/>
            <a:ext cx="686856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6.96</a:t>
            </a:r>
            <a:endParaRPr lang="zh-CN" sz="2400"/>
          </a:p>
        </p:txBody>
      </p:sp>
      <p:sp>
        <p:nvSpPr>
          <p:cNvPr id="106" name="TextBox 106"/>
          <p:cNvSpPr txBox="1"/>
          <p:nvPr/>
        </p:nvSpPr>
        <p:spPr>
          <a:xfrm>
            <a:off x="1230617" y="3493393"/>
            <a:ext cx="643928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000"/>
          </a:p>
        </p:txBody>
      </p:sp>
      <p:sp>
        <p:nvSpPr>
          <p:cNvPr id="107" name="TextBox 107"/>
          <p:cNvSpPr txBox="1"/>
          <p:nvPr/>
        </p:nvSpPr>
        <p:spPr>
          <a:xfrm>
            <a:off x="2532782" y="2906703"/>
            <a:ext cx="701166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检验检疫费用</a:t>
            </a:r>
            <a:endParaRPr lang="zh-CN" sz="919"/>
          </a:p>
        </p:txBody>
      </p:sp>
      <p:sp>
        <p:nvSpPr>
          <p:cNvPr id="108" name="TextBox 108"/>
          <p:cNvSpPr txBox="1"/>
          <p:nvPr/>
        </p:nvSpPr>
        <p:spPr>
          <a:xfrm>
            <a:off x="2518472" y="3149965"/>
            <a:ext cx="744094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2.784</a:t>
            </a:r>
            <a:endParaRPr lang="zh-CN" sz="2400"/>
          </a:p>
        </p:txBody>
      </p:sp>
      <p:sp>
        <p:nvSpPr>
          <p:cNvPr id="109" name="TextBox 109"/>
          <p:cNvSpPr txBox="1"/>
          <p:nvPr/>
        </p:nvSpPr>
        <p:spPr>
          <a:xfrm>
            <a:off x="2547091" y="3493393"/>
            <a:ext cx="67254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000"/>
          </a:p>
        </p:txBody>
      </p:sp>
      <p:sp>
        <p:nvSpPr>
          <p:cNvPr id="110" name="TextBox 110"/>
          <p:cNvSpPr txBox="1"/>
          <p:nvPr/>
        </p:nvSpPr>
        <p:spPr>
          <a:xfrm>
            <a:off x="3863565" y="2906703"/>
            <a:ext cx="615309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运输费用</a:t>
            </a:r>
            <a:endParaRPr lang="zh-CN" sz="950"/>
          </a:p>
        </p:txBody>
      </p:sp>
      <p:sp>
        <p:nvSpPr>
          <p:cNvPr id="111" name="TextBox 111"/>
          <p:cNvSpPr txBox="1"/>
          <p:nvPr/>
        </p:nvSpPr>
        <p:spPr>
          <a:xfrm>
            <a:off x="3777708" y="3149965"/>
            <a:ext cx="729785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24.36</a:t>
            </a:r>
            <a:endParaRPr lang="zh-CN" sz="2400"/>
          </a:p>
        </p:txBody>
      </p:sp>
      <p:sp>
        <p:nvSpPr>
          <p:cNvPr id="112" name="TextBox 112"/>
          <p:cNvSpPr txBox="1"/>
          <p:nvPr/>
        </p:nvSpPr>
        <p:spPr>
          <a:xfrm>
            <a:off x="3806327" y="3493393"/>
            <a:ext cx="643928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000"/>
          </a:p>
        </p:txBody>
      </p:sp>
      <p:sp>
        <p:nvSpPr>
          <p:cNvPr id="113" name="TextBox 113"/>
          <p:cNvSpPr txBox="1"/>
          <p:nvPr/>
        </p:nvSpPr>
        <p:spPr>
          <a:xfrm>
            <a:off x="5165730" y="2906703"/>
            <a:ext cx="658237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关税和税费</a:t>
            </a:r>
            <a:endParaRPr lang="zh-CN" sz="950"/>
          </a:p>
        </p:txBody>
      </p:sp>
      <p:sp>
        <p:nvSpPr>
          <p:cNvPr id="114" name="TextBox 114"/>
          <p:cNvSpPr txBox="1"/>
          <p:nvPr/>
        </p:nvSpPr>
        <p:spPr>
          <a:xfrm>
            <a:off x="5151421" y="3149965"/>
            <a:ext cx="643928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17.4</a:t>
            </a:r>
            <a:endParaRPr lang="zh-CN" sz="2400"/>
          </a:p>
        </p:txBody>
      </p:sp>
      <p:sp>
        <p:nvSpPr>
          <p:cNvPr id="115" name="TextBox 115"/>
          <p:cNvSpPr txBox="1"/>
          <p:nvPr/>
        </p:nvSpPr>
        <p:spPr>
          <a:xfrm>
            <a:off x="5165730" y="3493393"/>
            <a:ext cx="643928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000"/>
          </a:p>
        </p:txBody>
      </p:sp>
      <p:sp>
        <p:nvSpPr>
          <p:cNvPr id="116" name="TextBox 116"/>
          <p:cNvSpPr txBox="1"/>
          <p:nvPr/>
        </p:nvSpPr>
        <p:spPr>
          <a:xfrm>
            <a:off x="701166" y="3879749"/>
            <a:ext cx="2561401" cy="2575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各项费用占比（万美元）</a:t>
            </a:r>
            <a:endParaRPr lang="zh-CN" sz="1150"/>
          </a:p>
        </p:txBody>
      </p:sp>
      <p:sp>
        <p:nvSpPr>
          <p:cNvPr id="117" name="TextBox 117"/>
          <p:cNvSpPr txBox="1"/>
          <p:nvPr/>
        </p:nvSpPr>
        <p:spPr>
          <a:xfrm>
            <a:off x="643928" y="4838486"/>
            <a:ext cx="171714" cy="1717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740">
                <a:solidFill>
                  <a:srgbClr val="4E5350"/>
                </a:solidFill>
                <a:latin typeface="Microsoft YaHei"/>
                <a:ea typeface="Microsoft YaHei"/>
                <a:cs typeface="Microsoft YaHei"/>
              </a:rPr>
              <a:t>0</a:t>
            </a:r>
            <a:endParaRPr lang="zh-CN" sz="740"/>
          </a:p>
        </p:txBody>
      </p:sp>
      <p:sp>
        <p:nvSpPr>
          <p:cNvPr id="118" name="TextBox 118"/>
          <p:cNvSpPr txBox="1"/>
          <p:nvPr/>
        </p:nvSpPr>
        <p:spPr>
          <a:xfrm>
            <a:off x="643928" y="4614304"/>
            <a:ext cx="171714" cy="1717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740">
                <a:solidFill>
                  <a:srgbClr val="4E5350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lang="zh-CN" sz="740"/>
          </a:p>
        </p:txBody>
      </p:sp>
      <p:sp>
        <p:nvSpPr>
          <p:cNvPr id="119" name="TextBox 119"/>
          <p:cNvSpPr txBox="1"/>
          <p:nvPr/>
        </p:nvSpPr>
        <p:spPr>
          <a:xfrm>
            <a:off x="643928" y="4390122"/>
            <a:ext cx="171714" cy="1717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740">
                <a:solidFill>
                  <a:srgbClr val="4E5350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lang="zh-CN" sz="740"/>
          </a:p>
        </p:txBody>
      </p:sp>
      <p:sp>
        <p:nvSpPr>
          <p:cNvPr id="120" name="TextBox 120"/>
          <p:cNvSpPr txBox="1"/>
          <p:nvPr/>
        </p:nvSpPr>
        <p:spPr>
          <a:xfrm>
            <a:off x="643928" y="4165939"/>
            <a:ext cx="171714" cy="1717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740">
                <a:solidFill>
                  <a:srgbClr val="4E5350"/>
                </a:solidFill>
                <a:latin typeface="Microsoft YaHei"/>
                <a:ea typeface="Microsoft YaHei"/>
                <a:cs typeface="Microsoft YaHei"/>
              </a:rPr>
              <a:t>30</a:t>
            </a:r>
            <a:endParaRPr lang="zh-CN" sz="740"/>
          </a:p>
        </p:txBody>
      </p:sp>
      <p:sp>
        <p:nvSpPr>
          <p:cNvPr id="121" name="TextBox 121"/>
          <p:cNvSpPr txBox="1"/>
          <p:nvPr/>
        </p:nvSpPr>
        <p:spPr>
          <a:xfrm>
            <a:off x="973046" y="4525051"/>
            <a:ext cx="543761" cy="24326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 b="1">
                <a:solidFill>
                  <a:srgbClr val="242B25"/>
                </a:solidFill>
                <a:latin typeface="Liberation Serif"/>
                <a:ea typeface="Liberation Serif"/>
                <a:cs typeface="Liberation Serif"/>
              </a:rPr>
              <a:t>6.96</a:t>
            </a:r>
            <a:endParaRPr lang="zh-CN" sz="1100"/>
          </a:p>
        </p:txBody>
      </p:sp>
      <p:sp>
        <p:nvSpPr>
          <p:cNvPr id="122" name="TextBox 122"/>
          <p:cNvSpPr txBox="1"/>
          <p:nvPr/>
        </p:nvSpPr>
        <p:spPr>
          <a:xfrm>
            <a:off x="801332" y="4967271"/>
            <a:ext cx="887189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70" b="1">
                <a:solidFill>
                  <a:srgbClr val="242B25"/>
                </a:solidFill>
                <a:latin typeface="Microsoft YaHei"/>
                <a:ea typeface="Microsoft YaHei"/>
                <a:cs typeface="Microsoft YaHei"/>
              </a:rPr>
              <a:t>报关手续费</a:t>
            </a:r>
            <a:endParaRPr lang="zh-CN" sz="770"/>
          </a:p>
        </p:txBody>
      </p:sp>
      <p:sp>
        <p:nvSpPr>
          <p:cNvPr id="123" name="TextBox 123"/>
          <p:cNvSpPr txBox="1"/>
          <p:nvPr/>
        </p:nvSpPr>
        <p:spPr>
          <a:xfrm>
            <a:off x="1645593" y="4618669"/>
            <a:ext cx="543761" cy="24326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 b="1">
                <a:solidFill>
                  <a:srgbClr val="242B25"/>
                </a:solidFill>
                <a:latin typeface="Liberation Serif"/>
                <a:ea typeface="Liberation Serif"/>
                <a:cs typeface="Liberation Serif"/>
              </a:rPr>
              <a:t>2.784</a:t>
            </a:r>
            <a:endParaRPr lang="zh-CN" sz="1100"/>
          </a:p>
        </p:txBody>
      </p:sp>
      <p:sp>
        <p:nvSpPr>
          <p:cNvPr id="124" name="TextBox 124"/>
          <p:cNvSpPr txBox="1"/>
          <p:nvPr/>
        </p:nvSpPr>
        <p:spPr>
          <a:xfrm>
            <a:off x="1473879" y="4967271"/>
            <a:ext cx="887189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70" b="1">
                <a:solidFill>
                  <a:srgbClr val="242B25"/>
                </a:solidFill>
                <a:latin typeface="Microsoft YaHei"/>
                <a:ea typeface="Microsoft YaHei"/>
                <a:cs typeface="Microsoft YaHei"/>
              </a:rPr>
              <a:t>检验检疫费用</a:t>
            </a:r>
            <a:endParaRPr lang="zh-CN" sz="770"/>
          </a:p>
        </p:txBody>
      </p:sp>
      <p:sp>
        <p:nvSpPr>
          <p:cNvPr id="125" name="TextBox 125"/>
          <p:cNvSpPr txBox="1"/>
          <p:nvPr/>
        </p:nvSpPr>
        <p:spPr>
          <a:xfrm>
            <a:off x="2361068" y="4134974"/>
            <a:ext cx="543761" cy="24326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 b="1">
                <a:solidFill>
                  <a:srgbClr val="242B25"/>
                </a:solidFill>
                <a:latin typeface="Liberation Serif"/>
                <a:ea typeface="Liberation Serif"/>
                <a:cs typeface="Liberation Serif"/>
              </a:rPr>
              <a:t>24.36</a:t>
            </a:r>
            <a:endParaRPr lang="zh-CN" sz="1100"/>
          </a:p>
        </p:txBody>
      </p:sp>
      <p:sp>
        <p:nvSpPr>
          <p:cNvPr id="126" name="TextBox 126"/>
          <p:cNvSpPr txBox="1"/>
          <p:nvPr/>
        </p:nvSpPr>
        <p:spPr>
          <a:xfrm>
            <a:off x="2189354" y="4967271"/>
            <a:ext cx="887189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70" b="1">
                <a:solidFill>
                  <a:srgbClr val="242B25"/>
                </a:solidFill>
                <a:latin typeface="Microsoft YaHei"/>
                <a:ea typeface="Microsoft YaHei"/>
                <a:cs typeface="Microsoft YaHei"/>
              </a:rPr>
              <a:t>运输费用</a:t>
            </a:r>
            <a:endParaRPr lang="zh-CN" sz="770"/>
          </a:p>
        </p:txBody>
      </p:sp>
      <p:sp>
        <p:nvSpPr>
          <p:cNvPr id="127" name="TextBox 127"/>
          <p:cNvSpPr txBox="1"/>
          <p:nvPr/>
        </p:nvSpPr>
        <p:spPr>
          <a:xfrm>
            <a:off x="3062233" y="4291004"/>
            <a:ext cx="543761" cy="24326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0" b="1">
                <a:solidFill>
                  <a:srgbClr val="242B25"/>
                </a:solidFill>
                <a:latin typeface="Liberation Serif"/>
                <a:ea typeface="Liberation Serif"/>
                <a:cs typeface="Liberation Serif"/>
              </a:rPr>
              <a:t>17.4</a:t>
            </a:r>
            <a:endParaRPr lang="zh-CN" sz="1100"/>
          </a:p>
        </p:txBody>
      </p:sp>
      <p:sp>
        <p:nvSpPr>
          <p:cNvPr id="128" name="TextBox 128"/>
          <p:cNvSpPr txBox="1"/>
          <p:nvPr/>
        </p:nvSpPr>
        <p:spPr>
          <a:xfrm>
            <a:off x="2890519" y="4967271"/>
            <a:ext cx="887189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70" b="1">
                <a:solidFill>
                  <a:srgbClr val="242B25"/>
                </a:solidFill>
                <a:latin typeface="Microsoft YaHei"/>
                <a:ea typeface="Microsoft YaHei"/>
                <a:cs typeface="Microsoft YaHei"/>
              </a:rPr>
              <a:t>关税和税费</a:t>
            </a:r>
            <a:endParaRPr lang="zh-CN" sz="770"/>
          </a:p>
        </p:txBody>
      </p:sp>
      <p:sp>
        <p:nvSpPr>
          <p:cNvPr id="129" name="TextBox 129"/>
          <p:cNvSpPr txBox="1"/>
          <p:nvPr/>
        </p:nvSpPr>
        <p:spPr>
          <a:xfrm>
            <a:off x="4807992" y="4266106"/>
            <a:ext cx="815642" cy="2575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合计约</a:t>
            </a:r>
            <a:endParaRPr lang="zh-CN" sz="1350"/>
          </a:p>
        </p:txBody>
      </p:sp>
      <p:sp>
        <p:nvSpPr>
          <p:cNvPr id="130" name="TextBox 130"/>
          <p:cNvSpPr txBox="1"/>
          <p:nvPr/>
        </p:nvSpPr>
        <p:spPr>
          <a:xfrm>
            <a:off x="4736445" y="4480748"/>
            <a:ext cx="1087522" cy="4865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50" b="1" i="1">
                <a:solidFill>
                  <a:srgbClr val="FFF4CD"/>
                </a:solidFill>
                <a:latin typeface="Liberation Serif"/>
                <a:ea typeface="Liberation Serif"/>
                <a:cs typeface="Liberation Serif"/>
              </a:rPr>
              <a:t>51.50</a:t>
            </a:r>
            <a:endParaRPr lang="zh-CN" sz="3750"/>
          </a:p>
        </p:txBody>
      </p:sp>
      <p:sp>
        <p:nvSpPr>
          <p:cNvPr id="131" name="TextBox 131"/>
          <p:cNvSpPr txBox="1"/>
          <p:nvPr/>
        </p:nvSpPr>
        <p:spPr>
          <a:xfrm>
            <a:off x="4765064" y="4924343"/>
            <a:ext cx="844261" cy="27188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350"/>
          </a:p>
        </p:txBody>
      </p:sp>
      <p:sp>
        <p:nvSpPr>
          <p:cNvPr id="132" name="TextBox 132"/>
          <p:cNvSpPr txBox="1"/>
          <p:nvPr/>
        </p:nvSpPr>
        <p:spPr>
          <a:xfrm>
            <a:off x="6983037" y="2820846"/>
            <a:ext cx="94442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市场调研</a:t>
            </a:r>
            <a:endParaRPr lang="zh-CN" sz="910"/>
          </a:p>
        </p:txBody>
      </p:sp>
      <p:sp>
        <p:nvSpPr>
          <p:cNvPr id="133" name="TextBox 133"/>
          <p:cNvSpPr txBox="1"/>
          <p:nvPr/>
        </p:nvSpPr>
        <p:spPr>
          <a:xfrm>
            <a:off x="6968727" y="3006870"/>
            <a:ext cx="558071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7.00</a:t>
            </a:r>
            <a:endParaRPr lang="zh-CN" sz="2250"/>
          </a:p>
        </p:txBody>
      </p:sp>
      <p:sp>
        <p:nvSpPr>
          <p:cNvPr id="134" name="TextBox 134"/>
          <p:cNvSpPr txBox="1"/>
          <p:nvPr/>
        </p:nvSpPr>
        <p:spPr>
          <a:xfrm>
            <a:off x="7526798" y="3107036"/>
            <a:ext cx="400666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800"/>
          </a:p>
        </p:txBody>
      </p:sp>
      <p:sp>
        <p:nvSpPr>
          <p:cNvPr id="135" name="TextBox 135"/>
          <p:cNvSpPr txBox="1"/>
          <p:nvPr/>
        </p:nvSpPr>
        <p:spPr>
          <a:xfrm>
            <a:off x="8671558" y="2820846"/>
            <a:ext cx="94442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搜索引擎广告</a:t>
            </a:r>
            <a:endParaRPr lang="zh-CN" sz="910"/>
          </a:p>
        </p:txBody>
      </p:sp>
      <p:sp>
        <p:nvSpPr>
          <p:cNvPr id="136" name="TextBox 136"/>
          <p:cNvSpPr txBox="1"/>
          <p:nvPr/>
        </p:nvSpPr>
        <p:spPr>
          <a:xfrm>
            <a:off x="8657248" y="3006870"/>
            <a:ext cx="558071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2.20</a:t>
            </a:r>
            <a:endParaRPr lang="zh-CN" sz="2250"/>
          </a:p>
        </p:txBody>
      </p:sp>
      <p:sp>
        <p:nvSpPr>
          <p:cNvPr id="137" name="TextBox 137"/>
          <p:cNvSpPr txBox="1"/>
          <p:nvPr/>
        </p:nvSpPr>
        <p:spPr>
          <a:xfrm>
            <a:off x="9215319" y="3107036"/>
            <a:ext cx="400666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800"/>
          </a:p>
        </p:txBody>
      </p:sp>
      <p:sp>
        <p:nvSpPr>
          <p:cNvPr id="138" name="TextBox 138"/>
          <p:cNvSpPr txBox="1"/>
          <p:nvPr/>
        </p:nvSpPr>
        <p:spPr>
          <a:xfrm>
            <a:off x="10360079" y="2820846"/>
            <a:ext cx="94442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社交媒体广告</a:t>
            </a:r>
            <a:endParaRPr lang="zh-CN" sz="910"/>
          </a:p>
        </p:txBody>
      </p:sp>
      <p:sp>
        <p:nvSpPr>
          <p:cNvPr id="139" name="TextBox 139"/>
          <p:cNvSpPr txBox="1"/>
          <p:nvPr/>
        </p:nvSpPr>
        <p:spPr>
          <a:xfrm>
            <a:off x="10345770" y="3006870"/>
            <a:ext cx="558071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2.80</a:t>
            </a:r>
            <a:endParaRPr lang="zh-CN" sz="2250"/>
          </a:p>
        </p:txBody>
      </p:sp>
      <p:sp>
        <p:nvSpPr>
          <p:cNvPr id="140" name="TextBox 140"/>
          <p:cNvSpPr txBox="1"/>
          <p:nvPr/>
        </p:nvSpPr>
        <p:spPr>
          <a:xfrm>
            <a:off x="10903840" y="3107036"/>
            <a:ext cx="400666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800"/>
          </a:p>
        </p:txBody>
      </p:sp>
      <p:sp>
        <p:nvSpPr>
          <p:cNvPr id="141" name="TextBox 141"/>
          <p:cNvSpPr txBox="1"/>
          <p:nvPr/>
        </p:nvSpPr>
        <p:spPr>
          <a:xfrm>
            <a:off x="6983037" y="3536321"/>
            <a:ext cx="94442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内容营销</a:t>
            </a:r>
            <a:endParaRPr lang="zh-CN" sz="910"/>
          </a:p>
        </p:txBody>
      </p:sp>
      <p:sp>
        <p:nvSpPr>
          <p:cNvPr id="142" name="TextBox 142"/>
          <p:cNvSpPr txBox="1"/>
          <p:nvPr/>
        </p:nvSpPr>
        <p:spPr>
          <a:xfrm>
            <a:off x="6968727" y="3722345"/>
            <a:ext cx="558071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1.10</a:t>
            </a:r>
            <a:endParaRPr lang="zh-CN" sz="2250"/>
          </a:p>
        </p:txBody>
      </p:sp>
      <p:sp>
        <p:nvSpPr>
          <p:cNvPr id="143" name="TextBox 143"/>
          <p:cNvSpPr txBox="1"/>
          <p:nvPr/>
        </p:nvSpPr>
        <p:spPr>
          <a:xfrm>
            <a:off x="7526798" y="3822511"/>
            <a:ext cx="400666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800"/>
          </a:p>
        </p:txBody>
      </p:sp>
      <p:sp>
        <p:nvSpPr>
          <p:cNvPr id="144" name="TextBox 144"/>
          <p:cNvSpPr txBox="1"/>
          <p:nvPr/>
        </p:nvSpPr>
        <p:spPr>
          <a:xfrm>
            <a:off x="8671558" y="3536321"/>
            <a:ext cx="94442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电子邮件营销</a:t>
            </a:r>
            <a:endParaRPr lang="zh-CN" sz="910"/>
          </a:p>
        </p:txBody>
      </p:sp>
      <p:sp>
        <p:nvSpPr>
          <p:cNvPr id="145" name="TextBox 145"/>
          <p:cNvSpPr txBox="1"/>
          <p:nvPr/>
        </p:nvSpPr>
        <p:spPr>
          <a:xfrm>
            <a:off x="8657248" y="3722345"/>
            <a:ext cx="558071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0.75</a:t>
            </a:r>
            <a:endParaRPr lang="zh-CN" sz="2250"/>
          </a:p>
        </p:txBody>
      </p:sp>
      <p:sp>
        <p:nvSpPr>
          <p:cNvPr id="146" name="TextBox 146"/>
          <p:cNvSpPr txBox="1"/>
          <p:nvPr/>
        </p:nvSpPr>
        <p:spPr>
          <a:xfrm>
            <a:off x="9215319" y="3822511"/>
            <a:ext cx="400666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800"/>
          </a:p>
        </p:txBody>
      </p:sp>
      <p:sp>
        <p:nvSpPr>
          <p:cNvPr id="147" name="TextBox 147"/>
          <p:cNvSpPr txBox="1"/>
          <p:nvPr/>
        </p:nvSpPr>
        <p:spPr>
          <a:xfrm>
            <a:off x="10360079" y="3536321"/>
            <a:ext cx="94442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数据分析与优化</a:t>
            </a:r>
            <a:endParaRPr lang="zh-CN" sz="910"/>
          </a:p>
        </p:txBody>
      </p:sp>
      <p:sp>
        <p:nvSpPr>
          <p:cNvPr id="148" name="TextBox 148"/>
          <p:cNvSpPr txBox="1"/>
          <p:nvPr/>
        </p:nvSpPr>
        <p:spPr>
          <a:xfrm>
            <a:off x="10345770" y="3722345"/>
            <a:ext cx="558071" cy="372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 i="1">
                <a:solidFill>
                  <a:srgbClr val="AC740D"/>
                </a:solidFill>
                <a:latin typeface="Liberation Serif"/>
                <a:ea typeface="Liberation Serif"/>
                <a:cs typeface="Liberation Serif"/>
              </a:rPr>
              <a:t>0.45</a:t>
            </a:r>
            <a:endParaRPr lang="zh-CN" sz="2250"/>
          </a:p>
        </p:txBody>
      </p:sp>
      <p:sp>
        <p:nvSpPr>
          <p:cNvPr id="149" name="TextBox 149"/>
          <p:cNvSpPr txBox="1"/>
          <p:nvPr/>
        </p:nvSpPr>
        <p:spPr>
          <a:xfrm>
            <a:off x="10903840" y="3822511"/>
            <a:ext cx="400666" cy="2289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800"/>
          </a:p>
        </p:txBody>
      </p:sp>
      <p:sp>
        <p:nvSpPr>
          <p:cNvPr id="150" name="TextBox 150"/>
          <p:cNvSpPr txBox="1"/>
          <p:nvPr/>
        </p:nvSpPr>
        <p:spPr>
          <a:xfrm>
            <a:off x="6467895" y="4165939"/>
            <a:ext cx="2518472" cy="24326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各项费用占比（万美元）</a:t>
            </a:r>
            <a:endParaRPr lang="zh-CN" sz="1050"/>
          </a:p>
        </p:txBody>
      </p:sp>
      <p:sp>
        <p:nvSpPr>
          <p:cNvPr id="151" name="TextBox 151"/>
          <p:cNvSpPr txBox="1"/>
          <p:nvPr/>
        </p:nvSpPr>
        <p:spPr>
          <a:xfrm>
            <a:off x="7812988" y="4466439"/>
            <a:ext cx="386357" cy="20033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252D27"/>
                </a:solidFill>
                <a:latin typeface="Liberation Serif"/>
                <a:ea typeface="Liberation Serif"/>
                <a:cs typeface="Liberation Serif"/>
              </a:rPr>
              <a:t>7.00</a:t>
            </a:r>
            <a:endParaRPr lang="zh-CN" sz="880"/>
          </a:p>
        </p:txBody>
      </p:sp>
      <p:sp>
        <p:nvSpPr>
          <p:cNvPr id="152" name="TextBox 152"/>
          <p:cNvSpPr txBox="1"/>
          <p:nvPr/>
        </p:nvSpPr>
        <p:spPr>
          <a:xfrm>
            <a:off x="7812988" y="5196223"/>
            <a:ext cx="400666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252D27"/>
                </a:solidFill>
                <a:latin typeface="Liberation Serif"/>
                <a:ea typeface="Liberation Serif"/>
                <a:cs typeface="Liberation Serif"/>
              </a:rPr>
              <a:t>2.20</a:t>
            </a:r>
            <a:endParaRPr lang="zh-CN" sz="880"/>
          </a:p>
        </p:txBody>
      </p:sp>
      <p:sp>
        <p:nvSpPr>
          <p:cNvPr id="153" name="TextBox 153"/>
          <p:cNvSpPr txBox="1"/>
          <p:nvPr/>
        </p:nvSpPr>
        <p:spPr>
          <a:xfrm>
            <a:off x="6568061" y="5267771"/>
            <a:ext cx="400666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252D27"/>
                </a:solidFill>
                <a:latin typeface="Liberation Serif"/>
                <a:ea typeface="Liberation Serif"/>
                <a:cs typeface="Liberation Serif"/>
              </a:rPr>
              <a:t>2.80</a:t>
            </a:r>
            <a:endParaRPr lang="zh-CN" sz="880"/>
          </a:p>
        </p:txBody>
      </p:sp>
      <p:sp>
        <p:nvSpPr>
          <p:cNvPr id="154" name="TextBox 154"/>
          <p:cNvSpPr txBox="1"/>
          <p:nvPr/>
        </p:nvSpPr>
        <p:spPr>
          <a:xfrm>
            <a:off x="6453585" y="4852795"/>
            <a:ext cx="38635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252D27"/>
                </a:solidFill>
                <a:latin typeface="Liberation Serif"/>
                <a:ea typeface="Liberation Serif"/>
                <a:cs typeface="Liberation Serif"/>
              </a:rPr>
              <a:t>1.10</a:t>
            </a:r>
            <a:endParaRPr lang="zh-CN" sz="880"/>
          </a:p>
        </p:txBody>
      </p:sp>
      <p:sp>
        <p:nvSpPr>
          <p:cNvPr id="155" name="TextBox 155"/>
          <p:cNvSpPr txBox="1"/>
          <p:nvPr/>
        </p:nvSpPr>
        <p:spPr>
          <a:xfrm>
            <a:off x="6510823" y="4595224"/>
            <a:ext cx="38635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252D27"/>
                </a:solidFill>
                <a:latin typeface="Liberation Serif"/>
                <a:ea typeface="Liberation Serif"/>
                <a:cs typeface="Liberation Serif"/>
              </a:rPr>
              <a:t>0.75</a:t>
            </a:r>
            <a:endParaRPr lang="zh-CN" sz="880"/>
          </a:p>
        </p:txBody>
      </p:sp>
      <p:sp>
        <p:nvSpPr>
          <p:cNvPr id="156" name="TextBox 156"/>
          <p:cNvSpPr txBox="1"/>
          <p:nvPr/>
        </p:nvSpPr>
        <p:spPr>
          <a:xfrm>
            <a:off x="6897180" y="4380582"/>
            <a:ext cx="386357" cy="2146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252D27"/>
                </a:solidFill>
                <a:latin typeface="Liberation Serif"/>
                <a:ea typeface="Liberation Serif"/>
                <a:cs typeface="Liberation Serif"/>
              </a:rPr>
              <a:t>0.45</a:t>
            </a:r>
            <a:endParaRPr lang="zh-CN" sz="880"/>
          </a:p>
        </p:txBody>
      </p:sp>
      <p:sp>
        <p:nvSpPr>
          <p:cNvPr id="157" name="TextBox 157"/>
          <p:cNvSpPr txBox="1"/>
          <p:nvPr/>
        </p:nvSpPr>
        <p:spPr>
          <a:xfrm>
            <a:off x="10717817" y="4466439"/>
            <a:ext cx="815642" cy="2575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合计约</a:t>
            </a:r>
            <a:endParaRPr lang="zh-CN" sz="1350"/>
          </a:p>
        </p:txBody>
      </p:sp>
      <p:sp>
        <p:nvSpPr>
          <p:cNvPr id="158" name="TextBox 158"/>
          <p:cNvSpPr txBox="1"/>
          <p:nvPr/>
        </p:nvSpPr>
        <p:spPr>
          <a:xfrm>
            <a:off x="10617650" y="4681081"/>
            <a:ext cx="987356" cy="4435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00" b="1" i="1">
                <a:solidFill>
                  <a:srgbClr val="FFF4CD"/>
                </a:solidFill>
                <a:latin typeface="Liberation Serif"/>
                <a:ea typeface="Liberation Serif"/>
                <a:cs typeface="Liberation Serif"/>
              </a:rPr>
              <a:t>14.30</a:t>
            </a:r>
            <a:endParaRPr lang="zh-CN" sz="3500"/>
          </a:p>
        </p:txBody>
      </p:sp>
      <p:sp>
        <p:nvSpPr>
          <p:cNvPr id="159" name="TextBox 159"/>
          <p:cNvSpPr txBox="1"/>
          <p:nvPr/>
        </p:nvSpPr>
        <p:spPr>
          <a:xfrm>
            <a:off x="10703507" y="5081747"/>
            <a:ext cx="772713" cy="2575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万美元</a:t>
            </a:r>
            <a:endParaRPr lang="zh-CN" sz="1350"/>
          </a:p>
        </p:txBody>
      </p:sp>
      <p:sp>
        <p:nvSpPr>
          <p:cNvPr id="160" name="TextBox 160"/>
          <p:cNvSpPr txBox="1"/>
          <p:nvPr/>
        </p:nvSpPr>
        <p:spPr>
          <a:xfrm>
            <a:off x="2246592" y="5926008"/>
            <a:ext cx="2275211" cy="414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 i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出口保障 + 市场开拓</a:t>
            </a:r>
            <a:endParaRPr lang="zh-CN" sz="1800"/>
          </a:p>
        </p:txBody>
      </p:sp>
      <p:sp>
        <p:nvSpPr>
          <p:cNvPr id="161" name="TextBox 161"/>
          <p:cNvSpPr txBox="1"/>
          <p:nvPr/>
        </p:nvSpPr>
        <p:spPr>
          <a:xfrm>
            <a:off x="4493183" y="5911698"/>
            <a:ext cx="1430950" cy="4435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>
                <a:solidFill>
                  <a:srgbClr val="AC740D"/>
                </a:solidFill>
                <a:latin typeface="KaiTi"/>
                <a:ea typeface="KaiTi"/>
                <a:cs typeface="KaiTi"/>
              </a:rPr>
              <a:t>双轮驱动</a:t>
            </a:r>
            <a:endParaRPr lang="zh-CN" sz="2500"/>
          </a:p>
        </p:txBody>
      </p:sp>
      <p:sp>
        <p:nvSpPr>
          <p:cNvPr id="162" name="TextBox 162"/>
          <p:cNvSpPr txBox="1"/>
          <p:nvPr/>
        </p:nvSpPr>
        <p:spPr>
          <a:xfrm>
            <a:off x="7154751" y="5954627"/>
            <a:ext cx="3362733" cy="4006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70" b="1" i="1">
                <a:solidFill>
                  <a:srgbClr val="005C38"/>
                </a:solidFill>
                <a:latin typeface="Microsoft YaHei"/>
                <a:ea typeface="Microsoft YaHei"/>
                <a:cs typeface="Microsoft YaHei"/>
              </a:rPr>
              <a:t>高效利用资金，精准触达目标市场</a:t>
            </a:r>
            <a:endParaRPr lang="zh-CN" sz="1770"/>
          </a:p>
        </p:txBody>
      </p:sp>
      <p:sp>
        <p:nvSpPr>
          <p:cNvPr id="163" name="Path 163"/>
          <p:cNvSpPr/>
          <p:nvPr/>
        </p:nvSpPr>
        <p:spPr>
          <a:xfrm>
            <a:off x="0" y="6298055"/>
            <a:ext cx="12191695" cy="97304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318"/>
                </a:moveTo>
                <a:cubicBezTo>
                  <a:pt x="4817" y="5082"/>
                  <a:pt x="8265" y="14612"/>
                  <a:pt x="10800" y="16835"/>
                </a:cubicBezTo>
                <a:cubicBezTo>
                  <a:pt x="13741" y="15247"/>
                  <a:pt x="18228" y="4765"/>
                  <a:pt x="21600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Path 164"/>
          <p:cNvSpPr/>
          <p:nvPr/>
        </p:nvSpPr>
        <p:spPr>
          <a:xfrm>
            <a:off x="0" y="6298055"/>
            <a:ext cx="12191695" cy="97304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224"/>
                </a:moveTo>
                <a:cubicBezTo>
                  <a:pt x="4817" y="6988"/>
                  <a:pt x="8265" y="16200"/>
                  <a:pt x="10800" y="18424"/>
                </a:cubicBezTo>
                <a:cubicBezTo>
                  <a:pt x="13741" y="16835"/>
                  <a:pt x="18228" y="6671"/>
                  <a:pt x="21600" y="190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B95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Path 165"/>
          <p:cNvSpPr/>
          <p:nvPr/>
        </p:nvSpPr>
        <p:spPr>
          <a:xfrm>
            <a:off x="0" y="6298055"/>
            <a:ext cx="12191695" cy="97304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9529"/>
                </a:moveTo>
                <a:cubicBezTo>
                  <a:pt x="4817" y="14294"/>
                  <a:pt x="8265" y="23188"/>
                  <a:pt x="10800" y="25412"/>
                </a:cubicBezTo>
                <a:cubicBezTo>
                  <a:pt x="13741" y="23824"/>
                  <a:pt x="18228" y="13976"/>
                  <a:pt x="21600" y="9212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AEC34D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source agricultural scene cleaned of infographic fore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Path 3"/>
          <p:cNvSpPr/>
          <p:nvPr/>
        </p:nvSpPr>
        <p:spPr>
          <a:xfrm>
            <a:off x="3087" y="0"/>
            <a:ext cx="3286884" cy="73608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855"/>
                </a:moveTo>
                <a:cubicBezTo>
                  <a:pt x="5939" y="23952"/>
                  <a:pt x="13362" y="19675"/>
                  <a:pt x="21600" y="15826"/>
                </a:cubicBezTo>
                <a:cubicBezTo>
                  <a:pt x="13698" y="23311"/>
                  <a:pt x="5508" y="21814"/>
                  <a:pt x="0" y="13259"/>
                </a:cubicBezTo>
                <a:close/>
              </a:path>
            </a:pathLst>
          </a:custGeom>
          <a:solidFill>
            <a:srgbClr val="C8E9D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425790" y="1778270"/>
            <a:ext cx="2827741" cy="1749118"/>
          </a:xfrm>
          <a:prstGeom prst="roundRect">
            <a:avLst>
              <a:gd name="adj" fmla="val 18333"/>
            </a:avLst>
          </a:prstGeom>
          <a:solidFill>
            <a:srgbClr val="F1FCF5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348275" y="1785558"/>
            <a:ext cx="2674693" cy="1749118"/>
          </a:xfrm>
          <a:prstGeom prst="roundRect">
            <a:avLst>
              <a:gd name="adj" fmla="val 18333"/>
            </a:avLst>
          </a:prstGeom>
          <a:solidFill>
            <a:srgbClr val="F3FC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132288" y="1800134"/>
            <a:ext cx="2696557" cy="1734542"/>
          </a:xfrm>
          <a:prstGeom prst="roundRect">
            <a:avLst>
              <a:gd name="adj" fmla="val 18487"/>
            </a:avLst>
          </a:prstGeom>
          <a:solidFill>
            <a:srgbClr val="FFFEF4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945452" y="1792846"/>
            <a:ext cx="2835029" cy="1741830"/>
          </a:xfrm>
          <a:prstGeom prst="roundRect">
            <a:avLst>
              <a:gd name="adj" fmla="val 18410"/>
            </a:avLst>
          </a:prstGeom>
          <a:solidFill>
            <a:srgbClr val="F1FD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1570005" y="1100487"/>
            <a:ext cx="1683526" cy="721511"/>
          </a:xfrm>
          <a:prstGeom prst="roundRect">
            <a:avLst>
              <a:gd name="adj" fmla="val 46465"/>
            </a:avLst>
          </a:prstGeom>
          <a:solidFill>
            <a:srgbClr val="D6EFE0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550793" y="1129639"/>
            <a:ext cx="1472174" cy="685071"/>
          </a:xfrm>
          <a:prstGeom prst="roundRect">
            <a:avLst>
              <a:gd name="adj" fmla="val 48936"/>
            </a:avLst>
          </a:prstGeom>
          <a:solidFill>
            <a:srgbClr val="DAF5F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7356670" y="1129639"/>
            <a:ext cx="1472174" cy="685071"/>
          </a:xfrm>
          <a:prstGeom prst="roundRect">
            <a:avLst>
              <a:gd name="adj" fmla="val 48936"/>
            </a:avLst>
          </a:prstGeom>
          <a:solidFill>
            <a:srgbClr val="FFF5CF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10198987" y="1136927"/>
            <a:ext cx="1581494" cy="685071"/>
          </a:xfrm>
          <a:prstGeom prst="roundRect">
            <a:avLst>
              <a:gd name="adj" fmla="val 48936"/>
            </a:avLst>
          </a:prstGeom>
          <a:solidFill>
            <a:srgbClr val="D9F7F7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96638" y="3862635"/>
            <a:ext cx="11493163" cy="2543509"/>
          </a:xfrm>
          <a:prstGeom prst="roundRect">
            <a:avLst>
              <a:gd name="adj" fmla="val 10602"/>
            </a:avLst>
          </a:prstGeom>
          <a:solidFill>
            <a:srgbClr val="F7FFF9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659006" y="1851150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651718" y="2237413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644430" y="2623677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629854" y="3031804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3545051" y="1909454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3566915" y="2426901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3523187" y="2922485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6343639" y="1843862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6278047" y="2259277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6314487" y="2674693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6321775" y="3068244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9134940" y="1865726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9127652" y="2266565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9127652" y="2681981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9127652" y="3090108"/>
            <a:ext cx="437279" cy="437279"/>
          </a:xfrm>
          <a:prstGeom prst="ellipse">
            <a:avLst/>
          </a:prstGeom>
          <a:solidFill>
            <a:srgbClr val="F8FFFD"/>
          </a:solidFill>
          <a:ln w="762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1103573" y="2237413"/>
            <a:ext cx="1916742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103573" y="2645541"/>
            <a:ext cx="1916742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103573" y="3053668"/>
            <a:ext cx="1916742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4018770" y="2441477"/>
            <a:ext cx="1778270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4018770" y="2915197"/>
            <a:ext cx="1778270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6795495" y="2244701"/>
            <a:ext cx="1821998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6795495" y="2718421"/>
            <a:ext cx="1821998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6795495" y="3111972"/>
            <a:ext cx="1821998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9623235" y="2288429"/>
            <a:ext cx="1931318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9623235" y="2703845"/>
            <a:ext cx="1931318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9623235" y="3104684"/>
            <a:ext cx="1931318" cy="0"/>
          </a:xfrm>
          <a:prstGeom prst="line">
            <a:avLst/>
          </a:prstGeom>
          <a:noFill/>
          <a:ln w="4445">
            <a:solidFill>
              <a:srgbClr val="D8EDE6"/>
            </a:solidFill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556974" y="4503979"/>
            <a:ext cx="2375885" cy="772527"/>
          </a:xfrm>
          <a:prstGeom prst="roundRect">
            <a:avLst>
              <a:gd name="adj" fmla="val 49057"/>
            </a:avLst>
          </a:prstGeom>
          <a:solidFill>
            <a:srgbClr val="FCFFFC"/>
          </a:solidFill>
          <a:ln w="7620">
            <a:solidFill>
              <a:srgbClr val="8FCD95"/>
            </a:solidFill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3931314" y="4496691"/>
            <a:ext cx="2091654" cy="779815"/>
          </a:xfrm>
          <a:prstGeom prst="roundRect">
            <a:avLst>
              <a:gd name="adj" fmla="val 48598"/>
            </a:avLst>
          </a:prstGeom>
          <a:solidFill>
            <a:srgbClr val="FCFFFC"/>
          </a:solidFill>
          <a:ln w="7620">
            <a:solidFill>
              <a:srgbClr val="D3CD60"/>
            </a:solidFill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513246" y="5473282"/>
            <a:ext cx="2412325" cy="801679"/>
          </a:xfrm>
          <a:prstGeom prst="roundRect">
            <a:avLst>
              <a:gd name="adj" fmla="val 47273"/>
            </a:avLst>
          </a:prstGeom>
          <a:solidFill>
            <a:srgbClr val="FCFFFC"/>
          </a:solidFill>
          <a:ln w="7620">
            <a:solidFill>
              <a:srgbClr val="79D4BA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3931314" y="5480570"/>
            <a:ext cx="2142670" cy="787103"/>
          </a:xfrm>
          <a:prstGeom prst="roundRect">
            <a:avLst>
              <a:gd name="adj" fmla="val 48148"/>
            </a:avLst>
          </a:prstGeom>
          <a:solidFill>
            <a:srgbClr val="FCFFFC"/>
          </a:solidFill>
          <a:ln w="7620">
            <a:solidFill>
              <a:srgbClr val="F0BF69"/>
            </a:solidFill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6321775" y="4307203"/>
            <a:ext cx="1698102" cy="2026062"/>
          </a:xfrm>
          <a:prstGeom prst="roundRect">
            <a:avLst>
              <a:gd name="adj" fmla="val 12017"/>
            </a:avLst>
          </a:prstGeom>
          <a:solidFill>
            <a:srgbClr val="FFFFFF"/>
          </a:solidFill>
          <a:ln w="7620">
            <a:solidFill>
              <a:srgbClr val="85CB95"/>
            </a:solidFill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8070893" y="4292627"/>
            <a:ext cx="1705390" cy="2040638"/>
          </a:xfrm>
          <a:prstGeom prst="roundRect">
            <a:avLst>
              <a:gd name="adj" fmla="val 11966"/>
            </a:avLst>
          </a:prstGeom>
          <a:solidFill>
            <a:srgbClr val="FFFFFF"/>
          </a:solidFill>
          <a:ln w="7620">
            <a:solidFill>
              <a:srgbClr val="A6DAF1"/>
            </a:solidFill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9820011" y="4270763"/>
            <a:ext cx="1931318" cy="2062502"/>
          </a:xfrm>
          <a:prstGeom prst="roundRect">
            <a:avLst>
              <a:gd name="adj" fmla="val 10566"/>
            </a:avLst>
          </a:prstGeom>
          <a:solidFill>
            <a:srgbClr val="FFFFFF"/>
          </a:solidFill>
          <a:ln w="7620">
            <a:solidFill>
              <a:srgbClr val="F1D291"/>
            </a:solidFill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6321775" y="4307203"/>
            <a:ext cx="1698102" cy="597615"/>
          </a:xfrm>
          <a:prstGeom prst="roundRect">
            <a:avLst>
              <a:gd name="adj" fmla="val 34146"/>
            </a:avLst>
          </a:prstGeom>
          <a:solidFill>
            <a:srgbClr val="319F63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8070893" y="4292627"/>
            <a:ext cx="1705390" cy="597615"/>
          </a:xfrm>
          <a:prstGeom prst="roundRect">
            <a:avLst>
              <a:gd name="adj" fmla="val 34146"/>
            </a:avLst>
          </a:prstGeom>
          <a:solidFill>
            <a:srgbClr val="258F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9820011" y="4270763"/>
            <a:ext cx="1931318" cy="597615"/>
          </a:xfrm>
          <a:prstGeom prst="roundRect">
            <a:avLst>
              <a:gd name="adj" fmla="val 34146"/>
            </a:avLst>
          </a:prstGeom>
          <a:solidFill>
            <a:srgbClr val="F4AF1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6336351" y="4649739"/>
            <a:ext cx="1668950" cy="1668950"/>
          </a:xfrm>
          <a:prstGeom prst="roundRect">
            <a:avLst>
              <a:gd name="adj" fmla="val 1135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8085469" y="4635163"/>
            <a:ext cx="1676238" cy="1683526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9834587" y="4613299"/>
            <a:ext cx="1902166" cy="170539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Path 52"/>
          <p:cNvSpPr/>
          <p:nvPr/>
        </p:nvSpPr>
        <p:spPr>
          <a:xfrm>
            <a:off x="425790" y="4176019"/>
            <a:ext cx="1821998" cy="25508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78" y="0"/>
                </a:moveTo>
                <a:lnTo>
                  <a:pt x="21600" y="0"/>
                </a:lnTo>
                <a:lnTo>
                  <a:pt x="2039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69B55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Path 53"/>
          <p:cNvSpPr/>
          <p:nvPr/>
        </p:nvSpPr>
        <p:spPr>
          <a:xfrm>
            <a:off x="6219743" y="3979243"/>
            <a:ext cx="1756406" cy="25508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65" y="0"/>
                </a:moveTo>
                <a:lnTo>
                  <a:pt x="21600" y="0"/>
                </a:lnTo>
                <a:lnTo>
                  <a:pt x="20345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49B53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4" name="Source-faithful separated title-leaf-left"/>
          <p:cNvPicPr/>
          <p:nvPr/>
        </p:nvPicPr>
        <p:blipFill>
          <a:blip r:embed="rId3"/>
          <a:stretch>
            <a:fillRect/>
          </a:stretch>
        </p:blipFill>
        <p:spPr>
          <a:xfrm>
            <a:off x="208938" y="71794"/>
            <a:ext cx="528448" cy="512330"/>
          </a:xfrm>
          <a:prstGeom prst="rect">
            <a:avLst/>
          </a:prstGeom>
        </p:spPr>
      </p:pic>
      <p:pic>
        <p:nvPicPr>
          <p:cNvPr id="55" name="Source-faithful separated title-leaf-right"/>
          <p:cNvPicPr/>
          <p:nvPr/>
        </p:nvPicPr>
        <p:blipFill>
          <a:blip r:embed="rId4"/>
          <a:stretch>
            <a:fillRect/>
          </a:stretch>
        </p:blipFill>
        <p:spPr>
          <a:xfrm>
            <a:off x="2864877" y="147554"/>
            <a:ext cx="689852" cy="504519"/>
          </a:xfrm>
          <a:prstGeom prst="rect">
            <a:avLst/>
          </a:prstGeom>
        </p:spPr>
      </p:pic>
      <p:pic>
        <p:nvPicPr>
          <p:cNvPr id="56" name="Source-faithful separated orb-s"/>
          <p:cNvPicPr/>
          <p:nvPr/>
        </p:nvPicPr>
        <p:blipFill>
          <a:blip r:embed="rId5"/>
          <a:stretch>
            <a:fillRect/>
          </a:stretch>
        </p:blipFill>
        <p:spPr>
          <a:xfrm>
            <a:off x="544497" y="477011"/>
            <a:ext cx="1454625" cy="1402742"/>
          </a:xfrm>
          <a:prstGeom prst="rect">
            <a:avLst/>
          </a:prstGeom>
        </p:spPr>
      </p:pic>
      <p:pic>
        <p:nvPicPr>
          <p:cNvPr id="57" name="Source-faithful separated orb-w"/>
          <p:cNvPicPr/>
          <p:nvPr/>
        </p:nvPicPr>
        <p:blipFill>
          <a:blip r:embed="rId6"/>
          <a:stretch>
            <a:fillRect/>
          </a:stretch>
        </p:blipFill>
        <p:spPr>
          <a:xfrm>
            <a:off x="3392236" y="439859"/>
            <a:ext cx="1413404" cy="1414613"/>
          </a:xfrm>
          <a:prstGeom prst="rect">
            <a:avLst/>
          </a:prstGeom>
        </p:spPr>
      </p:pic>
      <p:pic>
        <p:nvPicPr>
          <p:cNvPr id="58" name="Source-faithful separated orb-o"/>
          <p:cNvPicPr/>
          <p:nvPr/>
        </p:nvPicPr>
        <p:blipFill>
          <a:blip r:embed="rId7"/>
          <a:stretch>
            <a:fillRect/>
          </a:stretch>
        </p:blipFill>
        <p:spPr>
          <a:xfrm>
            <a:off x="6154832" y="477705"/>
            <a:ext cx="1405358" cy="1391166"/>
          </a:xfrm>
          <a:prstGeom prst="rect">
            <a:avLst/>
          </a:prstGeom>
        </p:spPr>
      </p:pic>
      <p:pic>
        <p:nvPicPr>
          <p:cNvPr id="59" name="Source-faithful separated orb-t"/>
          <p:cNvPicPr/>
          <p:nvPr/>
        </p:nvPicPr>
        <p:blipFill>
          <a:blip r:embed="rId8"/>
          <a:stretch>
            <a:fillRect/>
          </a:stretch>
        </p:blipFill>
        <p:spPr>
          <a:xfrm>
            <a:off x="8909471" y="415181"/>
            <a:ext cx="1522043" cy="1461506"/>
          </a:xfrm>
          <a:prstGeom prst="rect">
            <a:avLst/>
          </a:prstGeom>
        </p:spPr>
      </p:pic>
      <p:pic>
        <p:nvPicPr>
          <p:cNvPr id="60" name="Source-faithful separated strength-leaf"/>
          <p:cNvPicPr/>
          <p:nvPr/>
        </p:nvPicPr>
        <p:blipFill>
          <a:blip r:embed="rId9"/>
          <a:stretch>
            <a:fillRect/>
          </a:stretch>
        </p:blipFill>
        <p:spPr>
          <a:xfrm>
            <a:off x="2952800" y="1409089"/>
            <a:ext cx="317231" cy="352098"/>
          </a:xfrm>
          <a:prstGeom prst="rect">
            <a:avLst/>
          </a:prstGeom>
        </p:spPr>
      </p:pic>
      <p:pic>
        <p:nvPicPr>
          <p:cNvPr id="61" name="Source-faithful separated threat-top-leaf"/>
          <p:cNvPicPr/>
          <p:nvPr/>
        </p:nvPicPr>
        <p:blipFill>
          <a:blip r:embed="rId10"/>
          <a:stretch>
            <a:fillRect/>
          </a:stretch>
        </p:blipFill>
        <p:spPr>
          <a:xfrm>
            <a:off x="10962830" y="508505"/>
            <a:ext cx="520239" cy="406552"/>
          </a:xfrm>
          <a:prstGeom prst="rect">
            <a:avLst/>
          </a:prstGeom>
        </p:spPr>
      </p:pic>
      <p:pic>
        <p:nvPicPr>
          <p:cNvPr id="62" name="Source-faithful separated threat-side-leaf"/>
          <p:cNvPicPr/>
          <p:nvPr/>
        </p:nvPicPr>
        <p:blipFill>
          <a:blip r:embed="rId11"/>
          <a:stretch>
            <a:fillRect/>
          </a:stretch>
        </p:blipFill>
        <p:spPr>
          <a:xfrm>
            <a:off x="11331126" y="1211592"/>
            <a:ext cx="373975" cy="596123"/>
          </a:xfrm>
          <a:prstGeom prst="rect">
            <a:avLst/>
          </a:prstGeom>
        </p:spPr>
      </p:pic>
      <p:pic>
        <p:nvPicPr>
          <p:cNvPr id="63" name="Source-faithful separated main-banner"/>
          <p:cNvPicPr/>
          <p:nvPr/>
        </p:nvPicPr>
        <p:blipFill>
          <a:blip r:embed="rId27"/>
          <a:stretch>
            <a:fillRect/>
          </a:stretch>
        </p:blipFill>
        <p:spPr>
          <a:xfrm>
            <a:off x="27672" y="3626973"/>
            <a:ext cx="5540720" cy="580645"/>
          </a:xfrm>
          <a:prstGeom prst="rect">
            <a:avLst/>
          </a:prstGeom>
        </p:spPr>
      </p:pic>
      <p:pic>
        <p:nvPicPr>
          <p:cNvPr id="64" name="Source-faithful separated market-photo"/>
          <p:cNvPicPr/>
          <p:nvPr/>
        </p:nvPicPr>
        <p:blipFill>
          <a:blip r:embed="rId38"/>
          <a:stretch>
            <a:fillRect/>
          </a:stretch>
        </p:blipFill>
        <p:spPr>
          <a:xfrm>
            <a:off x="6322278" y="4655230"/>
            <a:ext cx="1685788" cy="541591"/>
          </a:xfrm>
          <a:prstGeom prst="rect">
            <a:avLst/>
          </a:prstGeom>
        </p:spPr>
      </p:pic>
      <p:pic>
        <p:nvPicPr>
          <p:cNvPr id="65" name="Source-faithful separated profit-photo"/>
          <p:cNvPicPr/>
          <p:nvPr/>
        </p:nvPicPr>
        <p:blipFill>
          <a:blip r:embed="rId39"/>
          <a:stretch>
            <a:fillRect/>
          </a:stretch>
        </p:blipFill>
        <p:spPr>
          <a:xfrm>
            <a:off x="8111678" y="4600830"/>
            <a:ext cx="1631108" cy="600828"/>
          </a:xfrm>
          <a:prstGeom prst="rect">
            <a:avLst/>
          </a:prstGeom>
        </p:spPr>
      </p:pic>
      <p:pic>
        <p:nvPicPr>
          <p:cNvPr id="66" name="Source-faithful separated value-photo"/>
          <p:cNvPicPr/>
          <p:nvPr/>
        </p:nvPicPr>
        <p:blipFill>
          <a:blip r:embed="rId40"/>
          <a:stretch>
            <a:fillRect/>
          </a:stretch>
        </p:blipFill>
        <p:spPr>
          <a:xfrm>
            <a:off x="9836737" y="4563906"/>
            <a:ext cx="1954634" cy="609290"/>
          </a:xfrm>
          <a:prstGeom prst="rect">
            <a:avLst/>
          </a:prstGeom>
        </p:spPr>
      </p:pic>
      <p:pic>
        <p:nvPicPr>
          <p:cNvPr id="67" name="Source-faithful separated trend-sprout"/>
          <p:cNvPicPr/>
          <p:nvPr/>
        </p:nvPicPr>
        <p:blipFill>
          <a:blip r:embed="rId30"/>
          <a:stretch>
            <a:fillRect/>
          </a:stretch>
        </p:blipFill>
        <p:spPr>
          <a:xfrm>
            <a:off x="532041" y="4485374"/>
            <a:ext cx="846430" cy="812916"/>
          </a:xfrm>
          <a:prstGeom prst="rect">
            <a:avLst/>
          </a:prstGeom>
        </p:spPr>
      </p:pic>
      <p:pic>
        <p:nvPicPr>
          <p:cNvPr id="68" name="Source-faithful separated trend-document"/>
          <p:cNvPicPr/>
          <p:nvPr/>
        </p:nvPicPr>
        <p:blipFill>
          <a:blip r:embed="rId31"/>
          <a:stretch>
            <a:fillRect/>
          </a:stretch>
        </p:blipFill>
        <p:spPr>
          <a:xfrm>
            <a:off x="3853419" y="4462645"/>
            <a:ext cx="862726" cy="826841"/>
          </a:xfrm>
          <a:prstGeom prst="rect">
            <a:avLst/>
          </a:prstGeom>
        </p:spPr>
      </p:pic>
      <p:pic>
        <p:nvPicPr>
          <p:cNvPr id="69" name="Source-faithful separated trend-leaf"/>
          <p:cNvPicPr/>
          <p:nvPr/>
        </p:nvPicPr>
        <p:blipFill>
          <a:blip r:embed="rId32"/>
          <a:stretch>
            <a:fillRect/>
          </a:stretch>
        </p:blipFill>
        <p:spPr>
          <a:xfrm>
            <a:off x="493881" y="5445651"/>
            <a:ext cx="862274" cy="835583"/>
          </a:xfrm>
          <a:prstGeom prst="rect">
            <a:avLst/>
          </a:prstGeom>
        </p:spPr>
      </p:pic>
      <p:pic>
        <p:nvPicPr>
          <p:cNvPr id="70" name="Source-faithful separated trend-growth"/>
          <p:cNvPicPr/>
          <p:nvPr/>
        </p:nvPicPr>
        <p:blipFill>
          <a:blip r:embed="rId33"/>
          <a:stretch>
            <a:fillRect/>
          </a:stretch>
        </p:blipFill>
        <p:spPr>
          <a:xfrm>
            <a:off x="3868668" y="5446933"/>
            <a:ext cx="861379" cy="821487"/>
          </a:xfrm>
          <a:prstGeom prst="rect">
            <a:avLst/>
          </a:prstGeom>
        </p:spPr>
      </p:pic>
      <p:pic>
        <p:nvPicPr>
          <p:cNvPr id="71" name="Source-faithful separated s-leaf"/>
          <p:cNvPicPr/>
          <p:nvPr/>
        </p:nvPicPr>
        <p:blipFill>
          <a:blip r:embed="rId12"/>
          <a:stretch>
            <a:fillRect/>
          </a:stretch>
        </p:blipFill>
        <p:spPr>
          <a:xfrm>
            <a:off x="696311" y="1883990"/>
            <a:ext cx="333518" cy="357024"/>
          </a:xfrm>
          <a:prstGeom prst="rect">
            <a:avLst/>
          </a:prstGeom>
        </p:spPr>
      </p:pic>
      <p:pic>
        <p:nvPicPr>
          <p:cNvPr id="72" name="Source-faithful separated s-link"/>
          <p:cNvPicPr/>
          <p:nvPr/>
        </p:nvPicPr>
        <p:blipFill>
          <a:blip r:embed="rId13"/>
          <a:stretch>
            <a:fillRect/>
          </a:stretch>
        </p:blipFill>
        <p:spPr>
          <a:xfrm>
            <a:off x="686203" y="2270166"/>
            <a:ext cx="339158" cy="364485"/>
          </a:xfrm>
          <a:prstGeom prst="rect">
            <a:avLst/>
          </a:prstGeom>
        </p:spPr>
      </p:pic>
      <p:pic>
        <p:nvPicPr>
          <p:cNvPr id="73" name="Source-faithful separated s-growth"/>
          <p:cNvPicPr/>
          <p:nvPr/>
        </p:nvPicPr>
        <p:blipFill>
          <a:blip r:embed="rId14"/>
          <a:stretch>
            <a:fillRect/>
          </a:stretch>
        </p:blipFill>
        <p:spPr>
          <a:xfrm>
            <a:off x="670667" y="2657228"/>
            <a:ext cx="384806" cy="355602"/>
          </a:xfrm>
          <a:prstGeom prst="rect">
            <a:avLst/>
          </a:prstGeom>
        </p:spPr>
      </p:pic>
      <p:pic>
        <p:nvPicPr>
          <p:cNvPr id="74" name="Source-faithful separated s-globe"/>
          <p:cNvPicPr/>
          <p:nvPr/>
        </p:nvPicPr>
        <p:blipFill>
          <a:blip r:embed="rId15"/>
          <a:stretch>
            <a:fillRect/>
          </a:stretch>
        </p:blipFill>
        <p:spPr>
          <a:xfrm>
            <a:off x="660300" y="3061483"/>
            <a:ext cx="383676" cy="385210"/>
          </a:xfrm>
          <a:prstGeom prst="rect">
            <a:avLst/>
          </a:prstGeom>
        </p:spPr>
      </p:pic>
      <p:pic>
        <p:nvPicPr>
          <p:cNvPr id="75" name="Source-faithful separated w-cube"/>
          <p:cNvPicPr/>
          <p:nvPr/>
        </p:nvPicPr>
        <p:blipFill>
          <a:blip r:embed="rId16"/>
          <a:stretch>
            <a:fillRect/>
          </a:stretch>
        </p:blipFill>
        <p:spPr>
          <a:xfrm>
            <a:off x="3569344" y="1920542"/>
            <a:ext cx="388693" cy="415103"/>
          </a:xfrm>
          <a:prstGeom prst="rect">
            <a:avLst/>
          </a:prstGeom>
        </p:spPr>
      </p:pic>
      <p:pic>
        <p:nvPicPr>
          <p:cNvPr id="76" name="Source-faithful separated w-flask"/>
          <p:cNvPicPr/>
          <p:nvPr/>
        </p:nvPicPr>
        <p:blipFill>
          <a:blip r:embed="rId17"/>
          <a:stretch>
            <a:fillRect/>
          </a:stretch>
        </p:blipFill>
        <p:spPr>
          <a:xfrm>
            <a:off x="3594269" y="2442684"/>
            <a:ext cx="367994" cy="413002"/>
          </a:xfrm>
          <a:prstGeom prst="rect">
            <a:avLst/>
          </a:prstGeom>
        </p:spPr>
      </p:pic>
      <p:pic>
        <p:nvPicPr>
          <p:cNvPr id="77" name="Source-faithful separated w-people"/>
          <p:cNvPicPr/>
          <p:nvPr/>
        </p:nvPicPr>
        <p:blipFill>
          <a:blip r:embed="rId18"/>
          <a:stretch>
            <a:fillRect/>
          </a:stretch>
        </p:blipFill>
        <p:spPr>
          <a:xfrm>
            <a:off x="3556087" y="2954613"/>
            <a:ext cx="429783" cy="380310"/>
          </a:xfrm>
          <a:prstGeom prst="rect">
            <a:avLst/>
          </a:prstGeom>
        </p:spPr>
      </p:pic>
      <p:pic>
        <p:nvPicPr>
          <p:cNvPr id="78" name="Source-faithful separated o-document"/>
          <p:cNvPicPr/>
          <p:nvPr/>
        </p:nvPicPr>
        <p:blipFill>
          <a:blip r:embed="rId19"/>
          <a:stretch>
            <a:fillRect/>
          </a:stretch>
        </p:blipFill>
        <p:spPr>
          <a:xfrm>
            <a:off x="6372791" y="1878247"/>
            <a:ext cx="335248" cy="375796"/>
          </a:xfrm>
          <a:prstGeom prst="rect">
            <a:avLst/>
          </a:prstGeom>
        </p:spPr>
      </p:pic>
      <p:pic>
        <p:nvPicPr>
          <p:cNvPr id="79" name="Source-faithful separated o-handshake"/>
          <p:cNvPicPr/>
          <p:nvPr/>
        </p:nvPicPr>
        <p:blipFill>
          <a:blip r:embed="rId20"/>
          <a:stretch>
            <a:fillRect/>
          </a:stretch>
        </p:blipFill>
        <p:spPr>
          <a:xfrm>
            <a:off x="6308245" y="2304187"/>
            <a:ext cx="457051" cy="347460"/>
          </a:xfrm>
          <a:prstGeom prst="rect">
            <a:avLst/>
          </a:prstGeom>
        </p:spPr>
      </p:pic>
      <p:pic>
        <p:nvPicPr>
          <p:cNvPr id="80" name="Source-faithful separated o-growth"/>
          <p:cNvPicPr/>
          <p:nvPr/>
        </p:nvPicPr>
        <p:blipFill>
          <a:blip r:embed="rId21"/>
          <a:stretch>
            <a:fillRect/>
          </a:stretch>
        </p:blipFill>
        <p:spPr>
          <a:xfrm>
            <a:off x="6343639" y="2731993"/>
            <a:ext cx="378976" cy="362523"/>
          </a:xfrm>
          <a:prstGeom prst="rect">
            <a:avLst/>
          </a:prstGeom>
        </p:spPr>
      </p:pic>
      <p:pic>
        <p:nvPicPr>
          <p:cNvPr id="81" name="Source-faithful separated o-link"/>
          <p:cNvPicPr/>
          <p:nvPr/>
        </p:nvPicPr>
        <p:blipFill>
          <a:blip r:embed="rId22"/>
          <a:stretch>
            <a:fillRect/>
          </a:stretch>
        </p:blipFill>
        <p:spPr>
          <a:xfrm>
            <a:off x="6352760" y="3127565"/>
            <a:ext cx="375310" cy="351010"/>
          </a:xfrm>
          <a:prstGeom prst="rect">
            <a:avLst/>
          </a:prstGeom>
        </p:spPr>
      </p:pic>
      <p:pic>
        <p:nvPicPr>
          <p:cNvPr id="82" name="Source-faithful separated t-gear"/>
          <p:cNvPicPr/>
          <p:nvPr/>
        </p:nvPicPr>
        <p:blipFill>
          <a:blip r:embed="rId23"/>
          <a:stretch>
            <a:fillRect/>
          </a:stretch>
        </p:blipFill>
        <p:spPr>
          <a:xfrm>
            <a:off x="9169280" y="1896668"/>
            <a:ext cx="361311" cy="382683"/>
          </a:xfrm>
          <a:prstGeom prst="rect">
            <a:avLst/>
          </a:prstGeom>
        </p:spPr>
      </p:pic>
      <p:pic>
        <p:nvPicPr>
          <p:cNvPr id="83" name="Source-faithful separated t-clock"/>
          <p:cNvPicPr/>
          <p:nvPr/>
        </p:nvPicPr>
        <p:blipFill>
          <a:blip r:embed="rId24"/>
          <a:stretch>
            <a:fillRect/>
          </a:stretch>
        </p:blipFill>
        <p:spPr>
          <a:xfrm>
            <a:off x="9158838" y="2298530"/>
            <a:ext cx="382196" cy="373350"/>
          </a:xfrm>
          <a:prstGeom prst="rect">
            <a:avLst/>
          </a:prstGeom>
        </p:spPr>
      </p:pic>
      <p:pic>
        <p:nvPicPr>
          <p:cNvPr id="84" name="Source-faithful separated t-warning"/>
          <p:cNvPicPr/>
          <p:nvPr/>
        </p:nvPicPr>
        <p:blipFill>
          <a:blip r:embed="rId25"/>
          <a:stretch>
            <a:fillRect/>
          </a:stretch>
        </p:blipFill>
        <p:spPr>
          <a:xfrm>
            <a:off x="9160312" y="2720806"/>
            <a:ext cx="393824" cy="366917"/>
          </a:xfrm>
          <a:prstGeom prst="rect">
            <a:avLst/>
          </a:prstGeom>
        </p:spPr>
      </p:pic>
      <p:pic>
        <p:nvPicPr>
          <p:cNvPr id="85" name="Source-faithful separated t-coins"/>
          <p:cNvPicPr/>
          <p:nvPr/>
        </p:nvPicPr>
        <p:blipFill>
          <a:blip r:embed="rId26"/>
          <a:stretch>
            <a:fillRect/>
          </a:stretch>
        </p:blipFill>
        <p:spPr>
          <a:xfrm>
            <a:off x="9159261" y="3118692"/>
            <a:ext cx="388638" cy="372823"/>
          </a:xfrm>
          <a:prstGeom prst="rect">
            <a:avLst/>
          </a:prstGeom>
        </p:spPr>
      </p:pic>
      <p:pic>
        <p:nvPicPr>
          <p:cNvPr id="86" name="Source-faithful separated subhead-leaf"/>
          <p:cNvPicPr/>
          <p:nvPr/>
        </p:nvPicPr>
        <p:blipFill>
          <a:blip r:embed="rId28"/>
          <a:stretch>
            <a:fillRect/>
          </a:stretch>
        </p:blipFill>
        <p:spPr>
          <a:xfrm>
            <a:off x="512936" y="4240619"/>
            <a:ext cx="146380" cy="155032"/>
          </a:xfrm>
          <a:prstGeom prst="rect">
            <a:avLst/>
          </a:prstGeom>
        </p:spPr>
      </p:pic>
      <p:pic>
        <p:nvPicPr>
          <p:cNvPr id="87" name="Source-faithful separated subhead-leaf"/>
          <p:cNvPicPr/>
          <p:nvPr/>
        </p:nvPicPr>
        <p:blipFill>
          <a:blip r:embed="rId29"/>
          <a:stretch>
            <a:fillRect/>
          </a:stretch>
        </p:blipFill>
        <p:spPr>
          <a:xfrm>
            <a:off x="6314177" y="4043843"/>
            <a:ext cx="146380" cy="155032"/>
          </a:xfrm>
          <a:prstGeom prst="rect">
            <a:avLst/>
          </a:prstGeom>
        </p:spPr>
      </p:pic>
      <p:pic>
        <p:nvPicPr>
          <p:cNvPr id="88" name="Source-faithful separated value-globe"/>
          <p:cNvPicPr/>
          <p:nvPr/>
        </p:nvPicPr>
        <p:blipFill>
          <a:blip r:embed="rId41"/>
          <a:stretch>
            <a:fillRect/>
          </a:stretch>
        </p:blipFill>
        <p:spPr>
          <a:xfrm>
            <a:off x="9966738" y="5152471"/>
            <a:ext cx="304161" cy="313663"/>
          </a:xfrm>
          <a:prstGeom prst="rect">
            <a:avLst/>
          </a:prstGeom>
        </p:spPr>
      </p:pic>
      <p:pic>
        <p:nvPicPr>
          <p:cNvPr id="89" name="Source-faithful separated o-handshake"/>
          <p:cNvPicPr/>
          <p:nvPr/>
        </p:nvPicPr>
        <p:blipFill>
          <a:blip r:embed="rId42"/>
          <a:stretch>
            <a:fillRect/>
          </a:stretch>
        </p:blipFill>
        <p:spPr>
          <a:xfrm>
            <a:off x="9962284" y="5539858"/>
            <a:ext cx="349510" cy="289550"/>
          </a:xfrm>
          <a:prstGeom prst="rect">
            <a:avLst/>
          </a:prstGeom>
        </p:spPr>
      </p:pic>
      <p:pic>
        <p:nvPicPr>
          <p:cNvPr id="90" name="Source-faithful separated value-gear"/>
          <p:cNvPicPr/>
          <p:nvPr/>
        </p:nvPicPr>
        <p:blipFill>
          <a:blip r:embed="rId43"/>
          <a:stretch>
            <a:fillRect/>
          </a:stretch>
        </p:blipFill>
        <p:spPr>
          <a:xfrm>
            <a:off x="9965080" y="5909585"/>
            <a:ext cx="322053" cy="322624"/>
          </a:xfrm>
          <a:prstGeom prst="rect">
            <a:avLst/>
          </a:prstGeom>
        </p:spPr>
      </p:pic>
      <p:pic>
        <p:nvPicPr>
          <p:cNvPr id="91" name="Source-faithful separated trend-globe"/>
          <p:cNvPicPr/>
          <p:nvPr/>
        </p:nvPicPr>
        <p:blipFill>
          <a:blip r:embed="rId34"/>
          <a:stretch>
            <a:fillRect/>
          </a:stretch>
        </p:blipFill>
        <p:spPr>
          <a:xfrm>
            <a:off x="2362678" y="4428949"/>
            <a:ext cx="1949329" cy="1931788"/>
          </a:xfrm>
          <a:prstGeom prst="rect">
            <a:avLst/>
          </a:prstGeom>
        </p:spPr>
      </p:pic>
      <p:pic>
        <p:nvPicPr>
          <p:cNvPr id="92" name="Source-faithful separated market-badge"/>
          <p:cNvPicPr/>
          <p:nvPr/>
        </p:nvPicPr>
        <p:blipFill>
          <a:blip r:embed="rId35"/>
          <a:stretch>
            <a:fillRect/>
          </a:stretch>
        </p:blipFill>
        <p:spPr>
          <a:xfrm>
            <a:off x="6290902" y="4260414"/>
            <a:ext cx="568119" cy="540040"/>
          </a:xfrm>
          <a:prstGeom prst="rect">
            <a:avLst/>
          </a:prstGeom>
        </p:spPr>
      </p:pic>
      <p:pic>
        <p:nvPicPr>
          <p:cNvPr id="93" name="Source-faithful separated profit-badge"/>
          <p:cNvPicPr/>
          <p:nvPr/>
        </p:nvPicPr>
        <p:blipFill>
          <a:blip r:embed="rId36"/>
          <a:stretch>
            <a:fillRect/>
          </a:stretch>
        </p:blipFill>
        <p:spPr>
          <a:xfrm>
            <a:off x="8054951" y="4214994"/>
            <a:ext cx="556165" cy="541846"/>
          </a:xfrm>
          <a:prstGeom prst="rect">
            <a:avLst/>
          </a:prstGeom>
        </p:spPr>
      </p:pic>
      <p:pic>
        <p:nvPicPr>
          <p:cNvPr id="94" name="Source-faithful separated value-badge"/>
          <p:cNvPicPr/>
          <p:nvPr/>
        </p:nvPicPr>
        <p:blipFill>
          <a:blip r:embed="rId37"/>
          <a:stretch>
            <a:fillRect/>
          </a:stretch>
        </p:blipFill>
        <p:spPr>
          <a:xfrm>
            <a:off x="9825908" y="4211434"/>
            <a:ext cx="559896" cy="543610"/>
          </a:xfrm>
          <a:prstGeom prst="rect">
            <a:avLst/>
          </a:prstGeom>
        </p:spPr>
      </p:pic>
      <p:sp>
        <p:nvSpPr>
          <p:cNvPr id="95" name="TextBox 95"/>
          <p:cNvSpPr txBox="1"/>
          <p:nvPr/>
        </p:nvSpPr>
        <p:spPr>
          <a:xfrm>
            <a:off x="797478" y="51016"/>
            <a:ext cx="1333702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 i="1">
                <a:solidFill>
                  <a:srgbClr val="00582F"/>
                </a:solidFill>
                <a:latin typeface="Liberation Serif"/>
                <a:ea typeface="Liberation Serif"/>
                <a:cs typeface="Liberation Serif"/>
              </a:rPr>
              <a:t>SWOT</a:t>
            </a:r>
            <a:endParaRPr lang="zh-CN" sz="3600"/>
          </a:p>
        </p:txBody>
      </p:sp>
      <p:sp>
        <p:nvSpPr>
          <p:cNvPr id="96" name="TextBox 96"/>
          <p:cNvSpPr txBox="1"/>
          <p:nvPr/>
        </p:nvSpPr>
        <p:spPr>
          <a:xfrm>
            <a:off x="2080164" y="80168"/>
            <a:ext cx="743375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00" b="1" i="1">
                <a:solidFill>
                  <a:srgbClr val="00582F"/>
                </a:solidFill>
                <a:latin typeface="SimSun"/>
                <a:ea typeface="SimSun"/>
                <a:cs typeface="SimSun"/>
              </a:rPr>
              <a:t>分析</a:t>
            </a:r>
            <a:endParaRPr lang="zh-CN" sz="3200"/>
          </a:p>
        </p:txBody>
      </p:sp>
      <p:sp>
        <p:nvSpPr>
          <p:cNvPr id="97" name="TextBox 97"/>
          <p:cNvSpPr txBox="1"/>
          <p:nvPr/>
        </p:nvSpPr>
        <p:spPr>
          <a:xfrm>
            <a:off x="826630" y="539311"/>
            <a:ext cx="976591" cy="13337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500" b="1">
                <a:solidFill>
                  <a:srgbClr val="00851B"/>
                </a:solidFill>
                <a:latin typeface="Liberation Serif"/>
                <a:ea typeface="Liberation Serif"/>
                <a:cs typeface="Liberation Serif"/>
              </a:rPr>
              <a:t>S</a:t>
            </a:r>
            <a:endParaRPr lang="zh-CN" sz="10500"/>
          </a:p>
        </p:txBody>
      </p:sp>
      <p:sp>
        <p:nvSpPr>
          <p:cNvPr id="98" name="TextBox 98"/>
          <p:cNvSpPr txBox="1"/>
          <p:nvPr/>
        </p:nvSpPr>
        <p:spPr>
          <a:xfrm>
            <a:off x="2043724" y="1115063"/>
            <a:ext cx="1115063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 b="1">
                <a:solidFill>
                  <a:srgbClr val="00851B"/>
                </a:solidFill>
                <a:latin typeface="SimSun"/>
                <a:ea typeface="SimSun"/>
                <a:cs typeface="SimSun"/>
              </a:rPr>
              <a:t>优势</a:t>
            </a:r>
            <a:endParaRPr lang="zh-CN" sz="2450"/>
          </a:p>
        </p:txBody>
      </p:sp>
      <p:sp>
        <p:nvSpPr>
          <p:cNvPr id="99" name="TextBox 99"/>
          <p:cNvSpPr txBox="1"/>
          <p:nvPr/>
        </p:nvSpPr>
        <p:spPr>
          <a:xfrm>
            <a:off x="2072876" y="1472174"/>
            <a:ext cx="1042183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00851B"/>
                </a:solidFill>
                <a:latin typeface="Liberation Serif"/>
                <a:ea typeface="Liberation Serif"/>
                <a:cs typeface="Liberation Serif"/>
              </a:rPr>
              <a:t>Strengths</a:t>
            </a:r>
            <a:endParaRPr lang="zh-CN" sz="1350"/>
          </a:p>
        </p:txBody>
      </p:sp>
      <p:sp>
        <p:nvSpPr>
          <p:cNvPr id="100" name="TextBox 100"/>
          <p:cNvSpPr txBox="1"/>
          <p:nvPr/>
        </p:nvSpPr>
        <p:spPr>
          <a:xfrm>
            <a:off x="3523187" y="491939"/>
            <a:ext cx="1129639" cy="128997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500" b="1">
                <a:solidFill>
                  <a:srgbClr val="0067B8"/>
                </a:solidFill>
                <a:latin typeface="Liberation Serif"/>
                <a:ea typeface="Liberation Serif"/>
                <a:cs typeface="Liberation Serif"/>
              </a:rPr>
              <a:t>W</a:t>
            </a:r>
            <a:endParaRPr lang="zh-CN" sz="8500"/>
          </a:p>
        </p:txBody>
      </p:sp>
      <p:sp>
        <p:nvSpPr>
          <p:cNvPr id="101" name="TextBox 101"/>
          <p:cNvSpPr txBox="1"/>
          <p:nvPr/>
        </p:nvSpPr>
        <p:spPr>
          <a:xfrm>
            <a:off x="4937057" y="1122351"/>
            <a:ext cx="1042183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 b="1">
                <a:solidFill>
                  <a:srgbClr val="0067B8"/>
                </a:solidFill>
                <a:latin typeface="SimSun"/>
                <a:ea typeface="SimSun"/>
                <a:cs typeface="SimSun"/>
              </a:rPr>
              <a:t>劣势</a:t>
            </a:r>
            <a:endParaRPr lang="zh-CN" sz="2450"/>
          </a:p>
        </p:txBody>
      </p:sp>
      <p:sp>
        <p:nvSpPr>
          <p:cNvPr id="102" name="TextBox 102"/>
          <p:cNvSpPr txBox="1"/>
          <p:nvPr/>
        </p:nvSpPr>
        <p:spPr>
          <a:xfrm>
            <a:off x="4937057" y="1464886"/>
            <a:ext cx="1056759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0067B8"/>
                </a:solidFill>
                <a:latin typeface="Liberation Serif"/>
                <a:ea typeface="Liberation Serif"/>
                <a:cs typeface="Liberation Serif"/>
              </a:rPr>
              <a:t>Weaknesses</a:t>
            </a:r>
            <a:endParaRPr lang="zh-CN" sz="1350"/>
          </a:p>
        </p:txBody>
      </p:sp>
      <p:sp>
        <p:nvSpPr>
          <p:cNvPr id="103" name="TextBox 103"/>
          <p:cNvSpPr txBox="1"/>
          <p:nvPr/>
        </p:nvSpPr>
        <p:spPr>
          <a:xfrm>
            <a:off x="6321775" y="532023"/>
            <a:ext cx="1100487" cy="13337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300" b="1">
                <a:solidFill>
                  <a:srgbClr val="EF9500"/>
                </a:solidFill>
                <a:latin typeface="Liberation Serif"/>
                <a:ea typeface="Liberation Serif"/>
                <a:cs typeface="Liberation Serif"/>
              </a:rPr>
              <a:t>O</a:t>
            </a:r>
            <a:endParaRPr lang="zh-CN" sz="10300"/>
          </a:p>
        </p:txBody>
      </p:sp>
      <p:sp>
        <p:nvSpPr>
          <p:cNvPr id="104" name="TextBox 104"/>
          <p:cNvSpPr txBox="1"/>
          <p:nvPr/>
        </p:nvSpPr>
        <p:spPr>
          <a:xfrm>
            <a:off x="7640902" y="1122351"/>
            <a:ext cx="1049471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 b="1">
                <a:solidFill>
                  <a:srgbClr val="EF9500"/>
                </a:solidFill>
                <a:latin typeface="SimSun"/>
                <a:ea typeface="SimSun"/>
                <a:cs typeface="SimSun"/>
              </a:rPr>
              <a:t>机会</a:t>
            </a:r>
            <a:endParaRPr lang="zh-CN" sz="2450"/>
          </a:p>
        </p:txBody>
      </p:sp>
      <p:sp>
        <p:nvSpPr>
          <p:cNvPr id="105" name="TextBox 105"/>
          <p:cNvSpPr txBox="1"/>
          <p:nvPr/>
        </p:nvSpPr>
        <p:spPr>
          <a:xfrm>
            <a:off x="7670054" y="1464886"/>
            <a:ext cx="1085911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00">
                <a:solidFill>
                  <a:srgbClr val="EF9500"/>
                </a:solidFill>
                <a:latin typeface="Liberation Serif"/>
                <a:ea typeface="Liberation Serif"/>
                <a:cs typeface="Liberation Serif"/>
              </a:rPr>
              <a:t>Opportunities</a:t>
            </a:r>
            <a:endParaRPr lang="zh-CN" sz="1200"/>
          </a:p>
        </p:txBody>
      </p:sp>
      <p:sp>
        <p:nvSpPr>
          <p:cNvPr id="106" name="TextBox 106"/>
          <p:cNvSpPr txBox="1"/>
          <p:nvPr/>
        </p:nvSpPr>
        <p:spPr>
          <a:xfrm>
            <a:off x="9178668" y="539311"/>
            <a:ext cx="969303" cy="13118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0" b="1">
                <a:solidFill>
                  <a:srgbClr val="007D88"/>
                </a:solidFill>
                <a:latin typeface="Liberation Serif"/>
                <a:ea typeface="Liberation Serif"/>
                <a:cs typeface="Liberation Serif"/>
              </a:rPr>
              <a:t>T</a:t>
            </a:r>
            <a:endParaRPr lang="zh-CN" sz="9500"/>
          </a:p>
        </p:txBody>
      </p:sp>
      <p:sp>
        <p:nvSpPr>
          <p:cNvPr id="107" name="TextBox 107"/>
          <p:cNvSpPr txBox="1"/>
          <p:nvPr/>
        </p:nvSpPr>
        <p:spPr>
          <a:xfrm>
            <a:off x="10628978" y="1122351"/>
            <a:ext cx="1049471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 b="1">
                <a:solidFill>
                  <a:srgbClr val="007D88"/>
                </a:solidFill>
                <a:latin typeface="SimSun"/>
                <a:ea typeface="SimSun"/>
                <a:cs typeface="SimSun"/>
              </a:rPr>
              <a:t>威胁</a:t>
            </a:r>
            <a:endParaRPr lang="zh-CN" sz="2450"/>
          </a:p>
        </p:txBody>
      </p:sp>
      <p:sp>
        <p:nvSpPr>
          <p:cNvPr id="108" name="TextBox 108"/>
          <p:cNvSpPr txBox="1"/>
          <p:nvPr/>
        </p:nvSpPr>
        <p:spPr>
          <a:xfrm>
            <a:off x="10650842" y="1464886"/>
            <a:ext cx="1056759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>
                <a:solidFill>
                  <a:srgbClr val="007D88"/>
                </a:solidFill>
                <a:latin typeface="Liberation Serif"/>
                <a:ea typeface="Liberation Serif"/>
                <a:cs typeface="Liberation Serif"/>
              </a:rPr>
              <a:t>Threats</a:t>
            </a:r>
            <a:endParaRPr lang="zh-CN" sz="1350"/>
          </a:p>
        </p:txBody>
      </p:sp>
      <p:sp>
        <p:nvSpPr>
          <p:cNvPr id="109" name="TextBox 109"/>
          <p:cNvSpPr txBox="1"/>
          <p:nvPr/>
        </p:nvSpPr>
        <p:spPr>
          <a:xfrm>
            <a:off x="1205605" y="1967758"/>
            <a:ext cx="194589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全产业链技术与成本优势</a:t>
            </a:r>
            <a:endParaRPr lang="zh-CN" sz="1150"/>
          </a:p>
        </p:txBody>
      </p:sp>
      <p:sp>
        <p:nvSpPr>
          <p:cNvPr id="110" name="TextBox 110"/>
          <p:cNvSpPr txBox="1"/>
          <p:nvPr/>
        </p:nvSpPr>
        <p:spPr>
          <a:xfrm>
            <a:off x="1205605" y="2346733"/>
            <a:ext cx="194589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RCEP长期关税红利支持</a:t>
            </a:r>
            <a:endParaRPr lang="zh-CN" sz="1150"/>
          </a:p>
        </p:txBody>
      </p:sp>
      <p:sp>
        <p:nvSpPr>
          <p:cNvPr id="111" name="TextBox 111"/>
          <p:cNvSpPr txBox="1"/>
          <p:nvPr/>
        </p:nvSpPr>
        <p:spPr>
          <a:xfrm>
            <a:off x="1205605" y="2754861"/>
            <a:ext cx="194589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国内外双向政策扶持</a:t>
            </a:r>
            <a:endParaRPr lang="zh-CN" sz="1150"/>
          </a:p>
        </p:txBody>
      </p:sp>
      <p:sp>
        <p:nvSpPr>
          <p:cNvPr id="112" name="TextBox 112"/>
          <p:cNvSpPr txBox="1"/>
          <p:nvPr/>
        </p:nvSpPr>
        <p:spPr>
          <a:xfrm>
            <a:off x="1205605" y="3162988"/>
            <a:ext cx="194589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成熟市场落地实证</a:t>
            </a:r>
            <a:endParaRPr lang="zh-CN" sz="1150"/>
          </a:p>
        </p:txBody>
      </p:sp>
      <p:sp>
        <p:nvSpPr>
          <p:cNvPr id="113" name="TextBox 113"/>
          <p:cNvSpPr txBox="1"/>
          <p:nvPr/>
        </p:nvSpPr>
        <p:spPr>
          <a:xfrm>
            <a:off x="4120802" y="1960470"/>
            <a:ext cx="178555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产品初始采购成本高于</a:t>
            </a:r>
            <a:endParaRPr lang="zh-CN" sz="1150"/>
          </a:p>
        </p:txBody>
      </p:sp>
      <p:sp>
        <p:nvSpPr>
          <p:cNvPr id="114" name="TextBox 114"/>
          <p:cNvSpPr txBox="1"/>
          <p:nvPr/>
        </p:nvSpPr>
        <p:spPr>
          <a:xfrm>
            <a:off x="4120802" y="2193685"/>
            <a:ext cx="178555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传统PB地膜</a:t>
            </a:r>
            <a:endParaRPr lang="zh-CN" sz="1150"/>
          </a:p>
        </p:txBody>
      </p:sp>
      <p:sp>
        <p:nvSpPr>
          <p:cNvPr id="115" name="TextBox 115"/>
          <p:cNvSpPr txBox="1"/>
          <p:nvPr/>
        </p:nvSpPr>
        <p:spPr>
          <a:xfrm>
            <a:off x="4120802" y="2565373"/>
            <a:ext cx="180013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海外自主品牌认知度偏低</a:t>
            </a:r>
            <a:endParaRPr lang="zh-CN" sz="1150"/>
          </a:p>
        </p:txBody>
      </p:sp>
      <p:sp>
        <p:nvSpPr>
          <p:cNvPr id="116" name="TextBox 116"/>
          <p:cNvSpPr txBox="1"/>
          <p:nvPr/>
        </p:nvSpPr>
        <p:spPr>
          <a:xfrm>
            <a:off x="4120802" y="3046380"/>
            <a:ext cx="180013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多国准入认证流程繁琐</a:t>
            </a:r>
            <a:endParaRPr lang="zh-CN" sz="1150"/>
          </a:p>
        </p:txBody>
      </p:sp>
      <p:sp>
        <p:nvSpPr>
          <p:cNvPr id="117" name="TextBox 117"/>
          <p:cNvSpPr txBox="1"/>
          <p:nvPr/>
        </p:nvSpPr>
        <p:spPr>
          <a:xfrm>
            <a:off x="6882951" y="1960470"/>
            <a:ext cx="183657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进口替代空间广阔</a:t>
            </a:r>
            <a:endParaRPr lang="zh-CN" sz="1150"/>
          </a:p>
        </p:txBody>
      </p:sp>
      <p:sp>
        <p:nvSpPr>
          <p:cNvPr id="118" name="TextBox 118"/>
          <p:cNvSpPr txBox="1"/>
          <p:nvPr/>
        </p:nvSpPr>
        <p:spPr>
          <a:xfrm>
            <a:off x="6882951" y="2295717"/>
            <a:ext cx="183657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东盟统一降解标准降低</a:t>
            </a:r>
            <a:endParaRPr lang="zh-CN" sz="1150"/>
          </a:p>
        </p:txBody>
      </p:sp>
      <p:sp>
        <p:nvSpPr>
          <p:cNvPr id="119" name="TextBox 119"/>
          <p:cNvSpPr txBox="1"/>
          <p:nvPr/>
        </p:nvSpPr>
        <p:spPr>
          <a:xfrm>
            <a:off x="6882951" y="2507069"/>
            <a:ext cx="1836574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贸易壁垒</a:t>
            </a:r>
            <a:endParaRPr lang="zh-CN" sz="1150"/>
          </a:p>
        </p:txBody>
      </p:sp>
      <p:sp>
        <p:nvSpPr>
          <p:cNvPr id="120" name="TextBox 120"/>
          <p:cNvSpPr txBox="1"/>
          <p:nvPr/>
        </p:nvSpPr>
        <p:spPr>
          <a:xfrm>
            <a:off x="6882951" y="2835029"/>
            <a:ext cx="185843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热带寡照种植面积持续扩张</a:t>
            </a:r>
            <a:endParaRPr lang="zh-CN" sz="1150"/>
          </a:p>
        </p:txBody>
      </p:sp>
      <p:sp>
        <p:nvSpPr>
          <p:cNvPr id="121" name="TextBox 121"/>
          <p:cNvSpPr txBox="1"/>
          <p:nvPr/>
        </p:nvSpPr>
        <p:spPr>
          <a:xfrm>
            <a:off x="6882951" y="3199428"/>
            <a:ext cx="185843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RCEP互联互通基建完善</a:t>
            </a:r>
            <a:endParaRPr lang="zh-CN" sz="1150"/>
          </a:p>
        </p:txBody>
      </p:sp>
      <p:sp>
        <p:nvSpPr>
          <p:cNvPr id="122" name="TextBox 122"/>
          <p:cNvSpPr txBox="1"/>
          <p:nvPr/>
        </p:nvSpPr>
        <p:spPr>
          <a:xfrm>
            <a:off x="9688827" y="1989622"/>
            <a:ext cx="1996910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本土低价塑料膜仍占市场</a:t>
            </a:r>
            <a:endParaRPr lang="zh-CN" sz="1150"/>
          </a:p>
        </p:txBody>
      </p:sp>
      <p:sp>
        <p:nvSpPr>
          <p:cNvPr id="123" name="TextBox 123"/>
          <p:cNvSpPr txBox="1"/>
          <p:nvPr/>
        </p:nvSpPr>
        <p:spPr>
          <a:xfrm>
            <a:off x="9688827" y="2397749"/>
            <a:ext cx="1996910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各国环保检测标准持续收紧</a:t>
            </a:r>
            <a:endParaRPr lang="zh-CN" sz="1150"/>
          </a:p>
        </p:txBody>
      </p:sp>
      <p:sp>
        <p:nvSpPr>
          <p:cNvPr id="124" name="TextBox 124"/>
          <p:cNvSpPr txBox="1"/>
          <p:nvPr/>
        </p:nvSpPr>
        <p:spPr>
          <a:xfrm>
            <a:off x="9688827" y="2805877"/>
            <a:ext cx="1996910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上游大宗商品价格波动</a:t>
            </a:r>
            <a:endParaRPr lang="zh-CN" sz="1150"/>
          </a:p>
        </p:txBody>
      </p:sp>
      <p:sp>
        <p:nvSpPr>
          <p:cNvPr id="125" name="TextBox 125"/>
          <p:cNvSpPr txBox="1"/>
          <p:nvPr/>
        </p:nvSpPr>
        <p:spPr>
          <a:xfrm>
            <a:off x="9688827" y="3221292"/>
            <a:ext cx="1996910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国内同业无序低价竞争</a:t>
            </a:r>
            <a:endParaRPr lang="zh-CN" sz="1150"/>
          </a:p>
        </p:txBody>
      </p:sp>
      <p:sp>
        <p:nvSpPr>
          <p:cNvPr id="126" name="TextBox 126"/>
          <p:cNvSpPr txBox="1"/>
          <p:nvPr/>
        </p:nvSpPr>
        <p:spPr>
          <a:xfrm>
            <a:off x="935950" y="3716876"/>
            <a:ext cx="3913651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37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行业发展趋势与项目综合前景</a:t>
            </a:r>
            <a:endParaRPr lang="zh-CN" sz="2370"/>
          </a:p>
        </p:txBody>
      </p:sp>
      <p:sp>
        <p:nvSpPr>
          <p:cNvPr id="127" name="TextBox 127"/>
          <p:cNvSpPr txBox="1"/>
          <p:nvPr/>
        </p:nvSpPr>
        <p:spPr>
          <a:xfrm>
            <a:off x="775614" y="4190595"/>
            <a:ext cx="1392006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行业四大趋势</a:t>
            </a:r>
            <a:endParaRPr lang="zh-CN" sz="1400"/>
          </a:p>
        </p:txBody>
      </p:sp>
      <p:sp>
        <p:nvSpPr>
          <p:cNvPr id="128" name="TextBox 128"/>
          <p:cNvSpPr txBox="1"/>
          <p:nvPr/>
        </p:nvSpPr>
        <p:spPr>
          <a:xfrm>
            <a:off x="6562279" y="3993819"/>
            <a:ext cx="1311838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项目综合前景</a:t>
            </a:r>
            <a:endParaRPr lang="zh-CN" sz="1400"/>
          </a:p>
        </p:txBody>
      </p:sp>
      <p:sp>
        <p:nvSpPr>
          <p:cNvPr id="129" name="TextBox 129"/>
          <p:cNvSpPr txBox="1"/>
          <p:nvPr/>
        </p:nvSpPr>
        <p:spPr>
          <a:xfrm>
            <a:off x="1446109" y="4591435"/>
            <a:ext cx="1333702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全球农膜</a:t>
            </a:r>
            <a:endParaRPr lang="zh-CN" sz="1110"/>
          </a:p>
        </p:txBody>
      </p:sp>
      <p:sp>
        <p:nvSpPr>
          <p:cNvPr id="130" name="TextBox 130"/>
          <p:cNvSpPr txBox="1"/>
          <p:nvPr/>
        </p:nvSpPr>
        <p:spPr>
          <a:xfrm>
            <a:off x="1446109" y="4795498"/>
            <a:ext cx="1333702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结构性替代</a:t>
            </a:r>
            <a:endParaRPr lang="zh-CN" sz="1110"/>
          </a:p>
        </p:txBody>
      </p:sp>
      <p:sp>
        <p:nvSpPr>
          <p:cNvPr id="131" name="TextBox 131"/>
          <p:cNvSpPr txBox="1"/>
          <p:nvPr/>
        </p:nvSpPr>
        <p:spPr>
          <a:xfrm>
            <a:off x="1446109" y="4999562"/>
            <a:ext cx="1333702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趋势不可逆</a:t>
            </a:r>
            <a:endParaRPr lang="zh-CN" sz="1110"/>
          </a:p>
        </p:txBody>
      </p:sp>
      <p:sp>
        <p:nvSpPr>
          <p:cNvPr id="132" name="TextBox 132"/>
          <p:cNvSpPr txBox="1"/>
          <p:nvPr/>
        </p:nvSpPr>
        <p:spPr>
          <a:xfrm>
            <a:off x="4696553" y="4598723"/>
            <a:ext cx="126811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RCEP协定</a:t>
            </a:r>
            <a:endParaRPr lang="zh-CN" sz="1110"/>
          </a:p>
        </p:txBody>
      </p:sp>
      <p:sp>
        <p:nvSpPr>
          <p:cNvPr id="133" name="TextBox 133"/>
          <p:cNvSpPr txBox="1"/>
          <p:nvPr/>
        </p:nvSpPr>
        <p:spPr>
          <a:xfrm>
            <a:off x="4696553" y="4802786"/>
            <a:ext cx="126811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持续放大中国产业</a:t>
            </a:r>
            <a:endParaRPr lang="zh-CN" sz="1110"/>
          </a:p>
        </p:txBody>
      </p:sp>
      <p:sp>
        <p:nvSpPr>
          <p:cNvPr id="134" name="TextBox 134"/>
          <p:cNvSpPr txBox="1"/>
          <p:nvPr/>
        </p:nvSpPr>
        <p:spPr>
          <a:xfrm>
            <a:off x="4696553" y="5006850"/>
            <a:ext cx="126811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链出口</a:t>
            </a:r>
            <a:endParaRPr lang="zh-CN" sz="1110"/>
          </a:p>
        </p:txBody>
      </p:sp>
      <p:sp>
        <p:nvSpPr>
          <p:cNvPr id="135" name="TextBox 135"/>
          <p:cNvSpPr txBox="1"/>
          <p:nvPr/>
        </p:nvSpPr>
        <p:spPr>
          <a:xfrm>
            <a:off x="1409669" y="5582601"/>
            <a:ext cx="138471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“产品+农技</a:t>
            </a:r>
            <a:endParaRPr lang="zh-CN" sz="1110"/>
          </a:p>
        </p:txBody>
      </p:sp>
      <p:sp>
        <p:nvSpPr>
          <p:cNvPr id="136" name="TextBox 136"/>
          <p:cNvSpPr txBox="1"/>
          <p:nvPr/>
        </p:nvSpPr>
        <p:spPr>
          <a:xfrm>
            <a:off x="1409669" y="5786665"/>
            <a:ext cx="138471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服务一体化”</a:t>
            </a:r>
            <a:endParaRPr lang="zh-CN" sz="1110"/>
          </a:p>
        </p:txBody>
      </p:sp>
      <p:sp>
        <p:nvSpPr>
          <p:cNvPr id="137" name="TextBox 137"/>
          <p:cNvSpPr txBox="1"/>
          <p:nvPr/>
        </p:nvSpPr>
        <p:spPr>
          <a:xfrm>
            <a:off x="1409669" y="5990729"/>
            <a:ext cx="138471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贸易模式成为主流</a:t>
            </a:r>
            <a:endParaRPr lang="zh-CN" sz="1110"/>
          </a:p>
        </p:txBody>
      </p:sp>
      <p:sp>
        <p:nvSpPr>
          <p:cNvPr id="138" name="TextBox 138"/>
          <p:cNvSpPr txBox="1"/>
          <p:nvPr/>
        </p:nvSpPr>
        <p:spPr>
          <a:xfrm>
            <a:off x="4798585" y="5633617"/>
            <a:ext cx="123167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东南亚绿色农业</a:t>
            </a:r>
            <a:endParaRPr lang="zh-CN" sz="1110"/>
          </a:p>
        </p:txBody>
      </p:sp>
      <p:sp>
        <p:nvSpPr>
          <p:cNvPr id="139" name="TextBox 139"/>
          <p:cNvSpPr txBox="1"/>
          <p:nvPr/>
        </p:nvSpPr>
        <p:spPr>
          <a:xfrm>
            <a:off x="4798585" y="5837681"/>
            <a:ext cx="123167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10">
                <a:solidFill>
                  <a:srgbClr val="101D2C"/>
                </a:solidFill>
                <a:latin typeface="Microsoft YaHei"/>
                <a:ea typeface="Microsoft YaHei"/>
                <a:cs typeface="Microsoft YaHei"/>
              </a:rPr>
              <a:t>政策加速落地</a:t>
            </a:r>
            <a:endParaRPr lang="zh-CN" sz="1110"/>
          </a:p>
        </p:txBody>
      </p:sp>
      <p:sp>
        <p:nvSpPr>
          <p:cNvPr id="140" name="TextBox 140"/>
          <p:cNvSpPr txBox="1"/>
          <p:nvPr/>
        </p:nvSpPr>
        <p:spPr>
          <a:xfrm>
            <a:off x="2932859" y="4970410"/>
            <a:ext cx="794391" cy="7215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四大</a:t>
            </a:r>
            <a:endParaRPr lang="zh-CN" sz="2550"/>
          </a:p>
          <a:p>
            <a:pPr algn="ctr"/>
            <a:r>
              <a:rPr lang="zh-CN" sz="25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趋势</a:t>
            </a:r>
            <a:endParaRPr lang="zh-CN" sz="2550"/>
          </a:p>
        </p:txBody>
      </p:sp>
      <p:sp>
        <p:nvSpPr>
          <p:cNvPr id="141" name="TextBox 141"/>
          <p:cNvSpPr txBox="1"/>
          <p:nvPr/>
        </p:nvSpPr>
        <p:spPr>
          <a:xfrm>
            <a:off x="6882951" y="4358219"/>
            <a:ext cx="1122351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市场规模前景</a:t>
            </a:r>
            <a:endParaRPr lang="zh-CN" sz="1350"/>
          </a:p>
        </p:txBody>
      </p:sp>
      <p:sp>
        <p:nvSpPr>
          <p:cNvPr id="142" name="TextBox 142"/>
          <p:cNvSpPr txBox="1"/>
          <p:nvPr/>
        </p:nvSpPr>
        <p:spPr>
          <a:xfrm>
            <a:off x="8697661" y="4329067"/>
            <a:ext cx="983879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盈利前景</a:t>
            </a:r>
            <a:endParaRPr lang="zh-CN" sz="1350"/>
          </a:p>
        </p:txBody>
      </p:sp>
      <p:sp>
        <p:nvSpPr>
          <p:cNvPr id="143" name="TextBox 143"/>
          <p:cNvSpPr txBox="1"/>
          <p:nvPr/>
        </p:nvSpPr>
        <p:spPr>
          <a:xfrm>
            <a:off x="10439491" y="4307203"/>
            <a:ext cx="1289974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多维综合价值</a:t>
            </a:r>
            <a:endParaRPr lang="zh-CN" sz="1350"/>
          </a:p>
        </p:txBody>
      </p:sp>
      <p:sp>
        <p:nvSpPr>
          <p:cNvPr id="144" name="TextBox 144"/>
          <p:cNvSpPr txBox="1"/>
          <p:nvPr/>
        </p:nvSpPr>
        <p:spPr>
          <a:xfrm>
            <a:off x="6562279" y="5145322"/>
            <a:ext cx="612191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00" b="1" i="1">
                <a:solidFill>
                  <a:srgbClr val="087B16"/>
                </a:solidFill>
                <a:latin typeface="Liberation Serif"/>
                <a:ea typeface="Liberation Serif"/>
                <a:cs typeface="Liberation Serif"/>
              </a:rPr>
              <a:t>1.1</a:t>
            </a:r>
            <a:endParaRPr lang="zh-CN" sz="3700"/>
          </a:p>
        </p:txBody>
      </p:sp>
      <p:sp>
        <p:nvSpPr>
          <p:cNvPr id="145" name="TextBox 145"/>
          <p:cNvSpPr txBox="1"/>
          <p:nvPr/>
        </p:nvSpPr>
        <p:spPr>
          <a:xfrm>
            <a:off x="7174470" y="5312946"/>
            <a:ext cx="787103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 i="1">
                <a:solidFill>
                  <a:srgbClr val="111C2C"/>
                </a:solidFill>
                <a:latin typeface="Microsoft YaHei"/>
                <a:ea typeface="Microsoft YaHei"/>
                <a:cs typeface="Microsoft YaHei"/>
              </a:rPr>
              <a:t>万吨/年</a:t>
            </a:r>
            <a:endParaRPr lang="zh-CN" sz="1550"/>
          </a:p>
        </p:txBody>
      </p:sp>
      <p:sp>
        <p:nvSpPr>
          <p:cNvPr id="146" name="TextBox 146"/>
          <p:cNvSpPr txBox="1"/>
          <p:nvPr/>
        </p:nvSpPr>
        <p:spPr>
          <a:xfrm>
            <a:off x="8311397" y="5159898"/>
            <a:ext cx="1377430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 i="1">
                <a:solidFill>
                  <a:srgbClr val="006ECC"/>
                </a:solidFill>
                <a:latin typeface="Liberation Serif"/>
                <a:ea typeface="Liberation Serif"/>
                <a:cs typeface="Liberation Serif"/>
              </a:rPr>
              <a:t>18</a:t>
            </a:r>
            <a:r>
              <a:rPr lang="zh-CN" sz="2000" b="1" i="1">
                <a:solidFill>
                  <a:srgbClr val="006ECC"/>
                </a:solidFill>
                <a:latin typeface="Liberation Serif"/>
                <a:ea typeface="Liberation Serif"/>
                <a:cs typeface="Liberation Serif"/>
              </a:rPr>
              <a:t>%~</a:t>
            </a:r>
            <a:r>
              <a:rPr lang="zh-CN" sz="3150" b="1" i="1">
                <a:solidFill>
                  <a:srgbClr val="006ECC"/>
                </a:solidFill>
                <a:latin typeface="Liberation Serif"/>
                <a:ea typeface="Liberation Serif"/>
                <a:cs typeface="Liberation Serif"/>
              </a:rPr>
              <a:t>24</a:t>
            </a:r>
            <a:r>
              <a:rPr lang="zh-CN" sz="2000" b="1" i="1">
                <a:solidFill>
                  <a:srgbClr val="006ECC"/>
                </a:solidFill>
                <a:latin typeface="Liberation Serif"/>
                <a:ea typeface="Liberation Serif"/>
                <a:cs typeface="Liberation Serif"/>
              </a:rPr>
              <a:t>%</a:t>
            </a:r>
            <a:endParaRPr lang="zh-CN" sz="3150"/>
          </a:p>
        </p:txBody>
      </p:sp>
      <p:sp>
        <p:nvSpPr>
          <p:cNvPr id="147" name="TextBox 147"/>
          <p:cNvSpPr txBox="1"/>
          <p:nvPr/>
        </p:nvSpPr>
        <p:spPr>
          <a:xfrm>
            <a:off x="6482111" y="5582601"/>
            <a:ext cx="96953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7354C"/>
                </a:solidFill>
                <a:latin typeface="Microsoft YaHei"/>
                <a:ea typeface="Microsoft YaHei"/>
                <a:cs typeface="Microsoft YaHei"/>
              </a:rPr>
              <a:t>东南亚进口缺口 </a:t>
            </a:r>
            <a:endParaRPr lang="zh-CN" sz="1050"/>
          </a:p>
        </p:txBody>
      </p:sp>
      <p:sp>
        <p:nvSpPr>
          <p:cNvPr id="148" name="TextBox 148"/>
          <p:cNvSpPr txBox="1"/>
          <p:nvPr/>
        </p:nvSpPr>
        <p:spPr>
          <a:xfrm>
            <a:off x="7429778" y="5582601"/>
            <a:ext cx="167396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lang="zh-CN" sz="1050"/>
          </a:p>
        </p:txBody>
      </p:sp>
      <p:sp>
        <p:nvSpPr>
          <p:cNvPr id="149" name="TextBox 149"/>
          <p:cNvSpPr txBox="1"/>
          <p:nvPr/>
        </p:nvSpPr>
        <p:spPr>
          <a:xfrm>
            <a:off x="7575310" y="5582601"/>
            <a:ext cx="31361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7354C"/>
                </a:solidFill>
                <a:latin typeface="Microsoft YaHei"/>
                <a:ea typeface="Microsoft YaHei"/>
                <a:cs typeface="Microsoft YaHei"/>
              </a:rPr>
              <a:t> 万吨</a:t>
            </a:r>
            <a:endParaRPr lang="zh-CN" sz="1050"/>
          </a:p>
        </p:txBody>
      </p:sp>
      <p:sp>
        <p:nvSpPr>
          <p:cNvPr id="150" name="TextBox 150"/>
          <p:cNvSpPr txBox="1"/>
          <p:nvPr/>
        </p:nvSpPr>
        <p:spPr>
          <a:xfrm>
            <a:off x="6482111" y="5801241"/>
            <a:ext cx="212946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rPr>
              <a:t>3-5</a:t>
            </a:r>
            <a:endParaRPr lang="zh-CN" sz="1050"/>
          </a:p>
        </p:txBody>
      </p:sp>
      <p:sp>
        <p:nvSpPr>
          <p:cNvPr id="151" name="TextBox 151"/>
          <p:cNvSpPr txBox="1"/>
          <p:nvPr/>
        </p:nvSpPr>
        <p:spPr>
          <a:xfrm>
            <a:off x="6673193" y="5801241"/>
            <a:ext cx="474175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7354C"/>
                </a:solidFill>
                <a:latin typeface="Microsoft YaHei"/>
                <a:ea typeface="Microsoft YaHei"/>
                <a:cs typeface="Microsoft YaHei"/>
              </a:rPr>
              <a:t> 年占比 </a:t>
            </a:r>
            <a:endParaRPr lang="zh-CN" sz="1050"/>
          </a:p>
        </p:txBody>
      </p:sp>
      <p:sp>
        <p:nvSpPr>
          <p:cNvPr id="152" name="TextBox 152"/>
          <p:cNvSpPr txBox="1"/>
          <p:nvPr/>
        </p:nvSpPr>
        <p:spPr>
          <a:xfrm>
            <a:off x="7125504" y="5801241"/>
            <a:ext cx="55457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rPr>
              <a:t>8%~12%</a:t>
            </a:r>
            <a:endParaRPr lang="zh-CN" sz="1050"/>
          </a:p>
        </p:txBody>
      </p:sp>
      <p:sp>
        <p:nvSpPr>
          <p:cNvPr id="153" name="TextBox 153"/>
          <p:cNvSpPr txBox="1"/>
          <p:nvPr/>
        </p:nvSpPr>
        <p:spPr>
          <a:xfrm>
            <a:off x="6482111" y="6027169"/>
            <a:ext cx="575979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7354C"/>
                </a:solidFill>
                <a:latin typeface="Microsoft YaHei"/>
                <a:ea typeface="Microsoft YaHei"/>
                <a:cs typeface="Microsoft YaHei"/>
              </a:rPr>
              <a:t>出口额超 </a:t>
            </a:r>
            <a:endParaRPr lang="zh-CN" sz="1050"/>
          </a:p>
        </p:txBody>
      </p:sp>
      <p:sp>
        <p:nvSpPr>
          <p:cNvPr id="154" name="TextBox 154"/>
          <p:cNvSpPr txBox="1"/>
          <p:nvPr/>
        </p:nvSpPr>
        <p:spPr>
          <a:xfrm>
            <a:off x="7036226" y="6027169"/>
            <a:ext cx="735859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FF8A00"/>
                </a:solidFill>
                <a:latin typeface="Microsoft YaHei"/>
                <a:ea typeface="Microsoft YaHei"/>
                <a:cs typeface="Microsoft YaHei"/>
              </a:rPr>
              <a:t>2100 万美元</a:t>
            </a:r>
            <a:endParaRPr lang="zh-CN" sz="1050"/>
          </a:p>
        </p:txBody>
      </p:sp>
      <p:sp>
        <p:nvSpPr>
          <p:cNvPr id="155" name="TextBox 155"/>
          <p:cNvSpPr txBox="1"/>
          <p:nvPr/>
        </p:nvSpPr>
        <p:spPr>
          <a:xfrm>
            <a:off x="8282245" y="5626329"/>
            <a:ext cx="31361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7354C"/>
                </a:solidFill>
                <a:latin typeface="Microsoft YaHei"/>
                <a:ea typeface="Microsoft YaHei"/>
                <a:cs typeface="Microsoft YaHei"/>
              </a:rPr>
              <a:t>每吨 </a:t>
            </a:r>
            <a:endParaRPr lang="zh-CN" sz="1050"/>
          </a:p>
        </p:txBody>
      </p:sp>
      <p:sp>
        <p:nvSpPr>
          <p:cNvPr id="156" name="TextBox 156"/>
          <p:cNvSpPr txBox="1"/>
          <p:nvPr/>
        </p:nvSpPr>
        <p:spPr>
          <a:xfrm>
            <a:off x="8573992" y="5626329"/>
            <a:ext cx="504010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007AFF"/>
                </a:solidFill>
                <a:latin typeface="Microsoft YaHei"/>
                <a:ea typeface="Microsoft YaHei"/>
                <a:cs typeface="Microsoft YaHei"/>
              </a:rPr>
              <a:t>120-180</a:t>
            </a:r>
            <a:endParaRPr lang="zh-CN" sz="1050"/>
          </a:p>
        </p:txBody>
      </p:sp>
      <p:sp>
        <p:nvSpPr>
          <p:cNvPr id="157" name="TextBox 157"/>
          <p:cNvSpPr txBox="1"/>
          <p:nvPr/>
        </p:nvSpPr>
        <p:spPr>
          <a:xfrm>
            <a:off x="9056139" y="5626329"/>
            <a:ext cx="313611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7354C"/>
                </a:solidFill>
                <a:latin typeface="Microsoft YaHei"/>
                <a:ea typeface="Microsoft YaHei"/>
                <a:cs typeface="Microsoft YaHei"/>
              </a:rPr>
              <a:t> 美元</a:t>
            </a:r>
            <a:endParaRPr lang="zh-CN" sz="1050"/>
          </a:p>
        </p:txBody>
      </p:sp>
      <p:sp>
        <p:nvSpPr>
          <p:cNvPr id="158" name="TextBox 158"/>
          <p:cNvSpPr txBox="1"/>
          <p:nvPr/>
        </p:nvSpPr>
        <p:spPr>
          <a:xfrm>
            <a:off x="8282245" y="5830393"/>
            <a:ext cx="1428446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7354C"/>
                </a:solidFill>
                <a:latin typeface="Microsoft YaHei"/>
                <a:ea typeface="Microsoft YaHei"/>
                <a:cs typeface="Microsoft YaHei"/>
              </a:rPr>
              <a:t>关税节约</a:t>
            </a:r>
            <a:endParaRPr lang="zh-CN" sz="1050"/>
          </a:p>
        </p:txBody>
      </p:sp>
      <p:sp>
        <p:nvSpPr>
          <p:cNvPr id="159" name="TextBox 159"/>
          <p:cNvSpPr txBox="1"/>
          <p:nvPr/>
        </p:nvSpPr>
        <p:spPr>
          <a:xfrm>
            <a:off x="8282245" y="6041745"/>
            <a:ext cx="707163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17354C"/>
                </a:solidFill>
                <a:latin typeface="Microsoft YaHei"/>
                <a:ea typeface="Microsoft YaHei"/>
                <a:cs typeface="Microsoft YaHei"/>
              </a:rPr>
              <a:t>综合毛利率 </a:t>
            </a:r>
            <a:endParaRPr lang="zh-CN" sz="1050"/>
          </a:p>
        </p:txBody>
      </p:sp>
      <p:sp>
        <p:nvSpPr>
          <p:cNvPr id="160" name="TextBox 160"/>
          <p:cNvSpPr txBox="1"/>
          <p:nvPr/>
        </p:nvSpPr>
        <p:spPr>
          <a:xfrm>
            <a:off x="8967544" y="6041745"/>
            <a:ext cx="627337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007AFF"/>
                </a:solidFill>
                <a:latin typeface="Microsoft YaHei"/>
                <a:ea typeface="Microsoft YaHei"/>
                <a:cs typeface="Microsoft YaHei"/>
              </a:rPr>
              <a:t>18%~24%</a:t>
            </a:r>
            <a:endParaRPr lang="zh-CN" sz="1050"/>
          </a:p>
        </p:txBody>
      </p:sp>
      <p:sp>
        <p:nvSpPr>
          <p:cNvPr id="161" name="TextBox 161"/>
          <p:cNvSpPr txBox="1"/>
          <p:nvPr/>
        </p:nvSpPr>
        <p:spPr>
          <a:xfrm>
            <a:off x="10388475" y="5145322"/>
            <a:ext cx="131912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7263C"/>
                </a:solidFill>
                <a:latin typeface="Microsoft YaHei"/>
                <a:ea typeface="Microsoft YaHei"/>
                <a:cs typeface="Microsoft YaHei"/>
              </a:rPr>
              <a:t>契合国家战略</a:t>
            </a:r>
            <a:endParaRPr lang="zh-CN" sz="919"/>
          </a:p>
        </p:txBody>
      </p:sp>
      <p:sp>
        <p:nvSpPr>
          <p:cNvPr id="162" name="TextBox 162"/>
          <p:cNvSpPr txBox="1"/>
          <p:nvPr/>
        </p:nvSpPr>
        <p:spPr>
          <a:xfrm>
            <a:off x="10388475" y="5305658"/>
            <a:ext cx="131912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7263C"/>
                </a:solidFill>
                <a:latin typeface="Microsoft YaHei"/>
                <a:ea typeface="Microsoft YaHei"/>
                <a:cs typeface="Microsoft YaHei"/>
              </a:rPr>
              <a:t>争取外贸专项扶持</a:t>
            </a:r>
            <a:endParaRPr lang="zh-CN" sz="919"/>
          </a:p>
        </p:txBody>
      </p:sp>
      <p:sp>
        <p:nvSpPr>
          <p:cNvPr id="163" name="TextBox 163"/>
          <p:cNvSpPr txBox="1"/>
          <p:nvPr/>
        </p:nvSpPr>
        <p:spPr>
          <a:xfrm>
            <a:off x="10388475" y="5517010"/>
            <a:ext cx="131912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7263C"/>
                </a:solidFill>
                <a:latin typeface="Microsoft YaHei"/>
                <a:ea typeface="Microsoft YaHei"/>
                <a:cs typeface="Microsoft YaHei"/>
              </a:rPr>
              <a:t>助力东盟农田微塑料治理</a:t>
            </a:r>
            <a:endParaRPr lang="zh-CN" sz="919"/>
          </a:p>
        </p:txBody>
      </p:sp>
      <p:sp>
        <p:nvSpPr>
          <p:cNvPr id="164" name="TextBox 164"/>
          <p:cNvSpPr txBox="1"/>
          <p:nvPr/>
        </p:nvSpPr>
        <p:spPr>
          <a:xfrm>
            <a:off x="10388475" y="5677345"/>
            <a:ext cx="131912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7263C"/>
                </a:solidFill>
                <a:latin typeface="Microsoft YaHei"/>
                <a:ea typeface="Microsoft YaHei"/>
                <a:cs typeface="Microsoft YaHei"/>
              </a:rPr>
              <a:t>深化中·东盟绿色合作</a:t>
            </a:r>
            <a:endParaRPr lang="zh-CN" sz="919"/>
          </a:p>
        </p:txBody>
      </p:sp>
      <p:sp>
        <p:nvSpPr>
          <p:cNvPr id="165" name="TextBox 165"/>
          <p:cNvSpPr txBox="1"/>
          <p:nvPr/>
        </p:nvSpPr>
        <p:spPr>
          <a:xfrm>
            <a:off x="10388475" y="5903273"/>
            <a:ext cx="131912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7263C"/>
                </a:solidFill>
                <a:latin typeface="Microsoft YaHei"/>
                <a:ea typeface="Microsoft YaHei"/>
                <a:cs typeface="Microsoft YaHei"/>
              </a:rPr>
              <a:t>带动PLA/PBAT产业出口</a:t>
            </a:r>
            <a:endParaRPr lang="zh-CN" sz="919"/>
          </a:p>
        </p:txBody>
      </p:sp>
      <p:sp>
        <p:nvSpPr>
          <p:cNvPr id="166" name="TextBox 166"/>
          <p:cNvSpPr txBox="1"/>
          <p:nvPr/>
        </p:nvSpPr>
        <p:spPr>
          <a:xfrm>
            <a:off x="10388475" y="6063609"/>
            <a:ext cx="1319126" cy="1749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9">
                <a:solidFill>
                  <a:srgbClr val="17263C"/>
                </a:solidFill>
                <a:latin typeface="Microsoft YaHei"/>
                <a:ea typeface="Microsoft YaHei"/>
                <a:cs typeface="Microsoft YaHei"/>
              </a:rPr>
              <a:t>提升国际竞争力</a:t>
            </a:r>
            <a:endParaRPr lang="zh-CN" sz="919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le mint fiber paper and mountainous sunlit mulched-field panorama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419090" y="2905138"/>
            <a:ext cx="11420189" cy="2457389"/>
          </a:xfrm>
          <a:prstGeom prst="roundRect">
            <a:avLst>
              <a:gd name="adj" fmla="val 5426"/>
            </a:avLst>
          </a:prstGeom>
          <a:noFill/>
          <a:ln w="7620">
            <a:solidFill>
              <a:srgbClr val="D2EBDD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419090" y="1352602"/>
            <a:ext cx="11420189" cy="1457289"/>
          </a:xfrm>
          <a:prstGeom prst="roundRect">
            <a:avLst>
              <a:gd name="adj" fmla="val 8497"/>
            </a:avLst>
          </a:prstGeom>
          <a:solidFill>
            <a:srgbClr val="FBFFFC"/>
          </a:solidFill>
          <a:ln w="7620">
            <a:solidFill>
              <a:srgbClr val="B4E3CE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09565" y="5467299"/>
            <a:ext cx="11420189" cy="1104872"/>
          </a:xfrm>
          <a:prstGeom prst="roundRect">
            <a:avLst>
              <a:gd name="adj" fmla="val 12069"/>
            </a:avLst>
          </a:prstGeom>
          <a:solidFill>
            <a:srgbClr val="F9FFF9"/>
          </a:solidFill>
          <a:ln w="7620">
            <a:solidFill>
              <a:srgbClr val="D5EEDA"/>
            </a:solidFill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533387" y="295353"/>
            <a:ext cx="2133547" cy="47623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639" y="0"/>
                </a:moveTo>
                <a:lnTo>
                  <a:pt x="21600" y="0"/>
                </a:lnTo>
                <a:lnTo>
                  <a:pt x="2034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7DC8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2695508" y="304878"/>
            <a:ext cx="4067073" cy="47623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58" y="0"/>
                </a:moveTo>
                <a:lnTo>
                  <a:pt x="21600" y="0"/>
                </a:lnTo>
                <a:lnTo>
                  <a:pt x="20942" y="21600"/>
                </a:lnTo>
                <a:lnTo>
                  <a:pt x="0" y="21600"/>
                </a:lnTo>
                <a:close/>
              </a:path>
            </a:pathLst>
          </a:custGeom>
          <a:noFill/>
          <a:ln w="7620">
            <a:solidFill>
              <a:srgbClr val="6DBB97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76238" y="1438325"/>
            <a:ext cx="2800280" cy="1342991"/>
          </a:xfrm>
          <a:prstGeom prst="roundRect">
            <a:avLst>
              <a:gd name="adj" fmla="val 8511"/>
            </a:avLst>
          </a:prstGeom>
          <a:solidFill>
            <a:srgbClr val="FBFFFC"/>
          </a:solidFill>
          <a:ln w="7620">
            <a:solidFill>
              <a:srgbClr val="D2EEDD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400340" y="1438325"/>
            <a:ext cx="2676458" cy="1342991"/>
          </a:xfrm>
          <a:prstGeom prst="roundRect">
            <a:avLst>
              <a:gd name="adj" fmla="val 8511"/>
            </a:avLst>
          </a:prstGeom>
          <a:solidFill>
            <a:srgbClr val="FBFFFC"/>
          </a:solidFill>
          <a:ln w="7620">
            <a:solidFill>
              <a:srgbClr val="D2EEDD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2521" y="1438325"/>
            <a:ext cx="2628834" cy="1342991"/>
          </a:xfrm>
          <a:prstGeom prst="roundRect">
            <a:avLst>
              <a:gd name="adj" fmla="val 8511"/>
            </a:avLst>
          </a:prstGeom>
          <a:solidFill>
            <a:srgbClr val="FBFFFC"/>
          </a:solidFill>
          <a:ln w="7620">
            <a:solidFill>
              <a:srgbClr val="D2EEDD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896128" y="1438325"/>
            <a:ext cx="2933627" cy="1342991"/>
          </a:xfrm>
          <a:prstGeom prst="roundRect">
            <a:avLst>
              <a:gd name="adj" fmla="val 8511"/>
            </a:avLst>
          </a:prstGeom>
          <a:solidFill>
            <a:srgbClr val="FBFFFC"/>
          </a:solidFill>
          <a:ln w="7620">
            <a:solidFill>
              <a:srgbClr val="D2EEDD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609585" y="3429000"/>
            <a:ext cx="3543211" cy="1723982"/>
          </a:xfrm>
          <a:prstGeom prst="roundRect">
            <a:avLst>
              <a:gd name="adj" fmla="val 7735"/>
            </a:avLst>
          </a:prstGeom>
          <a:solidFill>
            <a:srgbClr val="FBFFFC"/>
          </a:solidFill>
          <a:ln w="7620">
            <a:solidFill>
              <a:srgbClr val="CDEBDC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486163" y="3257554"/>
            <a:ext cx="4019450" cy="1723982"/>
          </a:xfrm>
          <a:prstGeom prst="roundRect">
            <a:avLst>
              <a:gd name="adj" fmla="val 7735"/>
            </a:avLst>
          </a:prstGeom>
          <a:solidFill>
            <a:srgbClr val="FBFFFC"/>
          </a:solidFill>
          <a:ln w="7620">
            <a:solidFill>
              <a:srgbClr val="CDEBDC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19110" y="5962587"/>
            <a:ext cx="2571686" cy="590535"/>
          </a:xfrm>
          <a:prstGeom prst="roundRect">
            <a:avLst>
              <a:gd name="adj" fmla="val 32258"/>
            </a:avLst>
          </a:prstGeom>
          <a:solidFill>
            <a:srgbClr val="FBFFFA"/>
          </a:solidFill>
          <a:ln w="7620">
            <a:solidFill>
              <a:srgbClr val="DBEEDB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3266993" y="5962587"/>
            <a:ext cx="2238319" cy="590535"/>
          </a:xfrm>
          <a:prstGeom prst="roundRect">
            <a:avLst>
              <a:gd name="adj" fmla="val 32258"/>
            </a:avLst>
          </a:prstGeom>
          <a:solidFill>
            <a:srgbClr val="FBFFFA"/>
          </a:solidFill>
          <a:ln w="7620">
            <a:solidFill>
              <a:srgbClr val="DBEEDB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5571986" y="5962587"/>
            <a:ext cx="2362141" cy="590535"/>
          </a:xfrm>
          <a:prstGeom prst="roundRect">
            <a:avLst>
              <a:gd name="adj" fmla="val 32258"/>
            </a:avLst>
          </a:prstGeom>
          <a:solidFill>
            <a:srgbClr val="FBFFFA"/>
          </a:solidFill>
          <a:ln w="7620">
            <a:solidFill>
              <a:srgbClr val="DBEEDB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8010325" y="5962587"/>
            <a:ext cx="2314517" cy="590535"/>
          </a:xfrm>
          <a:prstGeom prst="roundRect">
            <a:avLst>
              <a:gd name="adj" fmla="val 32258"/>
            </a:avLst>
          </a:prstGeom>
          <a:solidFill>
            <a:srgbClr val="FBFFFA"/>
          </a:solidFill>
          <a:ln w="7620">
            <a:solidFill>
              <a:srgbClr val="DBEEDB"/>
            </a:solidFill>
          </a:ln>
        </p:spPr>
        <p:txBody>
          <a:bodyPr/>
          <a:lstStyle/>
          <a:p/>
        </p:txBody>
      </p:sp>
      <p:sp>
        <p:nvSpPr>
          <p:cNvPr id="18" name="Path 18"/>
          <p:cNvSpPr/>
          <p:nvPr/>
        </p:nvSpPr>
        <p:spPr>
          <a:xfrm>
            <a:off x="619110" y="295353"/>
            <a:ext cx="1962101" cy="47623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678" y="0"/>
                </a:moveTo>
                <a:lnTo>
                  <a:pt x="21600" y="0"/>
                </a:lnTo>
                <a:lnTo>
                  <a:pt x="20237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634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2847904" y="476324"/>
            <a:ext cx="114297" cy="114297"/>
          </a:xfrm>
          <a:prstGeom prst="ellipse">
            <a:avLst/>
          </a:prstGeom>
          <a:solidFill>
            <a:srgbClr val="079B5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1390615" y="952562"/>
            <a:ext cx="2762181" cy="4000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45" y="0"/>
                </a:moveTo>
                <a:lnTo>
                  <a:pt x="21600" y="0"/>
                </a:lnTo>
                <a:lnTo>
                  <a:pt x="2093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44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ath 21"/>
          <p:cNvSpPr/>
          <p:nvPr/>
        </p:nvSpPr>
        <p:spPr>
          <a:xfrm>
            <a:off x="1390615" y="2933712"/>
            <a:ext cx="2000200" cy="4000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029" y="0"/>
                </a:moveTo>
                <a:lnTo>
                  <a:pt x="21600" y="0"/>
                </a:lnTo>
                <a:lnTo>
                  <a:pt x="2067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44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ath 22"/>
          <p:cNvSpPr/>
          <p:nvPr/>
        </p:nvSpPr>
        <p:spPr>
          <a:xfrm>
            <a:off x="1390615" y="5505398"/>
            <a:ext cx="2762181" cy="4000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745" y="0"/>
                </a:moveTo>
                <a:lnTo>
                  <a:pt x="21600" y="0"/>
                </a:lnTo>
                <a:lnTo>
                  <a:pt x="2093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744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1200120" y="1504998"/>
            <a:ext cx="1743031" cy="3143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80" y="0"/>
                </a:moveTo>
                <a:lnTo>
                  <a:pt x="21600" y="0"/>
                </a:lnTo>
                <a:lnTo>
                  <a:pt x="205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38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4038499" y="1504998"/>
            <a:ext cx="1666833" cy="3143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34" y="0"/>
                </a:moveTo>
                <a:lnTo>
                  <a:pt x="21600" y="0"/>
                </a:lnTo>
                <a:lnTo>
                  <a:pt x="2048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38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Path 25"/>
          <p:cNvSpPr/>
          <p:nvPr/>
        </p:nvSpPr>
        <p:spPr>
          <a:xfrm>
            <a:off x="6791155" y="1504998"/>
            <a:ext cx="1666833" cy="3143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34" y="0"/>
                </a:moveTo>
                <a:lnTo>
                  <a:pt x="21600" y="0"/>
                </a:lnTo>
                <a:lnTo>
                  <a:pt x="20489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38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ath 26"/>
          <p:cNvSpPr/>
          <p:nvPr/>
        </p:nvSpPr>
        <p:spPr>
          <a:xfrm>
            <a:off x="9591435" y="1504998"/>
            <a:ext cx="1723982" cy="3143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193" y="0"/>
                </a:moveTo>
                <a:lnTo>
                  <a:pt x="21600" y="0"/>
                </a:lnTo>
                <a:lnTo>
                  <a:pt x="2052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38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Path 27"/>
          <p:cNvSpPr/>
          <p:nvPr/>
        </p:nvSpPr>
        <p:spPr>
          <a:xfrm>
            <a:off x="1342991" y="3514723"/>
            <a:ext cx="1685883" cy="2666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220" y="0"/>
                </a:moveTo>
                <a:lnTo>
                  <a:pt x="21600" y="0"/>
                </a:lnTo>
                <a:lnTo>
                  <a:pt x="20502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38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Path 28"/>
          <p:cNvSpPr/>
          <p:nvPr/>
        </p:nvSpPr>
        <p:spPr>
          <a:xfrm>
            <a:off x="5095748" y="3295653"/>
            <a:ext cx="2162121" cy="27621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952" y="0"/>
                </a:moveTo>
                <a:lnTo>
                  <a:pt x="21600" y="0"/>
                </a:lnTo>
                <a:lnTo>
                  <a:pt x="2074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238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1323942" y="6010210"/>
            <a:ext cx="1790655" cy="257169"/>
          </a:xfrm>
          <a:prstGeom prst="roundRect">
            <a:avLst>
              <a:gd name="adj" fmla="val 50000"/>
            </a:avLst>
          </a:prstGeom>
          <a:solidFill>
            <a:srgbClr val="2BA7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3828954" y="6010210"/>
            <a:ext cx="1571586" cy="257169"/>
          </a:xfrm>
          <a:prstGeom prst="roundRect">
            <a:avLst>
              <a:gd name="adj" fmla="val 50000"/>
            </a:avLst>
          </a:prstGeom>
          <a:solidFill>
            <a:srgbClr val="2BA7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6152996" y="6010210"/>
            <a:ext cx="1685883" cy="257169"/>
          </a:xfrm>
          <a:prstGeom prst="roundRect">
            <a:avLst>
              <a:gd name="adj" fmla="val 50000"/>
            </a:avLst>
          </a:prstGeom>
          <a:solidFill>
            <a:srgbClr val="2BA7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8591335" y="6010210"/>
            <a:ext cx="1628734" cy="257169"/>
          </a:xfrm>
          <a:prstGeom prst="roundRect">
            <a:avLst>
              <a:gd name="adj" fmla="val 50000"/>
            </a:avLst>
          </a:prstGeom>
          <a:solidFill>
            <a:srgbClr val="2BA7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Path 33"/>
          <p:cNvSpPr/>
          <p:nvPr/>
        </p:nvSpPr>
        <p:spPr>
          <a:xfrm>
            <a:off x="3790855" y="952562"/>
            <a:ext cx="361941" cy="4000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ath 34"/>
          <p:cNvSpPr/>
          <p:nvPr/>
        </p:nvSpPr>
        <p:spPr>
          <a:xfrm>
            <a:off x="3028874" y="2933712"/>
            <a:ext cx="361941" cy="4000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ath 35"/>
          <p:cNvSpPr/>
          <p:nvPr/>
        </p:nvSpPr>
        <p:spPr>
          <a:xfrm>
            <a:off x="3790855" y="5505398"/>
            <a:ext cx="361941" cy="40004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ath 36"/>
          <p:cNvSpPr/>
          <p:nvPr/>
        </p:nvSpPr>
        <p:spPr>
          <a:xfrm>
            <a:off x="2581210" y="1504998"/>
            <a:ext cx="361941" cy="3143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ath 37"/>
          <p:cNvSpPr/>
          <p:nvPr/>
        </p:nvSpPr>
        <p:spPr>
          <a:xfrm>
            <a:off x="5343391" y="1504998"/>
            <a:ext cx="361941" cy="3143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ath 38"/>
          <p:cNvSpPr/>
          <p:nvPr/>
        </p:nvSpPr>
        <p:spPr>
          <a:xfrm>
            <a:off x="8096048" y="1504998"/>
            <a:ext cx="361941" cy="3143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Path 39"/>
          <p:cNvSpPr/>
          <p:nvPr/>
        </p:nvSpPr>
        <p:spPr>
          <a:xfrm>
            <a:off x="10953476" y="1504998"/>
            <a:ext cx="361941" cy="31431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Path 40"/>
          <p:cNvSpPr/>
          <p:nvPr/>
        </p:nvSpPr>
        <p:spPr>
          <a:xfrm>
            <a:off x="2666933" y="3514723"/>
            <a:ext cx="361941" cy="266693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Path 41"/>
          <p:cNvSpPr/>
          <p:nvPr/>
        </p:nvSpPr>
        <p:spPr>
          <a:xfrm>
            <a:off x="6895928" y="3295653"/>
            <a:ext cx="361941" cy="27621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6253" y="0"/>
                </a:moveTo>
                <a:lnTo>
                  <a:pt x="21600" y="0"/>
                </a:lnTo>
                <a:lnTo>
                  <a:pt x="16484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B2DBB4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2" name="Original policy-scene foreground scene; no card/header/ordinary text. Thai national flag red-white-blue-white-red preserved; tiny tablet UI remains source identity."/>
          <p:cNvPicPr/>
          <p:nvPr/>
        </p:nvPicPr>
        <p:blipFill>
          <a:blip r:embed="rId6"/>
          <a:stretch>
            <a:fillRect/>
          </a:stretch>
        </p:blipFill>
        <p:spPr>
          <a:xfrm>
            <a:off x="315917" y="1646913"/>
            <a:ext cx="3078461" cy="1230607"/>
          </a:xfrm>
          <a:prstGeom prst="rect">
            <a:avLst/>
          </a:prstGeom>
        </p:spPr>
      </p:pic>
      <p:pic>
        <p:nvPicPr>
          <p:cNvPr id="43" name="Original technical-scene foreground scene; no card/header/ordinary text. Thai national flag red-white-blue-white-red preserved; tiny tablet UI remains source identity."/>
          <p:cNvPicPr/>
          <p:nvPr/>
        </p:nvPicPr>
        <p:blipFill>
          <a:blip r:embed="rId8"/>
          <a:stretch>
            <a:fillRect/>
          </a:stretch>
        </p:blipFill>
        <p:spPr>
          <a:xfrm>
            <a:off x="3316957" y="1584127"/>
            <a:ext cx="2903381" cy="1308556"/>
          </a:xfrm>
          <a:prstGeom prst="rect">
            <a:avLst/>
          </a:prstGeom>
        </p:spPr>
      </p:pic>
      <p:pic>
        <p:nvPicPr>
          <p:cNvPr id="44" name="Original digital-scene foreground scene; no card/header/ordinary text. Thai national flag red-white-blue-white-red preserved; tiny tablet UI remains source identity."/>
          <p:cNvPicPr/>
          <p:nvPr/>
        </p:nvPicPr>
        <p:blipFill>
          <a:blip r:embed="rId10"/>
          <a:stretch>
            <a:fillRect/>
          </a:stretch>
        </p:blipFill>
        <p:spPr>
          <a:xfrm>
            <a:off x="6097998" y="1765342"/>
            <a:ext cx="2785737" cy="1117572"/>
          </a:xfrm>
          <a:prstGeom prst="rect">
            <a:avLst/>
          </a:prstGeom>
        </p:spPr>
      </p:pic>
      <p:pic>
        <p:nvPicPr>
          <p:cNvPr id="45" name="Original business-scene foreground scene; no card/header/ordinary text. Thai national flag red-white-blue-white-red preserved; tiny tablet UI remains source identity."/>
          <p:cNvPicPr/>
          <p:nvPr/>
        </p:nvPicPr>
        <p:blipFill>
          <a:blip r:embed="rId12"/>
          <a:stretch>
            <a:fillRect/>
          </a:stretch>
        </p:blipFill>
        <p:spPr>
          <a:xfrm>
            <a:off x="8816792" y="1832895"/>
            <a:ext cx="3123786" cy="1049138"/>
          </a:xfrm>
          <a:prstGeom prst="rect">
            <a:avLst/>
          </a:prstGeom>
        </p:spPr>
      </p:pic>
      <p:pic>
        <p:nvPicPr>
          <p:cNvPr id="46" name="Original luminous green-gold Asia-centered earth globe with white orbital glow, original arrow and crown removed; globe independently editable image."/>
          <p:cNvPicPr/>
          <p:nvPr/>
        </p:nvPicPr>
        <p:blipFill>
          <a:blip r:embed="rId22"/>
          <a:stretch>
            <a:fillRect/>
          </a:stretch>
        </p:blipFill>
        <p:spPr>
          <a:xfrm>
            <a:off x="9705423" y="2952073"/>
            <a:ext cx="1957868" cy="1820607"/>
          </a:xfrm>
          <a:prstGeom prst="rect">
            <a:avLst/>
          </a:prstGeom>
        </p:spPr>
      </p:pic>
      <p:pic>
        <p:nvPicPr>
          <p:cNvPr id="47" name="Original source white/blue factory buildings and towers among green agricultural fields and hills, ordinary plan/timeline text removed."/>
          <p:cNvPicPr/>
          <p:nvPr/>
        </p:nvPicPr>
        <p:blipFill>
          <a:blip r:embed="rId21"/>
          <a:stretch>
            <a:fillRect/>
          </a:stretch>
        </p:blipFill>
        <p:spPr>
          <a:xfrm>
            <a:off x="589772" y="4541308"/>
            <a:ext cx="3740474" cy="823308"/>
          </a:xfrm>
          <a:prstGeom prst="rect">
            <a:avLst/>
          </a:prstGeom>
        </p:spPr>
      </p:pic>
      <p:sp>
        <p:nvSpPr>
          <p:cNvPr id="48" name="Ellipse 48"/>
          <p:cNvSpPr/>
          <p:nvPr/>
        </p:nvSpPr>
        <p:spPr>
          <a:xfrm>
            <a:off x="914377" y="3467099"/>
            <a:ext cx="380990" cy="380990"/>
          </a:xfrm>
          <a:prstGeom prst="ellipse">
            <a:avLst/>
          </a:prstGeom>
          <a:solidFill>
            <a:srgbClr val="18974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Ellipse 49"/>
          <p:cNvSpPr/>
          <p:nvPr/>
        </p:nvSpPr>
        <p:spPr>
          <a:xfrm>
            <a:off x="4686183" y="3248030"/>
            <a:ext cx="371466" cy="371466"/>
          </a:xfrm>
          <a:prstGeom prst="ellipse">
            <a:avLst/>
          </a:prstGeom>
          <a:solidFill>
            <a:srgbClr val="189746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0" name="Original green Southeast Asia regional map with yellow Thailand-area highlight and original small blue-green cargo ship; no label added."/>
          <p:cNvPicPr/>
          <p:nvPr/>
        </p:nvPicPr>
        <p:blipFill>
          <a:blip r:embed="rId30"/>
          <a:stretch>
            <a:fillRect/>
          </a:stretch>
        </p:blipFill>
        <p:spPr>
          <a:xfrm>
            <a:off x="9802777" y="5404603"/>
            <a:ext cx="2173571" cy="1220740"/>
          </a:xfrm>
          <a:prstGeom prst="rect">
            <a:avLst/>
          </a:prstGeom>
        </p:spPr>
      </p:pic>
      <p:pic>
        <p:nvPicPr>
          <p:cNvPr id="51" name="Original sharp yellow-green two-leaf emblem, ordinary gold ordinal is independently native."/>
          <p:cNvPicPr/>
          <p:nvPr/>
        </p:nvPicPr>
        <p:blipFill>
          <a:blip r:embed="rId3"/>
          <a:stretch>
            <a:fillRect/>
          </a:stretch>
        </p:blipFill>
        <p:spPr>
          <a:xfrm>
            <a:off x="278544" y="926109"/>
            <a:ext cx="500160" cy="491044"/>
          </a:xfrm>
          <a:prstGeom prst="rect">
            <a:avLst/>
          </a:prstGeom>
        </p:spPr>
      </p:pic>
      <p:pic>
        <p:nvPicPr>
          <p:cNvPr id="52" name="Original sharp yellow-green two-leaf emblem, ordinary gold ordinal is independently native."/>
          <p:cNvPicPr/>
          <p:nvPr/>
        </p:nvPicPr>
        <p:blipFill>
          <a:blip r:embed="rId4"/>
          <a:stretch>
            <a:fillRect/>
          </a:stretch>
        </p:blipFill>
        <p:spPr>
          <a:xfrm>
            <a:off x="278544" y="2907260"/>
            <a:ext cx="500160" cy="491044"/>
          </a:xfrm>
          <a:prstGeom prst="rect">
            <a:avLst/>
          </a:prstGeom>
        </p:spPr>
      </p:pic>
      <p:pic>
        <p:nvPicPr>
          <p:cNvPr id="53" name="Original sharp yellow-green two-leaf emblem, ordinary gold ordinal is independently native."/>
          <p:cNvPicPr/>
          <p:nvPr/>
        </p:nvPicPr>
        <p:blipFill>
          <a:blip r:embed="rId5"/>
          <a:stretch>
            <a:fillRect/>
          </a:stretch>
        </p:blipFill>
        <p:spPr>
          <a:xfrm>
            <a:off x="278544" y="5478945"/>
            <a:ext cx="500160" cy="491044"/>
          </a:xfrm>
          <a:prstGeom prst="rect">
            <a:avLst/>
          </a:prstGeom>
        </p:spPr>
      </p:pic>
      <p:sp>
        <p:nvSpPr>
          <p:cNvPr id="54" name="Path 54"/>
          <p:cNvSpPr/>
          <p:nvPr/>
        </p:nvSpPr>
        <p:spPr>
          <a:xfrm>
            <a:off x="428614" y="3028960"/>
            <a:ext cx="11524962" cy="259073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17074"/>
                </a:moveTo>
                <a:cubicBezTo>
                  <a:pt x="3481" y="21600"/>
                  <a:pt x="6694" y="16915"/>
                  <a:pt x="9354" y="15882"/>
                </a:cubicBezTo>
                <a:cubicBezTo>
                  <a:pt x="14013" y="16518"/>
                  <a:pt x="18619" y="10879"/>
                  <a:pt x="21011" y="1747"/>
                </a:cubicBezTo>
                <a:lnTo>
                  <a:pt x="20582" y="2382"/>
                </a:lnTo>
                <a:lnTo>
                  <a:pt x="21600" y="0"/>
                </a:lnTo>
                <a:lnTo>
                  <a:pt x="21457" y="5321"/>
                </a:lnTo>
                <a:lnTo>
                  <a:pt x="21154" y="3971"/>
                </a:lnTo>
                <a:cubicBezTo>
                  <a:pt x="18904" y="14850"/>
                  <a:pt x="14567" y="19694"/>
                  <a:pt x="9497" y="19059"/>
                </a:cubicBezTo>
                <a:cubicBezTo>
                  <a:pt x="5962" y="19615"/>
                  <a:pt x="3517" y="21600"/>
                  <a:pt x="0" y="19059"/>
                </a:cubicBezTo>
                <a:close/>
              </a:path>
            </a:pathLst>
          </a:custGeom>
          <a:solidFill>
            <a:srgbClr val="55B751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Path 55"/>
          <p:cNvSpPr/>
          <p:nvPr/>
        </p:nvSpPr>
        <p:spPr>
          <a:xfrm>
            <a:off x="447664" y="3324228"/>
            <a:ext cx="11315417" cy="225736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8137"/>
                </a:moveTo>
                <a:cubicBezTo>
                  <a:pt x="3636" y="21600"/>
                  <a:pt x="6455" y="18501"/>
                  <a:pt x="9564" y="17499"/>
                </a:cubicBezTo>
                <a:cubicBezTo>
                  <a:pt x="15000" y="18046"/>
                  <a:pt x="19200" y="11939"/>
                  <a:pt x="21600" y="0"/>
                </a:cubicBezTo>
              </a:path>
            </a:pathLst>
          </a:custGeom>
          <a:noFill/>
          <a:ln w="8890">
            <a:solidFill>
              <a:srgbClr val="FFFFFF"/>
            </a:solidFill>
            <a:prstDash val="dash"/>
          </a:ln>
        </p:spPr>
        <p:txBody>
          <a:bodyPr/>
          <a:lstStyle/>
          <a:p/>
        </p:txBody>
      </p:sp>
      <p:sp>
        <p:nvSpPr>
          <p:cNvPr id="56" name="Path 56"/>
          <p:cNvSpPr/>
          <p:nvPr/>
        </p:nvSpPr>
        <p:spPr>
          <a:xfrm>
            <a:off x="438139" y="3505198"/>
            <a:ext cx="11277318" cy="207639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8826"/>
                </a:moveTo>
                <a:cubicBezTo>
                  <a:pt x="3357" y="21600"/>
                  <a:pt x="6878" y="19717"/>
                  <a:pt x="9687" y="18826"/>
                </a:cubicBezTo>
                <a:cubicBezTo>
                  <a:pt x="14905" y="19618"/>
                  <a:pt x="19301" y="13574"/>
                  <a:pt x="21600" y="0"/>
                </a:cubicBezTo>
              </a:path>
            </a:pathLst>
          </a:custGeom>
          <a:noFill/>
          <a:ln w="12700">
            <a:solidFill>
              <a:srgbClr val="E5F5D5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5048124" y="4895813"/>
            <a:ext cx="1685883" cy="609585"/>
          </a:xfrm>
          <a:prstGeom prst="roundRect">
            <a:avLst>
              <a:gd name="adj" fmla="val 43750"/>
            </a:avLst>
          </a:prstGeom>
          <a:solidFill>
            <a:srgbClr val="F4FFF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7257869" y="4581496"/>
            <a:ext cx="1476338" cy="619110"/>
          </a:xfrm>
          <a:prstGeom prst="roundRect">
            <a:avLst>
              <a:gd name="adj" fmla="val 40000"/>
            </a:avLst>
          </a:prstGeom>
          <a:solidFill>
            <a:srgbClr val="F4FFF4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9" name="Original source shield circular semantic icon, source color/stroke identity retained."/>
          <p:cNvPicPr/>
          <p:nvPr/>
        </p:nvPicPr>
        <p:blipFill>
          <a:blip r:embed="rId7"/>
          <a:stretch>
            <a:fillRect/>
          </a:stretch>
        </p:blipFill>
        <p:spPr>
          <a:xfrm>
            <a:off x="687899" y="1383457"/>
            <a:ext cx="710124" cy="700271"/>
          </a:xfrm>
          <a:prstGeom prst="rect">
            <a:avLst/>
          </a:prstGeom>
        </p:spPr>
      </p:pic>
      <p:pic>
        <p:nvPicPr>
          <p:cNvPr id="60" name="Original source flask-top circular semantic icon, source color/stroke identity retained."/>
          <p:cNvPicPr/>
          <p:nvPr/>
        </p:nvPicPr>
        <p:blipFill>
          <a:blip r:embed="rId9"/>
          <a:stretch>
            <a:fillRect/>
          </a:stretch>
        </p:blipFill>
        <p:spPr>
          <a:xfrm>
            <a:off x="3507229" y="1383457"/>
            <a:ext cx="710124" cy="700271"/>
          </a:xfrm>
          <a:prstGeom prst="rect">
            <a:avLst/>
          </a:prstGeom>
        </p:spPr>
      </p:pic>
      <p:pic>
        <p:nvPicPr>
          <p:cNvPr id="61" name="Original source cloud circular semantic icon, source color/stroke identity retain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6240535" y="1383457"/>
            <a:ext cx="710724" cy="700271"/>
          </a:xfrm>
          <a:prstGeom prst="rect">
            <a:avLst/>
          </a:prstGeom>
        </p:spPr>
      </p:pic>
      <p:pic>
        <p:nvPicPr>
          <p:cNvPr id="62" name="Original source chart-top circular semantic icon, source color/stroke identity retained."/>
          <p:cNvPicPr/>
          <p:nvPr/>
        </p:nvPicPr>
        <p:blipFill>
          <a:blip r:embed="rId13"/>
          <a:stretch>
            <a:fillRect/>
          </a:stretch>
        </p:blipFill>
        <p:spPr>
          <a:xfrm>
            <a:off x="9060165" y="1373932"/>
            <a:ext cx="710124" cy="700271"/>
          </a:xfrm>
          <a:prstGeom prst="rect">
            <a:avLst/>
          </a:prstGeom>
        </p:spPr>
      </p:pic>
      <p:pic>
        <p:nvPicPr>
          <p:cNvPr id="63" name="Original source factory circular semantic icon, source color/stroke identity retained."/>
          <p:cNvPicPr/>
          <p:nvPr/>
        </p:nvPicPr>
        <p:blipFill>
          <a:blip r:embed="rId14"/>
          <a:stretch>
            <a:fillRect/>
          </a:stretch>
        </p:blipFill>
        <p:spPr>
          <a:xfrm>
            <a:off x="1006684" y="3825629"/>
            <a:ext cx="558318" cy="559259"/>
          </a:xfrm>
          <a:prstGeom prst="rect">
            <a:avLst/>
          </a:prstGeom>
        </p:spPr>
      </p:pic>
      <p:pic>
        <p:nvPicPr>
          <p:cNvPr id="64" name="Original source grid-globe circular semantic icon, source color/stroke identity retain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2073457" y="3825865"/>
            <a:ext cx="558318" cy="556669"/>
          </a:xfrm>
          <a:prstGeom prst="rect">
            <a:avLst/>
          </a:prstGeom>
        </p:spPr>
      </p:pic>
      <p:pic>
        <p:nvPicPr>
          <p:cNvPr id="65" name="Original source truck circular semantic icon, source color/stroke identity retain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3178096" y="3777767"/>
            <a:ext cx="558786" cy="557599"/>
          </a:xfrm>
          <a:prstGeom prst="rect">
            <a:avLst/>
          </a:prstGeom>
        </p:spPr>
      </p:pic>
      <p:pic>
        <p:nvPicPr>
          <p:cNvPr id="66" name="Original source trophy circular semantic icon, source color/stroke identity retain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4663958" y="3625130"/>
            <a:ext cx="558786" cy="560217"/>
          </a:xfrm>
          <a:prstGeom prst="rect">
            <a:avLst/>
          </a:prstGeom>
        </p:spPr>
      </p:pic>
      <p:pic>
        <p:nvPicPr>
          <p:cNvPr id="67" name="Original source cube circular semantic icon, source color/stroke identity retain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5578336" y="3615846"/>
            <a:ext cx="558786" cy="557599"/>
          </a:xfrm>
          <a:prstGeom prst="rect">
            <a:avLst/>
          </a:prstGeom>
        </p:spPr>
      </p:pic>
      <p:pic>
        <p:nvPicPr>
          <p:cNvPr id="68" name="Original source chain circular semantic icon, source color/stroke identity retained."/>
          <p:cNvPicPr/>
          <p:nvPr/>
        </p:nvPicPr>
        <p:blipFill>
          <a:blip r:embed="rId19"/>
          <a:stretch>
            <a:fillRect/>
          </a:stretch>
        </p:blipFill>
        <p:spPr>
          <a:xfrm>
            <a:off x="6511762" y="3596796"/>
            <a:ext cx="558786" cy="557599"/>
          </a:xfrm>
          <a:prstGeom prst="rect">
            <a:avLst/>
          </a:prstGeom>
        </p:spPr>
      </p:pic>
      <p:pic>
        <p:nvPicPr>
          <p:cNvPr id="69" name="Original source leaf circular semantic icon, source color/stroke identity retained."/>
          <p:cNvPicPr/>
          <p:nvPr/>
        </p:nvPicPr>
        <p:blipFill>
          <a:blip r:embed="rId20"/>
          <a:stretch>
            <a:fillRect/>
          </a:stretch>
        </p:blipFill>
        <p:spPr>
          <a:xfrm>
            <a:off x="7530912" y="3549172"/>
            <a:ext cx="558786" cy="557599"/>
          </a:xfrm>
          <a:prstGeom prst="rect">
            <a:avLst/>
          </a:prstGeom>
        </p:spPr>
      </p:pic>
      <p:pic>
        <p:nvPicPr>
          <p:cNvPr id="70" name="Original source seedling-stage circular semantic icon, source color/stroke identity retained."/>
          <p:cNvPicPr/>
          <p:nvPr/>
        </p:nvPicPr>
        <p:blipFill>
          <a:blip r:embed="rId23"/>
          <a:stretch>
            <a:fillRect/>
          </a:stretch>
        </p:blipFill>
        <p:spPr>
          <a:xfrm>
            <a:off x="4581410" y="4885390"/>
            <a:ext cx="523862" cy="525659"/>
          </a:xfrm>
          <a:prstGeom prst="rect">
            <a:avLst/>
          </a:prstGeom>
        </p:spPr>
      </p:pic>
      <p:pic>
        <p:nvPicPr>
          <p:cNvPr id="71" name="Original source chart-stage circular semantic icon, source color/stroke identity retained."/>
          <p:cNvPicPr/>
          <p:nvPr/>
        </p:nvPicPr>
        <p:blipFill>
          <a:blip r:embed="rId24"/>
          <a:stretch>
            <a:fillRect/>
          </a:stretch>
        </p:blipFill>
        <p:spPr>
          <a:xfrm>
            <a:off x="6801738" y="4561776"/>
            <a:ext cx="512221" cy="525203"/>
          </a:xfrm>
          <a:prstGeom prst="rect">
            <a:avLst/>
          </a:prstGeom>
        </p:spPr>
      </p:pic>
      <p:pic>
        <p:nvPicPr>
          <p:cNvPr id="72" name="Original source crown-stage circular semantic icon, source color/stroke identity retained."/>
          <p:cNvPicPr/>
          <p:nvPr/>
        </p:nvPicPr>
        <p:blipFill>
          <a:blip r:embed="rId25"/>
          <a:stretch>
            <a:fillRect/>
          </a:stretch>
        </p:blipFill>
        <p:spPr>
          <a:xfrm>
            <a:off x="9301459" y="3644045"/>
            <a:ext cx="675200" cy="665258"/>
          </a:xfrm>
          <a:prstGeom prst="rect">
            <a:avLst/>
          </a:prstGeom>
        </p:spPr>
      </p:pic>
      <p:pic>
        <p:nvPicPr>
          <p:cNvPr id="73" name="Original source handshake circular semantic icon, source color/stroke identity retained."/>
          <p:cNvPicPr/>
          <p:nvPr/>
        </p:nvPicPr>
        <p:blipFill>
          <a:blip r:embed="rId26"/>
          <a:stretch>
            <a:fillRect/>
          </a:stretch>
        </p:blipFill>
        <p:spPr>
          <a:xfrm>
            <a:off x="731290" y="5902768"/>
            <a:ext cx="651917" cy="653025"/>
          </a:xfrm>
          <a:prstGeom prst="rect">
            <a:avLst/>
          </a:prstGeom>
        </p:spPr>
      </p:pic>
      <p:pic>
        <p:nvPicPr>
          <p:cNvPr id="74" name="Original source government circular semantic icon, source color/stroke identity retained."/>
          <p:cNvPicPr/>
          <p:nvPr/>
        </p:nvPicPr>
        <p:blipFill>
          <a:blip r:embed="rId27"/>
          <a:stretch>
            <a:fillRect/>
          </a:stretch>
        </p:blipFill>
        <p:spPr>
          <a:xfrm>
            <a:off x="3255625" y="5902768"/>
            <a:ext cx="651371" cy="653025"/>
          </a:xfrm>
          <a:prstGeom prst="rect">
            <a:avLst/>
          </a:prstGeom>
        </p:spPr>
      </p:pic>
      <p:pic>
        <p:nvPicPr>
          <p:cNvPr id="75" name="Original source people circular semantic icon, source color/stroke identity retained."/>
          <p:cNvPicPr/>
          <p:nvPr/>
        </p:nvPicPr>
        <p:blipFill>
          <a:blip r:embed="rId28"/>
          <a:stretch>
            <a:fillRect/>
          </a:stretch>
        </p:blipFill>
        <p:spPr>
          <a:xfrm>
            <a:off x="5570142" y="5902768"/>
            <a:ext cx="651371" cy="653025"/>
          </a:xfrm>
          <a:prstGeom prst="rect">
            <a:avLst/>
          </a:prstGeom>
        </p:spPr>
      </p:pic>
      <p:pic>
        <p:nvPicPr>
          <p:cNvPr id="76" name="Original source flask-bottom circular semantic icon, source color/stroke identity retained."/>
          <p:cNvPicPr/>
          <p:nvPr/>
        </p:nvPicPr>
        <p:blipFill>
          <a:blip r:embed="rId29"/>
          <a:stretch>
            <a:fillRect/>
          </a:stretch>
        </p:blipFill>
        <p:spPr>
          <a:xfrm>
            <a:off x="8008481" y="5902768"/>
            <a:ext cx="651371" cy="653025"/>
          </a:xfrm>
          <a:prstGeom prst="rect">
            <a:avLst/>
          </a:prstGeom>
        </p:spPr>
      </p:pic>
      <p:sp>
        <p:nvSpPr>
          <p:cNvPr id="77" name="Roundrect 77"/>
          <p:cNvSpPr/>
          <p:nvPr/>
        </p:nvSpPr>
        <p:spPr>
          <a:xfrm>
            <a:off x="9162821" y="4219555"/>
            <a:ext cx="1162021" cy="628634"/>
          </a:xfrm>
          <a:prstGeom prst="roundRect">
            <a:avLst>
              <a:gd name="adj" fmla="val 50000"/>
            </a:avLst>
          </a:prstGeom>
          <a:solidFill>
            <a:srgbClr val="16A75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TextBox 78"/>
          <p:cNvSpPr txBox="1"/>
          <p:nvPr/>
        </p:nvSpPr>
        <p:spPr>
          <a:xfrm>
            <a:off x="809605" y="295353"/>
            <a:ext cx="1619210" cy="4762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00" b="1" i="1">
                <a:solidFill>
                  <a:srgbClr val="FAE7A5"/>
                </a:solidFill>
                <a:latin typeface="Microsoft YaHei"/>
                <a:ea typeface="Microsoft YaHei"/>
                <a:cs typeface="Microsoft YaHei"/>
              </a:rPr>
              <a:t>发展规划</a:t>
            </a:r>
            <a:endParaRPr lang="zh-CN" sz="2800"/>
          </a:p>
        </p:txBody>
      </p:sp>
      <p:sp>
        <p:nvSpPr>
          <p:cNvPr id="79" name="TextBox 79"/>
          <p:cNvSpPr txBox="1"/>
          <p:nvPr/>
        </p:nvSpPr>
        <p:spPr>
          <a:xfrm>
            <a:off x="3209845" y="352502"/>
            <a:ext cx="3428914" cy="3809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>
                <a:solidFill>
                  <a:srgbClr val="00523F"/>
                </a:solidFill>
                <a:latin typeface="KaiTi"/>
                <a:ea typeface="KaiTi"/>
                <a:cs typeface="KaiTi"/>
              </a:rPr>
              <a:t>发展规划与合作版图构建</a:t>
            </a:r>
            <a:endParaRPr lang="zh-CN" sz="2050"/>
          </a:p>
        </p:txBody>
      </p:sp>
      <p:sp>
        <p:nvSpPr>
          <p:cNvPr id="80" name="TextBox 80"/>
          <p:cNvSpPr txBox="1"/>
          <p:nvPr/>
        </p:nvSpPr>
        <p:spPr>
          <a:xfrm>
            <a:off x="761981" y="866839"/>
            <a:ext cx="619110" cy="5714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400" b="1" i="1">
                <a:solidFill>
                  <a:srgbClr val="897314"/>
                </a:solidFill>
                <a:latin typeface="Liberation Serif"/>
                <a:ea typeface="Liberation Serif"/>
                <a:cs typeface="Liberation Serif"/>
              </a:rPr>
              <a:t>01</a:t>
            </a:r>
            <a:endParaRPr lang="zh-CN" sz="4400"/>
          </a:p>
        </p:txBody>
      </p:sp>
      <p:sp>
        <p:nvSpPr>
          <p:cNvPr id="81" name="TextBox 81"/>
          <p:cNvSpPr txBox="1"/>
          <p:nvPr/>
        </p:nvSpPr>
        <p:spPr>
          <a:xfrm>
            <a:off x="1657309" y="971611"/>
            <a:ext cx="2428814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发展趋势预测</a:t>
            </a:r>
            <a:endParaRPr lang="zh-CN" sz="2050"/>
          </a:p>
        </p:txBody>
      </p:sp>
      <p:sp>
        <p:nvSpPr>
          <p:cNvPr id="82" name="TextBox 82"/>
          <p:cNvSpPr txBox="1"/>
          <p:nvPr/>
        </p:nvSpPr>
        <p:spPr>
          <a:xfrm>
            <a:off x="761981" y="2847990"/>
            <a:ext cx="619110" cy="5714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400" b="1" i="1">
                <a:solidFill>
                  <a:srgbClr val="897314"/>
                </a:solidFill>
                <a:latin typeface="Liberation Serif"/>
                <a:ea typeface="Liberation Serif"/>
                <a:cs typeface="Liberation Serif"/>
              </a:rPr>
              <a:t>02</a:t>
            </a:r>
            <a:endParaRPr lang="zh-CN" sz="4400"/>
          </a:p>
        </p:txBody>
      </p:sp>
      <p:sp>
        <p:nvSpPr>
          <p:cNvPr id="83" name="TextBox 83"/>
          <p:cNvSpPr txBox="1"/>
          <p:nvPr/>
        </p:nvSpPr>
        <p:spPr>
          <a:xfrm>
            <a:off x="1657309" y="2952762"/>
            <a:ext cx="1666833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发展计划</a:t>
            </a:r>
            <a:endParaRPr lang="zh-CN" sz="2050"/>
          </a:p>
        </p:txBody>
      </p:sp>
      <p:sp>
        <p:nvSpPr>
          <p:cNvPr id="84" name="TextBox 84"/>
          <p:cNvSpPr txBox="1"/>
          <p:nvPr/>
        </p:nvSpPr>
        <p:spPr>
          <a:xfrm>
            <a:off x="761981" y="5419675"/>
            <a:ext cx="619110" cy="57148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400" b="1" i="1">
                <a:solidFill>
                  <a:srgbClr val="897314"/>
                </a:solidFill>
                <a:latin typeface="Liberation Serif"/>
                <a:ea typeface="Liberation Serif"/>
                <a:cs typeface="Liberation Serif"/>
              </a:rPr>
              <a:t>03</a:t>
            </a:r>
            <a:endParaRPr lang="zh-CN" sz="4400"/>
          </a:p>
        </p:txBody>
      </p:sp>
      <p:sp>
        <p:nvSpPr>
          <p:cNvPr id="85" name="TextBox 85"/>
          <p:cNvSpPr txBox="1"/>
          <p:nvPr/>
        </p:nvSpPr>
        <p:spPr>
          <a:xfrm>
            <a:off x="1657309" y="5524448"/>
            <a:ext cx="2428814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合作版图构建</a:t>
            </a:r>
            <a:endParaRPr lang="zh-CN" sz="2050"/>
          </a:p>
        </p:txBody>
      </p:sp>
      <p:sp>
        <p:nvSpPr>
          <p:cNvPr id="86" name="TextBox 86"/>
          <p:cNvSpPr txBox="1"/>
          <p:nvPr/>
        </p:nvSpPr>
        <p:spPr>
          <a:xfrm>
            <a:off x="1466813" y="1514523"/>
            <a:ext cx="1390615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政策协同收紧</a:t>
            </a:r>
            <a:endParaRPr lang="zh-CN" sz="1400"/>
          </a:p>
        </p:txBody>
      </p:sp>
      <p:sp>
        <p:nvSpPr>
          <p:cNvPr id="87" name="TextBox 87"/>
          <p:cNvSpPr txBox="1"/>
          <p:nvPr/>
        </p:nvSpPr>
        <p:spPr>
          <a:xfrm>
            <a:off x="1466813" y="1914563"/>
            <a:ext cx="1428714" cy="3714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BCG战略</a:t>
            </a:r>
            <a:endParaRPr lang="zh-CN" sz="1000"/>
          </a:p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TIS标准</a:t>
            </a:r>
            <a:endParaRPr lang="zh-CN" sz="1000"/>
          </a:p>
        </p:txBody>
      </p:sp>
      <p:sp>
        <p:nvSpPr>
          <p:cNvPr id="88" name="TextBox 88"/>
          <p:cNvSpPr txBox="1"/>
          <p:nvPr/>
        </p:nvSpPr>
        <p:spPr>
          <a:xfrm>
            <a:off x="4305192" y="1514523"/>
            <a:ext cx="1314417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技术迭代创新</a:t>
            </a:r>
            <a:endParaRPr lang="zh-CN" sz="1400"/>
          </a:p>
        </p:txBody>
      </p:sp>
      <p:sp>
        <p:nvSpPr>
          <p:cNvPr id="89" name="TextBox 89"/>
          <p:cNvSpPr txBox="1"/>
          <p:nvPr/>
        </p:nvSpPr>
        <p:spPr>
          <a:xfrm>
            <a:off x="4276618" y="1905038"/>
            <a:ext cx="1581110" cy="3809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原料扩产</a:t>
            </a:r>
            <a:endParaRPr lang="zh-CN" sz="1000"/>
          </a:p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热带作物配方研发</a:t>
            </a:r>
            <a:endParaRPr lang="zh-CN" sz="1000"/>
          </a:p>
        </p:txBody>
      </p:sp>
      <p:sp>
        <p:nvSpPr>
          <p:cNvPr id="90" name="TextBox 90"/>
          <p:cNvSpPr txBox="1"/>
          <p:nvPr/>
        </p:nvSpPr>
        <p:spPr>
          <a:xfrm>
            <a:off x="7057849" y="1514523"/>
            <a:ext cx="1314417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数字化转型</a:t>
            </a:r>
            <a:endParaRPr lang="zh-CN" sz="1400"/>
          </a:p>
        </p:txBody>
      </p:sp>
      <p:sp>
        <p:nvSpPr>
          <p:cNvPr id="91" name="TextBox 91"/>
          <p:cNvSpPr txBox="1"/>
          <p:nvPr/>
        </p:nvSpPr>
        <p:spPr>
          <a:xfrm>
            <a:off x="7019750" y="1905038"/>
            <a:ext cx="1476338" cy="3809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大数据定制</a:t>
            </a:r>
            <a:endParaRPr lang="zh-CN" sz="1000"/>
          </a:p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AI选型服务</a:t>
            </a:r>
            <a:endParaRPr lang="zh-CN" sz="1000"/>
          </a:p>
        </p:txBody>
      </p:sp>
      <p:sp>
        <p:nvSpPr>
          <p:cNvPr id="92" name="TextBox 92"/>
          <p:cNvSpPr txBox="1"/>
          <p:nvPr/>
        </p:nvSpPr>
        <p:spPr>
          <a:xfrm>
            <a:off x="9858129" y="1514523"/>
            <a:ext cx="1371566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商业模式升级</a:t>
            </a:r>
            <a:endParaRPr lang="zh-CN" sz="1400"/>
          </a:p>
        </p:txBody>
      </p:sp>
      <p:sp>
        <p:nvSpPr>
          <p:cNvPr id="93" name="TextBox 93"/>
          <p:cNvSpPr txBox="1"/>
          <p:nvPr/>
        </p:nvSpPr>
        <p:spPr>
          <a:xfrm>
            <a:off x="9839079" y="1905038"/>
            <a:ext cx="1743031" cy="3809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产品 + 农艺技术 +</a:t>
            </a:r>
            <a:endParaRPr lang="zh-CN" sz="1000"/>
          </a:p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示范推广一体化</a:t>
            </a:r>
            <a:endParaRPr lang="zh-CN" sz="1000"/>
          </a:p>
        </p:txBody>
      </p:sp>
      <p:sp>
        <p:nvSpPr>
          <p:cNvPr id="94" name="TextBox 94"/>
          <p:cNvSpPr txBox="1"/>
          <p:nvPr/>
        </p:nvSpPr>
        <p:spPr>
          <a:xfrm>
            <a:off x="914377" y="3467099"/>
            <a:ext cx="380990" cy="3809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 i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1</a:t>
            </a:r>
            <a:endParaRPr lang="zh-CN" sz="2700"/>
          </a:p>
        </p:txBody>
      </p:sp>
      <p:sp>
        <p:nvSpPr>
          <p:cNvPr id="95" name="TextBox 95"/>
          <p:cNvSpPr txBox="1"/>
          <p:nvPr/>
        </p:nvSpPr>
        <p:spPr>
          <a:xfrm>
            <a:off x="4686183" y="3248030"/>
            <a:ext cx="371466" cy="3714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 i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2</a:t>
            </a:r>
            <a:endParaRPr lang="zh-CN" sz="2700"/>
          </a:p>
        </p:txBody>
      </p:sp>
      <p:sp>
        <p:nvSpPr>
          <p:cNvPr id="96" name="TextBox 96"/>
          <p:cNvSpPr txBox="1"/>
          <p:nvPr/>
        </p:nvSpPr>
        <p:spPr>
          <a:xfrm>
            <a:off x="1476338" y="3524248"/>
            <a:ext cx="1552536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短期计划（1-3年）</a:t>
            </a:r>
            <a:endParaRPr lang="zh-CN" sz="1250"/>
          </a:p>
        </p:txBody>
      </p:sp>
      <p:sp>
        <p:nvSpPr>
          <p:cNvPr id="97" name="TextBox 97"/>
          <p:cNvSpPr txBox="1"/>
          <p:nvPr/>
        </p:nvSpPr>
        <p:spPr>
          <a:xfrm>
            <a:off x="5229094" y="3295653"/>
            <a:ext cx="2076398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 i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长期计划（3-5年及以上）</a:t>
            </a:r>
            <a:endParaRPr lang="zh-CN" sz="1250"/>
          </a:p>
        </p:txBody>
      </p:sp>
      <p:sp>
        <p:nvSpPr>
          <p:cNvPr id="98" name="TextBox 98"/>
          <p:cNvSpPr txBox="1"/>
          <p:nvPr/>
        </p:nvSpPr>
        <p:spPr>
          <a:xfrm>
            <a:off x="971526" y="4352902"/>
            <a:ext cx="628634" cy="352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提升</a:t>
            </a:r>
            <a:endParaRPr lang="zh-CN" sz="950"/>
          </a:p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产能效率</a:t>
            </a:r>
            <a:endParaRPr lang="zh-CN" sz="950"/>
          </a:p>
        </p:txBody>
      </p:sp>
      <p:sp>
        <p:nvSpPr>
          <p:cNvPr id="99" name="TextBox 99"/>
          <p:cNvSpPr txBox="1"/>
          <p:nvPr/>
        </p:nvSpPr>
        <p:spPr>
          <a:xfrm>
            <a:off x="2019250" y="4352902"/>
            <a:ext cx="704832" cy="352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深耕泰国</a:t>
            </a:r>
            <a:endParaRPr lang="zh-CN" sz="950"/>
          </a:p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市场拓展</a:t>
            </a:r>
            <a:endParaRPr lang="zh-CN" sz="950"/>
          </a:p>
        </p:txBody>
      </p:sp>
      <p:sp>
        <p:nvSpPr>
          <p:cNvPr id="100" name="TextBox 100"/>
          <p:cNvSpPr txBox="1"/>
          <p:nvPr/>
        </p:nvSpPr>
        <p:spPr>
          <a:xfrm>
            <a:off x="3114597" y="4305278"/>
            <a:ext cx="723882" cy="36194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lang="zh-CN" sz="950"/>
          </a:p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跨境供应链</a:t>
            </a:r>
            <a:endParaRPr lang="zh-CN" sz="950"/>
          </a:p>
        </p:txBody>
      </p:sp>
      <p:sp>
        <p:nvSpPr>
          <p:cNvPr id="101" name="TextBox 101"/>
          <p:cNvSpPr txBox="1"/>
          <p:nvPr/>
        </p:nvSpPr>
        <p:spPr>
          <a:xfrm>
            <a:off x="4609985" y="4133832"/>
            <a:ext cx="666733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打造</a:t>
            </a:r>
            <a:endParaRPr lang="zh-CN" sz="950"/>
          </a:p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国际品牌</a:t>
            </a:r>
            <a:endParaRPr lang="zh-CN" sz="950"/>
          </a:p>
        </p:txBody>
      </p:sp>
      <p:sp>
        <p:nvSpPr>
          <p:cNvPr id="102" name="TextBox 102"/>
          <p:cNvSpPr txBox="1"/>
          <p:nvPr/>
        </p:nvSpPr>
        <p:spPr>
          <a:xfrm>
            <a:off x="5524362" y="4133832"/>
            <a:ext cx="666733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产品创新</a:t>
            </a:r>
            <a:endParaRPr lang="zh-CN" sz="950"/>
          </a:p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多样化</a:t>
            </a:r>
            <a:endParaRPr lang="zh-CN" sz="950"/>
          </a:p>
        </p:txBody>
      </p:sp>
      <p:sp>
        <p:nvSpPr>
          <p:cNvPr id="103" name="TextBox 103"/>
          <p:cNvSpPr txBox="1"/>
          <p:nvPr/>
        </p:nvSpPr>
        <p:spPr>
          <a:xfrm>
            <a:off x="6457789" y="4114783"/>
            <a:ext cx="666733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产业链</a:t>
            </a:r>
            <a:endParaRPr lang="zh-CN" sz="950"/>
          </a:p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整合完善</a:t>
            </a:r>
            <a:endParaRPr lang="zh-CN" sz="950"/>
          </a:p>
        </p:txBody>
      </p:sp>
      <p:sp>
        <p:nvSpPr>
          <p:cNvPr id="104" name="TextBox 104"/>
          <p:cNvSpPr txBox="1"/>
          <p:nvPr/>
        </p:nvSpPr>
        <p:spPr>
          <a:xfrm>
            <a:off x="7400740" y="4086209"/>
            <a:ext cx="838179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社会责任</a:t>
            </a:r>
            <a:endParaRPr lang="zh-CN" sz="950"/>
          </a:p>
          <a:p>
            <a:pPr algn="ctr"/>
            <a:r>
              <a:rPr lang="zh-CN" sz="95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与可持续发展</a:t>
            </a:r>
            <a:endParaRPr lang="zh-CN" sz="950"/>
          </a:p>
        </p:txBody>
      </p:sp>
      <p:sp>
        <p:nvSpPr>
          <p:cNvPr id="105" name="TextBox 105"/>
          <p:cNvSpPr txBox="1"/>
          <p:nvPr/>
        </p:nvSpPr>
        <p:spPr>
          <a:xfrm>
            <a:off x="5162421" y="4905338"/>
            <a:ext cx="342891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8441"/>
                </a:solidFill>
                <a:latin typeface="Microsoft YaHei"/>
                <a:ea typeface="Microsoft YaHei"/>
                <a:cs typeface="Microsoft YaHei"/>
              </a:rPr>
              <a:t>1-3</a:t>
            </a:r>
            <a:endParaRPr lang="zh-CN" sz="1550"/>
          </a:p>
        </p:txBody>
      </p:sp>
      <p:sp>
        <p:nvSpPr>
          <p:cNvPr id="106" name="TextBox 106"/>
          <p:cNvSpPr txBox="1"/>
          <p:nvPr/>
        </p:nvSpPr>
        <p:spPr>
          <a:xfrm>
            <a:off x="5514837" y="4905338"/>
            <a:ext cx="228594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8441"/>
                </a:solidFill>
                <a:latin typeface="Microsoft YaHei"/>
                <a:ea typeface="Microsoft YaHei"/>
                <a:cs typeface="Microsoft YaHei"/>
              </a:rPr>
              <a:t>年</a:t>
            </a:r>
            <a:endParaRPr lang="zh-CN" sz="1550"/>
          </a:p>
        </p:txBody>
      </p:sp>
      <p:sp>
        <p:nvSpPr>
          <p:cNvPr id="107" name="TextBox 107"/>
          <p:cNvSpPr txBox="1"/>
          <p:nvPr/>
        </p:nvSpPr>
        <p:spPr>
          <a:xfrm>
            <a:off x="5162421" y="5152982"/>
            <a:ext cx="933427" cy="1809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06B3B"/>
                </a:solidFill>
                <a:latin typeface="Microsoft YaHei"/>
                <a:ea typeface="Microsoft YaHei"/>
                <a:cs typeface="Microsoft YaHei"/>
              </a:rPr>
              <a:t>夯实基础</a:t>
            </a:r>
            <a:endParaRPr lang="zh-CN" sz="1050"/>
          </a:p>
        </p:txBody>
      </p:sp>
      <p:sp>
        <p:nvSpPr>
          <p:cNvPr id="108" name="TextBox 108"/>
          <p:cNvSpPr txBox="1"/>
          <p:nvPr/>
        </p:nvSpPr>
        <p:spPr>
          <a:xfrm>
            <a:off x="5162421" y="5314903"/>
            <a:ext cx="1038199" cy="1714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 b="1">
                <a:solidFill>
                  <a:srgbClr val="006B3B"/>
                </a:solidFill>
                <a:latin typeface="Microsoft YaHei"/>
                <a:ea typeface="Microsoft YaHei"/>
                <a:cs typeface="Microsoft YaHei"/>
              </a:rPr>
              <a:t>泰国市场深耕</a:t>
            </a:r>
            <a:endParaRPr lang="zh-CN" sz="900"/>
          </a:p>
        </p:txBody>
      </p:sp>
      <p:sp>
        <p:nvSpPr>
          <p:cNvPr id="109" name="TextBox 109"/>
          <p:cNvSpPr txBox="1"/>
          <p:nvPr/>
        </p:nvSpPr>
        <p:spPr>
          <a:xfrm>
            <a:off x="7381690" y="4591021"/>
            <a:ext cx="342891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8441"/>
                </a:solidFill>
                <a:latin typeface="Microsoft YaHei"/>
                <a:ea typeface="Microsoft YaHei"/>
                <a:cs typeface="Microsoft YaHei"/>
              </a:rPr>
              <a:t>3-5</a:t>
            </a:r>
            <a:endParaRPr lang="zh-CN" sz="1550"/>
          </a:p>
        </p:txBody>
      </p:sp>
      <p:sp>
        <p:nvSpPr>
          <p:cNvPr id="110" name="TextBox 110"/>
          <p:cNvSpPr txBox="1"/>
          <p:nvPr/>
        </p:nvSpPr>
        <p:spPr>
          <a:xfrm>
            <a:off x="7734107" y="4591021"/>
            <a:ext cx="228594" cy="26669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008441"/>
                </a:solidFill>
                <a:latin typeface="Microsoft YaHei"/>
                <a:ea typeface="Microsoft YaHei"/>
                <a:cs typeface="Microsoft YaHei"/>
              </a:rPr>
              <a:t>年</a:t>
            </a:r>
            <a:endParaRPr lang="zh-CN" sz="1550"/>
          </a:p>
        </p:txBody>
      </p:sp>
      <p:sp>
        <p:nvSpPr>
          <p:cNvPr id="111" name="TextBox 111"/>
          <p:cNvSpPr txBox="1"/>
          <p:nvPr/>
        </p:nvSpPr>
        <p:spPr>
          <a:xfrm>
            <a:off x="7381690" y="4848190"/>
            <a:ext cx="933427" cy="1809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 b="1">
                <a:solidFill>
                  <a:srgbClr val="006B3B"/>
                </a:solidFill>
                <a:latin typeface="Microsoft YaHei"/>
                <a:ea typeface="Microsoft YaHei"/>
                <a:cs typeface="Microsoft YaHei"/>
              </a:rPr>
              <a:t>区域扩张</a:t>
            </a:r>
            <a:endParaRPr lang="zh-CN" sz="1050"/>
          </a:p>
        </p:txBody>
      </p:sp>
      <p:sp>
        <p:nvSpPr>
          <p:cNvPr id="112" name="TextBox 112"/>
          <p:cNvSpPr txBox="1"/>
          <p:nvPr/>
        </p:nvSpPr>
        <p:spPr>
          <a:xfrm>
            <a:off x="7381690" y="5010110"/>
            <a:ext cx="1038199" cy="1714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 b="1">
                <a:solidFill>
                  <a:srgbClr val="006B3B"/>
                </a:solidFill>
                <a:latin typeface="Microsoft YaHei"/>
                <a:ea typeface="Microsoft YaHei"/>
                <a:cs typeface="Microsoft YaHei"/>
              </a:rPr>
              <a:t>产品多元化</a:t>
            </a:r>
            <a:endParaRPr lang="zh-CN" sz="900"/>
          </a:p>
        </p:txBody>
      </p:sp>
      <p:sp>
        <p:nvSpPr>
          <p:cNvPr id="113" name="TextBox 113"/>
          <p:cNvSpPr txBox="1"/>
          <p:nvPr/>
        </p:nvSpPr>
        <p:spPr>
          <a:xfrm>
            <a:off x="9429514" y="4248130"/>
            <a:ext cx="114297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lang="zh-CN" sz="1300"/>
          </a:p>
        </p:txBody>
      </p:sp>
      <p:sp>
        <p:nvSpPr>
          <p:cNvPr id="114" name="TextBox 114"/>
          <p:cNvSpPr txBox="1"/>
          <p:nvPr/>
        </p:nvSpPr>
        <p:spPr>
          <a:xfrm>
            <a:off x="9553336" y="4248130"/>
            <a:ext cx="180970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</a:t>
            </a:r>
            <a:endParaRPr lang="zh-CN" sz="1300"/>
          </a:p>
        </p:txBody>
      </p:sp>
      <p:sp>
        <p:nvSpPr>
          <p:cNvPr id="115" name="TextBox 115"/>
          <p:cNvSpPr txBox="1"/>
          <p:nvPr/>
        </p:nvSpPr>
        <p:spPr>
          <a:xfrm>
            <a:off x="9743831" y="4248130"/>
            <a:ext cx="133347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</a:t>
            </a:r>
            <a:endParaRPr lang="zh-CN" sz="1300"/>
          </a:p>
        </p:txBody>
      </p:sp>
      <p:sp>
        <p:nvSpPr>
          <p:cNvPr id="116" name="TextBox 116"/>
          <p:cNvSpPr txBox="1"/>
          <p:nvPr/>
        </p:nvSpPr>
        <p:spPr>
          <a:xfrm>
            <a:off x="9439039" y="4467199"/>
            <a:ext cx="809605" cy="1714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品牌引领</a:t>
            </a:r>
            <a:endParaRPr lang="zh-CN" sz="1000"/>
          </a:p>
        </p:txBody>
      </p:sp>
      <p:sp>
        <p:nvSpPr>
          <p:cNvPr id="117" name="TextBox 117"/>
          <p:cNvSpPr txBox="1"/>
          <p:nvPr/>
        </p:nvSpPr>
        <p:spPr>
          <a:xfrm>
            <a:off x="9439039" y="4638645"/>
            <a:ext cx="809605" cy="16192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绿色农业标杆</a:t>
            </a:r>
            <a:endParaRPr lang="zh-CN" sz="900"/>
          </a:p>
        </p:txBody>
      </p:sp>
      <p:sp>
        <p:nvSpPr>
          <p:cNvPr id="118" name="TextBox 118"/>
          <p:cNvSpPr txBox="1"/>
          <p:nvPr/>
        </p:nvSpPr>
        <p:spPr>
          <a:xfrm>
            <a:off x="1409665" y="6010210"/>
            <a:ext cx="1638259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农资经销商 + 大型种植园</a:t>
            </a:r>
            <a:endParaRPr lang="zh-CN" sz="1000"/>
          </a:p>
        </p:txBody>
      </p:sp>
      <p:sp>
        <p:nvSpPr>
          <p:cNvPr id="119" name="TextBox 119"/>
          <p:cNvSpPr txBox="1"/>
          <p:nvPr/>
        </p:nvSpPr>
        <p:spPr>
          <a:xfrm>
            <a:off x="1400140" y="6305478"/>
            <a:ext cx="1723982" cy="2000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渠道拓展、批量订单</a:t>
            </a:r>
            <a:endParaRPr lang="zh-CN" sz="1000"/>
          </a:p>
        </p:txBody>
      </p:sp>
      <p:sp>
        <p:nvSpPr>
          <p:cNvPr id="120" name="TextBox 120"/>
          <p:cNvSpPr txBox="1"/>
          <p:nvPr/>
        </p:nvSpPr>
        <p:spPr>
          <a:xfrm>
            <a:off x="3914677" y="6010210"/>
            <a:ext cx="1419190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政府机构 + 行业协会</a:t>
            </a:r>
            <a:endParaRPr lang="zh-CN" sz="1000"/>
          </a:p>
        </p:txBody>
      </p:sp>
      <p:sp>
        <p:nvSpPr>
          <p:cNvPr id="121" name="TextBox 121"/>
          <p:cNvSpPr txBox="1"/>
          <p:nvPr/>
        </p:nvSpPr>
        <p:spPr>
          <a:xfrm>
            <a:off x="3924202" y="6305478"/>
            <a:ext cx="1504912" cy="2000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合规准入、政策红利</a:t>
            </a:r>
            <a:endParaRPr lang="zh-CN" sz="1000"/>
          </a:p>
        </p:txBody>
      </p:sp>
      <p:sp>
        <p:nvSpPr>
          <p:cNvPr id="122" name="TextBox 122"/>
          <p:cNvSpPr txBox="1"/>
          <p:nvPr/>
        </p:nvSpPr>
        <p:spPr>
          <a:xfrm>
            <a:off x="6238719" y="6010210"/>
            <a:ext cx="1533487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农技机构 + 农业合作社</a:t>
            </a:r>
            <a:endParaRPr lang="zh-CN" sz="1000"/>
          </a:p>
        </p:txBody>
      </p:sp>
      <p:sp>
        <p:nvSpPr>
          <p:cNvPr id="123" name="TextBox 123"/>
          <p:cNvSpPr txBox="1"/>
          <p:nvPr/>
        </p:nvSpPr>
        <p:spPr>
          <a:xfrm>
            <a:off x="6257769" y="6305478"/>
            <a:ext cx="1590635" cy="2000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农户培训、基层推广</a:t>
            </a:r>
            <a:endParaRPr lang="zh-CN" sz="1000"/>
          </a:p>
        </p:txBody>
      </p:sp>
      <p:sp>
        <p:nvSpPr>
          <p:cNvPr id="124" name="TextBox 124"/>
          <p:cNvSpPr txBox="1"/>
          <p:nvPr/>
        </p:nvSpPr>
        <p:spPr>
          <a:xfrm>
            <a:off x="8677058" y="6010210"/>
            <a:ext cx="1476338" cy="25716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科研院所 + 技术专家</a:t>
            </a:r>
            <a:endParaRPr lang="zh-CN" sz="1000"/>
          </a:p>
        </p:txBody>
      </p:sp>
      <p:sp>
        <p:nvSpPr>
          <p:cNvPr id="125" name="TextBox 125"/>
          <p:cNvSpPr txBox="1"/>
          <p:nvPr/>
        </p:nvSpPr>
        <p:spPr>
          <a:xfrm>
            <a:off x="8715157" y="6305478"/>
            <a:ext cx="1533487" cy="20002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173E46"/>
                </a:solidFill>
                <a:latin typeface="Microsoft YaHei"/>
                <a:ea typeface="Microsoft YaHei"/>
                <a:cs typeface="Microsoft YaHei"/>
              </a:rPr>
              <a:t>试验验证、产品迭代</a:t>
            </a:r>
            <a:endParaRPr lang="zh-CN" sz="1000"/>
          </a:p>
        </p:txBody>
      </p:sp>
      <p:sp>
        <p:nvSpPr>
          <p:cNvPr id="126" name="Path 126"/>
          <p:cNvSpPr/>
          <p:nvPr/>
        </p:nvSpPr>
        <p:spPr>
          <a:xfrm>
            <a:off x="0" y="6429300"/>
            <a:ext cx="12191695" cy="56196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3797" y="8054"/>
                  <a:pt x="7695" y="21600"/>
                  <a:pt x="10800" y="21600"/>
                </a:cubicBezTo>
                <a:cubicBezTo>
                  <a:pt x="14141" y="21600"/>
                  <a:pt x="18191" y="8054"/>
                  <a:pt x="21600" y="0"/>
                </a:cubicBezTo>
                <a:lnTo>
                  <a:pt x="21600" y="16475"/>
                </a:lnTo>
                <a:lnTo>
                  <a:pt x="0" y="16475"/>
                </a:lnTo>
                <a:close/>
              </a:path>
            </a:pathLst>
          </a:custGeom>
          <a:solidFill>
            <a:srgbClr val="FBFF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Path 127"/>
          <p:cNvSpPr/>
          <p:nvPr/>
        </p:nvSpPr>
        <p:spPr>
          <a:xfrm>
            <a:off x="0" y="6505498"/>
            <a:ext cx="12191695" cy="56196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cubicBezTo>
                  <a:pt x="3797" y="8054"/>
                  <a:pt x="7695" y="18671"/>
                  <a:pt x="10800" y="18671"/>
                </a:cubicBezTo>
                <a:cubicBezTo>
                  <a:pt x="14141" y="18671"/>
                  <a:pt x="18191" y="8054"/>
                  <a:pt x="21600" y="0"/>
                </a:cubicBezTo>
                <a:lnTo>
                  <a:pt x="21600" y="13546"/>
                </a:lnTo>
                <a:lnTo>
                  <a:pt x="0" y="13546"/>
                </a:lnTo>
                <a:close/>
              </a:path>
            </a:pathLst>
          </a:custGeom>
          <a:solidFill>
            <a:srgbClr val="329458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