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1695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png"/><Relationship Id="rId26" Type="http://schemas.openxmlformats.org/officeDocument/2006/relationships/image" Target="../media/image25.png"/><Relationship Id="rId27" Type="http://schemas.openxmlformats.org/officeDocument/2006/relationships/image" Target="../media/image26.png"/><Relationship Id="rId28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riginal mint textured paper and lower Thai mulched-field panorama"/>
          <p:cNvPicPr/>
          <p:nvPr/>
        </p:nvPicPr>
        <p:blipFill>
          <a:blip r:embed="rId2"/>
          <a:stretch>
            <a:fillRect/>
          </a:stretch>
        </p:blipFill>
        <p:spPr>
          <a:xfrm>
            <a:off x="3087" y="0"/>
            <a:ext cx="12185522" cy="6858000"/>
          </a:xfrm>
          <a:prstGeom prst="rect">
            <a:avLst/>
          </a:prstGeom>
        </p:spPr>
      </p:pic>
      <p:sp>
        <p:nvSpPr>
          <p:cNvPr id="3" name="Path 3"/>
          <p:cNvSpPr/>
          <p:nvPr/>
        </p:nvSpPr>
        <p:spPr>
          <a:xfrm>
            <a:off x="556974" y="313384"/>
            <a:ext cx="1880302" cy="473719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1507" y="0"/>
                </a:moveTo>
                <a:lnTo>
                  <a:pt x="21600" y="0"/>
                </a:lnTo>
                <a:lnTo>
                  <a:pt x="20093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3DE8E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Path 4"/>
          <p:cNvSpPr/>
          <p:nvPr/>
        </p:nvSpPr>
        <p:spPr>
          <a:xfrm>
            <a:off x="2393548" y="320672"/>
            <a:ext cx="5699209" cy="473719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470" y="0"/>
                </a:moveTo>
                <a:lnTo>
                  <a:pt x="21600" y="0"/>
                </a:lnTo>
                <a:lnTo>
                  <a:pt x="21158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E5F4E8"/>
          </a:solidFill>
          <a:ln w="8890">
            <a:solidFill>
              <a:srgbClr val="72B88C"/>
            </a:solidFill>
          </a:ln>
        </p:spPr>
        <p:txBody>
          <a:bodyPr/>
          <a:lstStyle/>
          <a:p/>
        </p:txBody>
      </p:sp>
      <p:sp>
        <p:nvSpPr>
          <p:cNvPr id="5" name="Roundrect 5"/>
          <p:cNvSpPr/>
          <p:nvPr/>
        </p:nvSpPr>
        <p:spPr>
          <a:xfrm>
            <a:off x="396638" y="1042183"/>
            <a:ext cx="5276506" cy="5159898"/>
          </a:xfrm>
          <a:prstGeom prst="roundRect">
            <a:avLst>
              <a:gd name="adj" fmla="val 4096"/>
            </a:avLst>
          </a:prstGeom>
          <a:noFill/>
          <a:ln w="7620">
            <a:solidFill>
              <a:srgbClr val="6FC29A"/>
            </a:solidFill>
          </a:ln>
        </p:spPr>
        <p:txBody>
          <a:bodyPr/>
          <a:lstStyle/>
          <a:p/>
        </p:txBody>
      </p:sp>
      <p:sp>
        <p:nvSpPr>
          <p:cNvPr id="6" name="Roundrect 6"/>
          <p:cNvSpPr/>
          <p:nvPr/>
        </p:nvSpPr>
        <p:spPr>
          <a:xfrm>
            <a:off x="5738736" y="1042183"/>
            <a:ext cx="3119260" cy="4882954"/>
          </a:xfrm>
          <a:prstGeom prst="roundRect">
            <a:avLst>
              <a:gd name="adj" fmla="val 5374"/>
            </a:avLst>
          </a:prstGeom>
          <a:solidFill>
            <a:srgbClr val="F8FDF7"/>
          </a:solidFill>
          <a:ln w="7620">
            <a:solidFill>
              <a:srgbClr val="76C59C"/>
            </a:solidFill>
          </a:ln>
        </p:spPr>
        <p:txBody>
          <a:bodyPr/>
          <a:lstStyle/>
          <a:p/>
        </p:txBody>
      </p:sp>
      <p:sp>
        <p:nvSpPr>
          <p:cNvPr id="7" name="Roundrect 7"/>
          <p:cNvSpPr/>
          <p:nvPr/>
        </p:nvSpPr>
        <p:spPr>
          <a:xfrm>
            <a:off x="8916300" y="1042183"/>
            <a:ext cx="2958925" cy="5079730"/>
          </a:xfrm>
          <a:prstGeom prst="roundRect">
            <a:avLst>
              <a:gd name="adj" fmla="val 5665"/>
            </a:avLst>
          </a:prstGeom>
          <a:solidFill>
            <a:srgbClr val="F8FDF7"/>
          </a:solidFill>
          <a:ln w="7620">
            <a:solidFill>
              <a:srgbClr val="76C59C"/>
            </a:solidFill>
          </a:ln>
        </p:spPr>
        <p:txBody>
          <a:bodyPr/>
          <a:lstStyle/>
          <a:p/>
        </p:txBody>
      </p:sp>
      <p:sp>
        <p:nvSpPr>
          <p:cNvPr id="8" name="Path 8"/>
          <p:cNvSpPr/>
          <p:nvPr/>
        </p:nvSpPr>
        <p:spPr>
          <a:xfrm>
            <a:off x="637142" y="313384"/>
            <a:ext cx="1719966" cy="473719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1556" y="0"/>
                </a:moveTo>
                <a:lnTo>
                  <a:pt x="21600" y="0"/>
                </a:lnTo>
                <a:lnTo>
                  <a:pt x="19953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5D37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Path 9"/>
          <p:cNvSpPr/>
          <p:nvPr/>
        </p:nvSpPr>
        <p:spPr>
          <a:xfrm>
            <a:off x="403926" y="1049471"/>
            <a:ext cx="5261930" cy="3600268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868" y="0"/>
                </a:moveTo>
                <a:lnTo>
                  <a:pt x="20732" y="0"/>
                </a:lnTo>
                <a:cubicBezTo>
                  <a:pt x="21271" y="0"/>
                  <a:pt x="21600" y="568"/>
                  <a:pt x="21600" y="1312"/>
                </a:cubicBezTo>
                <a:lnTo>
                  <a:pt x="21600" y="21600"/>
                </a:lnTo>
                <a:lnTo>
                  <a:pt x="0" y="21600"/>
                </a:lnTo>
                <a:lnTo>
                  <a:pt x="0" y="1312"/>
                </a:lnTo>
                <a:cubicBezTo>
                  <a:pt x="0" y="568"/>
                  <a:pt x="389" y="0"/>
                  <a:pt x="868" y="0"/>
                </a:cubicBezTo>
                <a:close/>
              </a:path>
            </a:pathLst>
          </a:custGeom>
          <a:solidFill>
            <a:srgbClr val="FAFFF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Ellipse 10"/>
          <p:cNvSpPr/>
          <p:nvPr/>
        </p:nvSpPr>
        <p:spPr>
          <a:xfrm>
            <a:off x="2546596" y="502871"/>
            <a:ext cx="109320" cy="109320"/>
          </a:xfrm>
          <a:prstGeom prst="ellipse">
            <a:avLst/>
          </a:prstGeom>
          <a:solidFill>
            <a:srgbClr val="01944E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Roundrect 11"/>
          <p:cNvSpPr/>
          <p:nvPr/>
        </p:nvSpPr>
        <p:spPr>
          <a:xfrm>
            <a:off x="542398" y="2550797"/>
            <a:ext cx="2543509" cy="1217095"/>
          </a:xfrm>
          <a:prstGeom prst="roundRect">
            <a:avLst>
              <a:gd name="adj" fmla="val 14970"/>
            </a:avLst>
          </a:prstGeom>
          <a:solidFill>
            <a:srgbClr val="FCFFFB"/>
          </a:solidFill>
          <a:ln w="7620">
            <a:solidFill>
              <a:srgbClr val="B9E4C8"/>
            </a:solidFill>
          </a:ln>
        </p:spPr>
        <p:txBody>
          <a:bodyPr/>
          <a:lstStyle/>
          <a:p/>
        </p:txBody>
      </p:sp>
      <p:sp>
        <p:nvSpPr>
          <p:cNvPr id="12" name="Roundrect 12"/>
          <p:cNvSpPr/>
          <p:nvPr/>
        </p:nvSpPr>
        <p:spPr>
          <a:xfrm>
            <a:off x="3180651" y="2550797"/>
            <a:ext cx="2354021" cy="1217095"/>
          </a:xfrm>
          <a:prstGeom prst="roundRect">
            <a:avLst>
              <a:gd name="adj" fmla="val 14970"/>
            </a:avLst>
          </a:prstGeom>
          <a:solidFill>
            <a:srgbClr val="FCFFFB"/>
          </a:solidFill>
          <a:ln w="7620">
            <a:solidFill>
              <a:srgbClr val="B9E4C8"/>
            </a:solidFill>
          </a:ln>
        </p:spPr>
        <p:txBody>
          <a:bodyPr/>
          <a:lstStyle/>
          <a:p/>
        </p:txBody>
      </p:sp>
      <p:sp>
        <p:nvSpPr>
          <p:cNvPr id="13" name="Roundrect 13"/>
          <p:cNvSpPr/>
          <p:nvPr/>
        </p:nvSpPr>
        <p:spPr>
          <a:xfrm>
            <a:off x="1088997" y="3935515"/>
            <a:ext cx="1894878" cy="677783"/>
          </a:xfrm>
          <a:prstGeom prst="roundRect">
            <a:avLst>
              <a:gd name="adj" fmla="val 49462"/>
            </a:avLst>
          </a:prstGeom>
          <a:solidFill>
            <a:srgbClr val="FCFFFB"/>
          </a:solidFill>
          <a:ln w="7620">
            <a:solidFill>
              <a:srgbClr val="B9E4C8"/>
            </a:solidFill>
          </a:ln>
        </p:spPr>
        <p:txBody>
          <a:bodyPr/>
          <a:lstStyle/>
          <a:p/>
        </p:txBody>
      </p:sp>
      <p:sp>
        <p:nvSpPr>
          <p:cNvPr id="14" name="Roundrect 14"/>
          <p:cNvSpPr/>
          <p:nvPr/>
        </p:nvSpPr>
        <p:spPr>
          <a:xfrm>
            <a:off x="3122347" y="3935515"/>
            <a:ext cx="1975046" cy="677783"/>
          </a:xfrm>
          <a:prstGeom prst="roundRect">
            <a:avLst>
              <a:gd name="adj" fmla="val 49462"/>
            </a:avLst>
          </a:prstGeom>
          <a:solidFill>
            <a:srgbClr val="FCFFFB"/>
          </a:solidFill>
          <a:ln w="7620">
            <a:solidFill>
              <a:srgbClr val="B9E4C8"/>
            </a:solidFill>
          </a:ln>
        </p:spPr>
        <p:txBody>
          <a:bodyPr/>
          <a:lstStyle/>
          <a:p/>
        </p:txBody>
      </p:sp>
      <p:sp>
        <p:nvSpPr>
          <p:cNvPr id="15" name="Roundrect 15"/>
          <p:cNvSpPr/>
          <p:nvPr/>
        </p:nvSpPr>
        <p:spPr>
          <a:xfrm>
            <a:off x="5855344" y="2477917"/>
            <a:ext cx="1486750" cy="1093199"/>
          </a:xfrm>
          <a:prstGeom prst="roundRect">
            <a:avLst>
              <a:gd name="adj" fmla="val 12667"/>
            </a:avLst>
          </a:prstGeom>
          <a:solidFill>
            <a:srgbClr val="FCFFFB"/>
          </a:solidFill>
          <a:ln w="7620">
            <a:solidFill>
              <a:srgbClr val="BDE7CC"/>
            </a:solidFill>
          </a:ln>
        </p:spPr>
        <p:txBody>
          <a:bodyPr/>
          <a:lstStyle/>
          <a:p/>
        </p:txBody>
      </p:sp>
      <p:sp>
        <p:nvSpPr>
          <p:cNvPr id="16" name="Roundrect 16"/>
          <p:cNvSpPr/>
          <p:nvPr/>
        </p:nvSpPr>
        <p:spPr>
          <a:xfrm>
            <a:off x="7414974" y="2477917"/>
            <a:ext cx="1326414" cy="1093199"/>
          </a:xfrm>
          <a:prstGeom prst="roundRect">
            <a:avLst>
              <a:gd name="adj" fmla="val 12667"/>
            </a:avLst>
          </a:prstGeom>
          <a:solidFill>
            <a:srgbClr val="FCFFFB"/>
          </a:solidFill>
          <a:ln w="7620">
            <a:solidFill>
              <a:srgbClr val="BDE7CC"/>
            </a:solidFill>
          </a:ln>
        </p:spPr>
        <p:txBody>
          <a:bodyPr/>
          <a:lstStyle/>
          <a:p/>
        </p:txBody>
      </p:sp>
      <p:sp>
        <p:nvSpPr>
          <p:cNvPr id="17" name="Roundrect 17"/>
          <p:cNvSpPr/>
          <p:nvPr/>
        </p:nvSpPr>
        <p:spPr>
          <a:xfrm>
            <a:off x="5855344" y="3658572"/>
            <a:ext cx="1486750" cy="1078623"/>
          </a:xfrm>
          <a:prstGeom prst="roundRect">
            <a:avLst>
              <a:gd name="adj" fmla="val 12838"/>
            </a:avLst>
          </a:prstGeom>
          <a:solidFill>
            <a:srgbClr val="FCFFFB"/>
          </a:solidFill>
          <a:ln w="7620">
            <a:solidFill>
              <a:srgbClr val="BDE7CC"/>
            </a:solidFill>
          </a:ln>
        </p:spPr>
        <p:txBody>
          <a:bodyPr/>
          <a:lstStyle/>
          <a:p/>
        </p:txBody>
      </p:sp>
      <p:sp>
        <p:nvSpPr>
          <p:cNvPr id="18" name="Roundrect 18"/>
          <p:cNvSpPr/>
          <p:nvPr/>
        </p:nvSpPr>
        <p:spPr>
          <a:xfrm>
            <a:off x="7414974" y="3658572"/>
            <a:ext cx="1326414" cy="1078623"/>
          </a:xfrm>
          <a:prstGeom prst="roundRect">
            <a:avLst>
              <a:gd name="adj" fmla="val 12838"/>
            </a:avLst>
          </a:prstGeom>
          <a:solidFill>
            <a:srgbClr val="FCFFFB"/>
          </a:solidFill>
          <a:ln w="7620">
            <a:solidFill>
              <a:srgbClr val="BDE7CC"/>
            </a:solidFill>
          </a:ln>
        </p:spPr>
        <p:txBody>
          <a:bodyPr/>
          <a:lstStyle/>
          <a:p/>
        </p:txBody>
      </p:sp>
      <p:sp>
        <p:nvSpPr>
          <p:cNvPr id="19" name="Roundrect 19"/>
          <p:cNvSpPr/>
          <p:nvPr/>
        </p:nvSpPr>
        <p:spPr>
          <a:xfrm>
            <a:off x="5855344" y="4875666"/>
            <a:ext cx="2886045" cy="1034895"/>
          </a:xfrm>
          <a:prstGeom prst="roundRect">
            <a:avLst>
              <a:gd name="adj" fmla="val 14789"/>
            </a:avLst>
          </a:prstGeom>
          <a:solidFill>
            <a:srgbClr val="FCFFFB"/>
          </a:solidFill>
          <a:ln w="7620">
            <a:solidFill>
              <a:srgbClr val="B4E1C0"/>
            </a:solidFill>
          </a:ln>
        </p:spPr>
        <p:txBody>
          <a:bodyPr/>
          <a:lstStyle/>
          <a:p/>
        </p:txBody>
      </p:sp>
      <p:sp>
        <p:nvSpPr>
          <p:cNvPr id="20" name="Roundrect 20"/>
          <p:cNvSpPr/>
          <p:nvPr/>
        </p:nvSpPr>
        <p:spPr>
          <a:xfrm>
            <a:off x="9040196" y="1800134"/>
            <a:ext cx="2696557" cy="998455"/>
          </a:xfrm>
          <a:prstGeom prst="roundRect">
            <a:avLst>
              <a:gd name="adj" fmla="val 13869"/>
            </a:avLst>
          </a:prstGeom>
          <a:solidFill>
            <a:srgbClr val="FCFFFB"/>
          </a:solidFill>
          <a:ln w="7620">
            <a:solidFill>
              <a:srgbClr val="BFE5CD"/>
            </a:solidFill>
          </a:ln>
        </p:spPr>
        <p:txBody>
          <a:bodyPr/>
          <a:lstStyle/>
          <a:p/>
        </p:txBody>
      </p:sp>
      <p:sp>
        <p:nvSpPr>
          <p:cNvPr id="21" name="Roundrect 21"/>
          <p:cNvSpPr/>
          <p:nvPr/>
        </p:nvSpPr>
        <p:spPr>
          <a:xfrm>
            <a:off x="9040196" y="2893333"/>
            <a:ext cx="2696557" cy="1034895"/>
          </a:xfrm>
          <a:prstGeom prst="roundRect">
            <a:avLst>
              <a:gd name="adj" fmla="val 13380"/>
            </a:avLst>
          </a:prstGeom>
          <a:solidFill>
            <a:srgbClr val="FCFFFB"/>
          </a:solidFill>
          <a:ln w="7620">
            <a:solidFill>
              <a:srgbClr val="BFE5CD"/>
            </a:solidFill>
          </a:ln>
        </p:spPr>
        <p:txBody>
          <a:bodyPr/>
          <a:lstStyle/>
          <a:p/>
        </p:txBody>
      </p:sp>
      <p:sp>
        <p:nvSpPr>
          <p:cNvPr id="22" name="Roundrect 22"/>
          <p:cNvSpPr/>
          <p:nvPr/>
        </p:nvSpPr>
        <p:spPr>
          <a:xfrm>
            <a:off x="9040196" y="4022971"/>
            <a:ext cx="2696557" cy="1034895"/>
          </a:xfrm>
          <a:prstGeom prst="roundRect">
            <a:avLst>
              <a:gd name="adj" fmla="val 13380"/>
            </a:avLst>
          </a:prstGeom>
          <a:solidFill>
            <a:srgbClr val="FCFFFB"/>
          </a:solidFill>
          <a:ln w="7620">
            <a:solidFill>
              <a:srgbClr val="BFE5CD"/>
            </a:solidFill>
          </a:ln>
        </p:spPr>
        <p:txBody>
          <a:bodyPr/>
          <a:lstStyle/>
          <a:p/>
        </p:txBody>
      </p:sp>
      <p:sp>
        <p:nvSpPr>
          <p:cNvPr id="23" name="Roundrect 23"/>
          <p:cNvSpPr/>
          <p:nvPr/>
        </p:nvSpPr>
        <p:spPr>
          <a:xfrm>
            <a:off x="9003756" y="5218202"/>
            <a:ext cx="2762149" cy="801679"/>
          </a:xfrm>
          <a:prstGeom prst="roundRect">
            <a:avLst>
              <a:gd name="adj" fmla="val 31818"/>
            </a:avLst>
          </a:prstGeom>
          <a:solidFill>
            <a:srgbClr val="3B9C53"/>
          </a:solidFill>
          <a:ln>
            <a:noFill/>
          </a:ln>
        </p:spPr>
        <p:txBody>
          <a:bodyPr/>
          <a:lstStyle/>
          <a:p/>
        </p:txBody>
      </p:sp>
      <p:pic>
        <p:nvPicPr>
          <p:cNvPr id="24" name="Original source card-corner-swash ornament. All ordinary numeral/heading strokes removed from blank header assets."/>
          <p:cNvPicPr/>
          <p:nvPr/>
        </p:nvPicPr>
        <p:blipFill>
          <a:blip r:embed="rId6"/>
          <a:stretch>
            <a:fillRect/>
          </a:stretch>
        </p:blipFill>
        <p:spPr>
          <a:xfrm>
            <a:off x="560925" y="3416743"/>
            <a:ext cx="582425" cy="337898"/>
          </a:xfrm>
          <a:prstGeom prst="rect">
            <a:avLst/>
          </a:prstGeom>
        </p:spPr>
      </p:pic>
      <p:pic>
        <p:nvPicPr>
          <p:cNvPr id="25" name="Original source card-corner-swash ornament. All ordinary numeral/heading strokes removed from blank header assets."/>
          <p:cNvPicPr/>
          <p:nvPr/>
        </p:nvPicPr>
        <p:blipFill>
          <a:blip r:embed="rId7"/>
          <a:stretch>
            <a:fillRect/>
          </a:stretch>
        </p:blipFill>
        <p:spPr>
          <a:xfrm>
            <a:off x="3199178" y="3416743"/>
            <a:ext cx="582425" cy="337898"/>
          </a:xfrm>
          <a:prstGeom prst="rect">
            <a:avLst/>
          </a:prstGeom>
        </p:spPr>
      </p:pic>
      <p:pic>
        <p:nvPicPr>
          <p:cNvPr id="26" name="Original source card-corner-swash ornament. All ordinary numeral/heading strokes removed from blank header assets."/>
          <p:cNvPicPr/>
          <p:nvPr/>
        </p:nvPicPr>
        <p:blipFill>
          <a:blip r:embed="rId12"/>
          <a:stretch>
            <a:fillRect/>
          </a:stretch>
        </p:blipFill>
        <p:spPr>
          <a:xfrm>
            <a:off x="5880632" y="3333262"/>
            <a:ext cx="408567" cy="198763"/>
          </a:xfrm>
          <a:prstGeom prst="rect">
            <a:avLst/>
          </a:prstGeom>
        </p:spPr>
      </p:pic>
      <p:pic>
        <p:nvPicPr>
          <p:cNvPr id="27" name="Original source card-corner-swash ornament. All ordinary numeral/heading strokes removed from blank header assets."/>
          <p:cNvPicPr/>
          <p:nvPr/>
        </p:nvPicPr>
        <p:blipFill>
          <a:blip r:embed="rId13"/>
          <a:stretch>
            <a:fillRect/>
          </a:stretch>
        </p:blipFill>
        <p:spPr>
          <a:xfrm>
            <a:off x="7440263" y="3333262"/>
            <a:ext cx="408567" cy="198763"/>
          </a:xfrm>
          <a:prstGeom prst="rect">
            <a:avLst/>
          </a:prstGeom>
        </p:spPr>
      </p:pic>
      <p:pic>
        <p:nvPicPr>
          <p:cNvPr id="28" name="Original source card-corner-swash ornament. All ordinary numeral/heading strokes removed from blank header assets."/>
          <p:cNvPicPr/>
          <p:nvPr/>
        </p:nvPicPr>
        <p:blipFill>
          <a:blip r:embed="rId14"/>
          <a:stretch>
            <a:fillRect/>
          </a:stretch>
        </p:blipFill>
        <p:spPr>
          <a:xfrm>
            <a:off x="5880632" y="4513917"/>
            <a:ext cx="408567" cy="198763"/>
          </a:xfrm>
          <a:prstGeom prst="rect">
            <a:avLst/>
          </a:prstGeom>
        </p:spPr>
      </p:pic>
      <p:pic>
        <p:nvPicPr>
          <p:cNvPr id="29" name="Original source card-corner-swash ornament. All ordinary numeral/heading strokes removed from blank header assets."/>
          <p:cNvPicPr/>
          <p:nvPr/>
        </p:nvPicPr>
        <p:blipFill>
          <a:blip r:embed="rId15"/>
          <a:stretch>
            <a:fillRect/>
          </a:stretch>
        </p:blipFill>
        <p:spPr>
          <a:xfrm>
            <a:off x="7440263" y="4513917"/>
            <a:ext cx="408567" cy="198763"/>
          </a:xfrm>
          <a:prstGeom prst="rect">
            <a:avLst/>
          </a:prstGeom>
        </p:spPr>
      </p:pic>
      <p:sp>
        <p:nvSpPr>
          <p:cNvPr id="30" name="Line 30"/>
          <p:cNvSpPr/>
          <p:nvPr/>
        </p:nvSpPr>
        <p:spPr>
          <a:xfrm>
            <a:off x="637142" y="1865726"/>
            <a:ext cx="0" cy="495583"/>
          </a:xfrm>
          <a:prstGeom prst="line">
            <a:avLst/>
          </a:prstGeom>
          <a:noFill/>
          <a:ln w="20320">
            <a:solidFill>
              <a:srgbClr val="339813"/>
            </a:solidFill>
          </a:ln>
        </p:spPr>
        <p:txBody>
          <a:bodyPr/>
          <a:lstStyle/>
          <a:p/>
        </p:txBody>
      </p:sp>
      <p:sp>
        <p:nvSpPr>
          <p:cNvPr id="31" name="Line 31"/>
          <p:cNvSpPr/>
          <p:nvPr/>
        </p:nvSpPr>
        <p:spPr>
          <a:xfrm>
            <a:off x="5942800" y="1865726"/>
            <a:ext cx="0" cy="429991"/>
          </a:xfrm>
          <a:prstGeom prst="line">
            <a:avLst/>
          </a:prstGeom>
          <a:noFill/>
          <a:ln w="20320">
            <a:solidFill>
              <a:srgbClr val="339813"/>
            </a:solidFill>
          </a:ln>
        </p:spPr>
        <p:txBody>
          <a:bodyPr/>
          <a:lstStyle/>
          <a:p/>
        </p:txBody>
      </p:sp>
      <p:pic>
        <p:nvPicPr>
          <p:cNvPr id="32" name="Original source heading-market ornament. All ordinary numeral/heading strokes removed from blank header assets."/>
          <p:cNvPicPr/>
          <p:nvPr/>
        </p:nvPicPr>
        <p:blipFill>
          <a:blip r:embed="rId3"/>
          <a:stretch>
            <a:fillRect/>
          </a:stretch>
        </p:blipFill>
        <p:spPr>
          <a:xfrm>
            <a:off x="443086" y="824206"/>
            <a:ext cx="5249202" cy="887810"/>
          </a:xfrm>
          <a:prstGeom prst="rect">
            <a:avLst/>
          </a:prstGeom>
        </p:spPr>
      </p:pic>
      <p:pic>
        <p:nvPicPr>
          <p:cNvPr id="33" name="Original source heading-supply ornament. All ordinary numeral/heading strokes removed from blank header assets."/>
          <p:cNvPicPr/>
          <p:nvPr/>
        </p:nvPicPr>
        <p:blipFill>
          <a:blip r:embed="rId4"/>
          <a:stretch>
            <a:fillRect/>
          </a:stretch>
        </p:blipFill>
        <p:spPr>
          <a:xfrm>
            <a:off x="5736415" y="910701"/>
            <a:ext cx="3102039" cy="831426"/>
          </a:xfrm>
          <a:prstGeom prst="rect">
            <a:avLst/>
          </a:prstGeom>
        </p:spPr>
      </p:pic>
      <p:pic>
        <p:nvPicPr>
          <p:cNvPr id="34" name="Original source heading-policy ornament. All ordinary numeral/heading strokes removed from blank header assets."/>
          <p:cNvPicPr/>
          <p:nvPr/>
        </p:nvPicPr>
        <p:blipFill>
          <a:blip r:embed="rId5"/>
          <a:stretch>
            <a:fillRect/>
          </a:stretch>
        </p:blipFill>
        <p:spPr>
          <a:xfrm>
            <a:off x="8876691" y="895566"/>
            <a:ext cx="2994416" cy="861698"/>
          </a:xfrm>
          <a:prstGeom prst="rect">
            <a:avLst/>
          </a:prstGeom>
        </p:spPr>
      </p:pic>
      <p:sp>
        <p:nvSpPr>
          <p:cNvPr id="35" name="Path 35"/>
          <p:cNvSpPr/>
          <p:nvPr/>
        </p:nvSpPr>
        <p:spPr>
          <a:xfrm>
            <a:off x="6759055" y="5232778"/>
            <a:ext cx="94744" cy="153048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0"/>
                </a:moveTo>
                <a:lnTo>
                  <a:pt x="19938" y="10800"/>
                </a:lnTo>
                <a:lnTo>
                  <a:pt x="0" y="21600"/>
                </a:lnTo>
              </a:path>
            </a:pathLst>
          </a:custGeom>
          <a:noFill/>
          <a:ln w="29209">
            <a:solidFill>
              <a:srgbClr val="95C86F"/>
            </a:solidFill>
          </a:ln>
        </p:spPr>
        <p:txBody>
          <a:bodyPr/>
          <a:lstStyle/>
          <a:p/>
        </p:txBody>
      </p:sp>
      <p:sp>
        <p:nvSpPr>
          <p:cNvPr id="36" name="Path 36"/>
          <p:cNvSpPr/>
          <p:nvPr/>
        </p:nvSpPr>
        <p:spPr>
          <a:xfrm>
            <a:off x="7706494" y="5232778"/>
            <a:ext cx="94744" cy="153048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0"/>
                </a:moveTo>
                <a:lnTo>
                  <a:pt x="19938" y="10800"/>
                </a:lnTo>
                <a:lnTo>
                  <a:pt x="0" y="21600"/>
                </a:lnTo>
              </a:path>
            </a:pathLst>
          </a:custGeom>
          <a:noFill/>
          <a:ln w="29209">
            <a:solidFill>
              <a:srgbClr val="95C86F"/>
            </a:solidFill>
          </a:ln>
        </p:spPr>
        <p:txBody>
          <a:bodyPr/>
          <a:lstStyle/>
          <a:p/>
        </p:txBody>
      </p:sp>
      <p:pic>
        <p:nvPicPr>
          <p:cNvPr id="37" name="Original source footer-leaf-glint ornament. All ordinary numeral/heading strokes removed from blank header assets."/>
          <p:cNvPicPr/>
          <p:nvPr/>
        </p:nvPicPr>
        <p:blipFill>
          <a:blip r:embed="rId26"/>
          <a:stretch>
            <a:fillRect/>
          </a:stretch>
        </p:blipFill>
        <p:spPr>
          <a:xfrm>
            <a:off x="9018924" y="5304182"/>
            <a:ext cx="589143" cy="513112"/>
          </a:xfrm>
          <a:prstGeom prst="rect">
            <a:avLst/>
          </a:prstGeom>
        </p:spPr>
      </p:pic>
      <p:pic>
        <p:nvPicPr>
          <p:cNvPr id="38" name="Original source footer-leaf-cluster ornament. All ordinary numeral/heading strokes removed from blank header assets."/>
          <p:cNvPicPr/>
          <p:nvPr/>
        </p:nvPicPr>
        <p:blipFill>
          <a:blip r:embed="rId27"/>
          <a:stretch>
            <a:fillRect/>
          </a:stretch>
        </p:blipFill>
        <p:spPr>
          <a:xfrm>
            <a:off x="11308381" y="4739413"/>
            <a:ext cx="543360" cy="673347"/>
          </a:xfrm>
          <a:prstGeom prst="rect">
            <a:avLst/>
          </a:prstGeom>
        </p:spPr>
      </p:pic>
      <p:pic>
        <p:nvPicPr>
          <p:cNvPr id="39" name="Original source footer-trend ornament. All ordinary numeral/heading strokes removed from blank header assets."/>
          <p:cNvPicPr/>
          <p:nvPr/>
        </p:nvPicPr>
        <p:blipFill>
          <a:blip r:embed="rId28"/>
          <a:stretch>
            <a:fillRect/>
          </a:stretch>
        </p:blipFill>
        <p:spPr>
          <a:xfrm>
            <a:off x="11222486" y="5367030"/>
            <a:ext cx="489223" cy="547750"/>
          </a:xfrm>
          <a:prstGeom prst="rect">
            <a:avLst/>
          </a:prstGeom>
        </p:spPr>
      </p:pic>
      <p:pic>
        <p:nvPicPr>
          <p:cNvPr id="40" name="Original source growth pictogram/flag, complete and separate; source symbol and color relationships preserved."/>
          <p:cNvPicPr/>
          <p:nvPr/>
        </p:nvPicPr>
        <p:blipFill>
          <a:blip r:embed="rId8"/>
          <a:stretch>
            <a:fillRect/>
          </a:stretch>
        </p:blipFill>
        <p:spPr>
          <a:xfrm>
            <a:off x="598460" y="2525850"/>
            <a:ext cx="645828" cy="649682"/>
          </a:xfrm>
          <a:prstGeom prst="rect">
            <a:avLst/>
          </a:prstGeom>
        </p:spPr>
      </p:pic>
      <p:pic>
        <p:nvPicPr>
          <p:cNvPr id="41" name="Original source leaf pictogram/flag, complete and separate; source symbol and color relationships preserved."/>
          <p:cNvPicPr/>
          <p:nvPr/>
        </p:nvPicPr>
        <p:blipFill>
          <a:blip r:embed="rId9"/>
          <a:stretch>
            <a:fillRect/>
          </a:stretch>
        </p:blipFill>
        <p:spPr>
          <a:xfrm>
            <a:off x="3238410" y="2527008"/>
            <a:ext cx="642433" cy="644953"/>
          </a:xfrm>
          <a:prstGeom prst="rect">
            <a:avLst/>
          </a:prstGeom>
        </p:spPr>
      </p:pic>
      <p:pic>
        <p:nvPicPr>
          <p:cNvPr id="42" name="Original source palm pictogram/flag, complete and separate; source symbol and color relationships preserved."/>
          <p:cNvPicPr/>
          <p:nvPr/>
        </p:nvPicPr>
        <p:blipFill>
          <a:blip r:embed="rId10"/>
          <a:stretch>
            <a:fillRect/>
          </a:stretch>
        </p:blipFill>
        <p:spPr>
          <a:xfrm>
            <a:off x="1051281" y="3868771"/>
            <a:ext cx="818808" cy="795849"/>
          </a:xfrm>
          <a:prstGeom prst="rect">
            <a:avLst/>
          </a:prstGeom>
        </p:spPr>
      </p:pic>
      <p:pic>
        <p:nvPicPr>
          <p:cNvPr id="43" name="Original source hand-sprout pictogram/flag, complete and separate; source symbol and color relationships preserved."/>
          <p:cNvPicPr/>
          <p:nvPr/>
        </p:nvPicPr>
        <p:blipFill>
          <a:blip r:embed="rId11"/>
          <a:stretch>
            <a:fillRect/>
          </a:stretch>
        </p:blipFill>
        <p:spPr>
          <a:xfrm>
            <a:off x="3075731" y="3869114"/>
            <a:ext cx="836608" cy="795235"/>
          </a:xfrm>
          <a:prstGeom prst="rect">
            <a:avLst/>
          </a:prstGeom>
        </p:spPr>
      </p:pic>
      <p:pic>
        <p:nvPicPr>
          <p:cNvPr id="44" name="Original source ship pictogram/flag, complete and separate; source symbol and color relationships preserved."/>
          <p:cNvPicPr/>
          <p:nvPr/>
        </p:nvPicPr>
        <p:blipFill>
          <a:blip r:embed="rId16"/>
          <a:stretch>
            <a:fillRect/>
          </a:stretch>
        </p:blipFill>
        <p:spPr>
          <a:xfrm>
            <a:off x="5892825" y="2555562"/>
            <a:ext cx="537229" cy="523474"/>
          </a:xfrm>
          <a:prstGeom prst="rect">
            <a:avLst/>
          </a:prstGeom>
        </p:spPr>
      </p:pic>
      <p:pic>
        <p:nvPicPr>
          <p:cNvPr id="45" name="Original source pie pictogram/flag, complete and separate; source symbol and color relationships preserved."/>
          <p:cNvPicPr/>
          <p:nvPr/>
        </p:nvPicPr>
        <p:blipFill>
          <a:blip r:embed="rId17"/>
          <a:stretch>
            <a:fillRect/>
          </a:stretch>
        </p:blipFill>
        <p:spPr>
          <a:xfrm>
            <a:off x="7433160" y="2576322"/>
            <a:ext cx="517516" cy="498830"/>
          </a:xfrm>
          <a:prstGeom prst="rect">
            <a:avLst/>
          </a:prstGeom>
        </p:spPr>
      </p:pic>
      <p:pic>
        <p:nvPicPr>
          <p:cNvPr id="46" name="Original source growth pictogram/flag, complete and separate; source symbol and color relationships preserved."/>
          <p:cNvPicPr/>
          <p:nvPr/>
        </p:nvPicPr>
        <p:blipFill>
          <a:blip r:embed="rId18"/>
          <a:stretch>
            <a:fillRect/>
          </a:stretch>
        </p:blipFill>
        <p:spPr>
          <a:xfrm>
            <a:off x="5892344" y="3732012"/>
            <a:ext cx="538190" cy="533986"/>
          </a:xfrm>
          <a:prstGeom prst="rect">
            <a:avLst/>
          </a:prstGeom>
        </p:spPr>
      </p:pic>
      <p:pic>
        <p:nvPicPr>
          <p:cNvPr id="47" name="Original source globe pictogram/flag, complete and separate; source symbol and color relationships preserved."/>
          <p:cNvPicPr/>
          <p:nvPr/>
        </p:nvPicPr>
        <p:blipFill>
          <a:blip r:embed="rId19"/>
          <a:stretch>
            <a:fillRect/>
          </a:stretch>
        </p:blipFill>
        <p:spPr>
          <a:xfrm>
            <a:off x="7433160" y="3741902"/>
            <a:ext cx="517516" cy="505037"/>
          </a:xfrm>
          <a:prstGeom prst="rect">
            <a:avLst/>
          </a:prstGeom>
        </p:spPr>
      </p:pic>
      <p:pic>
        <p:nvPicPr>
          <p:cNvPr id="48" name="Original source molecule pictogram/flag, complete and separate; source symbol and color relationships preserved."/>
          <p:cNvPicPr/>
          <p:nvPr/>
        </p:nvPicPr>
        <p:blipFill>
          <a:blip r:embed="rId20"/>
          <a:stretch>
            <a:fillRect/>
          </a:stretch>
        </p:blipFill>
        <p:spPr>
          <a:xfrm>
            <a:off x="6055916" y="4939137"/>
            <a:ext cx="597310" cy="570824"/>
          </a:xfrm>
          <a:prstGeom prst="rect">
            <a:avLst/>
          </a:prstGeom>
        </p:spPr>
      </p:pic>
      <p:pic>
        <p:nvPicPr>
          <p:cNvPr id="49" name="Original source gear pictogram/flag, complete and separate; source symbol and color relationships preserved."/>
          <p:cNvPicPr/>
          <p:nvPr/>
        </p:nvPicPr>
        <p:blipFill>
          <a:blip r:embed="rId21"/>
          <a:stretch>
            <a:fillRect/>
          </a:stretch>
        </p:blipFill>
        <p:spPr>
          <a:xfrm>
            <a:off x="6987481" y="4944885"/>
            <a:ext cx="599906" cy="577934"/>
          </a:xfrm>
          <a:prstGeom prst="rect">
            <a:avLst/>
          </a:prstGeom>
        </p:spPr>
      </p:pic>
      <p:pic>
        <p:nvPicPr>
          <p:cNvPr id="50" name="Original source truck pictogram/flag, complete and separate; source symbol and color relationships preserved."/>
          <p:cNvPicPr/>
          <p:nvPr/>
        </p:nvPicPr>
        <p:blipFill>
          <a:blip r:embed="rId22"/>
          <a:stretch>
            <a:fillRect/>
          </a:stretch>
        </p:blipFill>
        <p:spPr>
          <a:xfrm>
            <a:off x="7943251" y="4950273"/>
            <a:ext cx="597820" cy="566978"/>
          </a:xfrm>
          <a:prstGeom prst="rect">
            <a:avLst/>
          </a:prstGeom>
        </p:spPr>
      </p:pic>
      <p:pic>
        <p:nvPicPr>
          <p:cNvPr id="51" name="Original source flag-malaysia pictogram/flag, complete and separate; source symbol and color relationships preserved."/>
          <p:cNvPicPr/>
          <p:nvPr/>
        </p:nvPicPr>
        <p:blipFill>
          <a:blip r:embed="rId23"/>
          <a:stretch>
            <a:fillRect/>
          </a:stretch>
        </p:blipFill>
        <p:spPr>
          <a:xfrm>
            <a:off x="9074954" y="1942423"/>
            <a:ext cx="717587" cy="680213"/>
          </a:xfrm>
          <a:prstGeom prst="rect">
            <a:avLst/>
          </a:prstGeom>
        </p:spPr>
      </p:pic>
      <p:pic>
        <p:nvPicPr>
          <p:cNvPr id="52" name="Original source flag-indonesia pictogram/flag, complete and separate; source symbol and color relationships preserved."/>
          <p:cNvPicPr/>
          <p:nvPr/>
        </p:nvPicPr>
        <p:blipFill>
          <a:blip r:embed="rId24"/>
          <a:stretch>
            <a:fillRect/>
          </a:stretch>
        </p:blipFill>
        <p:spPr>
          <a:xfrm>
            <a:off x="9076224" y="3038889"/>
            <a:ext cx="715048" cy="672699"/>
          </a:xfrm>
          <a:prstGeom prst="rect">
            <a:avLst/>
          </a:prstGeom>
        </p:spPr>
      </p:pic>
      <p:pic>
        <p:nvPicPr>
          <p:cNvPr id="53" name="Original source flag-thailand pictogram/flag, complete and separate; source symbol and color relationships preserved."/>
          <p:cNvPicPr/>
          <p:nvPr/>
        </p:nvPicPr>
        <p:blipFill>
          <a:blip r:embed="rId25"/>
          <a:stretch>
            <a:fillRect/>
          </a:stretch>
        </p:blipFill>
        <p:spPr>
          <a:xfrm>
            <a:off x="9075276" y="4162721"/>
            <a:ext cx="716943" cy="699095"/>
          </a:xfrm>
          <a:prstGeom prst="rect">
            <a:avLst/>
          </a:prstGeom>
        </p:spPr>
      </p:pic>
      <p:sp>
        <p:nvSpPr>
          <p:cNvPr id="54" name="Roundrect 54"/>
          <p:cNvSpPr/>
          <p:nvPr/>
        </p:nvSpPr>
        <p:spPr>
          <a:xfrm>
            <a:off x="6817359" y="1187943"/>
            <a:ext cx="1545054" cy="408128"/>
          </a:xfrm>
          <a:prstGeom prst="roundRect">
            <a:avLst>
              <a:gd name="adj" fmla="val 26786"/>
            </a:avLst>
          </a:prstGeom>
          <a:solidFill>
            <a:srgbClr val="2F8650"/>
          </a:solidFill>
          <a:ln>
            <a:noFill/>
          </a:ln>
        </p:spPr>
        <p:txBody>
          <a:bodyPr/>
          <a:lstStyle/>
          <a:p/>
        </p:txBody>
      </p:sp>
      <p:sp>
        <p:nvSpPr>
          <p:cNvPr id="55" name="Roundrect 55"/>
          <p:cNvSpPr/>
          <p:nvPr/>
        </p:nvSpPr>
        <p:spPr>
          <a:xfrm>
            <a:off x="9987635" y="1187943"/>
            <a:ext cx="1238959" cy="408128"/>
          </a:xfrm>
          <a:prstGeom prst="roundRect">
            <a:avLst>
              <a:gd name="adj" fmla="val 26786"/>
            </a:avLst>
          </a:prstGeom>
          <a:solidFill>
            <a:srgbClr val="2F8650"/>
          </a:solidFill>
          <a:ln>
            <a:noFill/>
          </a:ln>
        </p:spPr>
        <p:txBody>
          <a:bodyPr/>
          <a:lstStyle/>
          <a:p/>
        </p:txBody>
      </p:sp>
      <p:sp>
        <p:nvSpPr>
          <p:cNvPr id="56" name="TextBox 56"/>
          <p:cNvSpPr txBox="1"/>
          <p:nvPr/>
        </p:nvSpPr>
        <p:spPr>
          <a:xfrm>
            <a:off x="812054" y="313384"/>
            <a:ext cx="1435734" cy="45185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830" b="1" i="1">
                <a:solidFill>
                  <a:srgbClr val="FBE6A3"/>
                </a:solidFill>
                <a:latin typeface="Microsoft YaHei"/>
                <a:ea typeface="Microsoft YaHei"/>
                <a:cs typeface="Microsoft YaHei"/>
              </a:rPr>
              <a:t>产品介绍</a:t>
            </a:r>
            <a:endParaRPr lang="zh-CN" sz="2830"/>
          </a:p>
        </p:txBody>
      </p:sp>
      <p:sp>
        <p:nvSpPr>
          <p:cNvPr id="57" name="TextBox 57"/>
          <p:cNvSpPr txBox="1"/>
          <p:nvPr/>
        </p:nvSpPr>
        <p:spPr>
          <a:xfrm>
            <a:off x="2845403" y="342536"/>
            <a:ext cx="5108882" cy="41541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100">
                <a:solidFill>
                  <a:srgbClr val="004C36"/>
                </a:solidFill>
                <a:latin typeface="KaiTi"/>
                <a:ea typeface="KaiTi"/>
                <a:cs typeface="KaiTi"/>
              </a:rPr>
              <a:t>RCEP东南亚各国农用地膜生产消费现状</a:t>
            </a:r>
            <a:endParaRPr lang="zh-CN" sz="2100"/>
          </a:p>
        </p:txBody>
      </p:sp>
      <p:sp>
        <p:nvSpPr>
          <p:cNvPr id="58" name="TextBox 58"/>
          <p:cNvSpPr txBox="1"/>
          <p:nvPr/>
        </p:nvSpPr>
        <p:spPr>
          <a:xfrm>
            <a:off x="637142" y="947439"/>
            <a:ext cx="925575" cy="75795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6100" b="1" i="1">
                <a:solidFill>
                  <a:srgbClr val="B18A22"/>
                </a:solidFill>
                <a:latin typeface="Liberation Serif"/>
                <a:ea typeface="Liberation Serif"/>
                <a:cs typeface="Liberation Serif"/>
              </a:rPr>
              <a:t>01</a:t>
            </a:r>
            <a:endParaRPr lang="zh-CN" sz="6100"/>
          </a:p>
        </p:txBody>
      </p:sp>
      <p:sp>
        <p:nvSpPr>
          <p:cNvPr id="59" name="TextBox 59"/>
          <p:cNvSpPr txBox="1"/>
          <p:nvPr/>
        </p:nvSpPr>
        <p:spPr>
          <a:xfrm>
            <a:off x="5913648" y="947439"/>
            <a:ext cx="889135" cy="75795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6100" b="1" i="1">
                <a:solidFill>
                  <a:srgbClr val="B18A22"/>
                </a:solidFill>
                <a:latin typeface="Liberation Serif"/>
                <a:ea typeface="Liberation Serif"/>
                <a:cs typeface="Liberation Serif"/>
              </a:rPr>
              <a:t>02</a:t>
            </a:r>
            <a:endParaRPr lang="zh-CN" sz="6100"/>
          </a:p>
        </p:txBody>
      </p:sp>
      <p:sp>
        <p:nvSpPr>
          <p:cNvPr id="60" name="TextBox 60"/>
          <p:cNvSpPr txBox="1"/>
          <p:nvPr/>
        </p:nvSpPr>
        <p:spPr>
          <a:xfrm>
            <a:off x="9069348" y="947439"/>
            <a:ext cx="852695" cy="75795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6100" b="1" i="1">
                <a:solidFill>
                  <a:srgbClr val="B18A22"/>
                </a:solidFill>
                <a:latin typeface="Liberation Serif"/>
                <a:ea typeface="Liberation Serif"/>
                <a:cs typeface="Liberation Serif"/>
              </a:rPr>
              <a:t>03</a:t>
            </a:r>
            <a:endParaRPr lang="zh-CN" sz="6100"/>
          </a:p>
        </p:txBody>
      </p:sp>
      <p:sp>
        <p:nvSpPr>
          <p:cNvPr id="61" name="TextBox 61"/>
          <p:cNvSpPr txBox="1"/>
          <p:nvPr/>
        </p:nvSpPr>
        <p:spPr>
          <a:xfrm>
            <a:off x="1766781" y="1195231"/>
            <a:ext cx="626767" cy="41541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市场</a:t>
            </a:r>
            <a:endParaRPr lang="zh-CN" sz="2100"/>
          </a:p>
        </p:txBody>
      </p:sp>
      <p:sp>
        <p:nvSpPr>
          <p:cNvPr id="62" name="TextBox 62"/>
          <p:cNvSpPr txBox="1"/>
          <p:nvPr/>
        </p:nvSpPr>
        <p:spPr>
          <a:xfrm>
            <a:off x="2393548" y="1195231"/>
            <a:ext cx="655919" cy="41541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100" b="1">
                <a:solidFill>
                  <a:srgbClr val="F6D88B"/>
                </a:solidFill>
                <a:latin typeface="Microsoft YaHei"/>
                <a:ea typeface="Microsoft YaHei"/>
                <a:cs typeface="Microsoft YaHei"/>
              </a:rPr>
              <a:t>需求</a:t>
            </a:r>
            <a:endParaRPr lang="zh-CN" sz="2100"/>
          </a:p>
        </p:txBody>
      </p:sp>
      <p:sp>
        <p:nvSpPr>
          <p:cNvPr id="63" name="TextBox 63"/>
          <p:cNvSpPr txBox="1"/>
          <p:nvPr/>
        </p:nvSpPr>
        <p:spPr>
          <a:xfrm>
            <a:off x="6912103" y="1202519"/>
            <a:ext cx="1588782" cy="41541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供给与进口</a:t>
            </a:r>
            <a:endParaRPr lang="zh-CN" sz="2100"/>
          </a:p>
        </p:txBody>
      </p:sp>
      <p:sp>
        <p:nvSpPr>
          <p:cNvPr id="64" name="TextBox 64"/>
          <p:cNvSpPr txBox="1"/>
          <p:nvPr/>
        </p:nvSpPr>
        <p:spPr>
          <a:xfrm>
            <a:off x="10031363" y="1202519"/>
            <a:ext cx="561175" cy="41541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政策</a:t>
            </a:r>
            <a:endParaRPr lang="zh-CN" sz="2100"/>
          </a:p>
        </p:txBody>
      </p:sp>
      <p:sp>
        <p:nvSpPr>
          <p:cNvPr id="65" name="TextBox 65"/>
          <p:cNvSpPr txBox="1"/>
          <p:nvPr/>
        </p:nvSpPr>
        <p:spPr>
          <a:xfrm>
            <a:off x="10577962" y="1202519"/>
            <a:ext cx="612191" cy="41541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100" b="1">
                <a:solidFill>
                  <a:srgbClr val="F6D88B"/>
                </a:solidFill>
                <a:latin typeface="Microsoft YaHei"/>
                <a:ea typeface="Microsoft YaHei"/>
                <a:cs typeface="Microsoft YaHei"/>
              </a:rPr>
              <a:t>驱动</a:t>
            </a:r>
            <a:endParaRPr lang="zh-CN" sz="2100"/>
          </a:p>
        </p:txBody>
      </p:sp>
      <p:sp>
        <p:nvSpPr>
          <p:cNvPr id="66" name="TextBox 66"/>
          <p:cNvSpPr txBox="1"/>
          <p:nvPr/>
        </p:nvSpPr>
        <p:spPr>
          <a:xfrm>
            <a:off x="812054" y="1814710"/>
            <a:ext cx="4540419" cy="30609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550">
                <a:solidFill>
                  <a:srgbClr val="153D42"/>
                </a:solidFill>
                <a:latin typeface="Microsoft YaHei"/>
                <a:ea typeface="Microsoft YaHei"/>
                <a:cs typeface="Microsoft YaHei"/>
              </a:rPr>
              <a:t>东南亚热带果蔬与经济作物种植广泛，</a:t>
            </a:r>
            <a:endParaRPr lang="zh-CN" sz="1550"/>
          </a:p>
        </p:txBody>
      </p:sp>
      <p:sp>
        <p:nvSpPr>
          <p:cNvPr id="67" name="TextBox 67"/>
          <p:cNvSpPr txBox="1"/>
          <p:nvPr/>
        </p:nvSpPr>
        <p:spPr>
          <a:xfrm>
            <a:off x="812054" y="2091654"/>
            <a:ext cx="4627875" cy="32067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550" b="1">
                <a:solidFill>
                  <a:srgbClr val="005C32"/>
                </a:solidFill>
                <a:latin typeface="Microsoft YaHei"/>
                <a:ea typeface="Microsoft YaHei"/>
                <a:cs typeface="Microsoft YaHei"/>
              </a:rPr>
              <a:t>农用地膜需求旺盛，可降解地膜具备增长潜力。</a:t>
            </a:r>
            <a:endParaRPr lang="zh-CN" sz="1550"/>
          </a:p>
        </p:txBody>
      </p:sp>
      <p:sp>
        <p:nvSpPr>
          <p:cNvPr id="68" name="TextBox 68"/>
          <p:cNvSpPr txBox="1"/>
          <p:nvPr/>
        </p:nvSpPr>
        <p:spPr>
          <a:xfrm>
            <a:off x="1307637" y="2689269"/>
            <a:ext cx="1690814" cy="28423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00" b="1">
                <a:solidFill>
                  <a:srgbClr val="005C32"/>
                </a:solidFill>
                <a:latin typeface="Microsoft YaHei"/>
                <a:ea typeface="Microsoft YaHei"/>
                <a:cs typeface="Microsoft YaHei"/>
              </a:rPr>
              <a:t>农用地膜市场需求规模</a:t>
            </a:r>
            <a:endParaRPr lang="zh-CN" sz="1200"/>
          </a:p>
        </p:txBody>
      </p:sp>
      <p:sp>
        <p:nvSpPr>
          <p:cNvPr id="69" name="TextBox 69"/>
          <p:cNvSpPr txBox="1"/>
          <p:nvPr/>
        </p:nvSpPr>
        <p:spPr>
          <a:xfrm>
            <a:off x="3982330" y="2689269"/>
            <a:ext cx="1530478" cy="28423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00" b="1">
                <a:solidFill>
                  <a:srgbClr val="005C32"/>
                </a:solidFill>
                <a:latin typeface="Microsoft YaHei"/>
                <a:ea typeface="Microsoft YaHei"/>
                <a:cs typeface="Microsoft YaHei"/>
              </a:rPr>
              <a:t>可降解地膜需求规模</a:t>
            </a:r>
            <a:endParaRPr lang="zh-CN" sz="1200"/>
          </a:p>
        </p:txBody>
      </p:sp>
      <p:sp>
        <p:nvSpPr>
          <p:cNvPr id="70" name="TextBox 70"/>
          <p:cNvSpPr txBox="1"/>
          <p:nvPr/>
        </p:nvSpPr>
        <p:spPr>
          <a:xfrm>
            <a:off x="1125437" y="2973501"/>
            <a:ext cx="1894878" cy="62676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4800" b="1" i="1">
                <a:solidFill>
                  <a:srgbClr val="BA8816"/>
                </a:solidFill>
                <a:latin typeface="Liberation Serif"/>
                <a:ea typeface="Liberation Serif"/>
                <a:cs typeface="Liberation Serif"/>
              </a:rPr>
              <a:t>42.7</a:t>
            </a:r>
            <a:endParaRPr lang="zh-CN" sz="4800"/>
          </a:p>
        </p:txBody>
      </p:sp>
      <p:sp>
        <p:nvSpPr>
          <p:cNvPr id="71" name="TextBox 71"/>
          <p:cNvSpPr txBox="1"/>
          <p:nvPr/>
        </p:nvSpPr>
        <p:spPr>
          <a:xfrm>
            <a:off x="2204060" y="3162988"/>
            <a:ext cx="823543" cy="44456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850" b="1">
                <a:solidFill>
                  <a:srgbClr val="BA8816"/>
                </a:solidFill>
                <a:latin typeface="SimSun"/>
                <a:ea typeface="SimSun"/>
                <a:cs typeface="SimSun"/>
              </a:rPr>
              <a:t>亿美元</a:t>
            </a:r>
            <a:endParaRPr lang="zh-CN" sz="1850"/>
          </a:p>
        </p:txBody>
      </p:sp>
      <p:sp>
        <p:nvSpPr>
          <p:cNvPr id="72" name="TextBox 72"/>
          <p:cNvSpPr txBox="1"/>
          <p:nvPr/>
        </p:nvSpPr>
        <p:spPr>
          <a:xfrm>
            <a:off x="3814706" y="2973501"/>
            <a:ext cx="1639798" cy="62676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4800" b="1" i="1">
                <a:solidFill>
                  <a:srgbClr val="BA8816"/>
                </a:solidFill>
                <a:latin typeface="Liberation Serif"/>
                <a:ea typeface="Liberation Serif"/>
                <a:cs typeface="Liberation Serif"/>
              </a:rPr>
              <a:t>4.7</a:t>
            </a:r>
            <a:endParaRPr lang="zh-CN" sz="4800"/>
          </a:p>
        </p:txBody>
      </p:sp>
      <p:sp>
        <p:nvSpPr>
          <p:cNvPr id="73" name="TextBox 73"/>
          <p:cNvSpPr txBox="1"/>
          <p:nvPr/>
        </p:nvSpPr>
        <p:spPr>
          <a:xfrm>
            <a:off x="4579945" y="3162988"/>
            <a:ext cx="910999" cy="44456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850" b="1">
                <a:solidFill>
                  <a:srgbClr val="BA8816"/>
                </a:solidFill>
                <a:latin typeface="SimSun"/>
                <a:ea typeface="SimSun"/>
                <a:cs typeface="SimSun"/>
              </a:rPr>
              <a:t>亿美元</a:t>
            </a:r>
            <a:endParaRPr lang="zh-CN" sz="1850"/>
          </a:p>
        </p:txBody>
      </p:sp>
      <p:sp>
        <p:nvSpPr>
          <p:cNvPr id="74" name="TextBox 74"/>
          <p:cNvSpPr txBox="1"/>
          <p:nvPr/>
        </p:nvSpPr>
        <p:spPr>
          <a:xfrm>
            <a:off x="1934404" y="4022971"/>
            <a:ext cx="925575" cy="51015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50" b="1">
                <a:solidFill>
                  <a:srgbClr val="005C32"/>
                </a:solidFill>
                <a:latin typeface="Microsoft YaHei"/>
                <a:ea typeface="Microsoft YaHei"/>
                <a:cs typeface="Microsoft YaHei"/>
              </a:rPr>
              <a:t>热带果蔬</a:t>
            </a:r>
            <a:endParaRPr lang="zh-CN" sz="1350"/>
          </a:p>
          <a:p>
            <a:pPr algn="l"/>
            <a:r>
              <a:rPr lang="zh-CN" sz="1350" b="1">
                <a:solidFill>
                  <a:srgbClr val="005C32"/>
                </a:solidFill>
                <a:latin typeface="Microsoft YaHei"/>
                <a:ea typeface="Microsoft YaHei"/>
                <a:cs typeface="Microsoft YaHei"/>
              </a:rPr>
              <a:t>场景广泛</a:t>
            </a:r>
            <a:endParaRPr lang="zh-CN" sz="1350"/>
          </a:p>
        </p:txBody>
      </p:sp>
      <p:sp>
        <p:nvSpPr>
          <p:cNvPr id="75" name="TextBox 75"/>
          <p:cNvSpPr txBox="1"/>
          <p:nvPr/>
        </p:nvSpPr>
        <p:spPr>
          <a:xfrm>
            <a:off x="3982330" y="4022971"/>
            <a:ext cx="1042183" cy="51015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50" b="1">
                <a:solidFill>
                  <a:srgbClr val="005C32"/>
                </a:solidFill>
                <a:latin typeface="Microsoft YaHei"/>
                <a:ea typeface="Microsoft YaHei"/>
                <a:cs typeface="Microsoft YaHei"/>
              </a:rPr>
              <a:t>环保型替代</a:t>
            </a:r>
            <a:endParaRPr lang="zh-CN" sz="1350"/>
          </a:p>
          <a:p>
            <a:pPr algn="l"/>
            <a:r>
              <a:rPr lang="zh-CN" sz="1350" b="1">
                <a:solidFill>
                  <a:srgbClr val="005C32"/>
                </a:solidFill>
                <a:latin typeface="Microsoft YaHei"/>
                <a:ea typeface="Microsoft YaHei"/>
                <a:cs typeface="Microsoft YaHei"/>
              </a:rPr>
              <a:t>需求提升</a:t>
            </a:r>
            <a:endParaRPr lang="zh-CN" sz="1350"/>
          </a:p>
        </p:txBody>
      </p:sp>
      <p:sp>
        <p:nvSpPr>
          <p:cNvPr id="76" name="TextBox 76"/>
          <p:cNvSpPr txBox="1"/>
          <p:nvPr/>
        </p:nvSpPr>
        <p:spPr>
          <a:xfrm>
            <a:off x="6095848" y="1807422"/>
            <a:ext cx="2587237" cy="27694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50">
                <a:solidFill>
                  <a:srgbClr val="153D42"/>
                </a:solidFill>
                <a:latin typeface="Microsoft YaHei"/>
                <a:ea typeface="Microsoft YaHei"/>
                <a:cs typeface="Microsoft YaHei"/>
              </a:rPr>
              <a:t>本土高端降解地膜供给不足，</a:t>
            </a:r>
            <a:endParaRPr lang="zh-CN" sz="1350"/>
          </a:p>
        </p:txBody>
      </p:sp>
      <p:sp>
        <p:nvSpPr>
          <p:cNvPr id="77" name="TextBox 77"/>
          <p:cNvSpPr txBox="1"/>
          <p:nvPr/>
        </p:nvSpPr>
        <p:spPr>
          <a:xfrm>
            <a:off x="6095848" y="2062502"/>
            <a:ext cx="2587237" cy="27694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50" b="1">
                <a:solidFill>
                  <a:srgbClr val="005C32"/>
                </a:solidFill>
                <a:latin typeface="Microsoft YaHei"/>
                <a:ea typeface="Microsoft YaHei"/>
                <a:cs typeface="Microsoft YaHei"/>
              </a:rPr>
              <a:t>依赖海外进口补足缺口。</a:t>
            </a:r>
            <a:endParaRPr lang="zh-CN" sz="1350"/>
          </a:p>
        </p:txBody>
      </p:sp>
      <p:sp>
        <p:nvSpPr>
          <p:cNvPr id="78" name="TextBox 78"/>
          <p:cNvSpPr txBox="1"/>
          <p:nvPr/>
        </p:nvSpPr>
        <p:spPr>
          <a:xfrm>
            <a:off x="6460247" y="2674693"/>
            <a:ext cx="845407" cy="24050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00" b="1">
                <a:solidFill>
                  <a:srgbClr val="005C32"/>
                </a:solidFill>
                <a:latin typeface="Microsoft YaHei"/>
                <a:ea typeface="Microsoft YaHei"/>
                <a:cs typeface="Microsoft YaHei"/>
              </a:rPr>
              <a:t>年均进口总额</a:t>
            </a:r>
            <a:endParaRPr lang="zh-CN" sz="1000"/>
          </a:p>
        </p:txBody>
      </p:sp>
      <p:sp>
        <p:nvSpPr>
          <p:cNvPr id="79" name="TextBox 79"/>
          <p:cNvSpPr txBox="1"/>
          <p:nvPr/>
        </p:nvSpPr>
        <p:spPr>
          <a:xfrm>
            <a:off x="7954285" y="2674693"/>
            <a:ext cx="787103" cy="24050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00" b="1">
                <a:solidFill>
                  <a:srgbClr val="005C32"/>
                </a:solidFill>
                <a:latin typeface="Microsoft YaHei"/>
                <a:ea typeface="Microsoft YaHei"/>
                <a:cs typeface="Microsoft YaHei"/>
              </a:rPr>
              <a:t>农业用途约</a:t>
            </a:r>
            <a:endParaRPr lang="zh-CN" sz="1000"/>
          </a:p>
        </p:txBody>
      </p:sp>
      <p:sp>
        <p:nvSpPr>
          <p:cNvPr id="80" name="TextBox 80"/>
          <p:cNvSpPr txBox="1"/>
          <p:nvPr/>
        </p:nvSpPr>
        <p:spPr>
          <a:xfrm>
            <a:off x="6445671" y="3869923"/>
            <a:ext cx="874559" cy="24050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00" b="1">
                <a:solidFill>
                  <a:srgbClr val="005C32"/>
                </a:solidFill>
                <a:latin typeface="Microsoft YaHei"/>
                <a:ea typeface="Microsoft YaHei"/>
                <a:cs typeface="Microsoft YaHei"/>
              </a:rPr>
              <a:t>2025Q4进口量</a:t>
            </a:r>
            <a:endParaRPr lang="zh-CN" sz="1000"/>
          </a:p>
        </p:txBody>
      </p:sp>
      <p:sp>
        <p:nvSpPr>
          <p:cNvPr id="81" name="TextBox 81"/>
          <p:cNvSpPr txBox="1"/>
          <p:nvPr/>
        </p:nvSpPr>
        <p:spPr>
          <a:xfrm>
            <a:off x="7954285" y="3869923"/>
            <a:ext cx="787103" cy="24050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00" b="1">
                <a:solidFill>
                  <a:srgbClr val="005C32"/>
                </a:solidFill>
                <a:latin typeface="Microsoft YaHei"/>
                <a:ea typeface="Microsoft YaHei"/>
                <a:cs typeface="Microsoft YaHei"/>
              </a:rPr>
              <a:t>中国供应占比</a:t>
            </a:r>
            <a:endParaRPr lang="zh-CN" sz="1000"/>
          </a:p>
        </p:txBody>
      </p:sp>
      <p:sp>
        <p:nvSpPr>
          <p:cNvPr id="82" name="TextBox 82"/>
          <p:cNvSpPr txBox="1"/>
          <p:nvPr/>
        </p:nvSpPr>
        <p:spPr>
          <a:xfrm>
            <a:off x="6044832" y="2995365"/>
            <a:ext cx="1289974" cy="51015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3700" b="1" i="1">
                <a:solidFill>
                  <a:srgbClr val="BA8816"/>
                </a:solidFill>
                <a:latin typeface="Liberation Serif"/>
                <a:ea typeface="Liberation Serif"/>
                <a:cs typeface="Liberation Serif"/>
              </a:rPr>
              <a:t>1.5</a:t>
            </a:r>
            <a:endParaRPr lang="zh-CN" sz="3700"/>
          </a:p>
        </p:txBody>
      </p:sp>
      <p:sp>
        <p:nvSpPr>
          <p:cNvPr id="83" name="TextBox 83"/>
          <p:cNvSpPr txBox="1"/>
          <p:nvPr/>
        </p:nvSpPr>
        <p:spPr>
          <a:xfrm>
            <a:off x="6642447" y="3141124"/>
            <a:ext cx="692359" cy="40812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650" b="1">
                <a:solidFill>
                  <a:srgbClr val="BA8816"/>
                </a:solidFill>
                <a:latin typeface="SimSun"/>
                <a:ea typeface="SimSun"/>
                <a:cs typeface="SimSun"/>
              </a:rPr>
              <a:t>亿美元</a:t>
            </a:r>
            <a:endParaRPr lang="zh-CN" sz="1650"/>
          </a:p>
        </p:txBody>
      </p:sp>
      <p:sp>
        <p:nvSpPr>
          <p:cNvPr id="84" name="TextBox 84"/>
          <p:cNvSpPr txBox="1"/>
          <p:nvPr/>
        </p:nvSpPr>
        <p:spPr>
          <a:xfrm>
            <a:off x="7866830" y="2995365"/>
            <a:ext cx="874559" cy="51015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3700" b="1" i="1">
                <a:solidFill>
                  <a:srgbClr val="BA8816"/>
                </a:solidFill>
                <a:latin typeface="Liberation Serif"/>
                <a:ea typeface="Liberation Serif"/>
                <a:cs typeface="Liberation Serif"/>
              </a:rPr>
              <a:t>28</a:t>
            </a:r>
            <a:r>
              <a:rPr lang="zh-CN" sz="2400" b="1" i="1">
                <a:solidFill>
                  <a:srgbClr val="BA8816"/>
                </a:solidFill>
                <a:latin typeface="Liberation Serif"/>
                <a:ea typeface="Liberation Serif"/>
                <a:cs typeface="Liberation Serif"/>
              </a:rPr>
              <a:t>%</a:t>
            </a:r>
            <a:endParaRPr lang="zh-CN" sz="3700"/>
          </a:p>
        </p:txBody>
      </p:sp>
      <p:sp>
        <p:nvSpPr>
          <p:cNvPr id="85" name="TextBox 85"/>
          <p:cNvSpPr txBox="1"/>
          <p:nvPr/>
        </p:nvSpPr>
        <p:spPr>
          <a:xfrm>
            <a:off x="6197879" y="4183307"/>
            <a:ext cx="1064047" cy="46643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3300" b="1" i="1">
                <a:solidFill>
                  <a:srgbClr val="BA8816"/>
                </a:solidFill>
                <a:latin typeface="Liberation Serif"/>
                <a:ea typeface="Liberation Serif"/>
                <a:cs typeface="Liberation Serif"/>
              </a:rPr>
              <a:t>+41</a:t>
            </a:r>
            <a:r>
              <a:rPr lang="zh-CN" sz="2100" b="1" i="1">
                <a:solidFill>
                  <a:srgbClr val="BA8816"/>
                </a:solidFill>
                <a:latin typeface="Liberation Serif"/>
                <a:ea typeface="Liberation Serif"/>
                <a:cs typeface="Liberation Serif"/>
              </a:rPr>
              <a:t>%</a:t>
            </a:r>
            <a:endParaRPr lang="zh-CN" sz="3300"/>
          </a:p>
        </p:txBody>
      </p:sp>
      <p:sp>
        <p:nvSpPr>
          <p:cNvPr id="86" name="TextBox 86"/>
          <p:cNvSpPr txBox="1"/>
          <p:nvPr/>
        </p:nvSpPr>
        <p:spPr>
          <a:xfrm>
            <a:off x="7830390" y="4183307"/>
            <a:ext cx="874559" cy="46643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3700" b="1" i="1">
                <a:solidFill>
                  <a:srgbClr val="BA8816"/>
                </a:solidFill>
                <a:latin typeface="Liberation Serif"/>
                <a:ea typeface="Liberation Serif"/>
                <a:cs typeface="Liberation Serif"/>
              </a:rPr>
              <a:t>62</a:t>
            </a:r>
            <a:r>
              <a:rPr lang="zh-CN" sz="2400" b="1" i="1">
                <a:solidFill>
                  <a:srgbClr val="BA8816"/>
                </a:solidFill>
                <a:latin typeface="Liberation Serif"/>
                <a:ea typeface="Liberation Serif"/>
                <a:cs typeface="Liberation Serif"/>
              </a:rPr>
              <a:t>%</a:t>
            </a:r>
            <a:endParaRPr lang="zh-CN" sz="3700"/>
          </a:p>
        </p:txBody>
      </p:sp>
      <p:sp>
        <p:nvSpPr>
          <p:cNvPr id="87" name="TextBox 87"/>
          <p:cNvSpPr txBox="1"/>
          <p:nvPr/>
        </p:nvSpPr>
        <p:spPr>
          <a:xfrm>
            <a:off x="6022968" y="5524298"/>
            <a:ext cx="699647" cy="26965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50" b="1">
                <a:solidFill>
                  <a:srgbClr val="005C32"/>
                </a:solidFill>
                <a:latin typeface="Microsoft YaHei"/>
                <a:ea typeface="Microsoft YaHei"/>
                <a:cs typeface="Microsoft YaHei"/>
              </a:rPr>
              <a:t>原料短板</a:t>
            </a:r>
            <a:endParaRPr lang="zh-CN" sz="1250"/>
          </a:p>
        </p:txBody>
      </p:sp>
      <p:sp>
        <p:nvSpPr>
          <p:cNvPr id="88" name="TextBox 88"/>
          <p:cNvSpPr txBox="1"/>
          <p:nvPr/>
        </p:nvSpPr>
        <p:spPr>
          <a:xfrm>
            <a:off x="6970407" y="5524298"/>
            <a:ext cx="699647" cy="26965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50" b="1">
                <a:solidFill>
                  <a:srgbClr val="005C32"/>
                </a:solidFill>
                <a:latin typeface="Microsoft YaHei"/>
                <a:ea typeface="Microsoft YaHei"/>
                <a:cs typeface="Microsoft YaHei"/>
              </a:rPr>
              <a:t>工艺不足</a:t>
            </a:r>
            <a:endParaRPr lang="zh-CN" sz="1250"/>
          </a:p>
        </p:txBody>
      </p:sp>
      <p:sp>
        <p:nvSpPr>
          <p:cNvPr id="89" name="TextBox 89"/>
          <p:cNvSpPr txBox="1"/>
          <p:nvPr/>
        </p:nvSpPr>
        <p:spPr>
          <a:xfrm>
            <a:off x="7852254" y="5524298"/>
            <a:ext cx="845407" cy="26965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50" b="1">
                <a:solidFill>
                  <a:srgbClr val="005C32"/>
                </a:solidFill>
                <a:latin typeface="Microsoft YaHei"/>
                <a:ea typeface="Microsoft YaHei"/>
                <a:cs typeface="Microsoft YaHei"/>
              </a:rPr>
              <a:t>进口依赖高</a:t>
            </a:r>
            <a:endParaRPr lang="zh-CN" sz="1250"/>
          </a:p>
        </p:txBody>
      </p:sp>
      <p:sp>
        <p:nvSpPr>
          <p:cNvPr id="90" name="TextBox 90"/>
          <p:cNvSpPr txBox="1"/>
          <p:nvPr/>
        </p:nvSpPr>
        <p:spPr>
          <a:xfrm>
            <a:off x="9885603" y="1865726"/>
            <a:ext cx="1807422" cy="26965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00" b="1">
                <a:solidFill>
                  <a:srgbClr val="005C32"/>
                </a:solidFill>
                <a:latin typeface="Microsoft YaHei"/>
                <a:ea typeface="Microsoft YaHei"/>
                <a:cs typeface="Microsoft YaHei"/>
              </a:rPr>
              <a:t>马来西亚 / 菲律宾</a:t>
            </a:r>
            <a:endParaRPr lang="zh-CN" sz="1300"/>
          </a:p>
        </p:txBody>
      </p:sp>
      <p:sp>
        <p:nvSpPr>
          <p:cNvPr id="91" name="TextBox 91"/>
          <p:cNvSpPr txBox="1"/>
          <p:nvPr/>
        </p:nvSpPr>
        <p:spPr>
          <a:xfrm>
            <a:off x="9885603" y="2128094"/>
            <a:ext cx="1763694" cy="24779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00">
                <a:solidFill>
                  <a:srgbClr val="153D42"/>
                </a:solidFill>
                <a:latin typeface="Microsoft YaHei"/>
                <a:ea typeface="Microsoft YaHei"/>
                <a:cs typeface="Microsoft YaHei"/>
              </a:rPr>
              <a:t>2027年可降解材料</a:t>
            </a:r>
            <a:endParaRPr lang="zh-CN" sz="1200"/>
          </a:p>
        </p:txBody>
      </p:sp>
      <p:sp>
        <p:nvSpPr>
          <p:cNvPr id="92" name="TextBox 92"/>
          <p:cNvSpPr txBox="1"/>
          <p:nvPr/>
        </p:nvSpPr>
        <p:spPr>
          <a:xfrm>
            <a:off x="9885603" y="2383173"/>
            <a:ext cx="889135" cy="25508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00">
                <a:solidFill>
                  <a:srgbClr val="153D42"/>
                </a:solidFill>
                <a:latin typeface="Microsoft YaHei"/>
                <a:ea typeface="Microsoft YaHei"/>
                <a:cs typeface="Microsoft YaHei"/>
              </a:rPr>
              <a:t>占比提升至</a:t>
            </a:r>
            <a:endParaRPr lang="zh-CN" sz="1200"/>
          </a:p>
        </p:txBody>
      </p:sp>
      <p:sp>
        <p:nvSpPr>
          <p:cNvPr id="93" name="TextBox 93"/>
          <p:cNvSpPr txBox="1"/>
          <p:nvPr/>
        </p:nvSpPr>
        <p:spPr>
          <a:xfrm>
            <a:off x="10723722" y="2310293"/>
            <a:ext cx="925575" cy="41541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3000" b="1" i="1">
                <a:solidFill>
                  <a:srgbClr val="BA8816"/>
                </a:solidFill>
                <a:latin typeface="Liberation Serif"/>
                <a:ea typeface="Liberation Serif"/>
                <a:cs typeface="Liberation Serif"/>
              </a:rPr>
              <a:t>30</a:t>
            </a:r>
            <a:r>
              <a:rPr lang="zh-CN" sz="2100" b="1" i="1">
                <a:solidFill>
                  <a:srgbClr val="BA8816"/>
                </a:solidFill>
                <a:latin typeface="Liberation Serif"/>
                <a:ea typeface="Liberation Serif"/>
                <a:cs typeface="Liberation Serif"/>
              </a:rPr>
              <a:t>%</a:t>
            </a:r>
            <a:endParaRPr lang="zh-CN" sz="3000"/>
          </a:p>
        </p:txBody>
      </p:sp>
      <p:sp>
        <p:nvSpPr>
          <p:cNvPr id="94" name="TextBox 94"/>
          <p:cNvSpPr txBox="1"/>
          <p:nvPr/>
        </p:nvSpPr>
        <p:spPr>
          <a:xfrm>
            <a:off x="9885603" y="2966213"/>
            <a:ext cx="1778270" cy="26965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00" b="1">
                <a:solidFill>
                  <a:srgbClr val="005C32"/>
                </a:solidFill>
                <a:latin typeface="Microsoft YaHei"/>
                <a:ea typeface="Microsoft YaHei"/>
                <a:cs typeface="Microsoft YaHei"/>
              </a:rPr>
              <a:t>印度尼西亚</a:t>
            </a:r>
            <a:endParaRPr lang="zh-CN" sz="1300"/>
          </a:p>
        </p:txBody>
      </p:sp>
      <p:sp>
        <p:nvSpPr>
          <p:cNvPr id="95" name="TextBox 95"/>
          <p:cNvSpPr txBox="1"/>
          <p:nvPr/>
        </p:nvSpPr>
        <p:spPr>
          <a:xfrm>
            <a:off x="9885603" y="3257732"/>
            <a:ext cx="1778270" cy="24779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00">
                <a:solidFill>
                  <a:srgbClr val="153D42"/>
                </a:solidFill>
                <a:latin typeface="Microsoft YaHei"/>
                <a:ea typeface="Microsoft YaHei"/>
                <a:cs typeface="Microsoft YaHei"/>
              </a:rPr>
              <a:t>2030年农田废旧地膜</a:t>
            </a:r>
            <a:endParaRPr lang="zh-CN" sz="1200"/>
          </a:p>
        </p:txBody>
      </p:sp>
      <p:sp>
        <p:nvSpPr>
          <p:cNvPr id="96" name="TextBox 96"/>
          <p:cNvSpPr txBox="1"/>
          <p:nvPr/>
        </p:nvSpPr>
        <p:spPr>
          <a:xfrm>
            <a:off x="9885603" y="3541964"/>
            <a:ext cx="1027607" cy="25508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00">
                <a:solidFill>
                  <a:srgbClr val="153D42"/>
                </a:solidFill>
                <a:latin typeface="Microsoft YaHei"/>
                <a:ea typeface="Microsoft YaHei"/>
                <a:cs typeface="Microsoft YaHei"/>
              </a:rPr>
              <a:t>回收率不低于</a:t>
            </a:r>
            <a:endParaRPr lang="zh-CN" sz="1200"/>
          </a:p>
        </p:txBody>
      </p:sp>
      <p:sp>
        <p:nvSpPr>
          <p:cNvPr id="97" name="TextBox 97"/>
          <p:cNvSpPr txBox="1"/>
          <p:nvPr/>
        </p:nvSpPr>
        <p:spPr>
          <a:xfrm>
            <a:off x="10876770" y="3454508"/>
            <a:ext cx="794391" cy="41541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3000" b="1" i="1">
                <a:solidFill>
                  <a:srgbClr val="BA8816"/>
                </a:solidFill>
                <a:latin typeface="Liberation Serif"/>
                <a:ea typeface="Liberation Serif"/>
                <a:cs typeface="Liberation Serif"/>
              </a:rPr>
              <a:t>70</a:t>
            </a:r>
            <a:r>
              <a:rPr lang="zh-CN" sz="2100" b="1" i="1">
                <a:solidFill>
                  <a:srgbClr val="BA8816"/>
                </a:solidFill>
                <a:latin typeface="Liberation Serif"/>
                <a:ea typeface="Liberation Serif"/>
                <a:cs typeface="Liberation Serif"/>
              </a:rPr>
              <a:t>%</a:t>
            </a:r>
            <a:endParaRPr lang="zh-CN" sz="3000"/>
          </a:p>
        </p:txBody>
      </p:sp>
      <p:sp>
        <p:nvSpPr>
          <p:cNvPr id="98" name="TextBox 98"/>
          <p:cNvSpPr txBox="1"/>
          <p:nvPr/>
        </p:nvSpPr>
        <p:spPr>
          <a:xfrm>
            <a:off x="9885603" y="4110427"/>
            <a:ext cx="1778270" cy="26236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00" b="1">
                <a:solidFill>
                  <a:srgbClr val="005C32"/>
                </a:solidFill>
                <a:latin typeface="Microsoft YaHei"/>
                <a:ea typeface="Microsoft YaHei"/>
                <a:cs typeface="Microsoft YaHei"/>
              </a:rPr>
              <a:t>泰国</a:t>
            </a:r>
            <a:endParaRPr lang="zh-CN" sz="1300"/>
          </a:p>
        </p:txBody>
      </p:sp>
      <p:sp>
        <p:nvSpPr>
          <p:cNvPr id="99" name="TextBox 99"/>
          <p:cNvSpPr txBox="1"/>
          <p:nvPr/>
        </p:nvSpPr>
        <p:spPr>
          <a:xfrm>
            <a:off x="9885603" y="4380083"/>
            <a:ext cx="1807422" cy="25508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00">
                <a:solidFill>
                  <a:srgbClr val="153D42"/>
                </a:solidFill>
                <a:latin typeface="Microsoft YaHei"/>
                <a:ea typeface="Microsoft YaHei"/>
                <a:cs typeface="Microsoft YaHei"/>
              </a:rPr>
              <a:t>违规焚烧残膜最高罚款</a:t>
            </a:r>
            <a:endParaRPr lang="zh-CN" sz="1200"/>
          </a:p>
        </p:txBody>
      </p:sp>
      <p:sp>
        <p:nvSpPr>
          <p:cNvPr id="100" name="TextBox 100"/>
          <p:cNvSpPr txBox="1"/>
          <p:nvPr/>
        </p:nvSpPr>
        <p:spPr>
          <a:xfrm>
            <a:off x="9885603" y="4569571"/>
            <a:ext cx="1807422" cy="44456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3000" b="1" i="1">
                <a:solidFill>
                  <a:srgbClr val="BA8816"/>
                </a:solidFill>
                <a:latin typeface="Liberation Serif"/>
                <a:ea typeface="Liberation Serif"/>
                <a:cs typeface="Liberation Serif"/>
              </a:rPr>
              <a:t>50</a:t>
            </a:r>
            <a:r>
              <a:rPr lang="zh-CN" sz="2150" b="1" i="1">
                <a:solidFill>
                  <a:srgbClr val="BA8816"/>
                </a:solidFill>
                <a:latin typeface="SimSun"/>
                <a:ea typeface="SimSun"/>
                <a:cs typeface="SimSun"/>
              </a:rPr>
              <a:t>万泰铢</a:t>
            </a:r>
            <a:endParaRPr lang="zh-CN" sz="3000"/>
          </a:p>
        </p:txBody>
      </p:sp>
      <p:sp>
        <p:nvSpPr>
          <p:cNvPr id="101" name="TextBox 101"/>
          <p:cNvSpPr txBox="1"/>
          <p:nvPr/>
        </p:nvSpPr>
        <p:spPr>
          <a:xfrm>
            <a:off x="9557644" y="5349386"/>
            <a:ext cx="2062502" cy="29152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50" b="1" i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区域限塑政策持续推进，</a:t>
            </a:r>
            <a:endParaRPr lang="zh-CN" sz="1350"/>
          </a:p>
        </p:txBody>
      </p:sp>
      <p:sp>
        <p:nvSpPr>
          <p:cNvPr id="102" name="TextBox 102"/>
          <p:cNvSpPr txBox="1"/>
          <p:nvPr/>
        </p:nvSpPr>
        <p:spPr>
          <a:xfrm>
            <a:off x="9557644" y="5619041"/>
            <a:ext cx="1719966" cy="29152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50" b="1" i="1">
                <a:solidFill>
                  <a:srgbClr val="FFE28D"/>
                </a:solidFill>
                <a:latin typeface="Microsoft YaHei"/>
                <a:ea typeface="Microsoft YaHei"/>
                <a:cs typeface="Microsoft YaHei"/>
              </a:rPr>
              <a:t>替代空间加速释放</a:t>
            </a:r>
            <a:endParaRPr lang="zh-CN" sz="1350"/>
          </a:p>
        </p:txBody>
      </p:sp>
      <p:sp>
        <p:nvSpPr>
          <p:cNvPr id="103" name="Path 103"/>
          <p:cNvSpPr/>
          <p:nvPr/>
        </p:nvSpPr>
        <p:spPr>
          <a:xfrm>
            <a:off x="3087" y="6325977"/>
            <a:ext cx="12185522" cy="962015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0"/>
                </a:moveTo>
                <a:cubicBezTo>
                  <a:pt x="4483" y="4091"/>
                  <a:pt x="8087" y="13418"/>
                  <a:pt x="10826" y="15873"/>
                </a:cubicBezTo>
                <a:cubicBezTo>
                  <a:pt x="13978" y="14564"/>
                  <a:pt x="18319" y="3273"/>
                  <a:pt x="21600" y="0"/>
                </a:cubicBez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BFFF9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" name="Path 104"/>
          <p:cNvSpPr/>
          <p:nvPr/>
        </p:nvSpPr>
        <p:spPr>
          <a:xfrm>
            <a:off x="3087" y="6325977"/>
            <a:ext cx="12185522" cy="962015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1636"/>
                </a:moveTo>
                <a:cubicBezTo>
                  <a:pt x="4483" y="5727"/>
                  <a:pt x="8087" y="15055"/>
                  <a:pt x="10826" y="17509"/>
                </a:cubicBezTo>
                <a:cubicBezTo>
                  <a:pt x="13978" y="16200"/>
                  <a:pt x="18319" y="4909"/>
                  <a:pt x="21600" y="1636"/>
                </a:cubicBez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268C59"/>
          </a:solidFill>
          <a:ln>
            <a:noFill/>
          </a:ln>
        </p:spPr>
        <p:txBody>
          <a:bodyPr/>
          <a:lstStyle/>
          <a:p/>
        </p:txBody>
      </p:sp>
      <p:sp>
        <p:nvSpPr>
          <p:cNvPr id="105" name="Path 105"/>
          <p:cNvSpPr/>
          <p:nvPr/>
        </p:nvSpPr>
        <p:spPr>
          <a:xfrm>
            <a:off x="3087" y="6325977"/>
            <a:ext cx="12185522" cy="962015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9164"/>
                </a:moveTo>
                <a:cubicBezTo>
                  <a:pt x="4483" y="13255"/>
                  <a:pt x="8087" y="20127"/>
                  <a:pt x="10826" y="22582"/>
                </a:cubicBezTo>
                <a:cubicBezTo>
                  <a:pt x="13978" y="21273"/>
                  <a:pt x="18319" y="12927"/>
                  <a:pt x="21600" y="9655"/>
                </a:cubicBez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9FB445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Widescreen</PresentationFormat>
  <Slides>1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