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rent source header-strip builtin local image edit removes white 项目背景 and completes the same blue data-pattern texture; recorded padded output normalized to source strip, no foreground text underneath native title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962001"/>
          </a:xfrm>
          <a:prstGeom prst="rect">
            <a:avLst/>
          </a:prstGeom>
        </p:spPr>
      </p:pic>
      <p:pic>
        <p:nvPicPr>
          <p:cNvPr id="3" name="Unoccluded faint source engineering/city line-art background only, source rectangle [139,624,582,63]; no logos/main text/foreground in reused rectangle."/>
          <p:cNvPicPr/>
          <p:nvPr/>
        </p:nvPicPr>
        <p:blipFill>
          <a:blip r:embed="rId3"/>
          <a:stretch>
            <a:fillRect/>
          </a:stretch>
        </p:blipFill>
        <p:spPr>
          <a:xfrm>
            <a:off x="1323942" y="5943537"/>
            <a:ext cx="5543411" cy="600060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1238219" y="6495973"/>
            <a:ext cx="10953476" cy="36194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695" y="6253"/>
                </a:lnTo>
                <a:cubicBezTo>
                  <a:pt x="883" y="1705"/>
                  <a:pt x="1014" y="568"/>
                  <a:pt x="1240" y="568"/>
                </a:cubicBezTo>
                <a:lnTo>
                  <a:pt x="16285" y="568"/>
                </a:lnTo>
                <a:cubicBezTo>
                  <a:pt x="16773" y="568"/>
                  <a:pt x="16886" y="15347"/>
                  <a:pt x="17430" y="17053"/>
                </a:cubicBezTo>
                <a:lnTo>
                  <a:pt x="21600" y="17053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8C8B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Deterministic native-or-script simple blue-cyan footer gradient with source structural boundary; source is geometry/color reference, no source foreground pixels used.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6476924"/>
            <a:ext cx="12191695" cy="380990"/>
          </a:xfrm>
          <a:prstGeom prst="rect">
            <a:avLst/>
          </a:prstGeom>
        </p:spPr>
      </p:pic>
      <p:sp>
        <p:nvSpPr>
          <p:cNvPr id="6" name="Roundrect 6"/>
          <p:cNvSpPr/>
          <p:nvPr/>
        </p:nvSpPr>
        <p:spPr>
          <a:xfrm>
            <a:off x="314317" y="3419475"/>
            <a:ext cx="3981350" cy="1885903"/>
          </a:xfrm>
          <a:prstGeom prst="roundRect">
            <a:avLst>
              <a:gd name="adj" fmla="val 5556"/>
            </a:avLst>
          </a:prstGeom>
          <a:solidFill>
            <a:srgbClr val="EDF9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486163" y="3419475"/>
            <a:ext cx="3505112" cy="1885903"/>
          </a:xfrm>
          <a:prstGeom prst="roundRect">
            <a:avLst>
              <a:gd name="adj" fmla="val 5556"/>
            </a:avLst>
          </a:prstGeom>
          <a:solidFill>
            <a:srgbClr val="EDF9F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238919" y="3419475"/>
            <a:ext cx="3657509" cy="1885903"/>
          </a:xfrm>
          <a:prstGeom prst="roundRect">
            <a:avLst>
              <a:gd name="adj" fmla="val 5556"/>
            </a:avLst>
          </a:prstGeom>
          <a:solidFill>
            <a:srgbClr val="EDF9F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23842" y="1609770"/>
            <a:ext cx="11563061" cy="1638259"/>
          </a:xfrm>
          <a:prstGeom prst="roundRect">
            <a:avLst>
              <a:gd name="adj" fmla="val 6395"/>
            </a:avLst>
          </a:prstGeom>
          <a:solidFill>
            <a:srgbClr val="E4F7FF"/>
          </a:solidFill>
          <a:ln w="6985">
            <a:solidFill>
              <a:srgbClr val="74D9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23842" y="3390901"/>
            <a:ext cx="3962301" cy="1895428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 w="7620">
            <a:solidFill>
              <a:srgbClr val="C4EB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495688" y="3390901"/>
            <a:ext cx="3486063" cy="1895428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 w="7620">
            <a:solidFill>
              <a:srgbClr val="C4EB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248444" y="3390901"/>
            <a:ext cx="3638459" cy="1895428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 w="7620">
            <a:solidFill>
              <a:srgbClr val="C4EB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42891" y="3419475"/>
            <a:ext cx="3924202" cy="542911"/>
          </a:xfrm>
          <a:prstGeom prst="roundRect">
            <a:avLst>
              <a:gd name="adj" fmla="val 14035"/>
            </a:avLst>
          </a:prstGeom>
          <a:solidFill>
            <a:srgbClr val="F3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514737" y="3419475"/>
            <a:ext cx="3447964" cy="542911"/>
          </a:xfrm>
          <a:prstGeom prst="roundRect">
            <a:avLst>
              <a:gd name="adj" fmla="val 14035"/>
            </a:avLst>
          </a:prstGeom>
          <a:solidFill>
            <a:srgbClr val="F3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8267493" y="3419475"/>
            <a:ext cx="3600360" cy="542911"/>
          </a:xfrm>
          <a:prstGeom prst="roundRect">
            <a:avLst>
              <a:gd name="adj" fmla="val 14035"/>
            </a:avLst>
          </a:prstGeom>
          <a:solidFill>
            <a:srgbClr val="F3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419090" y="3429000"/>
            <a:ext cx="3667033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17" y="0"/>
                </a:moveTo>
                <a:lnTo>
                  <a:pt x="21600" y="0"/>
                </a:lnTo>
                <a:lnTo>
                  <a:pt x="20871" y="16416"/>
                </a:lnTo>
                <a:cubicBezTo>
                  <a:pt x="20702" y="20304"/>
                  <a:pt x="20366" y="21600"/>
                  <a:pt x="19861" y="21600"/>
                </a:cubicBezTo>
                <a:lnTo>
                  <a:pt x="561" y="21600"/>
                </a:lnTo>
                <a:cubicBezTo>
                  <a:pt x="168" y="21600"/>
                  <a:pt x="0" y="20304"/>
                  <a:pt x="0" y="17280"/>
                </a:cubicBezTo>
                <a:lnTo>
                  <a:pt x="0" y="4752"/>
                </a:lnTo>
                <a:cubicBezTo>
                  <a:pt x="0" y="1728"/>
                  <a:pt x="224" y="0"/>
                  <a:pt x="617" y="0"/>
                </a:cubicBezTo>
                <a:close/>
              </a:path>
            </a:pathLst>
          </a:custGeom>
          <a:solidFill>
            <a:srgbClr val="0087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4581410" y="3429000"/>
            <a:ext cx="2914577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76" y="0"/>
                </a:moveTo>
                <a:lnTo>
                  <a:pt x="21600" y="0"/>
                </a:lnTo>
                <a:lnTo>
                  <a:pt x="20682" y="16416"/>
                </a:lnTo>
                <a:cubicBezTo>
                  <a:pt x="20471" y="20304"/>
                  <a:pt x="20047" y="21600"/>
                  <a:pt x="19412" y="21600"/>
                </a:cubicBezTo>
                <a:lnTo>
                  <a:pt x="706" y="21600"/>
                </a:lnTo>
                <a:cubicBezTo>
                  <a:pt x="212" y="21600"/>
                  <a:pt x="0" y="20304"/>
                  <a:pt x="0" y="17280"/>
                </a:cubicBezTo>
                <a:lnTo>
                  <a:pt x="0" y="4752"/>
                </a:lnTo>
                <a:cubicBezTo>
                  <a:pt x="0" y="1728"/>
                  <a:pt x="282" y="0"/>
                  <a:pt x="776" y="0"/>
                </a:cubicBezTo>
                <a:close/>
              </a:path>
            </a:pathLst>
          </a:custGeom>
          <a:solidFill>
            <a:srgbClr val="0087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8353216" y="3429000"/>
            <a:ext cx="3000300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54" y="0"/>
                </a:moveTo>
                <a:lnTo>
                  <a:pt x="21600" y="0"/>
                </a:lnTo>
                <a:lnTo>
                  <a:pt x="20709" y="16416"/>
                </a:lnTo>
                <a:cubicBezTo>
                  <a:pt x="20503" y="20304"/>
                  <a:pt x="20091" y="21600"/>
                  <a:pt x="19474" y="21600"/>
                </a:cubicBezTo>
                <a:lnTo>
                  <a:pt x="686" y="21600"/>
                </a:lnTo>
                <a:cubicBezTo>
                  <a:pt x="206" y="21600"/>
                  <a:pt x="0" y="20304"/>
                  <a:pt x="0" y="17280"/>
                </a:cubicBezTo>
                <a:lnTo>
                  <a:pt x="0" y="4752"/>
                </a:lnTo>
                <a:cubicBezTo>
                  <a:pt x="0" y="1728"/>
                  <a:pt x="274" y="0"/>
                  <a:pt x="754" y="0"/>
                </a:cubicBezTo>
                <a:close/>
              </a:path>
            </a:pathLst>
          </a:custGeom>
          <a:solidFill>
            <a:srgbClr val="0087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419090" y="3429000"/>
            <a:ext cx="533387" cy="476238"/>
          </a:xfrm>
          <a:prstGeom prst="roundRect">
            <a:avLst>
              <a:gd name="adj" fmla="val 22000"/>
            </a:avLst>
          </a:prstGeom>
          <a:solidFill>
            <a:srgbClr val="0086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4581410" y="3429000"/>
            <a:ext cx="533387" cy="476238"/>
          </a:xfrm>
          <a:prstGeom prst="roundRect">
            <a:avLst>
              <a:gd name="adj" fmla="val 22000"/>
            </a:avLst>
          </a:prstGeom>
          <a:solidFill>
            <a:srgbClr val="0086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8353216" y="3429000"/>
            <a:ext cx="533387" cy="476238"/>
          </a:xfrm>
          <a:prstGeom prst="roundRect">
            <a:avLst>
              <a:gd name="adj" fmla="val 22000"/>
            </a:avLst>
          </a:prstGeom>
          <a:solidFill>
            <a:srgbClr val="0086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571486" y="1495473"/>
            <a:ext cx="11096348" cy="0"/>
          </a:xfrm>
          <a:prstGeom prst="line">
            <a:avLst/>
          </a:prstGeom>
          <a:noFill/>
          <a:ln w="6985">
            <a:solidFill>
              <a:srgbClr val="85DBFB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6972126" y="1705018"/>
            <a:ext cx="2104972" cy="14572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7434077" y="1990761"/>
            <a:ext cx="1114397" cy="10572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10800"/>
                </a:moveTo>
                <a:lnTo>
                  <a:pt x="8555" y="236"/>
                </a:lnTo>
                <a:cubicBezTo>
                  <a:pt x="10334" y="-142"/>
                  <a:pt x="12180" y="-65"/>
                  <a:pt x="13922" y="461"/>
                </a:cubicBezTo>
                <a:close/>
              </a:path>
            </a:pathLst>
          </a:custGeom>
          <a:solidFill>
            <a:srgbClr val="3C3D3D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7434077" y="1990761"/>
            <a:ext cx="1114397" cy="10572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10800"/>
                </a:moveTo>
                <a:lnTo>
                  <a:pt x="13922" y="461"/>
                </a:lnTo>
                <a:cubicBezTo>
                  <a:pt x="15663" y="987"/>
                  <a:pt x="17244" y="1944"/>
                  <a:pt x="18516" y="3244"/>
                </a:cubicBezTo>
                <a:close/>
              </a:path>
            </a:pathLst>
          </a:custGeom>
          <a:solidFill>
            <a:srgbClr val="DC0004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7434077" y="1990761"/>
            <a:ext cx="1114397" cy="10572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10800"/>
                </a:moveTo>
                <a:lnTo>
                  <a:pt x="18516" y="3244"/>
                </a:lnTo>
                <a:cubicBezTo>
                  <a:pt x="22628" y="7442"/>
                  <a:pt x="22628" y="14158"/>
                  <a:pt x="18516" y="18356"/>
                </a:cubicBezTo>
                <a:cubicBezTo>
                  <a:pt x="14405" y="22555"/>
                  <a:pt x="7691" y="22696"/>
                  <a:pt x="3407" y="18673"/>
                </a:cubicBezTo>
                <a:cubicBezTo>
                  <a:pt x="-877" y="14650"/>
                  <a:pt x="-1158" y="7941"/>
                  <a:pt x="2774" y="3573"/>
                </a:cubicBezTo>
                <a:close/>
              </a:path>
            </a:pathLst>
          </a:custGeom>
          <a:solidFill>
            <a:srgbClr val="00458A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7434077" y="1990761"/>
            <a:ext cx="1114397" cy="10572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10800"/>
                </a:moveTo>
                <a:lnTo>
                  <a:pt x="2774" y="3573"/>
                </a:lnTo>
                <a:cubicBezTo>
                  <a:pt x="3838" y="2392"/>
                  <a:pt x="5149" y="1460"/>
                  <a:pt x="6615" y="844"/>
                </a:cubicBezTo>
                <a:close/>
              </a:path>
            </a:pathLst>
          </a:custGeom>
          <a:solidFill>
            <a:srgbClr val="BFBFBF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7434077" y="1990761"/>
            <a:ext cx="1114397" cy="10572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10800"/>
                </a:moveTo>
                <a:lnTo>
                  <a:pt x="6615" y="844"/>
                </a:lnTo>
                <a:cubicBezTo>
                  <a:pt x="7241" y="581"/>
                  <a:pt x="7890" y="377"/>
                  <a:pt x="8555" y="236"/>
                </a:cubicBezTo>
                <a:close/>
              </a:path>
            </a:pathLst>
          </a:custGeom>
          <a:solidFill>
            <a:srgbClr val="668CA4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 flipV="1">
            <a:off x="7753156" y="1895513"/>
            <a:ext cx="28574" cy="95248"/>
          </a:xfrm>
          <a:prstGeom prst="line">
            <a:avLst/>
          </a:prstGeom>
          <a:noFill/>
          <a:ln w="6350">
            <a:solidFill>
              <a:srgbClr val="94989B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>
            <a:off x="7419790" y="2047910"/>
            <a:ext cx="171446" cy="57149"/>
          </a:xfrm>
          <a:prstGeom prst="line">
            <a:avLst/>
          </a:prstGeom>
          <a:noFill/>
          <a:ln w="6350">
            <a:solidFill>
              <a:srgbClr val="94989B"/>
            </a:solidFill>
          </a:ln>
        </p:spPr>
        <p:txBody>
          <a:bodyPr/>
          <a:lstStyle/>
          <a:p/>
        </p:txBody>
      </p:sp>
      <p:sp>
        <p:nvSpPr>
          <p:cNvPr id="31" name="Path 31"/>
          <p:cNvSpPr/>
          <p:nvPr/>
        </p:nvSpPr>
        <p:spPr>
          <a:xfrm>
            <a:off x="8324642" y="1981236"/>
            <a:ext cx="276218" cy="8572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5641" y="0"/>
                </a:lnTo>
                <a:lnTo>
                  <a:pt x="21600" y="0"/>
                </a:lnTo>
              </a:path>
            </a:pathLst>
          </a:custGeom>
          <a:noFill/>
          <a:ln w="6350">
            <a:solidFill>
              <a:srgbClr val="94989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000800" y="3038485"/>
            <a:ext cx="419090" cy="0"/>
          </a:xfrm>
          <a:prstGeom prst="line">
            <a:avLst/>
          </a:prstGeom>
          <a:noFill/>
          <a:ln w="6350">
            <a:solidFill>
              <a:srgbClr val="94989B"/>
            </a:solidFill>
          </a:ln>
        </p:spPr>
        <p:txBody>
          <a:bodyPr/>
          <a:lstStyle/>
          <a:p/>
        </p:txBody>
      </p:sp>
      <p:pic>
        <p:nvPicPr>
          <p:cNvPr id="33" name="Original barn aisle/cows/feed machine photo."/>
          <p:cNvPicPr/>
          <p:nvPr/>
        </p:nvPicPr>
        <p:blipFill>
          <a:blip r:embed="rId5"/>
          <a:stretch>
            <a:fillRect/>
          </a:stretch>
        </p:blipFill>
        <p:spPr>
          <a:xfrm>
            <a:off x="333589" y="1608501"/>
            <a:ext cx="2561716" cy="1640799"/>
          </a:xfrm>
          <a:prstGeom prst="rect">
            <a:avLst/>
          </a:prstGeom>
        </p:spPr>
      </p:pic>
      <p:pic>
        <p:nvPicPr>
          <p:cNvPr id="34" name="Original dairy-barn visitors photo, original people and scene retained."/>
          <p:cNvPicPr/>
          <p:nvPr/>
        </p:nvPicPr>
        <p:blipFill>
          <a:blip r:embed="rId6"/>
          <a:stretch>
            <a:fillRect/>
          </a:stretch>
        </p:blipFill>
        <p:spPr>
          <a:xfrm>
            <a:off x="2780668" y="1608232"/>
            <a:ext cx="2182295" cy="1641337"/>
          </a:xfrm>
          <a:prstGeom prst="rect">
            <a:avLst/>
          </a:prstGeom>
        </p:spPr>
      </p:pic>
      <p:pic>
        <p:nvPicPr>
          <p:cNvPr id="35" name="Original worker feeding cows photograph."/>
          <p:cNvPicPr/>
          <p:nvPr/>
        </p:nvPicPr>
        <p:blipFill>
          <a:blip r:embed="rId7"/>
          <a:stretch>
            <a:fillRect/>
          </a:stretch>
        </p:blipFill>
        <p:spPr>
          <a:xfrm>
            <a:off x="4861882" y="1601913"/>
            <a:ext cx="2134564" cy="1653973"/>
          </a:xfrm>
          <a:prstGeom prst="rect">
            <a:avLst/>
          </a:prstGeom>
        </p:spPr>
      </p:pic>
      <p:pic>
        <p:nvPicPr>
          <p:cNvPr id="36" name="Original cows and Sveaverken feed-robot photo; product wordmark/signage is photographed brand identity."/>
          <p:cNvPicPr/>
          <p:nvPr/>
        </p:nvPicPr>
        <p:blipFill>
          <a:blip r:embed="rId8"/>
          <a:stretch>
            <a:fillRect/>
          </a:stretch>
        </p:blipFill>
        <p:spPr>
          <a:xfrm>
            <a:off x="9060141" y="1601606"/>
            <a:ext cx="2815145" cy="1654587"/>
          </a:xfrm>
          <a:prstGeom prst="rect">
            <a:avLst/>
          </a:prstGeom>
        </p:spPr>
      </p:pic>
      <p:pic>
        <p:nvPicPr>
          <p:cNvPr id="37" name="Original complete cyan decorative ribbon, angular ends and chevrons; ordinary slogan removed by image edit and rebuilt native."/>
          <p:cNvPicPr/>
          <p:nvPr/>
        </p:nvPicPr>
        <p:blipFill>
          <a:blip r:embed="rId17"/>
          <a:stretch>
            <a:fillRect/>
          </a:stretch>
        </p:blipFill>
        <p:spPr>
          <a:xfrm>
            <a:off x="162877" y="5337586"/>
            <a:ext cx="11865941" cy="726140"/>
          </a:xfrm>
          <a:prstGeom prst="rect">
            <a:avLst/>
          </a:prstGeom>
        </p:spPr>
      </p:pic>
      <p:pic>
        <p:nvPicPr>
          <p:cNvPr id="38" name="Original cyan title-left angular accent."/>
          <p:cNvPicPr/>
          <p:nvPr/>
        </p:nvPicPr>
        <p:blipFill>
          <a:blip r:embed="rId18"/>
          <a:stretch>
            <a:fillRect/>
          </a:stretch>
        </p:blipFill>
        <p:spPr>
          <a:xfrm>
            <a:off x="228171" y="1195723"/>
            <a:ext cx="438986" cy="389955"/>
          </a:xfrm>
          <a:prstGeom prst="rect">
            <a:avLst/>
          </a:prstGeom>
        </p:spPr>
      </p:pic>
      <p:pic>
        <p:nvPicPr>
          <p:cNvPr id="39" name="Original cyan title-right angular accent."/>
          <p:cNvPicPr/>
          <p:nvPr/>
        </p:nvPicPr>
        <p:blipFill>
          <a:blip r:embed="rId19"/>
          <a:stretch>
            <a:fillRect/>
          </a:stretch>
        </p:blipFill>
        <p:spPr>
          <a:xfrm>
            <a:off x="11530560" y="1195723"/>
            <a:ext cx="455516" cy="389955"/>
          </a:xfrm>
          <a:prstGeom prst="rect">
            <a:avLst/>
          </a:prstGeom>
        </p:spPr>
      </p:pic>
      <p:pic>
        <p:nvPicPr>
          <p:cNvPr id="40" name="Original pale-blue growth bars/arrow pictogram."/>
          <p:cNvPicPr/>
          <p:nvPr/>
        </p:nvPicPr>
        <p:blipFill>
          <a:blip r:embed="rId12"/>
          <a:stretch>
            <a:fillRect/>
          </a:stretch>
        </p:blipFill>
        <p:spPr>
          <a:xfrm>
            <a:off x="3563435" y="4511563"/>
            <a:ext cx="683434" cy="730402"/>
          </a:xfrm>
          <a:prstGeom prst="rect">
            <a:avLst/>
          </a:prstGeom>
        </p:spPr>
      </p:pic>
      <p:pic>
        <p:nvPicPr>
          <p:cNvPr id="41" name="Original pale-blue gear pictogram."/>
          <p:cNvPicPr/>
          <p:nvPr/>
        </p:nvPicPr>
        <p:blipFill>
          <a:blip r:embed="rId13"/>
          <a:stretch>
            <a:fillRect/>
          </a:stretch>
        </p:blipFill>
        <p:spPr>
          <a:xfrm>
            <a:off x="7166431" y="4575124"/>
            <a:ext cx="716262" cy="717578"/>
          </a:xfrm>
          <a:prstGeom prst="rect">
            <a:avLst/>
          </a:prstGeom>
        </p:spPr>
      </p:pic>
      <p:pic>
        <p:nvPicPr>
          <p:cNvPr id="42" name="Original pale-blue warning triangle/exclamation pictogram."/>
          <p:cNvPicPr/>
          <p:nvPr/>
        </p:nvPicPr>
        <p:blipFill>
          <a:blip r:embed="rId14"/>
          <a:stretch>
            <a:fillRect/>
          </a:stretch>
        </p:blipFill>
        <p:spPr>
          <a:xfrm>
            <a:off x="11080494" y="4531400"/>
            <a:ext cx="755588" cy="728826"/>
          </a:xfrm>
          <a:prstGeom prst="rect">
            <a:avLst/>
          </a:prstGeom>
        </p:spPr>
      </p:pic>
      <p:pic>
        <p:nvPicPr>
          <p:cNvPr id="43" name="Original white cow header pictogram."/>
          <p:cNvPicPr/>
          <p:nvPr/>
        </p:nvPicPr>
        <p:blipFill>
          <a:blip r:embed="rId9"/>
          <a:stretch>
            <a:fillRect/>
          </a:stretch>
        </p:blipFill>
        <p:spPr>
          <a:xfrm>
            <a:off x="438342" y="3512797"/>
            <a:ext cx="523457" cy="337219"/>
          </a:xfrm>
          <a:prstGeom prst="rect">
            <a:avLst/>
          </a:prstGeom>
        </p:spPr>
      </p:pic>
      <p:pic>
        <p:nvPicPr>
          <p:cNvPr id="44" name="Original white growth bars/arrow pictogram; small stroke/proportion variation record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4629034" y="3457574"/>
            <a:ext cx="409565" cy="419090"/>
          </a:xfrm>
          <a:prstGeom prst="rect">
            <a:avLst/>
          </a:prstGeom>
        </p:spPr>
      </p:pic>
      <p:pic>
        <p:nvPicPr>
          <p:cNvPr id="45" name="Original white crosshair-target pictogram."/>
          <p:cNvPicPr/>
          <p:nvPr/>
        </p:nvPicPr>
        <p:blipFill>
          <a:blip r:embed="rId11"/>
          <a:stretch>
            <a:fillRect/>
          </a:stretch>
        </p:blipFill>
        <p:spPr>
          <a:xfrm>
            <a:off x="8405776" y="3457574"/>
            <a:ext cx="475890" cy="447664"/>
          </a:xfrm>
          <a:prstGeom prst="rect">
            <a:avLst/>
          </a:prstGeom>
        </p:spPr>
      </p:pic>
      <p:pic>
        <p:nvPicPr>
          <p:cNvPr id="46" name="CPIPC 中国研究生创新实践系列大赛 original brand identity; wordmark remains raster identity exception."/>
          <p:cNvPicPr/>
          <p:nvPr/>
        </p:nvPicPr>
        <p:blipFill>
          <a:blip r:embed="rId15"/>
          <a:stretch>
            <a:fillRect/>
          </a:stretch>
        </p:blipFill>
        <p:spPr>
          <a:xfrm>
            <a:off x="207320" y="6098855"/>
            <a:ext cx="1052173" cy="688003"/>
          </a:xfrm>
          <a:prstGeom prst="rect">
            <a:avLst/>
          </a:prstGeom>
        </p:spPr>
      </p:pic>
      <p:pic>
        <p:nvPicPr>
          <p:cNvPr id="47" name="Original 中国研究生创新实践系列大赛 / 才聚滨江·智汇未来 event identity. All tiny brand lettering is identity excepti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10185017" y="6116225"/>
            <a:ext cx="1794088" cy="654724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7324542" y="1762167"/>
            <a:ext cx="638159" cy="114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公用事业费</a:t>
            </a:r>
            <a:endParaRPr lang="zh-CN" sz="660"/>
          </a:p>
        </p:txBody>
      </p:sp>
      <p:sp>
        <p:nvSpPr>
          <p:cNvPr id="49" name="TextBox 49"/>
          <p:cNvSpPr txBox="1"/>
          <p:nvPr/>
        </p:nvSpPr>
        <p:spPr>
          <a:xfrm>
            <a:off x="7581710" y="1866939"/>
            <a:ext cx="104772" cy="104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率</a:t>
            </a:r>
            <a:endParaRPr lang="zh-CN" sz="660"/>
          </a:p>
        </p:txBody>
      </p:sp>
      <p:sp>
        <p:nvSpPr>
          <p:cNvPr id="50" name="TextBox 50"/>
          <p:cNvSpPr txBox="1"/>
          <p:nvPr/>
        </p:nvSpPr>
        <p:spPr>
          <a:xfrm>
            <a:off x="7505512" y="1952662"/>
            <a:ext cx="276218" cy="1238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3%</a:t>
            </a:r>
            <a:endParaRPr lang="zh-CN" sz="660"/>
          </a:p>
        </p:txBody>
      </p:sp>
      <p:sp>
        <p:nvSpPr>
          <p:cNvPr id="51" name="TextBox 51"/>
          <p:cNvSpPr txBox="1"/>
          <p:nvPr/>
        </p:nvSpPr>
        <p:spPr>
          <a:xfrm>
            <a:off x="7000700" y="2057434"/>
            <a:ext cx="466713" cy="114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劳工成本</a:t>
            </a:r>
            <a:endParaRPr lang="zh-CN" sz="660"/>
          </a:p>
        </p:txBody>
      </p:sp>
      <p:sp>
        <p:nvSpPr>
          <p:cNvPr id="52" name="TextBox 52"/>
          <p:cNvSpPr txBox="1"/>
          <p:nvPr/>
        </p:nvSpPr>
        <p:spPr>
          <a:xfrm>
            <a:off x="7181670" y="2162207"/>
            <a:ext cx="104772" cy="104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率</a:t>
            </a:r>
            <a:endParaRPr lang="zh-CN" sz="660"/>
          </a:p>
        </p:txBody>
      </p:sp>
      <p:sp>
        <p:nvSpPr>
          <p:cNvPr id="53" name="TextBox 53"/>
          <p:cNvSpPr txBox="1"/>
          <p:nvPr/>
        </p:nvSpPr>
        <p:spPr>
          <a:xfrm>
            <a:off x="7086423" y="2247930"/>
            <a:ext cx="285743" cy="1238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7%</a:t>
            </a:r>
            <a:endParaRPr lang="zh-CN" sz="660"/>
          </a:p>
        </p:txBody>
      </p:sp>
      <p:sp>
        <p:nvSpPr>
          <p:cNvPr id="54" name="TextBox 54"/>
          <p:cNvSpPr txBox="1"/>
          <p:nvPr/>
        </p:nvSpPr>
        <p:spPr>
          <a:xfrm>
            <a:off x="8619909" y="1885989"/>
            <a:ext cx="438139" cy="114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其他易耗</a:t>
            </a:r>
            <a:endParaRPr lang="zh-CN" sz="660"/>
          </a:p>
        </p:txBody>
      </p:sp>
      <p:sp>
        <p:nvSpPr>
          <p:cNvPr id="55" name="TextBox 55"/>
          <p:cNvSpPr txBox="1"/>
          <p:nvPr/>
        </p:nvSpPr>
        <p:spPr>
          <a:xfrm>
            <a:off x="8743731" y="1981236"/>
            <a:ext cx="219070" cy="104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费率</a:t>
            </a:r>
            <a:endParaRPr lang="zh-CN" sz="660"/>
          </a:p>
        </p:txBody>
      </p:sp>
      <p:sp>
        <p:nvSpPr>
          <p:cNvPr id="56" name="TextBox 56"/>
          <p:cNvSpPr txBox="1"/>
          <p:nvPr/>
        </p:nvSpPr>
        <p:spPr>
          <a:xfrm>
            <a:off x="8724682" y="2066959"/>
            <a:ext cx="266693" cy="1238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8%</a:t>
            </a:r>
            <a:endParaRPr lang="zh-CN" sz="660"/>
          </a:p>
        </p:txBody>
      </p:sp>
      <p:sp>
        <p:nvSpPr>
          <p:cNvPr id="57" name="TextBox 57"/>
          <p:cNvSpPr txBox="1"/>
          <p:nvPr/>
        </p:nvSpPr>
        <p:spPr>
          <a:xfrm>
            <a:off x="8181770" y="1809790"/>
            <a:ext cx="276218" cy="114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折旧</a:t>
            </a:r>
            <a:endParaRPr lang="zh-CN" sz="660"/>
          </a:p>
        </p:txBody>
      </p:sp>
      <p:sp>
        <p:nvSpPr>
          <p:cNvPr id="58" name="TextBox 58"/>
          <p:cNvSpPr txBox="1"/>
          <p:nvPr/>
        </p:nvSpPr>
        <p:spPr>
          <a:xfrm>
            <a:off x="8172246" y="1914563"/>
            <a:ext cx="266693" cy="1238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8%</a:t>
            </a:r>
            <a:endParaRPr lang="zh-CN" sz="660"/>
          </a:p>
        </p:txBody>
      </p:sp>
      <p:sp>
        <p:nvSpPr>
          <p:cNvPr id="59" name="TextBox 59"/>
          <p:cNvSpPr txBox="1"/>
          <p:nvPr/>
        </p:nvSpPr>
        <p:spPr>
          <a:xfrm>
            <a:off x="8477038" y="2838465"/>
            <a:ext cx="504812" cy="114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饲料成本</a:t>
            </a:r>
            <a:endParaRPr lang="zh-CN" sz="660"/>
          </a:p>
        </p:txBody>
      </p:sp>
      <p:sp>
        <p:nvSpPr>
          <p:cNvPr id="60" name="TextBox 60"/>
          <p:cNvSpPr txBox="1"/>
          <p:nvPr/>
        </p:nvSpPr>
        <p:spPr>
          <a:xfrm>
            <a:off x="8667533" y="2933712"/>
            <a:ext cx="114297" cy="104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率</a:t>
            </a:r>
            <a:endParaRPr lang="zh-CN" sz="660"/>
          </a:p>
        </p:txBody>
      </p:sp>
      <p:sp>
        <p:nvSpPr>
          <p:cNvPr id="61" name="TextBox 61"/>
          <p:cNvSpPr txBox="1"/>
          <p:nvPr/>
        </p:nvSpPr>
        <p:spPr>
          <a:xfrm>
            <a:off x="8553236" y="3019435"/>
            <a:ext cx="342891" cy="1238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273047"/>
                </a:solidFill>
                <a:latin typeface="Noto Sans CJK SC"/>
                <a:ea typeface="Noto Sans CJK SC"/>
                <a:cs typeface="Noto Sans CJK SC"/>
              </a:rPr>
              <a:t>74%</a:t>
            </a:r>
            <a:endParaRPr lang="zh-CN" sz="660"/>
          </a:p>
        </p:txBody>
      </p:sp>
      <p:sp>
        <p:nvSpPr>
          <p:cNvPr id="62" name="TextBox 62"/>
          <p:cNvSpPr txBox="1"/>
          <p:nvPr/>
        </p:nvSpPr>
        <p:spPr>
          <a:xfrm>
            <a:off x="200020" y="142957"/>
            <a:ext cx="1800180" cy="6191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项目背景</a:t>
            </a:r>
            <a:endParaRPr lang="zh-CN" sz="3300"/>
          </a:p>
        </p:txBody>
      </p:sp>
      <p:sp>
        <p:nvSpPr>
          <p:cNvPr id="63" name="TextBox 63"/>
          <p:cNvSpPr txBox="1"/>
          <p:nvPr/>
        </p:nvSpPr>
        <p:spPr>
          <a:xfrm>
            <a:off x="657209" y="1104958"/>
            <a:ext cx="10963001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5" b="1">
                <a:solidFill>
                  <a:srgbClr val="0043AF"/>
                </a:solidFill>
                <a:latin typeface="Noto Sans CJK SC"/>
                <a:ea typeface="Noto Sans CJK SC"/>
                <a:cs typeface="Noto Sans CJK SC"/>
              </a:rPr>
              <a:t>开展奶牛舒适化养殖与智能推料关键技术研究，实现全过程智能饲喂调控与数智化管理迫在眉睫</a:t>
            </a:r>
            <a:endParaRPr lang="zh-CN" sz="2025"/>
          </a:p>
        </p:txBody>
      </p:sp>
      <p:sp>
        <p:nvSpPr>
          <p:cNvPr id="64" name="TextBox 64"/>
          <p:cNvSpPr txBox="1"/>
          <p:nvPr/>
        </p:nvSpPr>
        <p:spPr>
          <a:xfrm>
            <a:off x="1057249" y="3448050"/>
            <a:ext cx="2924102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宁夏“</a:t>
            </a:r>
            <a:r>
              <a:rPr lang="zh-CN" sz="1500" b="1">
                <a:solidFill>
                  <a:srgbClr val="FFE000"/>
                </a:solidFill>
                <a:latin typeface="Noto Sans CJK SC"/>
                <a:ea typeface="Noto Sans CJK SC"/>
                <a:cs typeface="Noto Sans CJK SC"/>
              </a:rPr>
              <a:t>六特</a:t>
            </a:r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”产业的重要组成部分</a:t>
            </a:r>
            <a:endParaRPr lang="zh-CN" sz="1500"/>
          </a:p>
        </p:txBody>
      </p:sp>
      <p:sp>
        <p:nvSpPr>
          <p:cNvPr id="65" name="TextBox 65"/>
          <p:cNvSpPr txBox="1"/>
          <p:nvPr/>
        </p:nvSpPr>
        <p:spPr>
          <a:xfrm>
            <a:off x="5190995" y="3448050"/>
            <a:ext cx="2028774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行业转型需求</a:t>
            </a:r>
            <a:endParaRPr lang="zh-CN" sz="1875"/>
          </a:p>
        </p:txBody>
      </p:sp>
      <p:sp>
        <p:nvSpPr>
          <p:cNvPr id="66" name="TextBox 66"/>
          <p:cNvSpPr txBox="1"/>
          <p:nvPr/>
        </p:nvSpPr>
        <p:spPr>
          <a:xfrm>
            <a:off x="9086623" y="3448050"/>
            <a:ext cx="2028774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行业痛点</a:t>
            </a:r>
            <a:endParaRPr lang="zh-CN" sz="1875"/>
          </a:p>
        </p:txBody>
      </p:sp>
      <p:sp>
        <p:nvSpPr>
          <p:cNvPr id="67" name="TextBox 67"/>
          <p:cNvSpPr txBox="1"/>
          <p:nvPr/>
        </p:nvSpPr>
        <p:spPr>
          <a:xfrm>
            <a:off x="571486" y="4000486"/>
            <a:ext cx="334319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奶牛养殖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是宁夏农业高质量发展的</a:t>
            </a:r>
            <a:endParaRPr lang="zh-CN" sz="1600"/>
          </a:p>
        </p:txBody>
      </p:sp>
      <p:sp>
        <p:nvSpPr>
          <p:cNvPr id="68" name="TextBox 68"/>
          <p:cNvSpPr txBox="1"/>
          <p:nvPr/>
        </p:nvSpPr>
        <p:spPr>
          <a:xfrm>
            <a:off x="571486" y="4286229"/>
            <a:ext cx="285457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重要支柱产业之一，总存栏量超</a:t>
            </a:r>
            <a:endParaRPr lang="zh-CN" sz="1600"/>
          </a:p>
        </p:txBody>
      </p:sp>
      <p:sp>
        <p:nvSpPr>
          <p:cNvPr id="69" name="TextBox 69"/>
          <p:cNvSpPr txBox="1"/>
          <p:nvPr/>
        </p:nvSpPr>
        <p:spPr>
          <a:xfrm>
            <a:off x="3416532" y="4286229"/>
            <a:ext cx="24764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Arial"/>
                <a:ea typeface="Arial"/>
                <a:cs typeface="Arial"/>
              </a:rPr>
              <a:t>50</a:t>
            </a:r>
            <a:endParaRPr lang="zh-CN" sz="1600"/>
          </a:p>
        </p:txBody>
      </p:sp>
      <p:sp>
        <p:nvSpPr>
          <p:cNvPr id="70" name="TextBox 70"/>
          <p:cNvSpPr txBox="1"/>
          <p:nvPr/>
        </p:nvSpPr>
        <p:spPr>
          <a:xfrm>
            <a:off x="571486" y="4571971"/>
            <a:ext cx="1431572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万头，年产鲜奶</a:t>
            </a:r>
            <a:endParaRPr lang="zh-CN" sz="1600"/>
          </a:p>
        </p:txBody>
      </p:sp>
      <p:sp>
        <p:nvSpPr>
          <p:cNvPr id="71" name="TextBox 71"/>
          <p:cNvSpPr txBox="1"/>
          <p:nvPr/>
        </p:nvSpPr>
        <p:spPr>
          <a:xfrm>
            <a:off x="1993533" y="4571971"/>
            <a:ext cx="35622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Arial"/>
                <a:ea typeface="Arial"/>
                <a:cs typeface="Arial"/>
              </a:rPr>
              <a:t>200</a:t>
            </a:r>
            <a:endParaRPr lang="zh-CN" sz="1600"/>
          </a:p>
        </p:txBody>
      </p:sp>
      <p:sp>
        <p:nvSpPr>
          <p:cNvPr id="72" name="TextBox 72"/>
          <p:cNvSpPr txBox="1"/>
          <p:nvPr/>
        </p:nvSpPr>
        <p:spPr>
          <a:xfrm>
            <a:off x="2340234" y="4571971"/>
            <a:ext cx="1431572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万吨，综合产值</a:t>
            </a:r>
            <a:endParaRPr lang="zh-CN" sz="1600"/>
          </a:p>
        </p:txBody>
      </p:sp>
      <p:sp>
        <p:nvSpPr>
          <p:cNvPr id="73" name="TextBox 73"/>
          <p:cNvSpPr txBox="1"/>
          <p:nvPr/>
        </p:nvSpPr>
        <p:spPr>
          <a:xfrm>
            <a:off x="571486" y="4857714"/>
            <a:ext cx="212402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超</a:t>
            </a:r>
            <a:endParaRPr lang="zh-CN" sz="1600"/>
          </a:p>
        </p:txBody>
      </p:sp>
      <p:sp>
        <p:nvSpPr>
          <p:cNvPr id="74" name="TextBox 74"/>
          <p:cNvSpPr txBox="1"/>
          <p:nvPr/>
        </p:nvSpPr>
        <p:spPr>
          <a:xfrm>
            <a:off x="774363" y="4857714"/>
            <a:ext cx="35622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Arial"/>
                <a:ea typeface="Arial"/>
                <a:cs typeface="Arial"/>
              </a:rPr>
              <a:t>300</a:t>
            </a:r>
            <a:endParaRPr lang="zh-CN" sz="1600"/>
          </a:p>
        </p:txBody>
      </p:sp>
      <p:sp>
        <p:nvSpPr>
          <p:cNvPr id="75" name="TextBox 75"/>
          <p:cNvSpPr txBox="1"/>
          <p:nvPr/>
        </p:nvSpPr>
        <p:spPr>
          <a:xfrm>
            <a:off x="1121064" y="4857714"/>
            <a:ext cx="619110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亿元。</a:t>
            </a:r>
            <a:endParaRPr lang="zh-CN" sz="1600"/>
          </a:p>
        </p:txBody>
      </p:sp>
      <p:sp>
        <p:nvSpPr>
          <p:cNvPr id="76" name="TextBox 76"/>
          <p:cNvSpPr txBox="1"/>
          <p:nvPr/>
        </p:nvSpPr>
        <p:spPr>
          <a:xfrm>
            <a:off x="4733807" y="4019535"/>
            <a:ext cx="304792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当前，奶牛养殖正加快</a:t>
            </a:r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规模化、</a:t>
            </a:r>
            <a:endParaRPr lang="zh-CN" sz="1600"/>
          </a:p>
        </p:txBody>
      </p:sp>
      <p:sp>
        <p:nvSpPr>
          <p:cNvPr id="77" name="TextBox 77"/>
          <p:cNvSpPr txBox="1"/>
          <p:nvPr/>
        </p:nvSpPr>
        <p:spPr>
          <a:xfrm>
            <a:off x="4733807" y="4305278"/>
            <a:ext cx="304792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标准化、智能化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转型，智能饲喂</a:t>
            </a:r>
            <a:endParaRPr lang="zh-CN" sz="1600"/>
          </a:p>
        </p:txBody>
      </p:sp>
      <p:sp>
        <p:nvSpPr>
          <p:cNvPr id="78" name="TextBox 78"/>
          <p:cNvSpPr txBox="1"/>
          <p:nvPr/>
        </p:nvSpPr>
        <p:spPr>
          <a:xfrm>
            <a:off x="4733807" y="4591021"/>
            <a:ext cx="1025817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装备普及率</a:t>
            </a:r>
            <a:endParaRPr lang="zh-CN" sz="1600"/>
          </a:p>
        </p:txBody>
      </p:sp>
      <p:sp>
        <p:nvSpPr>
          <p:cNvPr id="79" name="TextBox 79"/>
          <p:cNvSpPr txBox="1"/>
          <p:nvPr/>
        </p:nvSpPr>
        <p:spPr>
          <a:xfrm>
            <a:off x="5750099" y="4591021"/>
            <a:ext cx="416232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不足</a:t>
            </a:r>
            <a:endParaRPr lang="zh-CN" sz="1600"/>
          </a:p>
        </p:txBody>
      </p:sp>
      <p:sp>
        <p:nvSpPr>
          <p:cNvPr id="80" name="TextBox 80"/>
          <p:cNvSpPr txBox="1"/>
          <p:nvPr/>
        </p:nvSpPr>
        <p:spPr>
          <a:xfrm>
            <a:off x="6156806" y="4591021"/>
            <a:ext cx="419090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30%</a:t>
            </a:r>
            <a:endParaRPr lang="zh-CN" sz="1600"/>
          </a:p>
        </p:txBody>
      </p:sp>
      <p:sp>
        <p:nvSpPr>
          <p:cNvPr id="81" name="TextBox 81"/>
          <p:cNvSpPr txBox="1"/>
          <p:nvPr/>
        </p:nvSpPr>
        <p:spPr>
          <a:xfrm>
            <a:off x="6566371" y="4591021"/>
            <a:ext cx="212402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。</a:t>
            </a:r>
            <a:endParaRPr lang="zh-CN" sz="1600"/>
          </a:p>
        </p:txBody>
      </p:sp>
      <p:sp>
        <p:nvSpPr>
          <p:cNvPr id="82" name="TextBox 82"/>
          <p:cNvSpPr txBox="1"/>
          <p:nvPr/>
        </p:nvSpPr>
        <p:spPr>
          <a:xfrm>
            <a:off x="8477038" y="4029060"/>
            <a:ext cx="3209845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成本高、人工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推料作业繁忙，</a:t>
            </a:r>
            <a:endParaRPr lang="zh-CN" sz="1600"/>
          </a:p>
        </p:txBody>
      </p:sp>
      <p:sp>
        <p:nvSpPr>
          <p:cNvPr id="83" name="TextBox 83"/>
          <p:cNvSpPr txBox="1"/>
          <p:nvPr/>
        </p:nvSpPr>
        <p:spPr>
          <a:xfrm>
            <a:off x="8477038" y="4314803"/>
            <a:ext cx="3209845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饲料浪费严重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、环境动态变化</a:t>
            </a:r>
            <a:endParaRPr lang="zh-CN" sz="1600"/>
          </a:p>
        </p:txBody>
      </p:sp>
      <p:sp>
        <p:nvSpPr>
          <p:cNvPr id="84" name="TextBox 84"/>
          <p:cNvSpPr txBox="1"/>
          <p:nvPr/>
        </p:nvSpPr>
        <p:spPr>
          <a:xfrm>
            <a:off x="8477038" y="4600546"/>
            <a:ext cx="3209845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感知不足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、路径规划</a:t>
            </a:r>
            <a:r>
              <a:rPr lang="zh-CN" sz="16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响应滞后</a:t>
            </a:r>
            <a:r>
              <a:rPr lang="zh-CN" sz="1600">
                <a:solidFill>
                  <a:srgbClr val="101D42"/>
                </a:solidFill>
                <a:latin typeface="Noto Sans CJK SC"/>
                <a:ea typeface="Noto Sans CJK SC"/>
                <a:cs typeface="Noto Sans CJK SC"/>
              </a:rPr>
              <a:t>。</a:t>
            </a:r>
            <a:endParaRPr lang="zh-CN" sz="1600"/>
          </a:p>
        </p:txBody>
      </p:sp>
      <p:sp>
        <p:nvSpPr>
          <p:cNvPr id="85" name="TextBox 85"/>
          <p:cNvSpPr txBox="1"/>
          <p:nvPr/>
        </p:nvSpPr>
        <p:spPr>
          <a:xfrm>
            <a:off x="1266793" y="5505398"/>
            <a:ext cx="9753356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9" b="1">
                <a:solidFill>
                  <a:srgbClr val="003FAD"/>
                </a:solidFill>
                <a:latin typeface="Noto Sans CJK SC"/>
                <a:ea typeface="Noto Sans CJK SC"/>
                <a:cs typeface="Noto Sans CJK SC"/>
              </a:rPr>
              <a:t>推动构建 </a:t>
            </a:r>
            <a:r>
              <a:rPr lang="zh-CN" sz="1739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“奶牛采食行为—精准推料—智能协同”</a:t>
            </a:r>
            <a:r>
              <a:rPr lang="zh-CN" sz="1739" b="1">
                <a:solidFill>
                  <a:srgbClr val="003FAD"/>
                </a:solidFill>
                <a:latin typeface="Noto Sans CJK SC"/>
                <a:ea typeface="Noto Sans CJK SC"/>
                <a:cs typeface="Noto Sans CJK SC"/>
              </a:rPr>
              <a:t> 数智化体系，是提升现代牧场生产效率的核心方向</a:t>
            </a:r>
            <a:endParaRPr lang="zh-CN" sz="173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 original gradient/city/photo/landscape/engineering background with all rebuilt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4610" y="0"/>
            <a:ext cx="12182475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242735" y="3114675"/>
            <a:ext cx="2400300" cy="1419225"/>
          </a:xfrm>
          <a:prstGeom prst="roundRect">
            <a:avLst>
              <a:gd name="adj" fmla="val 3356"/>
            </a:avLst>
          </a:prstGeom>
          <a:solidFill>
            <a:srgbClr val="ED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2681135" y="2943225"/>
            <a:ext cx="2343150" cy="1590675"/>
          </a:xfrm>
          <a:prstGeom prst="roundRect">
            <a:avLst>
              <a:gd name="adj" fmla="val 2994"/>
            </a:avLst>
          </a:prstGeom>
          <a:solidFill>
            <a:srgbClr val="ED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014760" y="3162300"/>
            <a:ext cx="2219325" cy="1514475"/>
          </a:xfrm>
          <a:prstGeom prst="roundRect">
            <a:avLst>
              <a:gd name="adj" fmla="val 3145"/>
            </a:avLst>
          </a:prstGeom>
          <a:solidFill>
            <a:srgbClr val="ED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272185" y="3171825"/>
            <a:ext cx="2228850" cy="1428750"/>
          </a:xfrm>
          <a:prstGeom prst="roundRect">
            <a:avLst>
              <a:gd name="adj" fmla="val 3333"/>
            </a:avLst>
          </a:prstGeom>
          <a:solidFill>
            <a:srgbClr val="ED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9491510" y="2990850"/>
            <a:ext cx="2466975" cy="1485900"/>
          </a:xfrm>
          <a:prstGeom prst="roundRect">
            <a:avLst>
              <a:gd name="adj" fmla="val 3205"/>
            </a:avLst>
          </a:prstGeom>
          <a:solidFill>
            <a:srgbClr val="ED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61785" y="3133725"/>
            <a:ext cx="2362200" cy="1381125"/>
          </a:xfrm>
          <a:prstGeom prst="roundRect">
            <a:avLst>
              <a:gd name="adj" fmla="val 3448"/>
            </a:avLst>
          </a:prstGeom>
          <a:solidFill>
            <a:srgbClr val="F9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700185" y="2962275"/>
            <a:ext cx="2305050" cy="1552575"/>
          </a:xfrm>
          <a:prstGeom prst="roundRect">
            <a:avLst>
              <a:gd name="adj" fmla="val 3067"/>
            </a:avLst>
          </a:prstGeom>
          <a:solidFill>
            <a:srgbClr val="F9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5033810" y="3181350"/>
            <a:ext cx="2181225" cy="1476375"/>
          </a:xfrm>
          <a:prstGeom prst="roundRect">
            <a:avLst>
              <a:gd name="adj" fmla="val 3226"/>
            </a:avLst>
          </a:prstGeom>
          <a:solidFill>
            <a:srgbClr val="F9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291235" y="3190875"/>
            <a:ext cx="2190750" cy="1390650"/>
          </a:xfrm>
          <a:prstGeom prst="roundRect">
            <a:avLst>
              <a:gd name="adj" fmla="val 3425"/>
            </a:avLst>
          </a:prstGeom>
          <a:solidFill>
            <a:srgbClr val="F9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9510560" y="3009900"/>
            <a:ext cx="2428875" cy="1447800"/>
          </a:xfrm>
          <a:prstGeom prst="roundRect">
            <a:avLst>
              <a:gd name="adj" fmla="val 3289"/>
            </a:avLst>
          </a:prstGeom>
          <a:solidFill>
            <a:srgbClr val="F9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081060" y="5314950"/>
            <a:ext cx="8039100" cy="704850"/>
          </a:xfrm>
          <a:prstGeom prst="rect">
            <a:avLst/>
          </a:prstGeom>
          <a:solidFill>
            <a:srgbClr val="D9F2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th 14"/>
          <p:cNvSpPr/>
          <p:nvPr/>
        </p:nvSpPr>
        <p:spPr>
          <a:xfrm>
            <a:off x="4610" y="4552950"/>
            <a:ext cx="12182475" cy="7334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319"/>
                </a:moveTo>
                <a:cubicBezTo>
                  <a:pt x="2533" y="9257"/>
                  <a:pt x="5573" y="0"/>
                  <a:pt x="9322" y="11782"/>
                </a:cubicBezTo>
                <a:cubicBezTo>
                  <a:pt x="11822" y="20758"/>
                  <a:pt x="13933" y="281"/>
                  <a:pt x="17310" y="8416"/>
                </a:cubicBezTo>
                <a:cubicBezTo>
                  <a:pt x="18830" y="10940"/>
                  <a:pt x="20097" y="17673"/>
                  <a:pt x="21600" y="21600"/>
                </a:cubicBezTo>
              </a:path>
            </a:pathLst>
          </a:custGeom>
          <a:noFill/>
          <a:ln w="20320">
            <a:solidFill>
              <a:srgbClr val="63B8D7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280835" y="4943475"/>
            <a:ext cx="381000" cy="381000"/>
          </a:xfrm>
          <a:prstGeom prst="ellipse">
            <a:avLst/>
          </a:prstGeom>
          <a:solidFill>
            <a:srgbClr val="D5E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2728760" y="4610100"/>
            <a:ext cx="381000" cy="381000"/>
          </a:xfrm>
          <a:prstGeom prst="ellipse">
            <a:avLst/>
          </a:prstGeom>
          <a:solidFill>
            <a:srgbClr val="D5E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5081435" y="4762500"/>
            <a:ext cx="381000" cy="381000"/>
          </a:xfrm>
          <a:prstGeom prst="ellipse">
            <a:avLst/>
          </a:prstGeom>
          <a:solidFill>
            <a:srgbClr val="D5E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7462685" y="4686300"/>
            <a:ext cx="381000" cy="381000"/>
          </a:xfrm>
          <a:prstGeom prst="ellipse">
            <a:avLst/>
          </a:prstGeom>
          <a:solidFill>
            <a:srgbClr val="D5E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9586760" y="4648200"/>
            <a:ext cx="381000" cy="381000"/>
          </a:xfrm>
          <a:prstGeom prst="ellipse">
            <a:avLst/>
          </a:prstGeom>
          <a:solidFill>
            <a:srgbClr val="D5EF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33185" y="5219700"/>
            <a:ext cx="66675" cy="66675"/>
          </a:xfrm>
          <a:prstGeom prst="ellipse">
            <a:avLst/>
          </a:prstGeom>
          <a:solidFill>
            <a:srgbClr val="F2FCFF"/>
          </a:solidFill>
          <a:ln w="6985">
            <a:solidFill>
              <a:srgbClr val="9FD8E6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299885" y="4962525"/>
            <a:ext cx="342900" cy="342900"/>
          </a:xfrm>
          <a:prstGeom prst="ellipse">
            <a:avLst/>
          </a:prstGeom>
          <a:solidFill>
            <a:srgbClr val="73CBDD"/>
          </a:solidFill>
          <a:ln w="8890">
            <a:solidFill>
              <a:srgbClr val="B5E5EC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2747810" y="4629150"/>
            <a:ext cx="342900" cy="342900"/>
          </a:xfrm>
          <a:prstGeom prst="ellipse">
            <a:avLst/>
          </a:prstGeom>
          <a:solidFill>
            <a:srgbClr val="73CBDD"/>
          </a:solidFill>
          <a:ln w="8890">
            <a:solidFill>
              <a:srgbClr val="B5E5EC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5100485" y="4781550"/>
            <a:ext cx="342900" cy="342900"/>
          </a:xfrm>
          <a:prstGeom prst="ellipse">
            <a:avLst/>
          </a:prstGeom>
          <a:solidFill>
            <a:srgbClr val="73CBDD"/>
          </a:solidFill>
          <a:ln w="8890">
            <a:solidFill>
              <a:srgbClr val="B5E5EC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7481735" y="4705350"/>
            <a:ext cx="342900" cy="342900"/>
          </a:xfrm>
          <a:prstGeom prst="ellipse">
            <a:avLst/>
          </a:prstGeom>
          <a:solidFill>
            <a:srgbClr val="73CBDD"/>
          </a:solidFill>
          <a:ln w="8890">
            <a:solidFill>
              <a:srgbClr val="B5E5EC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9605810" y="4667250"/>
            <a:ext cx="342900" cy="342900"/>
          </a:xfrm>
          <a:prstGeom prst="ellipse">
            <a:avLst/>
          </a:prstGeom>
          <a:solidFill>
            <a:srgbClr val="73CBDD"/>
          </a:solidFill>
          <a:ln w="8890">
            <a:solidFill>
              <a:srgbClr val="B5E5EC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585635" y="3771900"/>
            <a:ext cx="1924050" cy="0"/>
          </a:xfrm>
          <a:prstGeom prst="line">
            <a:avLst/>
          </a:prstGeom>
          <a:noFill/>
          <a:ln w="31750">
            <a:solidFill>
              <a:srgbClr val="E0F0F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585635" y="3771900"/>
            <a:ext cx="561975" cy="0"/>
          </a:xfrm>
          <a:prstGeom prst="line">
            <a:avLst/>
          </a:prstGeom>
          <a:noFill/>
          <a:ln w="31750">
            <a:solidFill>
              <a:srgbClr val="245EAD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3033560" y="3638550"/>
            <a:ext cx="1838325" cy="0"/>
          </a:xfrm>
          <a:prstGeom prst="line">
            <a:avLst/>
          </a:prstGeom>
          <a:noFill/>
          <a:ln w="31750">
            <a:solidFill>
              <a:srgbClr val="E0F0F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3033560" y="3638550"/>
            <a:ext cx="962025" cy="0"/>
          </a:xfrm>
          <a:prstGeom prst="line">
            <a:avLst/>
          </a:prstGeom>
          <a:noFill/>
          <a:ln w="31750">
            <a:solidFill>
              <a:srgbClr val="24B6CC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5386235" y="3848100"/>
            <a:ext cx="1676400" cy="0"/>
          </a:xfrm>
          <a:prstGeom prst="line">
            <a:avLst/>
          </a:prstGeom>
          <a:noFill/>
          <a:ln w="31750">
            <a:solidFill>
              <a:srgbClr val="E0F0F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5386235" y="3848100"/>
            <a:ext cx="876300" cy="0"/>
          </a:xfrm>
          <a:prstGeom prst="line">
            <a:avLst/>
          </a:prstGeom>
          <a:noFill/>
          <a:ln w="31750">
            <a:solidFill>
              <a:srgbClr val="1A63AF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7757960" y="3867150"/>
            <a:ext cx="1581150" cy="0"/>
          </a:xfrm>
          <a:prstGeom prst="line">
            <a:avLst/>
          </a:prstGeom>
          <a:noFill/>
          <a:ln w="31750">
            <a:solidFill>
              <a:srgbClr val="E0F0F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7757960" y="3867150"/>
            <a:ext cx="790575" cy="0"/>
          </a:xfrm>
          <a:prstGeom prst="line">
            <a:avLst/>
          </a:prstGeom>
          <a:noFill/>
          <a:ln w="31750">
            <a:solidFill>
              <a:srgbClr val="1AADC2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9891560" y="3724275"/>
            <a:ext cx="1847850" cy="0"/>
          </a:xfrm>
          <a:prstGeom prst="line">
            <a:avLst/>
          </a:prstGeom>
          <a:noFill/>
          <a:ln w="31750">
            <a:solidFill>
              <a:srgbClr val="E0F0F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9891560" y="3724275"/>
            <a:ext cx="971550" cy="0"/>
          </a:xfrm>
          <a:prstGeom prst="line">
            <a:avLst/>
          </a:prstGeom>
          <a:noFill/>
          <a:ln w="31750">
            <a:solidFill>
              <a:srgbClr val="1458AC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471335" y="3762375"/>
            <a:ext cx="0" cy="1371600"/>
          </a:xfrm>
          <a:prstGeom prst="line">
            <a:avLst/>
          </a:prstGeom>
          <a:noFill/>
          <a:ln w="8255">
            <a:solidFill>
              <a:srgbClr val="245EAD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919260" y="3629025"/>
            <a:ext cx="0" cy="1171575"/>
          </a:xfrm>
          <a:prstGeom prst="line">
            <a:avLst/>
          </a:prstGeom>
          <a:noFill/>
          <a:ln w="8255">
            <a:solidFill>
              <a:srgbClr val="24B6CC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271935" y="3838575"/>
            <a:ext cx="0" cy="1114425"/>
          </a:xfrm>
          <a:prstGeom prst="line">
            <a:avLst/>
          </a:prstGeom>
          <a:noFill/>
          <a:ln w="8255">
            <a:solidFill>
              <a:srgbClr val="1A63AF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653185" y="3857625"/>
            <a:ext cx="0" cy="1019175"/>
          </a:xfrm>
          <a:prstGeom prst="line">
            <a:avLst/>
          </a:prstGeom>
          <a:noFill/>
          <a:ln w="8255">
            <a:solidFill>
              <a:srgbClr val="1AADC2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9777260" y="3714750"/>
            <a:ext cx="0" cy="1123950"/>
          </a:xfrm>
          <a:prstGeom prst="line">
            <a:avLst/>
          </a:prstGeom>
          <a:noFill/>
          <a:ln w="8255">
            <a:solidFill>
              <a:srgbClr val="1458AC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452285" y="3743325"/>
            <a:ext cx="38100" cy="38100"/>
          </a:xfrm>
          <a:prstGeom prst="ellipse">
            <a:avLst/>
          </a:prstGeom>
          <a:solidFill>
            <a:srgbClr val="245EA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2900210" y="3609975"/>
            <a:ext cx="38100" cy="38100"/>
          </a:xfrm>
          <a:prstGeom prst="ellipse">
            <a:avLst/>
          </a:prstGeom>
          <a:solidFill>
            <a:srgbClr val="24B6C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5252885" y="3819525"/>
            <a:ext cx="38100" cy="38100"/>
          </a:xfrm>
          <a:prstGeom prst="ellipse">
            <a:avLst/>
          </a:prstGeom>
          <a:solidFill>
            <a:srgbClr val="1A6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7634135" y="3838575"/>
            <a:ext cx="38100" cy="38100"/>
          </a:xfrm>
          <a:prstGeom prst="ellipse">
            <a:avLst/>
          </a:prstGeom>
          <a:solidFill>
            <a:srgbClr val="1AAD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9758210" y="3695700"/>
            <a:ext cx="38100" cy="38100"/>
          </a:xfrm>
          <a:prstGeom prst="ellipse">
            <a:avLst/>
          </a:prstGeom>
          <a:solidFill>
            <a:srgbClr val="1458A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321793" y="4984432"/>
            <a:ext cx="299085" cy="299085"/>
          </a:xfrm>
          <a:prstGeom prst="ellipse">
            <a:avLst/>
          </a:prstGeom>
          <a:solidFill>
            <a:srgbClr val="245EAD"/>
          </a:solidFill>
          <a:ln w="8255">
            <a:solidFill>
              <a:srgbClr val="F5FEFF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2769718" y="4651058"/>
            <a:ext cx="299085" cy="299085"/>
          </a:xfrm>
          <a:prstGeom prst="ellipse">
            <a:avLst/>
          </a:prstGeom>
          <a:solidFill>
            <a:srgbClr val="24B6CC"/>
          </a:solidFill>
          <a:ln w="8255">
            <a:solidFill>
              <a:srgbClr val="F5FEFF"/>
            </a:solidFill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5122393" y="4803458"/>
            <a:ext cx="299085" cy="299085"/>
          </a:xfrm>
          <a:prstGeom prst="ellipse">
            <a:avLst/>
          </a:prstGeom>
          <a:solidFill>
            <a:srgbClr val="1A63AF"/>
          </a:solidFill>
          <a:ln w="8255">
            <a:solidFill>
              <a:srgbClr val="F5FEFF"/>
            </a:solidFill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7503643" y="4727258"/>
            <a:ext cx="299085" cy="299085"/>
          </a:xfrm>
          <a:prstGeom prst="ellipse">
            <a:avLst/>
          </a:prstGeom>
          <a:solidFill>
            <a:srgbClr val="1AADC2"/>
          </a:solidFill>
          <a:ln w="8255">
            <a:solidFill>
              <a:srgbClr val="F5FEFF"/>
            </a:solidFill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9627718" y="4689158"/>
            <a:ext cx="299085" cy="299085"/>
          </a:xfrm>
          <a:prstGeom prst="ellipse">
            <a:avLst/>
          </a:prstGeom>
          <a:solidFill>
            <a:srgbClr val="1458AC"/>
          </a:solidFill>
          <a:ln w="8255">
            <a:solidFill>
              <a:srgbClr val="F5FEFF"/>
            </a:solidFill>
          </a:ln>
        </p:spPr>
        <p:txBody>
          <a:bodyPr/>
          <a:lstStyle/>
          <a:p/>
        </p:txBody>
      </p:sp>
      <p:pic>
        <p:nvPicPr>
          <p:cNvPr id="51" name="Source blue clipboard icon with circular gradient base."/>
          <p:cNvPicPr/>
          <p:nvPr/>
        </p:nvPicPr>
        <p:blipFill>
          <a:blip r:embed="rId3"/>
          <a:stretch>
            <a:fillRect/>
          </a:stretch>
        </p:blipFill>
        <p:spPr>
          <a:xfrm>
            <a:off x="315513" y="3185658"/>
            <a:ext cx="540243" cy="543834"/>
          </a:xfrm>
          <a:prstGeom prst="rect">
            <a:avLst/>
          </a:prstGeom>
        </p:spPr>
      </p:pic>
      <p:pic>
        <p:nvPicPr>
          <p:cNvPr id="52" name="Source cyan increasing-bar icon with circular gradient base."/>
          <p:cNvPicPr/>
          <p:nvPr/>
        </p:nvPicPr>
        <p:blipFill>
          <a:blip r:embed="rId4"/>
          <a:stretch>
            <a:fillRect/>
          </a:stretch>
        </p:blipFill>
        <p:spPr>
          <a:xfrm>
            <a:off x="2730458" y="3011910"/>
            <a:ext cx="577630" cy="567479"/>
          </a:xfrm>
          <a:prstGeom prst="rect">
            <a:avLst/>
          </a:prstGeom>
        </p:spPr>
      </p:pic>
      <p:pic>
        <p:nvPicPr>
          <p:cNvPr id="53" name="Source blue three-node icon with circular gradient base."/>
          <p:cNvPicPr/>
          <p:nvPr/>
        </p:nvPicPr>
        <p:blipFill>
          <a:blip r:embed="rId5"/>
          <a:stretch>
            <a:fillRect/>
          </a:stretch>
        </p:blipFill>
        <p:spPr>
          <a:xfrm>
            <a:off x="5086681" y="3233283"/>
            <a:ext cx="551484" cy="543834"/>
          </a:xfrm>
          <a:prstGeom prst="rect">
            <a:avLst/>
          </a:prstGeom>
        </p:spPr>
      </p:pic>
      <p:pic>
        <p:nvPicPr>
          <p:cNvPr id="54" name="Source teal gear icon with circular gradient base."/>
          <p:cNvPicPr/>
          <p:nvPr/>
        </p:nvPicPr>
        <p:blipFill>
          <a:blip r:embed="rId6"/>
          <a:stretch>
            <a:fillRect/>
          </a:stretch>
        </p:blipFill>
        <p:spPr>
          <a:xfrm>
            <a:off x="7335077" y="3243849"/>
            <a:ext cx="550490" cy="541752"/>
          </a:xfrm>
          <a:prstGeom prst="rect">
            <a:avLst/>
          </a:prstGeom>
        </p:spPr>
      </p:pic>
      <p:pic>
        <p:nvPicPr>
          <p:cNvPr id="55" name="Source blue cow silhouette with circular gradient base."/>
          <p:cNvPicPr/>
          <p:nvPr/>
        </p:nvPicPr>
        <p:blipFill>
          <a:blip r:embed="rId7"/>
          <a:stretch>
            <a:fillRect/>
          </a:stretch>
        </p:blipFill>
        <p:spPr>
          <a:xfrm>
            <a:off x="9554647" y="3082070"/>
            <a:ext cx="550001" cy="550985"/>
          </a:xfrm>
          <a:prstGeom prst="rect">
            <a:avLst/>
          </a:prstGeom>
        </p:spPr>
      </p:pic>
      <p:pic>
        <p:nvPicPr>
          <p:cNvPr id="56" name="Source CPIIPC logo and Chinese brand wordmarks preserved as identity-text excep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233397" y="6050958"/>
            <a:ext cx="980701" cy="690159"/>
          </a:xfrm>
          <a:prstGeom prst="rect">
            <a:avLst/>
          </a:prstGeom>
        </p:spPr>
      </p:pic>
      <p:pic>
        <p:nvPicPr>
          <p:cNvPr id="57" name="Source 才聚滨江 智汇未来 event wordmark with small identity text preserved as logo excep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10106190" y="6071579"/>
            <a:ext cx="1742440" cy="687017"/>
          </a:xfrm>
          <a:prstGeom prst="rect">
            <a:avLst/>
          </a:prstGeom>
        </p:spPr>
      </p:pic>
      <p:pic>
        <p:nvPicPr>
          <p:cNvPr id="58" name="Source pale cyan left double-chevron ribbon end; ordinary slogan text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1642354" y="5203678"/>
            <a:ext cx="591662" cy="936919"/>
          </a:xfrm>
          <a:prstGeom prst="rect">
            <a:avLst/>
          </a:prstGeom>
        </p:spPr>
      </p:pic>
      <p:pic>
        <p:nvPicPr>
          <p:cNvPr id="59" name="Source pale cyan right double-chevron ribbon end; ordinary slogan text remo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9939185" y="5204263"/>
            <a:ext cx="600075" cy="935749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176060" y="95250"/>
            <a:ext cx="1790700" cy="619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背景介绍</a:t>
            </a:r>
            <a:endParaRPr lang="zh-CN" sz="3150"/>
          </a:p>
        </p:txBody>
      </p:sp>
      <p:sp>
        <p:nvSpPr>
          <p:cNvPr id="61" name="TextBox 61"/>
          <p:cNvSpPr txBox="1"/>
          <p:nvPr/>
        </p:nvSpPr>
        <p:spPr>
          <a:xfrm>
            <a:off x="3662210" y="1323975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>
                <a:solidFill>
                  <a:srgbClr val="F4D918"/>
                </a:solidFill>
                <a:latin typeface="SimSun"/>
                <a:ea typeface="SimSun"/>
                <a:cs typeface="SimSun"/>
              </a:rPr>
              <a:t>“要大力发展现代农业，</a:t>
            </a:r>
            <a:endParaRPr lang="zh-CN" sz="3150"/>
          </a:p>
        </p:txBody>
      </p:sp>
      <p:sp>
        <p:nvSpPr>
          <p:cNvPr id="62" name="TextBox 62"/>
          <p:cNvSpPr txBox="1"/>
          <p:nvPr/>
        </p:nvSpPr>
        <p:spPr>
          <a:xfrm>
            <a:off x="3671735" y="1838325"/>
            <a:ext cx="754380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>
                <a:solidFill>
                  <a:srgbClr val="F4D918"/>
                </a:solidFill>
                <a:latin typeface="SimSun"/>
                <a:ea typeface="SimSun"/>
                <a:cs typeface="SimSun"/>
              </a:rPr>
              <a:t>推动优质高效、安全绿色的农牧业发展”</a:t>
            </a:r>
            <a:endParaRPr lang="zh-CN" sz="3150"/>
          </a:p>
        </p:txBody>
      </p:sp>
      <p:sp>
        <p:nvSpPr>
          <p:cNvPr id="63" name="TextBox 63"/>
          <p:cNvSpPr txBox="1"/>
          <p:nvPr/>
        </p:nvSpPr>
        <p:spPr>
          <a:xfrm>
            <a:off x="899960" y="3276600"/>
            <a:ext cx="1704975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《国家奶业振兴行动方案》</a:t>
            </a:r>
            <a:endParaRPr lang="zh-CN" sz="1130"/>
          </a:p>
        </p:txBody>
      </p:sp>
      <p:sp>
        <p:nvSpPr>
          <p:cNvPr id="64" name="TextBox 64"/>
          <p:cNvSpPr txBox="1"/>
          <p:nvPr/>
        </p:nvSpPr>
        <p:spPr>
          <a:xfrm>
            <a:off x="3300260" y="3057525"/>
            <a:ext cx="1609725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《“十四五”全国农业</a:t>
            </a:r>
            <a:endParaRPr lang="zh-CN" sz="1130"/>
          </a:p>
        </p:txBody>
      </p:sp>
      <p:sp>
        <p:nvSpPr>
          <p:cNvPr id="65" name="TextBox 65"/>
          <p:cNvSpPr txBox="1"/>
          <p:nvPr/>
        </p:nvSpPr>
        <p:spPr>
          <a:xfrm>
            <a:off x="3300260" y="3286125"/>
            <a:ext cx="16383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农村信息化发展规划》</a:t>
            </a:r>
            <a:endParaRPr lang="zh-CN" sz="1130"/>
          </a:p>
        </p:txBody>
      </p:sp>
      <p:sp>
        <p:nvSpPr>
          <p:cNvPr id="66" name="TextBox 66"/>
          <p:cNvSpPr txBox="1"/>
          <p:nvPr/>
        </p:nvSpPr>
        <p:spPr>
          <a:xfrm>
            <a:off x="5652935" y="3257550"/>
            <a:ext cx="14954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《自治区奶业全产业链</a:t>
            </a:r>
            <a:endParaRPr lang="zh-CN" sz="1130"/>
          </a:p>
        </p:txBody>
      </p:sp>
      <p:sp>
        <p:nvSpPr>
          <p:cNvPr id="67" name="TextBox 67"/>
          <p:cNvSpPr txBox="1"/>
          <p:nvPr/>
        </p:nvSpPr>
        <p:spPr>
          <a:xfrm>
            <a:off x="5652935" y="3486150"/>
            <a:ext cx="14954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高质量发展实施方案》</a:t>
            </a:r>
            <a:endParaRPr lang="zh-CN" sz="1130"/>
          </a:p>
        </p:txBody>
      </p:sp>
      <p:sp>
        <p:nvSpPr>
          <p:cNvPr id="68" name="TextBox 68"/>
          <p:cNvSpPr txBox="1"/>
          <p:nvPr/>
        </p:nvSpPr>
        <p:spPr>
          <a:xfrm>
            <a:off x="7910360" y="325755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《加快农业农村现代化</a:t>
            </a:r>
            <a:endParaRPr lang="zh-CN" sz="1130"/>
          </a:p>
        </p:txBody>
      </p:sp>
      <p:sp>
        <p:nvSpPr>
          <p:cNvPr id="69" name="TextBox 69"/>
          <p:cNvSpPr txBox="1"/>
          <p:nvPr/>
        </p:nvSpPr>
        <p:spPr>
          <a:xfrm>
            <a:off x="7929410" y="3486150"/>
            <a:ext cx="151447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“十四五”规划》</a:t>
            </a:r>
            <a:endParaRPr lang="zh-CN" sz="1130"/>
          </a:p>
        </p:txBody>
      </p:sp>
      <p:sp>
        <p:nvSpPr>
          <p:cNvPr id="70" name="TextBox 70"/>
          <p:cNvSpPr txBox="1"/>
          <p:nvPr/>
        </p:nvSpPr>
        <p:spPr>
          <a:xfrm>
            <a:off x="10120160" y="3105150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《全区牛奶产业高质量</a:t>
            </a:r>
            <a:endParaRPr lang="zh-CN" sz="1130"/>
          </a:p>
        </p:txBody>
      </p:sp>
      <p:sp>
        <p:nvSpPr>
          <p:cNvPr id="71" name="TextBox 71"/>
          <p:cNvSpPr txBox="1"/>
          <p:nvPr/>
        </p:nvSpPr>
        <p:spPr>
          <a:xfrm>
            <a:off x="10120160" y="333375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073567"/>
                </a:solidFill>
                <a:latin typeface="Microsoft YaHei"/>
                <a:ea typeface="Microsoft YaHei"/>
                <a:cs typeface="Microsoft YaHei"/>
              </a:rPr>
              <a:t>发展规划（2024年—2027年）》</a:t>
            </a:r>
            <a:endParaRPr lang="zh-CN" sz="1000"/>
          </a:p>
        </p:txBody>
      </p:sp>
      <p:sp>
        <p:nvSpPr>
          <p:cNvPr id="72" name="TextBox 72"/>
          <p:cNvSpPr txBox="1"/>
          <p:nvPr/>
        </p:nvSpPr>
        <p:spPr>
          <a:xfrm>
            <a:off x="595160" y="3857625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明确提出推广智能化养殖设备，</a:t>
            </a:r>
            <a:endParaRPr lang="zh-CN" sz="1050"/>
          </a:p>
        </p:txBody>
      </p:sp>
      <p:sp>
        <p:nvSpPr>
          <p:cNvPr id="73" name="TextBox 73"/>
          <p:cNvSpPr txBox="1"/>
          <p:nvPr/>
        </p:nvSpPr>
        <p:spPr>
          <a:xfrm>
            <a:off x="595160" y="405765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推动奶牛产业链数字化转型。</a:t>
            </a:r>
            <a:endParaRPr lang="zh-CN" sz="1050"/>
          </a:p>
        </p:txBody>
      </p:sp>
      <p:sp>
        <p:nvSpPr>
          <p:cNvPr id="74" name="TextBox 74"/>
          <p:cNvSpPr txBox="1"/>
          <p:nvPr/>
        </p:nvSpPr>
        <p:spPr>
          <a:xfrm>
            <a:off x="3052610" y="3743325"/>
            <a:ext cx="18478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明确推动“智慧牧场”建设，</a:t>
            </a:r>
            <a:endParaRPr lang="zh-CN" sz="1050"/>
          </a:p>
        </p:txBody>
      </p:sp>
      <p:sp>
        <p:nvSpPr>
          <p:cNvPr id="75" name="TextBox 75"/>
          <p:cNvSpPr txBox="1"/>
          <p:nvPr/>
        </p:nvSpPr>
        <p:spPr>
          <a:xfrm>
            <a:off x="3052610" y="3943350"/>
            <a:ext cx="18478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支持发展奶牛养殖智能装备</a:t>
            </a:r>
            <a:endParaRPr lang="zh-CN" sz="1050"/>
          </a:p>
        </p:txBody>
      </p:sp>
      <p:sp>
        <p:nvSpPr>
          <p:cNvPr id="76" name="TextBox 76"/>
          <p:cNvSpPr txBox="1"/>
          <p:nvPr/>
        </p:nvSpPr>
        <p:spPr>
          <a:xfrm>
            <a:off x="3052610" y="4143375"/>
            <a:ext cx="18478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与数字化管理系统。</a:t>
            </a:r>
            <a:endParaRPr lang="zh-CN" sz="1050"/>
          </a:p>
        </p:txBody>
      </p:sp>
      <p:sp>
        <p:nvSpPr>
          <p:cNvPr id="77" name="TextBox 77"/>
          <p:cNvSpPr txBox="1"/>
          <p:nvPr/>
        </p:nvSpPr>
        <p:spPr>
          <a:xfrm>
            <a:off x="5405285" y="3924300"/>
            <a:ext cx="17240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鼓励在规模牧场引入智能</a:t>
            </a:r>
            <a:endParaRPr lang="zh-CN" sz="1050"/>
          </a:p>
        </p:txBody>
      </p:sp>
      <p:sp>
        <p:nvSpPr>
          <p:cNvPr id="78" name="TextBox 78"/>
          <p:cNvSpPr txBox="1"/>
          <p:nvPr/>
        </p:nvSpPr>
        <p:spPr>
          <a:xfrm>
            <a:off x="5405285" y="4124325"/>
            <a:ext cx="17240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饲喂系统等装备，提升奶牛</a:t>
            </a:r>
            <a:endParaRPr lang="zh-CN" sz="1050"/>
          </a:p>
        </p:txBody>
      </p:sp>
      <p:sp>
        <p:nvSpPr>
          <p:cNvPr id="79" name="TextBox 79"/>
          <p:cNvSpPr txBox="1"/>
          <p:nvPr/>
        </p:nvSpPr>
        <p:spPr>
          <a:xfrm>
            <a:off x="5405285" y="4324350"/>
            <a:ext cx="17240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养殖效率与生产水平。</a:t>
            </a:r>
            <a:endParaRPr lang="zh-CN" sz="1050"/>
          </a:p>
        </p:txBody>
      </p:sp>
      <p:sp>
        <p:nvSpPr>
          <p:cNvPr id="80" name="TextBox 80"/>
          <p:cNvSpPr txBox="1"/>
          <p:nvPr/>
        </p:nvSpPr>
        <p:spPr>
          <a:xfrm>
            <a:off x="7777010" y="3952875"/>
            <a:ext cx="16573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研发自主可控牧场装备，</a:t>
            </a:r>
            <a:endParaRPr lang="zh-CN" sz="1050"/>
          </a:p>
        </p:txBody>
      </p:sp>
      <p:sp>
        <p:nvSpPr>
          <p:cNvPr id="81" name="TextBox 81"/>
          <p:cNvSpPr txBox="1"/>
          <p:nvPr/>
        </p:nvSpPr>
        <p:spPr>
          <a:xfrm>
            <a:off x="7777010" y="4152900"/>
            <a:ext cx="16573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培育智慧牧场。</a:t>
            </a:r>
            <a:endParaRPr lang="zh-CN" sz="1050"/>
          </a:p>
        </p:txBody>
      </p:sp>
      <p:sp>
        <p:nvSpPr>
          <p:cNvPr id="82" name="TextBox 82"/>
          <p:cNvSpPr txBox="1"/>
          <p:nvPr/>
        </p:nvSpPr>
        <p:spPr>
          <a:xfrm>
            <a:off x="9910610" y="3800475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规划要求加强奶牛绿色高效</a:t>
            </a:r>
            <a:endParaRPr lang="zh-CN" sz="1050"/>
          </a:p>
        </p:txBody>
      </p:sp>
      <p:sp>
        <p:nvSpPr>
          <p:cNvPr id="83" name="TextBox 83"/>
          <p:cNvSpPr txBox="1"/>
          <p:nvPr/>
        </p:nvSpPr>
        <p:spPr>
          <a:xfrm>
            <a:off x="9910610" y="400050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2383D"/>
                </a:solidFill>
                <a:latin typeface="Microsoft YaHei"/>
                <a:ea typeface="Microsoft YaHei"/>
                <a:cs typeface="Microsoft YaHei"/>
              </a:rPr>
              <a:t>健康养殖技术攻关和转化应用。</a:t>
            </a:r>
            <a:endParaRPr lang="zh-CN" sz="1050"/>
          </a:p>
        </p:txBody>
      </p:sp>
      <p:sp>
        <p:nvSpPr>
          <p:cNvPr id="84" name="TextBox 84"/>
          <p:cNvSpPr txBox="1"/>
          <p:nvPr/>
        </p:nvSpPr>
        <p:spPr>
          <a:xfrm>
            <a:off x="2633510" y="5295900"/>
            <a:ext cx="719137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30" b="1">
                <a:solidFill>
                  <a:srgbClr val="004478"/>
                </a:solidFill>
                <a:latin typeface="Microsoft YaHei"/>
                <a:ea typeface="Microsoft YaHei"/>
                <a:cs typeface="Microsoft YaHei"/>
              </a:rPr>
              <a:t>构建高效、精准的智能推料系统，加快研发智能推料机器人，</a:t>
            </a:r>
            <a:endParaRPr lang="zh-CN" sz="1930"/>
          </a:p>
        </p:txBody>
      </p:sp>
      <p:sp>
        <p:nvSpPr>
          <p:cNvPr id="85" name="TextBox 85"/>
          <p:cNvSpPr txBox="1"/>
          <p:nvPr/>
        </p:nvSpPr>
        <p:spPr>
          <a:xfrm>
            <a:off x="3328835" y="5657850"/>
            <a:ext cx="557212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30" b="1">
                <a:solidFill>
                  <a:srgbClr val="004478"/>
                </a:solidFill>
                <a:latin typeface="Microsoft YaHei"/>
                <a:ea typeface="Microsoft YaHei"/>
                <a:cs typeface="Microsoft YaHei"/>
              </a:rPr>
              <a:t>是以新质生产力赋能奶业现代化转型的时代大势。</a:t>
            </a:r>
            <a:endParaRPr lang="zh-CN" sz="1930"/>
          </a:p>
        </p:txBody>
      </p:sp>
      <p:sp>
        <p:nvSpPr>
          <p:cNvPr id="86" name="TextBox 86"/>
          <p:cNvSpPr txBox="1"/>
          <p:nvPr/>
        </p:nvSpPr>
        <p:spPr>
          <a:xfrm>
            <a:off x="321793" y="4984432"/>
            <a:ext cx="299085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zh-CN" sz="1250"/>
          </a:p>
        </p:txBody>
      </p:sp>
      <p:sp>
        <p:nvSpPr>
          <p:cNvPr id="87" name="TextBox 87"/>
          <p:cNvSpPr txBox="1"/>
          <p:nvPr/>
        </p:nvSpPr>
        <p:spPr>
          <a:xfrm>
            <a:off x="2769718" y="4651058"/>
            <a:ext cx="299085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zh-CN" sz="1250"/>
          </a:p>
        </p:txBody>
      </p:sp>
      <p:sp>
        <p:nvSpPr>
          <p:cNvPr id="88" name="TextBox 88"/>
          <p:cNvSpPr txBox="1"/>
          <p:nvPr/>
        </p:nvSpPr>
        <p:spPr>
          <a:xfrm>
            <a:off x="5122393" y="4803458"/>
            <a:ext cx="299085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zh-CN" sz="1250"/>
          </a:p>
        </p:txBody>
      </p:sp>
      <p:sp>
        <p:nvSpPr>
          <p:cNvPr id="89" name="TextBox 89"/>
          <p:cNvSpPr txBox="1"/>
          <p:nvPr/>
        </p:nvSpPr>
        <p:spPr>
          <a:xfrm>
            <a:off x="7503643" y="4727258"/>
            <a:ext cx="299085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lang="zh-CN" sz="1250"/>
          </a:p>
        </p:txBody>
      </p:sp>
      <p:sp>
        <p:nvSpPr>
          <p:cNvPr id="90" name="TextBox 90"/>
          <p:cNvSpPr txBox="1"/>
          <p:nvPr/>
        </p:nvSpPr>
        <p:spPr>
          <a:xfrm>
            <a:off x="9627718" y="4689158"/>
            <a:ext cx="299085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lang="zh-CN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blue/cyan header and footer curves, peach edge, digital dots and faint engineering skyline; all source foreground excluded. Local title/footer logo masks completed from imported source-guided clean base."/>
          <p:cNvPicPr/>
          <p:nvPr/>
        </p:nvPicPr>
        <p:blipFill>
          <a:blip r:embed="rId2"/>
          <a:stretch>
            <a:fillRect/>
          </a:stretch>
        </p:blipFill>
        <p:spPr>
          <a:xfrm>
            <a:off x="4610" y="0"/>
            <a:ext cx="12182475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14185" y="1600200"/>
            <a:ext cx="2971800" cy="3209925"/>
          </a:xfrm>
          <a:prstGeom prst="roundRect">
            <a:avLst>
              <a:gd name="adj" fmla="val 3205"/>
            </a:avLst>
          </a:prstGeom>
          <a:solidFill>
            <a:srgbClr val="F1FAFE"/>
          </a:solidFill>
          <a:ln w="5715">
            <a:solidFill>
              <a:srgbClr val="D1EFFF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500285" y="1600200"/>
            <a:ext cx="5334000" cy="3209925"/>
          </a:xfrm>
          <a:prstGeom prst="roundRect">
            <a:avLst>
              <a:gd name="adj" fmla="val 2967"/>
            </a:avLst>
          </a:prstGeom>
          <a:solidFill>
            <a:srgbClr val="F1FAFE"/>
          </a:solidFill>
          <a:ln w="5715">
            <a:solidFill>
              <a:srgbClr val="D1EFFF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948585" y="1600200"/>
            <a:ext cx="2895600" cy="3209925"/>
          </a:xfrm>
          <a:prstGeom prst="roundRect">
            <a:avLst>
              <a:gd name="adj" fmla="val 3289"/>
            </a:avLst>
          </a:prstGeom>
          <a:solidFill>
            <a:srgbClr val="F1FAFE"/>
          </a:solidFill>
          <a:ln w="5715">
            <a:solidFill>
              <a:srgbClr val="D1EFFF"/>
            </a:solidFill>
          </a:ln>
        </p:spPr>
        <p:txBody>
          <a:bodyPr/>
          <a:lstStyle/>
          <a:p/>
        </p:txBody>
      </p:sp>
      <p:pic>
        <p:nvPicPr>
          <p:cNvPr id="6" name="Original long pale cyan gradient ribbon and diagonal edge accents; all ordinary headline text removed for native overlay."/>
          <p:cNvPicPr/>
          <p:nvPr/>
        </p:nvPicPr>
        <p:blipFill>
          <a:blip r:embed="rId3"/>
          <a:stretch>
            <a:fillRect/>
          </a:stretch>
        </p:blipFill>
        <p:spPr>
          <a:xfrm>
            <a:off x="224607" y="860679"/>
            <a:ext cx="11793359" cy="796290"/>
          </a:xfrm>
          <a:prstGeom prst="rect">
            <a:avLst/>
          </a:prstGeom>
        </p:spPr>
      </p:pic>
      <p:pic>
        <p:nvPicPr>
          <p:cNvPr id="7" name="Original blank blue-to-cyan header ribbon; ordinary heading and semantic icon removed and rebuilt independently."/>
          <p:cNvPicPr/>
          <p:nvPr/>
        </p:nvPicPr>
        <p:blipFill>
          <a:blip r:embed="rId4"/>
          <a:stretch>
            <a:fillRect/>
          </a:stretch>
        </p:blipFill>
        <p:spPr>
          <a:xfrm>
            <a:off x="234076" y="1521069"/>
            <a:ext cx="3249468" cy="633046"/>
          </a:xfrm>
          <a:prstGeom prst="rect">
            <a:avLst/>
          </a:prstGeom>
        </p:spPr>
      </p:pic>
      <p:pic>
        <p:nvPicPr>
          <p:cNvPr id="8" name="Original blank blue-to-cyan header ribbon; ordinary heading and semantic icon removed and rebuilt independently."/>
          <p:cNvPicPr/>
          <p:nvPr/>
        </p:nvPicPr>
        <p:blipFill>
          <a:blip r:embed="rId5"/>
          <a:stretch>
            <a:fillRect/>
          </a:stretch>
        </p:blipFill>
        <p:spPr>
          <a:xfrm>
            <a:off x="3376239" y="1521069"/>
            <a:ext cx="5599814" cy="633046"/>
          </a:xfrm>
          <a:prstGeom prst="rect">
            <a:avLst/>
          </a:prstGeom>
        </p:spPr>
      </p:pic>
      <p:pic>
        <p:nvPicPr>
          <p:cNvPr id="9" name="Original blank blue-to-cyan header ribbon; ordinary heading and semantic icon removed and rebuilt independently."/>
          <p:cNvPicPr/>
          <p:nvPr/>
        </p:nvPicPr>
        <p:blipFill>
          <a:blip r:embed="rId6"/>
          <a:stretch>
            <a:fillRect/>
          </a:stretch>
        </p:blipFill>
        <p:spPr>
          <a:xfrm>
            <a:off x="8850301" y="1521069"/>
            <a:ext cx="3160211" cy="633046"/>
          </a:xfrm>
          <a:prstGeom prst="rect">
            <a:avLst/>
          </a:prstGeom>
        </p:spPr>
      </p:pic>
      <p:sp>
        <p:nvSpPr>
          <p:cNvPr id="10" name="Path 10"/>
          <p:cNvSpPr/>
          <p:nvPr/>
        </p:nvSpPr>
        <p:spPr>
          <a:xfrm>
            <a:off x="214160" y="4591050"/>
            <a:ext cx="11839575" cy="628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273"/>
                </a:moveTo>
                <a:cubicBezTo>
                  <a:pt x="2224" y="0"/>
                  <a:pt x="19254" y="0"/>
                  <a:pt x="21600" y="21273"/>
                </a:cubicBezTo>
              </a:path>
            </a:pathLst>
          </a:custGeom>
          <a:noFill/>
          <a:ln w="29209">
            <a:solidFill>
              <a:srgbClr val="ACE2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528485" y="5219700"/>
            <a:ext cx="3600450" cy="628650"/>
          </a:xfrm>
          <a:prstGeom prst="roundRect">
            <a:avLst>
              <a:gd name="adj" fmla="val 16667"/>
            </a:avLst>
          </a:prstGeom>
          <a:solidFill>
            <a:srgbClr val="F0F9FD"/>
          </a:solidFill>
          <a:ln w="4445">
            <a:solidFill>
              <a:srgbClr val="E7F5F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357535" y="5238750"/>
            <a:ext cx="3819525" cy="657225"/>
          </a:xfrm>
          <a:prstGeom prst="roundRect">
            <a:avLst>
              <a:gd name="adj" fmla="val 15942"/>
            </a:avLst>
          </a:prstGeom>
          <a:solidFill>
            <a:srgbClr val="F0F9FD"/>
          </a:solidFill>
          <a:ln w="4445">
            <a:solidFill>
              <a:srgbClr val="E7F5FD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8434235" y="5238750"/>
            <a:ext cx="3314700" cy="657225"/>
          </a:xfrm>
          <a:prstGeom prst="roundRect">
            <a:avLst>
              <a:gd name="adj" fmla="val 15942"/>
            </a:avLst>
          </a:prstGeom>
          <a:solidFill>
            <a:srgbClr val="F0F9FD"/>
          </a:solidFill>
          <a:ln w="4445">
            <a:solidFill>
              <a:srgbClr val="E7F5FD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2443010" y="4867275"/>
            <a:ext cx="0" cy="161925"/>
          </a:xfrm>
          <a:prstGeom prst="line">
            <a:avLst/>
          </a:prstGeom>
          <a:noFill/>
          <a:ln w="13970">
            <a:solidFill>
              <a:srgbClr val="0B9FEA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6148235" y="4867275"/>
            <a:ext cx="0" cy="161925"/>
          </a:xfrm>
          <a:prstGeom prst="line">
            <a:avLst/>
          </a:prstGeom>
          <a:noFill/>
          <a:ln w="13970">
            <a:solidFill>
              <a:srgbClr val="0B9FEA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10158260" y="4867275"/>
            <a:ext cx="0" cy="161925"/>
          </a:xfrm>
          <a:prstGeom prst="line">
            <a:avLst/>
          </a:prstGeom>
          <a:noFill/>
          <a:ln w="13970">
            <a:solidFill>
              <a:srgbClr val="0B9FEA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595160" y="5305425"/>
            <a:ext cx="533400" cy="5238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4490885" y="5314950"/>
            <a:ext cx="542925" cy="54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8586635" y="5324475"/>
            <a:ext cx="552450" cy="54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2376335" y="4791075"/>
            <a:ext cx="133350" cy="13335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8EF1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6081560" y="4791075"/>
            <a:ext cx="133350" cy="13335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8EF1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10091585" y="4791075"/>
            <a:ext cx="133350" cy="13335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18EF1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728635" y="501015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3A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433860" y="501015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3A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9443885" y="501015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3A5F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6" name="Original meeting at white conference table, windows and screen; preserve original people, room, screen and pose. Small presentation/UI text is photographed scene identity."/>
          <p:cNvPicPr/>
          <p:nvPr/>
        </p:nvPicPr>
        <p:blipFill>
          <a:blip r:embed="rId7"/>
          <a:stretch>
            <a:fillRect/>
          </a:stretch>
        </p:blipFill>
        <p:spPr>
          <a:xfrm>
            <a:off x="476949" y="2000685"/>
            <a:ext cx="2792744" cy="1447039"/>
          </a:xfrm>
          <a:prstGeom prst="rect">
            <a:avLst/>
          </a:prstGeom>
        </p:spPr>
      </p:pic>
      <p:pic>
        <p:nvPicPr>
          <p:cNvPr id="27" name="Original team standing inside office lobby, exact people and indoor scene."/>
          <p:cNvPicPr/>
          <p:nvPr/>
        </p:nvPicPr>
        <p:blipFill>
          <a:blip r:embed="rId8"/>
          <a:stretch>
            <a:fillRect/>
          </a:stretch>
        </p:blipFill>
        <p:spPr>
          <a:xfrm>
            <a:off x="477173" y="3377341"/>
            <a:ext cx="2787445" cy="1364651"/>
          </a:xfrm>
          <a:prstGeom prst="rect">
            <a:avLst/>
          </a:prstGeom>
        </p:spPr>
      </p:pic>
      <p:pic>
        <p:nvPicPr>
          <p:cNvPr id="28" name="Original white-shirt man developing yellow/green machine in laboratory."/>
          <p:cNvPicPr/>
          <p:nvPr/>
        </p:nvPicPr>
        <p:blipFill>
          <a:blip r:embed="rId9"/>
          <a:stretch>
            <a:fillRect/>
          </a:stretch>
        </p:blipFill>
        <p:spPr>
          <a:xfrm>
            <a:off x="3603328" y="2028825"/>
            <a:ext cx="1718515" cy="1331516"/>
          </a:xfrm>
          <a:prstGeom prst="rect">
            <a:avLst/>
          </a:prstGeom>
        </p:spPr>
      </p:pic>
      <p:pic>
        <p:nvPicPr>
          <p:cNvPr id="29" name="Original white-coat team in blue hardhats working around equipment."/>
          <p:cNvPicPr/>
          <p:nvPr/>
        </p:nvPicPr>
        <p:blipFill>
          <a:blip r:embed="rId10"/>
          <a:stretch>
            <a:fillRect/>
          </a:stretch>
        </p:blipFill>
        <p:spPr>
          <a:xfrm>
            <a:off x="5336847" y="2028427"/>
            <a:ext cx="1523318" cy="1336578"/>
          </a:xfrm>
          <a:prstGeom prst="rect">
            <a:avLst/>
          </a:prstGeom>
        </p:spPr>
      </p:pic>
      <p:pic>
        <p:nvPicPr>
          <p:cNvPr id="30" name="Original complete white mobile robotic platform landscape photograph, targeted source-faithful extraction repaired sheet framing; machine and workshop identity preser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6876773" y="2097300"/>
            <a:ext cx="1819525" cy="1225125"/>
          </a:xfrm>
          <a:prstGeom prst="rect">
            <a:avLst/>
          </a:prstGeom>
        </p:spPr>
      </p:pic>
      <p:pic>
        <p:nvPicPr>
          <p:cNvPr id="31" name="Original yellow circular robot prototype, white vertical apparatus and cables; full source scene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3597403" y="3327682"/>
            <a:ext cx="1934864" cy="1418378"/>
          </a:xfrm>
          <a:prstGeom prst="rect">
            <a:avLst/>
          </a:prstGeom>
        </p:spPr>
      </p:pic>
      <p:pic>
        <p:nvPicPr>
          <p:cNvPr id="32" name="Original cows beside blue/silver Sveaverken robot in feeding barn. Existing Sveaverken wordmark remains product brand identity, not ordinary slide content."/>
          <p:cNvPicPr/>
          <p:nvPr/>
        </p:nvPicPr>
        <p:blipFill>
          <a:blip r:embed="rId13"/>
          <a:stretch>
            <a:fillRect/>
          </a:stretch>
        </p:blipFill>
        <p:spPr>
          <a:xfrm>
            <a:off x="5504121" y="3327682"/>
            <a:ext cx="3243431" cy="1418378"/>
          </a:xfrm>
          <a:prstGeom prst="rect">
            <a:avLst/>
          </a:prstGeom>
        </p:spPr>
      </p:pic>
      <p:pic>
        <p:nvPicPr>
          <p:cNvPr id="33" name="Original technical exhibition booth with people, yellow robot and red/green machine. Printed poster text remains photographed identity."/>
          <p:cNvPicPr/>
          <p:nvPr/>
        </p:nvPicPr>
        <p:blipFill>
          <a:blip r:embed="rId14"/>
          <a:stretch>
            <a:fillRect/>
          </a:stretch>
        </p:blipFill>
        <p:spPr>
          <a:xfrm>
            <a:off x="9087894" y="2011932"/>
            <a:ext cx="2700313" cy="1425156"/>
          </a:xfrm>
          <a:prstGeom prst="rect">
            <a:avLst/>
          </a:prstGeom>
        </p:spPr>
      </p:pic>
      <p:pic>
        <p:nvPicPr>
          <p:cNvPr id="34" name="Original technical exchange meeting, table, plants, people and wall monitors. Small photo-internal monitor print remains scene identity."/>
          <p:cNvPicPr/>
          <p:nvPr/>
        </p:nvPicPr>
        <p:blipFill>
          <a:blip r:embed="rId15"/>
          <a:stretch>
            <a:fillRect/>
          </a:stretch>
        </p:blipFill>
        <p:spPr>
          <a:xfrm>
            <a:off x="9090470" y="3367344"/>
            <a:ext cx="2673804" cy="1396078"/>
          </a:xfrm>
          <a:prstGeom prst="rect">
            <a:avLst/>
          </a:prstGeom>
        </p:spPr>
      </p:pic>
      <p:pic>
        <p:nvPicPr>
          <p:cNvPr id="35" name="Original cyan source research-stage pictogram separated without its native white circular base."/>
          <p:cNvPicPr/>
          <p:nvPr/>
        </p:nvPicPr>
        <p:blipFill>
          <a:blip r:embed="rId19"/>
          <a:stretch>
            <a:fillRect/>
          </a:stretch>
        </p:blipFill>
        <p:spPr>
          <a:xfrm>
            <a:off x="655032" y="5364969"/>
            <a:ext cx="442232" cy="442887"/>
          </a:xfrm>
          <a:prstGeom prst="rect">
            <a:avLst/>
          </a:prstGeom>
        </p:spPr>
      </p:pic>
      <p:pic>
        <p:nvPicPr>
          <p:cNvPr id="36" name="Original cyan source research-stage pictogram separated without its native white circular base."/>
          <p:cNvPicPr/>
          <p:nvPr/>
        </p:nvPicPr>
        <p:blipFill>
          <a:blip r:embed="rId20"/>
          <a:stretch>
            <a:fillRect/>
          </a:stretch>
        </p:blipFill>
        <p:spPr>
          <a:xfrm>
            <a:off x="4560516" y="5384552"/>
            <a:ext cx="413188" cy="422772"/>
          </a:xfrm>
          <a:prstGeom prst="rect">
            <a:avLst/>
          </a:prstGeom>
        </p:spPr>
      </p:pic>
      <p:pic>
        <p:nvPicPr>
          <p:cNvPr id="37" name="Original cyan source research-stage pictogram separated without its native white circular base."/>
          <p:cNvPicPr/>
          <p:nvPr/>
        </p:nvPicPr>
        <p:blipFill>
          <a:blip r:embed="rId21"/>
          <a:stretch>
            <a:fillRect/>
          </a:stretch>
        </p:blipFill>
        <p:spPr>
          <a:xfrm>
            <a:off x="8604029" y="5375031"/>
            <a:ext cx="536713" cy="460863"/>
          </a:xfrm>
          <a:prstGeom prst="rect">
            <a:avLst/>
          </a:prstGeom>
        </p:spPr>
      </p:pic>
      <p:pic>
        <p:nvPicPr>
          <p:cNvPr id="38" name="Original white source header pictogram, isolated independently."/>
          <p:cNvPicPr/>
          <p:nvPr/>
        </p:nvPicPr>
        <p:blipFill>
          <a:blip r:embed="rId16"/>
          <a:stretch>
            <a:fillRect/>
          </a:stretch>
        </p:blipFill>
        <p:spPr>
          <a:xfrm>
            <a:off x="623382" y="1606711"/>
            <a:ext cx="419806" cy="434653"/>
          </a:xfrm>
          <a:prstGeom prst="rect">
            <a:avLst/>
          </a:prstGeom>
        </p:spPr>
      </p:pic>
      <p:pic>
        <p:nvPicPr>
          <p:cNvPr id="39" name="Original white source header pictogram, isolated independently."/>
          <p:cNvPicPr/>
          <p:nvPr/>
        </p:nvPicPr>
        <p:blipFill>
          <a:blip r:embed="rId17"/>
          <a:stretch>
            <a:fillRect/>
          </a:stretch>
        </p:blipFill>
        <p:spPr>
          <a:xfrm>
            <a:off x="3729266" y="1618337"/>
            <a:ext cx="389763" cy="392352"/>
          </a:xfrm>
          <a:prstGeom prst="rect">
            <a:avLst/>
          </a:prstGeom>
        </p:spPr>
      </p:pic>
      <p:pic>
        <p:nvPicPr>
          <p:cNvPr id="40" name="Original white source header pictogram, isolated independently."/>
          <p:cNvPicPr/>
          <p:nvPr/>
        </p:nvPicPr>
        <p:blipFill>
          <a:blip r:embed="rId18"/>
          <a:stretch>
            <a:fillRect/>
          </a:stretch>
        </p:blipFill>
        <p:spPr>
          <a:xfrm>
            <a:off x="9124324" y="1603452"/>
            <a:ext cx="467673" cy="384020"/>
          </a:xfrm>
          <a:prstGeom prst="rect">
            <a:avLst/>
          </a:prstGeom>
        </p:spPr>
      </p:pic>
      <p:pic>
        <p:nvPicPr>
          <p:cNvPr id="41" name="Source CPIPC interlocking symbol and 中国研究生创新实践系列大赛 wordmark; existing brand identity text exception. Targeted extraction repaired Latin wordmark and original layout."/>
          <p:cNvPicPr/>
          <p:nvPr/>
        </p:nvPicPr>
        <p:blipFill>
          <a:blip r:embed="rId22"/>
          <a:stretch>
            <a:fillRect/>
          </a:stretch>
        </p:blipFill>
        <p:spPr>
          <a:xfrm>
            <a:off x="272621" y="6125980"/>
            <a:ext cx="921303" cy="606789"/>
          </a:xfrm>
          <a:prstGeom prst="rect">
            <a:avLst/>
          </a:prstGeom>
        </p:spPr>
      </p:pic>
      <p:pic>
        <p:nvPicPr>
          <p:cNvPr id="42" name="Source blue competition footer brand banner and 力聚滨江·智汇未来 wordmark with existing tiny identity lettering, retained as logo identity exception."/>
          <p:cNvPicPr/>
          <p:nvPr/>
        </p:nvPicPr>
        <p:blipFill>
          <a:blip r:embed="rId23"/>
          <a:stretch>
            <a:fillRect/>
          </a:stretch>
        </p:blipFill>
        <p:spPr>
          <a:xfrm>
            <a:off x="10201281" y="6079713"/>
            <a:ext cx="1752284" cy="689799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728635" y="501015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2022年</a:t>
            </a:r>
            <a:endParaRPr lang="zh-CN" sz="1400"/>
          </a:p>
        </p:txBody>
      </p:sp>
      <p:sp>
        <p:nvSpPr>
          <p:cNvPr id="44" name="TextBox 44"/>
          <p:cNvSpPr txBox="1"/>
          <p:nvPr/>
        </p:nvSpPr>
        <p:spPr>
          <a:xfrm>
            <a:off x="5433860" y="501015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2024年</a:t>
            </a:r>
            <a:endParaRPr lang="zh-CN" sz="1400"/>
          </a:p>
        </p:txBody>
      </p:sp>
      <p:sp>
        <p:nvSpPr>
          <p:cNvPr id="45" name="TextBox 45"/>
          <p:cNvSpPr txBox="1"/>
          <p:nvPr/>
        </p:nvSpPr>
        <p:spPr>
          <a:xfrm>
            <a:off x="9443885" y="5010150"/>
            <a:ext cx="14287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2025年</a:t>
            </a:r>
            <a:endParaRPr lang="zh-CN" sz="1400"/>
          </a:p>
        </p:txBody>
      </p:sp>
      <p:sp>
        <p:nvSpPr>
          <p:cNvPr id="46" name="TextBox 46"/>
          <p:cNvSpPr txBox="1"/>
          <p:nvPr/>
        </p:nvSpPr>
        <p:spPr>
          <a:xfrm>
            <a:off x="223685" y="190500"/>
            <a:ext cx="2543175" cy="571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二、项目概述</a:t>
            </a:r>
            <a:endParaRPr lang="zh-CN" sz="3150"/>
          </a:p>
        </p:txBody>
      </p:sp>
      <p:sp>
        <p:nvSpPr>
          <p:cNvPr id="47" name="TextBox 47"/>
          <p:cNvSpPr txBox="1"/>
          <p:nvPr/>
        </p:nvSpPr>
        <p:spPr>
          <a:xfrm>
            <a:off x="1995335" y="1000125"/>
            <a:ext cx="84201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020A68"/>
                </a:solidFill>
                <a:latin typeface="Noto Sans CJK SC"/>
                <a:ea typeface="Noto Sans CJK SC"/>
                <a:cs typeface="Noto Sans CJK SC"/>
              </a:rPr>
              <a:t>团队历经4年研发，扎根牧场一线，从学术研究到产品落地</a:t>
            </a:r>
            <a:endParaRPr lang="zh-CN" sz="2450"/>
          </a:p>
        </p:txBody>
      </p:sp>
      <p:sp>
        <p:nvSpPr>
          <p:cNvPr id="48" name="TextBox 48"/>
          <p:cNvSpPr txBox="1"/>
          <p:nvPr/>
        </p:nvSpPr>
        <p:spPr>
          <a:xfrm>
            <a:off x="1309535" y="16478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确定课题</a:t>
            </a:r>
            <a:endParaRPr lang="zh-CN" sz="1700"/>
          </a:p>
        </p:txBody>
      </p:sp>
      <p:sp>
        <p:nvSpPr>
          <p:cNvPr id="49" name="TextBox 49"/>
          <p:cNvSpPr txBox="1"/>
          <p:nvPr/>
        </p:nvSpPr>
        <p:spPr>
          <a:xfrm>
            <a:off x="4348010" y="1647825"/>
            <a:ext cx="23812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研发与验证</a:t>
            </a:r>
            <a:endParaRPr lang="zh-CN" sz="1700"/>
          </a:p>
        </p:txBody>
      </p:sp>
      <p:sp>
        <p:nvSpPr>
          <p:cNvPr id="50" name="TextBox 50"/>
          <p:cNvSpPr txBox="1"/>
          <p:nvPr/>
        </p:nvSpPr>
        <p:spPr>
          <a:xfrm>
            <a:off x="9815360" y="1647825"/>
            <a:ext cx="1609725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技术交流</a:t>
            </a:r>
            <a:endParaRPr lang="zh-CN" sz="1700"/>
          </a:p>
        </p:txBody>
      </p:sp>
      <p:sp>
        <p:nvSpPr>
          <p:cNvPr id="51" name="TextBox 51"/>
          <p:cNvSpPr txBox="1"/>
          <p:nvPr/>
        </p:nvSpPr>
        <p:spPr>
          <a:xfrm>
            <a:off x="1280960" y="5381625"/>
            <a:ext cx="2647950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090B34"/>
                </a:solidFill>
                <a:latin typeface="Noto Sans CJK SC"/>
                <a:ea typeface="Noto Sans CJK SC"/>
                <a:cs typeface="Noto Sans CJK SC"/>
              </a:rPr>
              <a:t>确定课题，形成研发团队</a:t>
            </a:r>
            <a:r>
              <a:rPr lang="zh-CN" sz="13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率先出击</a:t>
            </a:r>
            <a:endParaRPr lang="zh-CN" sz="1300"/>
          </a:p>
        </p:txBody>
      </p:sp>
      <p:sp>
        <p:nvSpPr>
          <p:cNvPr id="52" name="TextBox 52"/>
          <p:cNvSpPr txBox="1"/>
          <p:nvPr/>
        </p:nvSpPr>
        <p:spPr>
          <a:xfrm>
            <a:off x="5129060" y="5353050"/>
            <a:ext cx="288607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080A37"/>
                </a:solidFill>
                <a:latin typeface="Noto Sans CJK SC"/>
                <a:ea typeface="Noto Sans CJK SC"/>
                <a:cs typeface="Noto Sans CJK SC"/>
              </a:rPr>
              <a:t>技术持续攻关，规模化牛场实验验证，</a:t>
            </a:r>
            <a:endParaRPr lang="zh-CN" sz="1300"/>
          </a:p>
        </p:txBody>
      </p:sp>
      <p:sp>
        <p:nvSpPr>
          <p:cNvPr id="53" name="TextBox 53"/>
          <p:cNvSpPr txBox="1"/>
          <p:nvPr/>
        </p:nvSpPr>
        <p:spPr>
          <a:xfrm>
            <a:off x="5129060" y="5600700"/>
            <a:ext cx="288607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090B34"/>
                </a:solidFill>
                <a:latin typeface="Noto Sans CJK SC"/>
                <a:ea typeface="Noto Sans CJK SC"/>
                <a:cs typeface="Noto Sans CJK SC"/>
              </a:rPr>
              <a:t>产品逐步迭代，</a:t>
            </a:r>
            <a:r>
              <a:rPr lang="zh-CN" sz="13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成果大规模产出</a:t>
            </a:r>
            <a:endParaRPr lang="zh-CN" sz="1300"/>
          </a:p>
        </p:txBody>
      </p:sp>
      <p:sp>
        <p:nvSpPr>
          <p:cNvPr id="54" name="TextBox 54"/>
          <p:cNvSpPr txBox="1"/>
          <p:nvPr/>
        </p:nvSpPr>
        <p:spPr>
          <a:xfrm>
            <a:off x="9396260" y="5353050"/>
            <a:ext cx="23050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080A37"/>
                </a:solidFill>
                <a:latin typeface="Noto Sans CJK SC"/>
                <a:ea typeface="Noto Sans CJK SC"/>
                <a:cs typeface="Noto Sans CJK SC"/>
              </a:rPr>
              <a:t>参加交流会，重塑创业目标，</a:t>
            </a:r>
            <a:endParaRPr lang="zh-CN" sz="1300"/>
          </a:p>
        </p:txBody>
      </p:sp>
      <p:sp>
        <p:nvSpPr>
          <p:cNvPr id="55" name="TextBox 55"/>
          <p:cNvSpPr txBox="1"/>
          <p:nvPr/>
        </p:nvSpPr>
        <p:spPr>
          <a:xfrm>
            <a:off x="9396260" y="5600700"/>
            <a:ext cx="19526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090B34"/>
                </a:solidFill>
                <a:latin typeface="Noto Sans CJK SC"/>
                <a:ea typeface="Noto Sans CJK SC"/>
                <a:cs typeface="Noto Sans CJK SC"/>
              </a:rPr>
              <a:t>打造</a:t>
            </a:r>
            <a:r>
              <a:rPr lang="zh-CN" sz="130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优质团队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