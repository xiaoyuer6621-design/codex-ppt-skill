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Thai mountain/palm/temple/mulched-field landscape with presentation foreground removed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pic>
        <p:nvPicPr>
          <p:cNvPr id="3" name="Original asymmetric green/gold sweeping circular arc and attached leaves; no title text or landscape attached."/>
          <p:cNvPicPr/>
          <p:nvPr/>
        </p:nvPicPr>
        <p:blipFill>
          <a:blip r:embed="rId4"/>
          <a:stretch>
            <a:fillRect/>
          </a:stretch>
        </p:blipFill>
        <p:spPr>
          <a:xfrm>
            <a:off x="623359" y="627862"/>
            <a:ext cx="5085432" cy="4939297"/>
          </a:xfrm>
          <a:prstGeom prst="rect">
            <a:avLst/>
          </a:prstGeom>
        </p:spPr>
      </p:pic>
      <p:sp>
        <p:nvSpPr>
          <p:cNvPr id="4" name="Roundrect 4"/>
          <p:cNvSpPr/>
          <p:nvPr/>
        </p:nvSpPr>
        <p:spPr>
          <a:xfrm>
            <a:off x="6161440" y="444567"/>
            <a:ext cx="4955834" cy="561175"/>
          </a:xfrm>
          <a:prstGeom prst="roundRect">
            <a:avLst>
              <a:gd name="adj" fmla="val 49351"/>
            </a:avLst>
          </a:prstGeom>
          <a:solidFill>
            <a:srgbClr val="EFF8F5"/>
          </a:solidFill>
          <a:ln w="1079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6358215" y="1085911"/>
            <a:ext cx="4904818" cy="568463"/>
          </a:xfrm>
          <a:prstGeom prst="roundRect">
            <a:avLst>
              <a:gd name="adj" fmla="val 48718"/>
            </a:avLst>
          </a:prstGeom>
          <a:solidFill>
            <a:srgbClr val="EFF8F5"/>
          </a:solidFill>
          <a:ln w="1079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6489399" y="1741830"/>
            <a:ext cx="4875666" cy="568463"/>
          </a:xfrm>
          <a:prstGeom prst="roundRect">
            <a:avLst>
              <a:gd name="adj" fmla="val 48718"/>
            </a:avLst>
          </a:prstGeom>
          <a:solidFill>
            <a:srgbClr val="EFF8F5"/>
          </a:solidFill>
          <a:ln w="1079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6584143" y="2397749"/>
            <a:ext cx="4861090" cy="575751"/>
          </a:xfrm>
          <a:prstGeom prst="roundRect">
            <a:avLst>
              <a:gd name="adj" fmla="val 48101"/>
            </a:avLst>
          </a:prstGeom>
          <a:solidFill>
            <a:srgbClr val="EFF8F5"/>
          </a:solidFill>
          <a:ln w="1079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6627871" y="3053668"/>
            <a:ext cx="4882954" cy="575751"/>
          </a:xfrm>
          <a:prstGeom prst="roundRect">
            <a:avLst>
              <a:gd name="adj" fmla="val 48101"/>
            </a:avLst>
          </a:prstGeom>
          <a:solidFill>
            <a:srgbClr val="EFF8F5"/>
          </a:solidFill>
          <a:ln w="1079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6613295" y="3716876"/>
            <a:ext cx="4897530" cy="575751"/>
          </a:xfrm>
          <a:prstGeom prst="roundRect">
            <a:avLst>
              <a:gd name="adj" fmla="val 48101"/>
            </a:avLst>
          </a:prstGeom>
          <a:solidFill>
            <a:srgbClr val="EFF8F5"/>
          </a:solidFill>
          <a:ln w="1079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6606007" y="4380083"/>
            <a:ext cx="4941258" cy="583039"/>
          </a:xfrm>
          <a:prstGeom prst="roundRect">
            <a:avLst>
              <a:gd name="adj" fmla="val 47500"/>
            </a:avLst>
          </a:prstGeom>
          <a:solidFill>
            <a:srgbClr val="EFF8F5"/>
          </a:solidFill>
          <a:ln w="1079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6547703" y="5050578"/>
            <a:ext cx="4955834" cy="590327"/>
          </a:xfrm>
          <a:prstGeom prst="roundRect">
            <a:avLst>
              <a:gd name="adj" fmla="val 46914"/>
            </a:avLst>
          </a:prstGeom>
          <a:solidFill>
            <a:srgbClr val="EFF8F5"/>
          </a:solidFill>
          <a:ln w="1079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6474823" y="5721073"/>
            <a:ext cx="4882954" cy="590327"/>
          </a:xfrm>
          <a:prstGeom prst="roundRect">
            <a:avLst>
              <a:gd name="adj" fmla="val 46914"/>
            </a:avLst>
          </a:prstGeom>
          <a:solidFill>
            <a:srgbClr val="EFF8F5"/>
          </a:solidFill>
          <a:ln w="10795">
            <a:solidFill>
              <a:srgbClr val="FFFFFF"/>
            </a:solidFill>
          </a:ln>
        </p:spPr>
        <p:txBody>
          <a:bodyPr/>
          <a:lstStyle/>
          <a:p/>
        </p:txBody>
      </p:sp>
      <p:pic>
        <p:nvPicPr>
          <p:cNvPr id="13" name="Original circular green/gold agriculture emblem."/>
          <p:cNvPicPr/>
          <p:nvPr/>
        </p:nvPicPr>
        <p:blipFill>
          <a:blip r:embed="rId3"/>
          <a:stretch>
            <a:fillRect/>
          </a:stretch>
        </p:blipFill>
        <p:spPr>
          <a:xfrm>
            <a:off x="403467" y="247231"/>
            <a:ext cx="634974" cy="635176"/>
          </a:xfrm>
          <a:prstGeom prst="rect">
            <a:avLst/>
          </a:prstGeom>
        </p:spPr>
      </p:pic>
      <p:pic>
        <p:nvPicPr>
          <p:cNvPr id="14" name="Original silver-black agricultural mulch film roll, left-facing brown core, source orientation and metallic crinkle highlights; locally attached loose sheet."/>
          <p:cNvPicPr/>
          <p:nvPr/>
        </p:nvPicPr>
        <p:blipFill>
          <a:blip r:embed="rId5"/>
          <a:stretch>
            <a:fillRect/>
          </a:stretch>
        </p:blipFill>
        <p:spPr>
          <a:xfrm>
            <a:off x="220605" y="3945629"/>
            <a:ext cx="5424508" cy="2104806"/>
          </a:xfrm>
          <a:prstGeom prst="rect">
            <a:avLst/>
          </a:prstGeom>
        </p:spPr>
      </p:pic>
      <p:pic>
        <p:nvPicPr>
          <p:cNvPr id="15" name="Original source row 1 green/gold badge with leaf tail, all numeral strokes removed."/>
          <p:cNvPicPr/>
          <p:nvPr/>
        </p:nvPicPr>
        <p:blipFill>
          <a:blip r:embed="rId6"/>
          <a:stretch>
            <a:fillRect/>
          </a:stretch>
        </p:blipFill>
        <p:spPr>
          <a:xfrm>
            <a:off x="5789446" y="251911"/>
            <a:ext cx="952269" cy="808016"/>
          </a:xfrm>
          <a:prstGeom prst="rect">
            <a:avLst/>
          </a:prstGeom>
        </p:spPr>
      </p:pic>
      <p:pic>
        <p:nvPicPr>
          <p:cNvPr id="16" name="Original source row 2 green/gold badge with leaf tail, all numeral strokes removed."/>
          <p:cNvPicPr/>
          <p:nvPr/>
        </p:nvPicPr>
        <p:blipFill>
          <a:blip r:embed="rId8"/>
          <a:stretch>
            <a:fillRect/>
          </a:stretch>
        </p:blipFill>
        <p:spPr>
          <a:xfrm>
            <a:off x="6005445" y="891564"/>
            <a:ext cx="970356" cy="825972"/>
          </a:xfrm>
          <a:prstGeom prst="rect">
            <a:avLst/>
          </a:prstGeom>
        </p:spPr>
      </p:pic>
      <p:pic>
        <p:nvPicPr>
          <p:cNvPr id="17" name="Original source row 3 green/gold badge with leaf tail, all numeral strokes removed."/>
          <p:cNvPicPr/>
          <p:nvPr/>
        </p:nvPicPr>
        <p:blipFill>
          <a:blip r:embed="rId10"/>
          <a:stretch>
            <a:fillRect/>
          </a:stretch>
        </p:blipFill>
        <p:spPr>
          <a:xfrm>
            <a:off x="6142075" y="1540939"/>
            <a:ext cx="941377" cy="824485"/>
          </a:xfrm>
          <a:prstGeom prst="rect">
            <a:avLst/>
          </a:prstGeom>
        </p:spPr>
      </p:pic>
      <p:pic>
        <p:nvPicPr>
          <p:cNvPr id="18" name="Original source row 4 green/gold badge with leaf tail, all numeral strokes removed."/>
          <p:cNvPicPr/>
          <p:nvPr/>
        </p:nvPicPr>
        <p:blipFill>
          <a:blip r:embed="rId12"/>
          <a:stretch>
            <a:fillRect/>
          </a:stretch>
        </p:blipFill>
        <p:spPr>
          <a:xfrm>
            <a:off x="6173841" y="2197948"/>
            <a:ext cx="1038224" cy="822305"/>
          </a:xfrm>
          <a:prstGeom prst="rect">
            <a:avLst/>
          </a:prstGeom>
        </p:spPr>
      </p:pic>
      <p:pic>
        <p:nvPicPr>
          <p:cNvPr id="19" name="Original source row 5 green/gold badge with leaf tail, all numeral strokes removed."/>
          <p:cNvPicPr/>
          <p:nvPr/>
        </p:nvPicPr>
        <p:blipFill>
          <a:blip r:embed="rId14"/>
          <a:stretch>
            <a:fillRect/>
          </a:stretch>
        </p:blipFill>
        <p:spPr>
          <a:xfrm>
            <a:off x="6266821" y="2853042"/>
            <a:ext cx="987440" cy="831244"/>
          </a:xfrm>
          <a:prstGeom prst="rect">
            <a:avLst/>
          </a:prstGeom>
        </p:spPr>
      </p:pic>
      <p:pic>
        <p:nvPicPr>
          <p:cNvPr id="20" name="Original source row 6 green/gold badge with leaf tail, all numeral strokes removed."/>
          <p:cNvPicPr/>
          <p:nvPr/>
        </p:nvPicPr>
        <p:blipFill>
          <a:blip r:embed="rId16"/>
          <a:stretch>
            <a:fillRect/>
          </a:stretch>
        </p:blipFill>
        <p:spPr>
          <a:xfrm>
            <a:off x="6242273" y="3508501"/>
            <a:ext cx="980211" cy="839453"/>
          </a:xfrm>
          <a:prstGeom prst="rect">
            <a:avLst/>
          </a:prstGeom>
        </p:spPr>
      </p:pic>
      <p:pic>
        <p:nvPicPr>
          <p:cNvPr id="21" name="Original source row 7 green/gold badge with leaf tail, all numeral strokes removed."/>
          <p:cNvPicPr/>
          <p:nvPr/>
        </p:nvPicPr>
        <p:blipFill>
          <a:blip r:embed="rId18"/>
          <a:stretch>
            <a:fillRect/>
          </a:stretch>
        </p:blipFill>
        <p:spPr>
          <a:xfrm>
            <a:off x="6172406" y="4169011"/>
            <a:ext cx="1008817" cy="852134"/>
          </a:xfrm>
          <a:prstGeom prst="rect">
            <a:avLst/>
          </a:prstGeom>
        </p:spPr>
      </p:pic>
      <p:pic>
        <p:nvPicPr>
          <p:cNvPr id="22" name="Original source row 8 green/gold badge with leaf tail, all numeral strokes removed."/>
          <p:cNvPicPr/>
          <p:nvPr/>
        </p:nvPicPr>
        <p:blipFill>
          <a:blip r:embed="rId20"/>
          <a:stretch>
            <a:fillRect/>
          </a:stretch>
        </p:blipFill>
        <p:spPr>
          <a:xfrm>
            <a:off x="6189338" y="4844772"/>
            <a:ext cx="1005595" cy="863467"/>
          </a:xfrm>
          <a:prstGeom prst="rect">
            <a:avLst/>
          </a:prstGeom>
        </p:spPr>
      </p:pic>
      <p:pic>
        <p:nvPicPr>
          <p:cNvPr id="23" name="Original source row 9 green/gold badge with leaf tail, all numeral strokes removed."/>
          <p:cNvPicPr/>
          <p:nvPr/>
        </p:nvPicPr>
        <p:blipFill>
          <a:blip r:embed="rId22"/>
          <a:stretch>
            <a:fillRect/>
          </a:stretch>
        </p:blipFill>
        <p:spPr>
          <a:xfrm>
            <a:off x="6122743" y="5514816"/>
            <a:ext cx="1021576" cy="871658"/>
          </a:xfrm>
          <a:prstGeom prst="rect">
            <a:avLst/>
          </a:prstGeom>
        </p:spPr>
      </p:pic>
      <p:pic>
        <p:nvPicPr>
          <p:cNvPr id="24" name="Original source semantic building icon, pale sage-green styling retained."/>
          <p:cNvPicPr/>
          <p:nvPr/>
        </p:nvPicPr>
        <p:blipFill>
          <a:blip r:embed="rId7"/>
          <a:stretch>
            <a:fillRect/>
          </a:stretch>
        </p:blipFill>
        <p:spPr>
          <a:xfrm>
            <a:off x="10265529" y="461558"/>
            <a:ext cx="537093" cy="505329"/>
          </a:xfrm>
          <a:prstGeom prst="rect">
            <a:avLst/>
          </a:prstGeom>
        </p:spPr>
      </p:pic>
      <p:pic>
        <p:nvPicPr>
          <p:cNvPr id="25" name="Original source semantic globe icon, pale sage-green styling retained."/>
          <p:cNvPicPr/>
          <p:nvPr/>
        </p:nvPicPr>
        <p:blipFill>
          <a:blip r:embed="rId9"/>
          <a:stretch>
            <a:fillRect/>
          </a:stretch>
        </p:blipFill>
        <p:spPr>
          <a:xfrm>
            <a:off x="10421958" y="1119321"/>
            <a:ext cx="501497" cy="508931"/>
          </a:xfrm>
          <a:prstGeom prst="rect">
            <a:avLst/>
          </a:prstGeom>
        </p:spPr>
      </p:pic>
      <p:pic>
        <p:nvPicPr>
          <p:cNvPr id="26" name="Original source semantic growth icon, pale sage-green styling retained."/>
          <p:cNvPicPr/>
          <p:nvPr/>
        </p:nvPicPr>
        <p:blipFill>
          <a:blip r:embed="rId11"/>
          <a:stretch>
            <a:fillRect/>
          </a:stretch>
        </p:blipFill>
        <p:spPr>
          <a:xfrm>
            <a:off x="10526332" y="1778904"/>
            <a:ext cx="460373" cy="487028"/>
          </a:xfrm>
          <a:prstGeom prst="rect">
            <a:avLst/>
          </a:prstGeom>
        </p:spPr>
      </p:pic>
      <p:pic>
        <p:nvPicPr>
          <p:cNvPr id="27" name="Original source semantic magnifier icon, pale sage-green styling retained."/>
          <p:cNvPicPr/>
          <p:nvPr/>
        </p:nvPicPr>
        <p:blipFill>
          <a:blip r:embed="rId13"/>
          <a:stretch>
            <a:fillRect/>
          </a:stretch>
        </p:blipFill>
        <p:spPr>
          <a:xfrm>
            <a:off x="10641229" y="2444321"/>
            <a:ext cx="465180" cy="489895"/>
          </a:xfrm>
          <a:prstGeom prst="rect">
            <a:avLst/>
          </a:prstGeom>
        </p:spPr>
      </p:pic>
      <p:pic>
        <p:nvPicPr>
          <p:cNvPr id="28" name="Original source semantic target icon, pale sage-green styling retained."/>
          <p:cNvPicPr/>
          <p:nvPr/>
        </p:nvPicPr>
        <p:blipFill>
          <a:blip r:embed="rId15"/>
          <a:stretch>
            <a:fillRect/>
          </a:stretch>
        </p:blipFill>
        <p:spPr>
          <a:xfrm>
            <a:off x="10689537" y="3086042"/>
            <a:ext cx="534802" cy="525581"/>
          </a:xfrm>
          <a:prstGeom prst="rect">
            <a:avLst/>
          </a:prstGeom>
        </p:spPr>
      </p:pic>
      <p:pic>
        <p:nvPicPr>
          <p:cNvPr id="29" name="Original source semantic megaphone icon, pale sage-green styling retained."/>
          <p:cNvPicPr/>
          <p:nvPr/>
        </p:nvPicPr>
        <p:blipFill>
          <a:blip r:embed="rId17"/>
          <a:stretch>
            <a:fillRect/>
          </a:stretch>
        </p:blipFill>
        <p:spPr>
          <a:xfrm>
            <a:off x="10603970" y="3786181"/>
            <a:ext cx="552888" cy="466292"/>
          </a:xfrm>
          <a:prstGeom prst="rect">
            <a:avLst/>
          </a:prstGeom>
        </p:spPr>
      </p:pic>
      <p:pic>
        <p:nvPicPr>
          <p:cNvPr id="30" name="Original source semantic coins icon, pale sage-green styling retained."/>
          <p:cNvPicPr/>
          <p:nvPr/>
        </p:nvPicPr>
        <p:blipFill>
          <a:blip r:embed="rId19"/>
          <a:stretch>
            <a:fillRect/>
          </a:stretch>
        </p:blipFill>
        <p:spPr>
          <a:xfrm>
            <a:off x="10724153" y="4411515"/>
            <a:ext cx="565574" cy="556615"/>
          </a:xfrm>
          <a:prstGeom prst="rect">
            <a:avLst/>
          </a:prstGeom>
        </p:spPr>
      </p:pic>
      <p:pic>
        <p:nvPicPr>
          <p:cNvPr id="31" name="Original source semantic clipboard icon, pale sage-green styling retained."/>
          <p:cNvPicPr/>
          <p:nvPr/>
        </p:nvPicPr>
        <p:blipFill>
          <a:blip r:embed="rId21"/>
          <a:stretch>
            <a:fillRect/>
          </a:stretch>
        </p:blipFill>
        <p:spPr>
          <a:xfrm>
            <a:off x="10618836" y="5102280"/>
            <a:ext cx="486716" cy="523364"/>
          </a:xfrm>
          <a:prstGeom prst="rect">
            <a:avLst/>
          </a:prstGeom>
        </p:spPr>
      </p:pic>
      <p:pic>
        <p:nvPicPr>
          <p:cNvPr id="32" name="Original source semantic handshake icon, pale sage-green styling retained."/>
          <p:cNvPicPr/>
          <p:nvPr/>
        </p:nvPicPr>
        <p:blipFill>
          <a:blip r:embed="rId23"/>
          <a:stretch>
            <a:fillRect/>
          </a:stretch>
        </p:blipFill>
        <p:spPr>
          <a:xfrm>
            <a:off x="10402622" y="5757662"/>
            <a:ext cx="693217" cy="531726"/>
          </a:xfrm>
          <a:prstGeom prst="rect">
            <a:avLst/>
          </a:prstGeom>
        </p:spPr>
      </p:pic>
      <p:sp>
        <p:nvSpPr>
          <p:cNvPr id="33" name="Line 33"/>
          <p:cNvSpPr/>
          <p:nvPr/>
        </p:nvSpPr>
        <p:spPr>
          <a:xfrm>
            <a:off x="6664311" y="619479"/>
            <a:ext cx="0" cy="240504"/>
          </a:xfrm>
          <a:prstGeom prst="line">
            <a:avLst/>
          </a:prstGeom>
          <a:noFill/>
          <a:ln w="10160">
            <a:solidFill>
              <a:srgbClr val="175536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6861087" y="1260823"/>
            <a:ext cx="0" cy="233216"/>
          </a:xfrm>
          <a:prstGeom prst="line">
            <a:avLst/>
          </a:prstGeom>
          <a:noFill/>
          <a:ln w="10160">
            <a:solidFill>
              <a:srgbClr val="175536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7028711" y="1916742"/>
            <a:ext cx="0" cy="233216"/>
          </a:xfrm>
          <a:prstGeom prst="line">
            <a:avLst/>
          </a:prstGeom>
          <a:noFill/>
          <a:ln w="10160">
            <a:solidFill>
              <a:srgbClr val="175536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7108878" y="2572661"/>
            <a:ext cx="0" cy="240504"/>
          </a:xfrm>
          <a:prstGeom prst="line">
            <a:avLst/>
          </a:prstGeom>
          <a:noFill/>
          <a:ln w="10160">
            <a:solidFill>
              <a:srgbClr val="175536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7138030" y="3235868"/>
            <a:ext cx="0" cy="240504"/>
          </a:xfrm>
          <a:prstGeom prst="line">
            <a:avLst/>
          </a:prstGeom>
          <a:noFill/>
          <a:ln w="10160">
            <a:solidFill>
              <a:srgbClr val="175536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7138030" y="3899075"/>
            <a:ext cx="0" cy="240504"/>
          </a:xfrm>
          <a:prstGeom prst="line">
            <a:avLst/>
          </a:prstGeom>
          <a:noFill/>
          <a:ln w="10160">
            <a:solidFill>
              <a:srgbClr val="175536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7138030" y="4569571"/>
            <a:ext cx="0" cy="240504"/>
          </a:xfrm>
          <a:prstGeom prst="line">
            <a:avLst/>
          </a:prstGeom>
          <a:noFill/>
          <a:ln w="10160">
            <a:solidFill>
              <a:srgbClr val="175536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7065150" y="5240066"/>
            <a:ext cx="0" cy="240504"/>
          </a:xfrm>
          <a:prstGeom prst="line">
            <a:avLst/>
          </a:prstGeom>
          <a:noFill/>
          <a:ln w="10160">
            <a:solidFill>
              <a:srgbClr val="175536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7014135" y="5910561"/>
            <a:ext cx="0" cy="240504"/>
          </a:xfrm>
          <a:prstGeom prst="line">
            <a:avLst/>
          </a:prstGeom>
          <a:noFill/>
          <a:ln w="10160">
            <a:solidFill>
              <a:srgbClr val="175536"/>
            </a:solidFill>
          </a:ln>
        </p:spPr>
        <p:txBody>
          <a:bodyPr/>
          <a:lstStyle/>
          <a:p/>
        </p:txBody>
      </p:sp>
      <p:sp>
        <p:nvSpPr>
          <p:cNvPr id="42" name="TextBox 42"/>
          <p:cNvSpPr txBox="1"/>
          <p:nvPr/>
        </p:nvSpPr>
        <p:spPr>
          <a:xfrm>
            <a:off x="5884496" y="459143"/>
            <a:ext cx="590327" cy="5247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FFFDF1"/>
                </a:solidFill>
                <a:latin typeface="KaiTi"/>
                <a:ea typeface="KaiTi"/>
                <a:cs typeface="KaiTi"/>
              </a:rPr>
              <a:t>一</a:t>
            </a:r>
            <a:endParaRPr lang="zh-CN" sz="2800"/>
          </a:p>
        </p:txBody>
      </p:sp>
      <p:sp>
        <p:nvSpPr>
          <p:cNvPr id="43" name="TextBox 43"/>
          <p:cNvSpPr txBox="1"/>
          <p:nvPr/>
        </p:nvSpPr>
        <p:spPr>
          <a:xfrm>
            <a:off x="6919391" y="546599"/>
            <a:ext cx="2383173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80" b="1">
                <a:solidFill>
                  <a:srgbClr val="002B1C"/>
                </a:solidFill>
                <a:latin typeface="SimSun"/>
                <a:ea typeface="SimSun"/>
                <a:cs typeface="SimSun"/>
              </a:rPr>
              <a:t>企业基础与产品概况</a:t>
            </a:r>
            <a:endParaRPr lang="zh-CN" sz="1980"/>
          </a:p>
        </p:txBody>
      </p:sp>
      <p:sp>
        <p:nvSpPr>
          <p:cNvPr id="44" name="TextBox 44"/>
          <p:cNvSpPr txBox="1"/>
          <p:nvPr/>
        </p:nvSpPr>
        <p:spPr>
          <a:xfrm>
            <a:off x="6059408" y="1100487"/>
            <a:ext cx="597615" cy="5393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FFFDF1"/>
                </a:solidFill>
                <a:latin typeface="KaiTi"/>
                <a:ea typeface="KaiTi"/>
                <a:cs typeface="KaiTi"/>
              </a:rPr>
              <a:t>二</a:t>
            </a:r>
            <a:endParaRPr lang="zh-CN" sz="2800"/>
          </a:p>
        </p:txBody>
      </p:sp>
      <p:sp>
        <p:nvSpPr>
          <p:cNvPr id="45" name="TextBox 45"/>
          <p:cNvSpPr txBox="1"/>
          <p:nvPr/>
        </p:nvSpPr>
        <p:spPr>
          <a:xfrm>
            <a:off x="7094302" y="1195231"/>
            <a:ext cx="1705390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80" b="1">
                <a:solidFill>
                  <a:srgbClr val="002B1C"/>
                </a:solidFill>
                <a:latin typeface="SimSun"/>
                <a:ea typeface="SimSun"/>
                <a:cs typeface="SimSun"/>
              </a:rPr>
              <a:t>全球贸易概览</a:t>
            </a:r>
            <a:endParaRPr lang="zh-CN" sz="1980"/>
          </a:p>
        </p:txBody>
      </p:sp>
      <p:sp>
        <p:nvSpPr>
          <p:cNvPr id="46" name="TextBox 46"/>
          <p:cNvSpPr txBox="1"/>
          <p:nvPr/>
        </p:nvSpPr>
        <p:spPr>
          <a:xfrm>
            <a:off x="6197879" y="1749118"/>
            <a:ext cx="597615" cy="5393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FFFDF1"/>
                </a:solidFill>
                <a:latin typeface="KaiTi"/>
                <a:ea typeface="KaiTi"/>
                <a:cs typeface="KaiTi"/>
              </a:rPr>
              <a:t>三</a:t>
            </a:r>
            <a:endParaRPr lang="zh-CN" sz="2800"/>
          </a:p>
        </p:txBody>
      </p:sp>
      <p:sp>
        <p:nvSpPr>
          <p:cNvPr id="47" name="TextBox 47"/>
          <p:cNvSpPr txBox="1"/>
          <p:nvPr/>
        </p:nvSpPr>
        <p:spPr>
          <a:xfrm>
            <a:off x="7305654" y="1851150"/>
            <a:ext cx="1676238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80" b="1">
                <a:solidFill>
                  <a:srgbClr val="002B1C"/>
                </a:solidFill>
                <a:latin typeface="SimSun"/>
                <a:ea typeface="SimSun"/>
                <a:cs typeface="SimSun"/>
              </a:rPr>
              <a:t>国家出口业绩</a:t>
            </a:r>
            <a:endParaRPr lang="zh-CN" sz="1980"/>
          </a:p>
        </p:txBody>
      </p:sp>
      <p:sp>
        <p:nvSpPr>
          <p:cNvPr id="48" name="TextBox 48"/>
          <p:cNvSpPr txBox="1"/>
          <p:nvPr/>
        </p:nvSpPr>
        <p:spPr>
          <a:xfrm>
            <a:off x="6278047" y="2405037"/>
            <a:ext cx="604903" cy="5393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FFFDF1"/>
                </a:solidFill>
                <a:latin typeface="KaiTi"/>
                <a:ea typeface="KaiTi"/>
                <a:cs typeface="KaiTi"/>
              </a:rPr>
              <a:t>四</a:t>
            </a:r>
            <a:endParaRPr lang="zh-CN" sz="2800"/>
          </a:p>
        </p:txBody>
      </p:sp>
      <p:sp>
        <p:nvSpPr>
          <p:cNvPr id="49" name="TextBox 49"/>
          <p:cNvSpPr txBox="1"/>
          <p:nvPr/>
        </p:nvSpPr>
        <p:spPr>
          <a:xfrm>
            <a:off x="7305654" y="2507069"/>
            <a:ext cx="1173367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80" b="1">
                <a:solidFill>
                  <a:srgbClr val="002B1C"/>
                </a:solidFill>
                <a:latin typeface="SimSun"/>
                <a:ea typeface="SimSun"/>
                <a:cs typeface="SimSun"/>
              </a:rPr>
              <a:t>市场筛选</a:t>
            </a:r>
            <a:endParaRPr lang="zh-CN" sz="1980"/>
          </a:p>
        </p:txBody>
      </p:sp>
      <p:sp>
        <p:nvSpPr>
          <p:cNvPr id="50" name="TextBox 50"/>
          <p:cNvSpPr txBox="1"/>
          <p:nvPr/>
        </p:nvSpPr>
        <p:spPr>
          <a:xfrm>
            <a:off x="6321775" y="3060956"/>
            <a:ext cx="604903" cy="54659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FFFDF1"/>
                </a:solidFill>
                <a:latin typeface="KaiTi"/>
                <a:ea typeface="KaiTi"/>
                <a:cs typeface="KaiTi"/>
              </a:rPr>
              <a:t>五</a:t>
            </a:r>
            <a:endParaRPr lang="zh-CN" sz="2800"/>
          </a:p>
        </p:txBody>
      </p:sp>
      <p:sp>
        <p:nvSpPr>
          <p:cNvPr id="51" name="TextBox 51"/>
          <p:cNvSpPr txBox="1"/>
          <p:nvPr/>
        </p:nvSpPr>
        <p:spPr>
          <a:xfrm>
            <a:off x="7363958" y="3162988"/>
            <a:ext cx="1705390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80" b="1">
                <a:solidFill>
                  <a:srgbClr val="002B1C"/>
                </a:solidFill>
                <a:latin typeface="SimSun"/>
                <a:ea typeface="SimSun"/>
                <a:cs typeface="SimSun"/>
              </a:rPr>
              <a:t>目标市场特性</a:t>
            </a:r>
            <a:endParaRPr lang="zh-CN" sz="1980"/>
          </a:p>
        </p:txBody>
      </p:sp>
      <p:sp>
        <p:nvSpPr>
          <p:cNvPr id="52" name="TextBox 52"/>
          <p:cNvSpPr txBox="1"/>
          <p:nvPr/>
        </p:nvSpPr>
        <p:spPr>
          <a:xfrm>
            <a:off x="6292623" y="3716876"/>
            <a:ext cx="612191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FFFDF1"/>
                </a:solidFill>
                <a:latin typeface="KaiTi"/>
                <a:ea typeface="KaiTi"/>
                <a:cs typeface="KaiTi"/>
              </a:rPr>
              <a:t>六</a:t>
            </a:r>
            <a:endParaRPr lang="zh-CN" sz="2800"/>
          </a:p>
        </p:txBody>
      </p:sp>
      <p:sp>
        <p:nvSpPr>
          <p:cNvPr id="53" name="TextBox 53"/>
          <p:cNvSpPr txBox="1"/>
          <p:nvPr/>
        </p:nvSpPr>
        <p:spPr>
          <a:xfrm>
            <a:off x="7342094" y="3833484"/>
            <a:ext cx="2470629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80" b="1">
                <a:solidFill>
                  <a:srgbClr val="002B1C"/>
                </a:solidFill>
                <a:latin typeface="SimSun"/>
                <a:ea typeface="SimSun"/>
                <a:cs typeface="SimSun"/>
              </a:rPr>
              <a:t>品牌建设与市场营销</a:t>
            </a:r>
            <a:endParaRPr lang="zh-CN" sz="1980"/>
          </a:p>
        </p:txBody>
      </p:sp>
      <p:sp>
        <p:nvSpPr>
          <p:cNvPr id="54" name="TextBox 54"/>
          <p:cNvSpPr txBox="1"/>
          <p:nvPr/>
        </p:nvSpPr>
        <p:spPr>
          <a:xfrm>
            <a:off x="6270759" y="4380083"/>
            <a:ext cx="619479" cy="561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FFFDF1"/>
                </a:solidFill>
                <a:latin typeface="KaiTi"/>
                <a:ea typeface="KaiTi"/>
                <a:cs typeface="KaiTi"/>
              </a:rPr>
              <a:t>七</a:t>
            </a:r>
            <a:endParaRPr lang="zh-CN" sz="2800"/>
          </a:p>
        </p:txBody>
      </p:sp>
      <p:sp>
        <p:nvSpPr>
          <p:cNvPr id="55" name="TextBox 55"/>
          <p:cNvSpPr txBox="1"/>
          <p:nvPr/>
        </p:nvSpPr>
        <p:spPr>
          <a:xfrm>
            <a:off x="7349382" y="4511267"/>
            <a:ext cx="3141124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80" b="1">
                <a:solidFill>
                  <a:srgbClr val="002B1C"/>
                </a:solidFill>
                <a:latin typeface="SimSun"/>
                <a:ea typeface="SimSun"/>
                <a:cs typeface="SimSun"/>
              </a:rPr>
              <a:t>新市场拓展计划与资金预算</a:t>
            </a:r>
            <a:endParaRPr lang="zh-CN" sz="1980"/>
          </a:p>
        </p:txBody>
      </p:sp>
      <p:sp>
        <p:nvSpPr>
          <p:cNvPr id="56" name="TextBox 56"/>
          <p:cNvSpPr txBox="1"/>
          <p:nvPr/>
        </p:nvSpPr>
        <p:spPr>
          <a:xfrm>
            <a:off x="6227031" y="5057866"/>
            <a:ext cx="626767" cy="5684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FFFDF1"/>
                </a:solidFill>
                <a:latin typeface="KaiTi"/>
                <a:ea typeface="KaiTi"/>
                <a:cs typeface="KaiTi"/>
              </a:rPr>
              <a:t>八</a:t>
            </a:r>
            <a:endParaRPr lang="zh-CN" sz="2800"/>
          </a:p>
        </p:txBody>
      </p:sp>
      <p:sp>
        <p:nvSpPr>
          <p:cNvPr id="57" name="TextBox 57"/>
          <p:cNvSpPr txBox="1"/>
          <p:nvPr/>
        </p:nvSpPr>
        <p:spPr>
          <a:xfrm>
            <a:off x="7327518" y="5174474"/>
            <a:ext cx="1231671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80" b="1">
                <a:solidFill>
                  <a:srgbClr val="002B1C"/>
                </a:solidFill>
                <a:latin typeface="SimSun"/>
                <a:ea typeface="SimSun"/>
                <a:cs typeface="SimSun"/>
              </a:rPr>
              <a:t>前景分析</a:t>
            </a:r>
            <a:endParaRPr lang="zh-CN" sz="1980"/>
          </a:p>
        </p:txBody>
      </p:sp>
      <p:sp>
        <p:nvSpPr>
          <p:cNvPr id="58" name="TextBox 58"/>
          <p:cNvSpPr txBox="1"/>
          <p:nvPr/>
        </p:nvSpPr>
        <p:spPr>
          <a:xfrm>
            <a:off x="6176016" y="5728361"/>
            <a:ext cx="626767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FFFDF1"/>
                </a:solidFill>
                <a:latin typeface="KaiTi"/>
                <a:ea typeface="KaiTi"/>
                <a:cs typeface="KaiTi"/>
              </a:rPr>
              <a:t>九</a:t>
            </a:r>
            <a:endParaRPr lang="zh-CN" sz="2800"/>
          </a:p>
        </p:txBody>
      </p:sp>
      <p:sp>
        <p:nvSpPr>
          <p:cNvPr id="59" name="TextBox 59"/>
          <p:cNvSpPr txBox="1"/>
          <p:nvPr/>
        </p:nvSpPr>
        <p:spPr>
          <a:xfrm>
            <a:off x="7269214" y="5852257"/>
            <a:ext cx="2864181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80" b="1">
                <a:solidFill>
                  <a:srgbClr val="002B1C"/>
                </a:solidFill>
                <a:latin typeface="SimSun"/>
                <a:ea typeface="SimSun"/>
                <a:cs typeface="SimSun"/>
              </a:rPr>
              <a:t>发展规划与合作版图构建</a:t>
            </a:r>
            <a:endParaRPr lang="zh-CN" sz="1980"/>
          </a:p>
        </p:txBody>
      </p:sp>
      <p:sp>
        <p:nvSpPr>
          <p:cNvPr id="60" name="TextBox 60"/>
          <p:cNvSpPr txBox="1"/>
          <p:nvPr/>
        </p:nvSpPr>
        <p:spPr>
          <a:xfrm>
            <a:off x="1052557" y="342536"/>
            <a:ext cx="2550797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30" b="1">
                <a:solidFill>
                  <a:srgbClr val="002B1C"/>
                </a:solidFill>
                <a:latin typeface="SimSun"/>
                <a:ea typeface="SimSun"/>
                <a:cs typeface="SimSun"/>
              </a:rPr>
              <a:t>绿膜润土，耕耀暹罗</a:t>
            </a:r>
            <a:endParaRPr lang="zh-CN" sz="2130"/>
          </a:p>
        </p:txBody>
      </p:sp>
      <p:sp>
        <p:nvSpPr>
          <p:cNvPr id="61" name="TextBox 61"/>
          <p:cNvSpPr txBox="1"/>
          <p:nvPr/>
        </p:nvSpPr>
        <p:spPr>
          <a:xfrm>
            <a:off x="1380517" y="1195231"/>
            <a:ext cx="1967758" cy="182928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0">
                <a:solidFill>
                  <a:srgbClr val="004C20"/>
                </a:solidFill>
                <a:latin typeface="KaiTi"/>
                <a:ea typeface="KaiTi"/>
                <a:cs typeface="KaiTi"/>
              </a:rPr>
              <a:t>目</a:t>
            </a:r>
            <a:endParaRPr lang="zh-CN" sz="15500"/>
          </a:p>
        </p:txBody>
      </p:sp>
      <p:sp>
        <p:nvSpPr>
          <p:cNvPr id="62" name="TextBox 62"/>
          <p:cNvSpPr txBox="1"/>
          <p:nvPr/>
        </p:nvSpPr>
        <p:spPr>
          <a:xfrm>
            <a:off x="2830827" y="1064047"/>
            <a:ext cx="2259277" cy="21062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0">
                <a:solidFill>
                  <a:srgbClr val="D99900"/>
                </a:solidFill>
                <a:latin typeface="KaiTi"/>
                <a:ea typeface="KaiTi"/>
                <a:cs typeface="KaiTi"/>
              </a:rPr>
              <a:t>录</a:t>
            </a:r>
            <a:endParaRPr lang="zh-CN" sz="15500"/>
          </a:p>
        </p:txBody>
      </p:sp>
      <p:sp>
        <p:nvSpPr>
          <p:cNvPr id="63" name="TextBox 63"/>
          <p:cNvSpPr txBox="1"/>
          <p:nvPr/>
        </p:nvSpPr>
        <p:spPr>
          <a:xfrm>
            <a:off x="1978132" y="2973501"/>
            <a:ext cx="1924030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30" b="1">
                <a:solidFill>
                  <a:srgbClr val="063E26"/>
                </a:solidFill>
                <a:latin typeface="Liberation Serif"/>
                <a:ea typeface="Liberation Serif"/>
                <a:cs typeface="Liberation Serif"/>
              </a:rPr>
              <a:t>C O N T E N T S</a:t>
            </a:r>
            <a:endParaRPr lang="zh-CN" sz="183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Thai mountain/temple/palm/crop-row landscape with overlaid foreground removed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3814706" y="3265020"/>
            <a:ext cx="371688" cy="0"/>
          </a:xfrm>
          <a:prstGeom prst="line">
            <a:avLst/>
          </a:prstGeom>
          <a:noFill/>
          <a:ln w="8890">
            <a:solidFill>
              <a:srgbClr val="4A7043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7670054" y="3265020"/>
            <a:ext cx="342536" cy="0"/>
          </a:xfrm>
          <a:prstGeom prst="line">
            <a:avLst/>
          </a:prstGeom>
          <a:noFill/>
          <a:ln w="8890">
            <a:solidFill>
              <a:srgbClr val="4A7043"/>
            </a:solidFill>
          </a:ln>
        </p:spPr>
        <p:txBody>
          <a:bodyPr/>
          <a:lstStyle/>
          <a:p/>
        </p:txBody>
      </p:sp>
      <p:pic>
        <p:nvPicPr>
          <p:cNvPr id="5" name="Original dark green brushstroke plate, all readable Chinese glyphs/outlines/shadows removed."/>
          <p:cNvPicPr/>
          <p:nvPr/>
        </p:nvPicPr>
        <p:blipFill>
          <a:blip r:embed="rId3"/>
          <a:stretch>
            <a:fillRect/>
          </a:stretch>
        </p:blipFill>
        <p:spPr>
          <a:xfrm>
            <a:off x="3442320" y="1224383"/>
            <a:ext cx="4017080" cy="991167"/>
          </a:xfrm>
          <a:prstGeom prst="rect">
            <a:avLst/>
          </a:prstGeom>
        </p:spPr>
      </p:pic>
      <p:pic>
        <p:nvPicPr>
          <p:cNvPr id="6" name="Original small detached leaf near upper-left number; isolated complete."/>
          <p:cNvPicPr/>
          <p:nvPr/>
        </p:nvPicPr>
        <p:blipFill>
          <a:blip r:embed="rId6"/>
          <a:stretch>
            <a:fillRect/>
          </a:stretch>
        </p:blipFill>
        <p:spPr>
          <a:xfrm>
            <a:off x="505367" y="1394894"/>
            <a:ext cx="642525" cy="540824"/>
          </a:xfrm>
          <a:prstGeom prst="rect">
            <a:avLst/>
          </a:prstGeom>
        </p:spPr>
      </p:pic>
      <p:pic>
        <p:nvPicPr>
          <p:cNvPr id="7" name="Original detached green leaf above middle title; isolated complete."/>
          <p:cNvPicPr/>
          <p:nvPr/>
        </p:nvPicPr>
        <p:blipFill>
          <a:blip r:embed="rId7"/>
          <a:stretch>
            <a:fillRect/>
          </a:stretch>
        </p:blipFill>
        <p:spPr>
          <a:xfrm>
            <a:off x="6823270" y="1827535"/>
            <a:ext cx="578505" cy="499085"/>
          </a:xfrm>
          <a:prstGeom prst="rect">
            <a:avLst/>
          </a:prstGeom>
        </p:spPr>
      </p:pic>
      <p:pic>
        <p:nvPicPr>
          <p:cNvPr id="8" name="Original silver plastic mulch roll with local attached loose sheet, dark winding and tan core at right; original orientation/material."/>
          <p:cNvPicPr/>
          <p:nvPr/>
        </p:nvPicPr>
        <p:blipFill>
          <a:blip r:embed="rId8"/>
          <a:stretch>
            <a:fillRect/>
          </a:stretch>
        </p:blipFill>
        <p:spPr>
          <a:xfrm>
            <a:off x="7878976" y="4620235"/>
            <a:ext cx="4069129" cy="1808124"/>
          </a:xfrm>
          <a:prstGeom prst="rect">
            <a:avLst/>
          </a:prstGeom>
        </p:spPr>
      </p:pic>
      <p:pic>
        <p:nvPicPr>
          <p:cNvPr id="9" name="Original green-gold ribbon under title with attached leaf sprig at right; no title glyphs."/>
          <p:cNvPicPr/>
          <p:nvPr/>
        </p:nvPicPr>
        <p:blipFill>
          <a:blip r:embed="rId5"/>
          <a:stretch>
            <a:fillRect/>
          </a:stretch>
        </p:blipFill>
        <p:spPr>
          <a:xfrm>
            <a:off x="7263729" y="2284265"/>
            <a:ext cx="3785575" cy="1218136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914086" y="969303"/>
            <a:ext cx="2769437" cy="24341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500" b="1" i="1">
                <a:solidFill>
                  <a:srgbClr val="075025"/>
                </a:solidFill>
                <a:latin typeface="Liberation Serif"/>
                <a:ea typeface="Liberation Serif"/>
                <a:cs typeface="Liberation Serif"/>
              </a:rPr>
              <a:t>01</a:t>
            </a:r>
            <a:endParaRPr lang="zh-CN" sz="21500"/>
          </a:p>
        </p:txBody>
      </p:sp>
      <p:sp>
        <p:nvSpPr>
          <p:cNvPr id="11" name="TextBox 11"/>
          <p:cNvSpPr txBox="1"/>
          <p:nvPr/>
        </p:nvSpPr>
        <p:spPr>
          <a:xfrm>
            <a:off x="4004194" y="1370142"/>
            <a:ext cx="2237413" cy="6923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4020" b="1">
                <a:solidFill>
                  <a:srgbClr val="FFF0C7"/>
                </a:solidFill>
                <a:latin typeface="SimSun"/>
                <a:ea typeface="SimSun"/>
                <a:cs typeface="SimSun"/>
              </a:rPr>
              <a:t>第一部分</a:t>
            </a:r>
            <a:endParaRPr lang="zh-CN" sz="4020"/>
          </a:p>
        </p:txBody>
      </p:sp>
      <p:sp>
        <p:nvSpPr>
          <p:cNvPr id="12" name="TextBox 12"/>
          <p:cNvSpPr txBox="1"/>
          <p:nvPr/>
        </p:nvSpPr>
        <p:spPr>
          <a:xfrm>
            <a:off x="3792842" y="2120806"/>
            <a:ext cx="6814272" cy="95472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900" b="1">
                <a:solidFill>
                  <a:srgbClr val="073A19"/>
                </a:solidFill>
                <a:latin typeface="SimSun"/>
                <a:ea typeface="SimSun"/>
                <a:cs typeface="SimSun"/>
              </a:rPr>
              <a:t>企业基础</a:t>
            </a:r>
            <a:r>
              <a:rPr lang="zh-CN" sz="5900" b="1">
                <a:solidFill>
                  <a:srgbClr val="A56B05"/>
                </a:solidFill>
                <a:latin typeface="SimSun"/>
                <a:ea typeface="SimSun"/>
                <a:cs typeface="SimSun"/>
              </a:rPr>
              <a:t>与产品</a:t>
            </a:r>
            <a:r>
              <a:rPr lang="zh-CN" sz="5900" b="1">
                <a:solidFill>
                  <a:srgbClr val="073A19"/>
                </a:solidFill>
                <a:latin typeface="SimSun"/>
                <a:ea typeface="SimSun"/>
                <a:cs typeface="SimSun"/>
              </a:rPr>
              <a:t>概况</a:t>
            </a:r>
            <a:endParaRPr lang="zh-CN" sz="5900"/>
          </a:p>
        </p:txBody>
      </p:sp>
      <p:sp>
        <p:nvSpPr>
          <p:cNvPr id="13" name="TextBox 13"/>
          <p:cNvSpPr txBox="1"/>
          <p:nvPr/>
        </p:nvSpPr>
        <p:spPr>
          <a:xfrm>
            <a:off x="4266562" y="3119260"/>
            <a:ext cx="3330612" cy="2915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70">
                <a:solidFill>
                  <a:srgbClr val="285A39"/>
                </a:solidFill>
                <a:latin typeface="Liberation Serif"/>
                <a:ea typeface="Liberation Serif"/>
                <a:cs typeface="Liberation Serif"/>
              </a:rPr>
              <a:t>Company Profile &amp; Product Overview</a:t>
            </a:r>
            <a:endParaRPr lang="zh-CN" sz="1670"/>
          </a:p>
        </p:txBody>
      </p:sp>
      <p:pic>
        <p:nvPicPr>
          <p:cNvPr id="14" name="Original green-gold looping ribbon beneath chapter number with attached leaf sprig; all digit strokes removed."/>
          <p:cNvPicPr/>
          <p:nvPr/>
        </p:nvPicPr>
        <p:blipFill>
          <a:blip r:embed="rId4"/>
          <a:stretch>
            <a:fillRect/>
          </a:stretch>
        </p:blipFill>
        <p:spPr>
          <a:xfrm>
            <a:off x="337131" y="2161450"/>
            <a:ext cx="3448925" cy="15876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