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8963025" cy="159258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ivory diagonal rays and brown faceted base, foreground removed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63025" cy="15925800"/>
          </a:xfrm>
          <a:prstGeom prst="rect">
            <a:avLst/>
          </a:prstGeom>
        </p:spPr>
      </p:pic>
      <p:sp>
        <p:nvSpPr>
          <p:cNvPr id="3" name="Rect 3"/>
          <p:cNvSpPr/>
          <p:nvPr/>
        </p:nvSpPr>
        <p:spPr>
          <a:xfrm>
            <a:off x="0" y="15440025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297656" y="15440025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595312" y="15440025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892969" y="15440025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1190625" y="15440025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1488281" y="15440025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1785938" y="15440025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2083594" y="15440025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2381250" y="15440025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2678906" y="15440025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2976563" y="15440025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3274219" y="15440025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3571875" y="15440025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3869531" y="15440025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4167188" y="15440025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4464844" y="15440025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4762500" y="15440025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5060156" y="15440025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5357812" y="15440025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5655469" y="15440025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5953125" y="15440025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6250781" y="15440025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6548438" y="15440025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6846094" y="15440025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7143750" y="15440025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7441406" y="15440025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7739063" y="15440025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8036719" y="15440025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8334375" y="15440025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8632031" y="15440025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8929688" y="15440025"/>
            <a:ext cx="33338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0" y="15682913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297656" y="15682913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595312" y="15682913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892969" y="15682913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1190625" y="15682913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1488281" y="15682913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1785938" y="15682913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2083594" y="15682913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2381250" y="15682913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2678906" y="15682913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2976563" y="15682913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3274219" y="15682913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3571875" y="15682913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3869531" y="15682913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4167188" y="15682913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4464844" y="15682913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4762500" y="15682913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5060156" y="15682913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5357812" y="15682913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5655469" y="15682913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5953125" y="15682913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6250781" y="15682913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6548438" y="15682913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6846094" y="15682913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7143750" y="15682913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7441406" y="15682913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7739063" y="15682913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8036719" y="15682913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8334375" y="15682913"/>
            <a:ext cx="297656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8632031" y="15682913"/>
            <a:ext cx="297656" cy="242888"/>
          </a:xfrm>
          <a:prstGeom prst="rect">
            <a:avLst/>
          </a:prstGeom>
          <a:solidFill>
            <a:srgbClr val="FFF7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8929688" y="15682913"/>
            <a:ext cx="33338" cy="242888"/>
          </a:xfrm>
          <a:prstGeom prst="rect">
            <a:avLst/>
          </a:prstGeom>
          <a:solidFill>
            <a:srgbClr val="7C4624"/>
          </a:solidFill>
          <a:ln>
            <a:noFill/>
          </a:ln>
        </p:spPr>
        <p:txBody>
          <a:bodyPr/>
          <a:lstStyle/>
          <a:p/>
        </p:txBody>
      </p:sp>
      <p:pic>
        <p:nvPicPr>
          <p:cNvPr id="65" name="Original long tilted gold orbit, separate from editable title."/>
          <p:cNvPicPr/>
          <p:nvPr/>
        </p:nvPicPr>
        <p:blipFill>
          <a:blip r:embed="rId3"/>
          <a:stretch>
            <a:fillRect/>
          </a:stretch>
        </p:blipFill>
        <p:spPr>
          <a:xfrm>
            <a:off x="35552" y="126676"/>
            <a:ext cx="5577484" cy="3194439"/>
          </a:xfrm>
          <a:prstGeom prst="rect">
            <a:avLst/>
          </a:prstGeom>
        </p:spPr>
      </p:pic>
      <p:pic>
        <p:nvPicPr>
          <p:cNvPr id="66" name="Source gold crown above the title."/>
          <p:cNvPicPr/>
          <p:nvPr/>
        </p:nvPicPr>
        <p:blipFill>
          <a:blip r:embed="rId4"/>
          <a:stretch>
            <a:fillRect/>
          </a:stretch>
        </p:blipFill>
        <p:spPr>
          <a:xfrm>
            <a:off x="5331008" y="773430"/>
            <a:ext cx="1168034" cy="843280"/>
          </a:xfrm>
          <a:prstGeom prst="rect">
            <a:avLst/>
          </a:prstGeom>
        </p:spPr>
      </p:pic>
      <p:pic>
        <p:nvPicPr>
          <p:cNvPr id="67" name="Source gold gift and bow."/>
          <p:cNvPicPr/>
          <p:nvPr/>
        </p:nvPicPr>
        <p:blipFill>
          <a:blip r:embed="rId5"/>
          <a:stretch>
            <a:fillRect/>
          </a:stretch>
        </p:blipFill>
        <p:spPr>
          <a:xfrm>
            <a:off x="6920279" y="264094"/>
            <a:ext cx="1618517" cy="1205600"/>
          </a:xfrm>
          <a:prstGeom prst="rect">
            <a:avLst/>
          </a:prstGeom>
        </p:spPr>
      </p:pic>
      <p:pic>
        <p:nvPicPr>
          <p:cNvPr id="68" name="Source four-point dark brown sparkle."/>
          <p:cNvPicPr/>
          <p:nvPr/>
        </p:nvPicPr>
        <p:blipFill>
          <a:blip r:embed="rId6"/>
          <a:stretch>
            <a:fillRect/>
          </a:stretch>
        </p:blipFill>
        <p:spPr>
          <a:xfrm>
            <a:off x="436789" y="1025744"/>
            <a:ext cx="555171" cy="605987"/>
          </a:xfrm>
          <a:prstGeom prst="rect">
            <a:avLst/>
          </a:prstGeom>
        </p:spPr>
      </p:pic>
      <p:pic>
        <p:nvPicPr>
          <p:cNvPr id="69" name="Second independently positioned instance of source sparkle."/>
          <p:cNvPicPr/>
          <p:nvPr/>
        </p:nvPicPr>
        <p:blipFill>
          <a:blip r:embed="rId7"/>
          <a:stretch>
            <a:fillRect/>
          </a:stretch>
        </p:blipFill>
        <p:spPr>
          <a:xfrm>
            <a:off x="8362950" y="2256768"/>
            <a:ext cx="485775" cy="525189"/>
          </a:xfrm>
          <a:prstGeom prst="rect">
            <a:avLst/>
          </a:prstGeom>
        </p:spPr>
      </p:pic>
      <p:pic>
        <p:nvPicPr>
          <p:cNvPr id="70" name="Original upper brown/gold ribbon with all editable wording removed."/>
          <p:cNvPicPr/>
          <p:nvPr/>
        </p:nvPicPr>
        <p:blipFill>
          <a:blip r:embed="rId8"/>
          <a:stretch>
            <a:fillRect/>
          </a:stretch>
        </p:blipFill>
        <p:spPr>
          <a:xfrm>
            <a:off x="376767" y="2533149"/>
            <a:ext cx="8315678" cy="1943852"/>
          </a:xfrm>
          <a:prstGeom prst="rect">
            <a:avLst/>
          </a:prstGeom>
        </p:spPr>
      </p:pic>
      <p:pic>
        <p:nvPicPr>
          <p:cNvPr id="71" name="Original left name-divider flourish."/>
          <p:cNvPicPr/>
          <p:nvPr/>
        </p:nvPicPr>
        <p:blipFill>
          <a:blip r:embed="rId10"/>
          <a:stretch>
            <a:fillRect/>
          </a:stretch>
        </p:blipFill>
        <p:spPr>
          <a:xfrm>
            <a:off x="834808" y="4334193"/>
            <a:ext cx="1390911" cy="288925"/>
          </a:xfrm>
          <a:prstGeom prst="rect">
            <a:avLst/>
          </a:prstGeom>
        </p:spPr>
      </p:pic>
      <p:pic>
        <p:nvPicPr>
          <p:cNvPr id="72" name="Original right name-divider flourish."/>
          <p:cNvPicPr/>
          <p:nvPr/>
        </p:nvPicPr>
        <p:blipFill>
          <a:blip r:embed="rId11"/>
          <a:stretch>
            <a:fillRect/>
          </a:stretch>
        </p:blipFill>
        <p:spPr>
          <a:xfrm>
            <a:off x="6852940" y="4334193"/>
            <a:ext cx="1406936" cy="288925"/>
          </a:xfrm>
          <a:prstGeom prst="rect">
            <a:avLst/>
          </a:prstGeom>
        </p:spPr>
      </p:pic>
      <p:pic>
        <p:nvPicPr>
          <p:cNvPr id="73" name="Original lobby windows and exterior water/landscape panel."/>
          <p:cNvPicPr/>
          <p:nvPr/>
        </p:nvPicPr>
        <p:blipFill>
          <a:blip r:embed="rId12"/>
          <a:stretch>
            <a:fillRect/>
          </a:stretch>
        </p:blipFill>
        <p:spPr>
          <a:xfrm>
            <a:off x="108313" y="4936490"/>
            <a:ext cx="3088549" cy="5919470"/>
          </a:xfrm>
          <a:prstGeom prst="rect">
            <a:avLst/>
          </a:prstGeom>
        </p:spPr>
      </p:pic>
      <p:pic>
        <p:nvPicPr>
          <p:cNvPr id="74" name="Original central lobby hallway with painting and chairs."/>
          <p:cNvPicPr/>
          <p:nvPr/>
        </p:nvPicPr>
        <p:blipFill>
          <a:blip r:embed="rId13"/>
          <a:stretch>
            <a:fillRect/>
          </a:stretch>
        </p:blipFill>
        <p:spPr>
          <a:xfrm>
            <a:off x="3019610" y="5341067"/>
            <a:ext cx="2923806" cy="5710392"/>
          </a:xfrm>
          <a:prstGeom prst="rect">
            <a:avLst/>
          </a:prstGeom>
        </p:spPr>
      </p:pic>
      <p:pic>
        <p:nvPicPr>
          <p:cNvPr id="75" name="Original lobby lattice wall, armchairs and table panel."/>
          <p:cNvPicPr/>
          <p:nvPr/>
        </p:nvPicPr>
        <p:blipFill>
          <a:blip r:embed="rId14"/>
          <a:stretch>
            <a:fillRect/>
          </a:stretch>
        </p:blipFill>
        <p:spPr>
          <a:xfrm>
            <a:off x="5767286" y="5345070"/>
            <a:ext cx="3086303" cy="5511886"/>
          </a:xfrm>
          <a:prstGeom prst="rect">
            <a:avLst/>
          </a:prstGeom>
        </p:spPr>
      </p:pic>
      <p:pic>
        <p:nvPicPr>
          <p:cNvPr id="76" name="Source cream bed pictogram."/>
          <p:cNvPicPr/>
          <p:nvPr/>
        </p:nvPicPr>
        <p:blipFill>
          <a:blip r:embed="rId16"/>
          <a:stretch>
            <a:fillRect/>
          </a:stretch>
        </p:blipFill>
        <p:spPr>
          <a:xfrm>
            <a:off x="903380" y="12673965"/>
            <a:ext cx="1174565" cy="885825"/>
          </a:xfrm>
          <a:prstGeom prst="rect">
            <a:avLst/>
          </a:prstGeom>
        </p:spPr>
      </p:pic>
      <p:pic>
        <p:nvPicPr>
          <p:cNvPr id="77" name="Source cream overlapping-card pictogram with plus sign."/>
          <p:cNvPicPr/>
          <p:nvPr/>
        </p:nvPicPr>
        <p:blipFill>
          <a:blip r:embed="rId17"/>
          <a:stretch>
            <a:fillRect/>
          </a:stretch>
        </p:blipFill>
        <p:spPr>
          <a:xfrm>
            <a:off x="3182874" y="12663616"/>
            <a:ext cx="989330" cy="914143"/>
          </a:xfrm>
          <a:prstGeom prst="rect">
            <a:avLst/>
          </a:prstGeom>
        </p:spPr>
      </p:pic>
      <p:pic>
        <p:nvPicPr>
          <p:cNvPr id="78" name="Source cream refund shield; ¥ is part of identity artwork."/>
          <p:cNvPicPr/>
          <p:nvPr/>
        </p:nvPicPr>
        <p:blipFill>
          <a:blip r:embed="rId18"/>
          <a:stretch>
            <a:fillRect/>
          </a:stretch>
        </p:blipFill>
        <p:spPr>
          <a:xfrm>
            <a:off x="5242167" y="12624054"/>
            <a:ext cx="898040" cy="993267"/>
          </a:xfrm>
          <a:prstGeom prst="rect">
            <a:avLst/>
          </a:prstGeom>
        </p:spPr>
      </p:pic>
      <p:pic>
        <p:nvPicPr>
          <p:cNvPr id="79" name="Original gold ticket tab with source text removed."/>
          <p:cNvPicPr/>
          <p:nvPr/>
        </p:nvPicPr>
        <p:blipFill>
          <a:blip r:embed="rId9"/>
          <a:stretch>
            <a:fillRect/>
          </a:stretch>
        </p:blipFill>
        <p:spPr>
          <a:xfrm>
            <a:off x="481120" y="2859828"/>
            <a:ext cx="3274666" cy="1643662"/>
          </a:xfrm>
          <a:prstGeom prst="rect">
            <a:avLst/>
          </a:prstGeom>
        </p:spPr>
      </p:pic>
      <p:pic>
        <p:nvPicPr>
          <p:cNvPr id="80" name="Source luminous gold/brown price plate, room/price removed."/>
          <p:cNvPicPr/>
          <p:nvPr/>
        </p:nvPicPr>
        <p:blipFill>
          <a:blip r:embed="rId15"/>
          <a:stretch>
            <a:fillRect/>
          </a:stretch>
        </p:blipFill>
        <p:spPr>
          <a:xfrm>
            <a:off x="43914" y="10547771"/>
            <a:ext cx="8930166" cy="2093459"/>
          </a:xfrm>
          <a:prstGeom prst="rect">
            <a:avLst/>
          </a:prstGeom>
        </p:spPr>
      </p:pic>
      <p:pic>
        <p:nvPicPr>
          <p:cNvPr id="81" name="User-authorized exact original QR pixels"/>
          <p:cNvPicPr/>
          <p:nvPr/>
        </p:nvPicPr>
        <p:blipFill>
          <a:blip r:embed="rId19"/>
          <a:stretch>
            <a:fillRect/>
          </a:stretch>
        </p:blipFill>
        <p:spPr>
          <a:xfrm>
            <a:off x="7105650" y="12601575"/>
            <a:ext cx="1381125" cy="1438275"/>
          </a:xfrm>
          <a:prstGeom prst="rect">
            <a:avLst/>
          </a:prstGeom>
        </p:spPr>
      </p:pic>
      <p:sp>
        <p:nvSpPr>
          <p:cNvPr id="82" name="Line 82"/>
          <p:cNvSpPr/>
          <p:nvPr/>
        </p:nvSpPr>
        <p:spPr>
          <a:xfrm>
            <a:off x="5133975" y="11220450"/>
            <a:ext cx="0" cy="619125"/>
          </a:xfrm>
          <a:prstGeom prst="line">
            <a:avLst/>
          </a:prstGeom>
          <a:noFill/>
          <a:ln w="12700">
            <a:solidFill>
              <a:srgbClr val="FFF3D5"/>
            </a:solidFill>
          </a:ln>
        </p:spPr>
        <p:txBody>
          <a:bodyPr/>
          <a:lstStyle/>
          <a:p/>
        </p:txBody>
      </p:sp>
      <p:sp>
        <p:nvSpPr>
          <p:cNvPr id="83" name="Line 83"/>
          <p:cNvSpPr/>
          <p:nvPr/>
        </p:nvSpPr>
        <p:spPr>
          <a:xfrm>
            <a:off x="2571750" y="12877800"/>
            <a:ext cx="0" cy="1295400"/>
          </a:xfrm>
          <a:prstGeom prst="line">
            <a:avLst/>
          </a:prstGeom>
          <a:noFill/>
          <a:ln w="10160">
            <a:solidFill>
              <a:srgbClr val="E2B373"/>
            </a:solidFill>
          </a:ln>
        </p:spPr>
        <p:txBody>
          <a:bodyPr/>
          <a:lstStyle/>
          <a:p/>
        </p:txBody>
      </p:sp>
      <p:sp>
        <p:nvSpPr>
          <p:cNvPr id="84" name="Line 84"/>
          <p:cNvSpPr/>
          <p:nvPr/>
        </p:nvSpPr>
        <p:spPr>
          <a:xfrm>
            <a:off x="4686300" y="12877800"/>
            <a:ext cx="0" cy="1295400"/>
          </a:xfrm>
          <a:prstGeom prst="line">
            <a:avLst/>
          </a:prstGeom>
          <a:noFill/>
          <a:ln w="10160">
            <a:solidFill>
              <a:srgbClr val="E2B373"/>
            </a:solidFill>
          </a:ln>
        </p:spPr>
        <p:txBody>
          <a:bodyPr/>
          <a:lstStyle/>
          <a:p/>
        </p:txBody>
      </p:sp>
      <p:sp>
        <p:nvSpPr>
          <p:cNvPr id="85" name="Line 85"/>
          <p:cNvSpPr/>
          <p:nvPr/>
        </p:nvSpPr>
        <p:spPr>
          <a:xfrm>
            <a:off x="6657975" y="12877800"/>
            <a:ext cx="0" cy="1295400"/>
          </a:xfrm>
          <a:prstGeom prst="line">
            <a:avLst/>
          </a:prstGeom>
          <a:noFill/>
          <a:ln w="10160">
            <a:solidFill>
              <a:srgbClr val="E2B373"/>
            </a:solidFill>
          </a:ln>
        </p:spPr>
        <p:txBody>
          <a:bodyPr/>
          <a:lstStyle/>
          <a:p/>
        </p:txBody>
      </p:sp>
      <p:sp>
        <p:nvSpPr>
          <p:cNvPr id="86" name="Line 86"/>
          <p:cNvSpPr/>
          <p:nvPr/>
        </p:nvSpPr>
        <p:spPr>
          <a:xfrm>
            <a:off x="457200" y="14630400"/>
            <a:ext cx="8077200" cy="0"/>
          </a:xfrm>
          <a:prstGeom prst="line">
            <a:avLst/>
          </a:prstGeom>
          <a:noFill/>
          <a:ln w="7620">
            <a:solidFill>
              <a:srgbClr val="E0B98A"/>
            </a:solidFill>
          </a:ln>
        </p:spPr>
        <p:txBody>
          <a:bodyPr/>
          <a:lstStyle/>
          <a:p/>
        </p:txBody>
      </p:sp>
      <p:sp>
        <p:nvSpPr>
          <p:cNvPr id="87" name="Line 87"/>
          <p:cNvSpPr/>
          <p:nvPr/>
        </p:nvSpPr>
        <p:spPr>
          <a:xfrm>
            <a:off x="2619375" y="14801850"/>
            <a:ext cx="0" cy="228600"/>
          </a:xfrm>
          <a:prstGeom prst="line">
            <a:avLst/>
          </a:prstGeom>
          <a:noFill/>
          <a:ln w="7620">
            <a:solidFill>
              <a:srgbClr val="FFF5DB"/>
            </a:solidFill>
          </a:ln>
        </p:spPr>
        <p:txBody>
          <a:bodyPr/>
          <a:lstStyle/>
          <a:p/>
        </p:txBody>
      </p:sp>
      <p:sp>
        <p:nvSpPr>
          <p:cNvPr id="88" name="Line 88"/>
          <p:cNvSpPr/>
          <p:nvPr/>
        </p:nvSpPr>
        <p:spPr>
          <a:xfrm>
            <a:off x="4524375" y="14801850"/>
            <a:ext cx="0" cy="228600"/>
          </a:xfrm>
          <a:prstGeom prst="line">
            <a:avLst/>
          </a:prstGeom>
          <a:noFill/>
          <a:ln w="7620">
            <a:solidFill>
              <a:srgbClr val="FFF5DB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>
            <a:off x="6419850" y="14801850"/>
            <a:ext cx="0" cy="228600"/>
          </a:xfrm>
          <a:prstGeom prst="line">
            <a:avLst/>
          </a:prstGeom>
          <a:noFill/>
          <a:ln w="7620">
            <a:solidFill>
              <a:srgbClr val="FFF5DB"/>
            </a:solidFill>
          </a:ln>
        </p:spPr>
        <p:txBody>
          <a:bodyPr/>
          <a:lstStyle/>
          <a:p/>
        </p:txBody>
      </p:sp>
      <p:sp>
        <p:nvSpPr>
          <p:cNvPr id="90" name="TextBox 90"/>
          <p:cNvSpPr txBox="1"/>
          <p:nvPr/>
        </p:nvSpPr>
        <p:spPr>
          <a:xfrm rot="21000000">
            <a:off x="657225" y="1104900"/>
            <a:ext cx="2076450" cy="2019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200" b="1" i="1">
                <a:solidFill>
                  <a:srgbClr val="F4B23B"/>
                </a:solidFill>
                <a:latin typeface="Microsoft YaHei"/>
                <a:ea typeface="Microsoft YaHei"/>
                <a:cs typeface="Microsoft YaHei"/>
              </a:rPr>
              <a:t>双</a:t>
            </a:r>
            <a:endParaRPr lang="zh-CN" sz="14200"/>
          </a:p>
        </p:txBody>
      </p:sp>
      <p:sp>
        <p:nvSpPr>
          <p:cNvPr id="91" name="TextBox 91"/>
          <p:cNvSpPr txBox="1"/>
          <p:nvPr/>
        </p:nvSpPr>
        <p:spPr>
          <a:xfrm rot="21000000">
            <a:off x="2686050" y="542925"/>
            <a:ext cx="1828800" cy="2466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500" i="1">
                <a:solidFill>
                  <a:srgbClr val="F4B23B"/>
                </a:solidFill>
                <a:latin typeface="Impact"/>
                <a:ea typeface="Impact"/>
                <a:cs typeface="Impact"/>
              </a:rPr>
              <a:t>11</a:t>
            </a:r>
            <a:endParaRPr lang="zh-CN" sz="19500"/>
          </a:p>
        </p:txBody>
      </p:sp>
      <p:sp>
        <p:nvSpPr>
          <p:cNvPr id="92" name="TextBox 92"/>
          <p:cNvSpPr txBox="1"/>
          <p:nvPr/>
        </p:nvSpPr>
        <p:spPr>
          <a:xfrm rot="21180000">
            <a:off x="4381500" y="1323975"/>
            <a:ext cx="4124325" cy="15049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50" b="1" i="1">
                <a:solidFill>
                  <a:srgbClr val="54290D"/>
                </a:solidFill>
                <a:latin typeface="Microsoft YaHei"/>
                <a:ea typeface="Microsoft YaHei"/>
                <a:cs typeface="Microsoft YaHei"/>
              </a:rPr>
              <a:t>囤房季</a:t>
            </a:r>
            <a:endParaRPr lang="zh-CN" sz="10650"/>
          </a:p>
        </p:txBody>
      </p:sp>
      <p:sp>
        <p:nvSpPr>
          <p:cNvPr id="93" name="TextBox 93"/>
          <p:cNvSpPr txBox="1"/>
          <p:nvPr/>
        </p:nvSpPr>
        <p:spPr>
          <a:xfrm rot="21300000">
            <a:off x="904875" y="3143250"/>
            <a:ext cx="2314575" cy="990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850" b="1" i="1">
                <a:solidFill>
                  <a:srgbClr val="5A2A08"/>
                </a:solidFill>
                <a:latin typeface="Microsoft YaHei"/>
                <a:ea typeface="Microsoft YaHei"/>
                <a:cs typeface="Microsoft YaHei"/>
              </a:rPr>
              <a:t>三次卡</a:t>
            </a:r>
            <a:endParaRPr lang="zh-CN" sz="5850"/>
          </a:p>
        </p:txBody>
      </p:sp>
      <p:sp>
        <p:nvSpPr>
          <p:cNvPr id="94" name="TextBox 94"/>
          <p:cNvSpPr txBox="1"/>
          <p:nvPr/>
        </p:nvSpPr>
        <p:spPr>
          <a:xfrm rot="21300000">
            <a:off x="3514725" y="3076575"/>
            <a:ext cx="4705350" cy="5905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040" b="1" i="1">
                <a:solidFill>
                  <a:srgbClr val="FFF9ED"/>
                </a:solidFill>
                <a:latin typeface="Microsoft YaHei"/>
                <a:ea typeface="Microsoft YaHei"/>
                <a:cs typeface="Microsoft YaHei"/>
              </a:rPr>
              <a:t>限时开售 | 提前囤房更划算</a:t>
            </a:r>
            <a:endParaRPr lang="zh-CN" sz="3040"/>
          </a:p>
        </p:txBody>
      </p:sp>
      <p:sp>
        <p:nvSpPr>
          <p:cNvPr id="95" name="TextBox 95"/>
          <p:cNvSpPr txBox="1"/>
          <p:nvPr/>
        </p:nvSpPr>
        <p:spPr>
          <a:xfrm rot="0">
            <a:off x="2381250" y="4114800"/>
            <a:ext cx="4333875" cy="6953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4000" b="1">
                <a:solidFill>
                  <a:srgbClr val="54290D"/>
                </a:solidFill>
                <a:latin typeface="Microsoft YaHei"/>
                <a:ea typeface="Microsoft YaHei"/>
                <a:cs typeface="Microsoft YaHei"/>
              </a:rPr>
              <a:t>尖峰·奢电竞酒店</a:t>
            </a:r>
            <a:endParaRPr lang="zh-CN" sz="4000"/>
          </a:p>
        </p:txBody>
      </p:sp>
      <p:sp>
        <p:nvSpPr>
          <p:cNvPr id="96" name="TextBox 96"/>
          <p:cNvSpPr txBox="1"/>
          <p:nvPr/>
        </p:nvSpPr>
        <p:spPr>
          <a:xfrm rot="0">
            <a:off x="2352675" y="4791075"/>
            <a:ext cx="4352925" cy="4476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00">
                <a:solidFill>
                  <a:srgbClr val="54290D"/>
                </a:solidFill>
                <a:latin typeface="Microsoft YaHei"/>
                <a:ea typeface="Microsoft YaHei"/>
                <a:cs typeface="Microsoft YaHei"/>
              </a:rPr>
              <a:t>遵义珠海路国贸购物中心店</a:t>
            </a:r>
            <a:endParaRPr lang="zh-CN" sz="2600"/>
          </a:p>
        </p:txBody>
      </p:sp>
      <p:sp>
        <p:nvSpPr>
          <p:cNvPr id="97" name="TextBox 97"/>
          <p:cNvSpPr txBox="1"/>
          <p:nvPr/>
        </p:nvSpPr>
        <p:spPr>
          <a:xfrm rot="21360000">
            <a:off x="762000" y="11296650"/>
            <a:ext cx="4191000" cy="638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200" b="1" i="1">
                <a:solidFill>
                  <a:srgbClr val="FFF9ED"/>
                </a:solidFill>
                <a:latin typeface="Microsoft YaHei"/>
                <a:ea typeface="Microsoft YaHei"/>
                <a:cs typeface="Microsoft YaHei"/>
              </a:rPr>
              <a:t>至臻电竞单电脑大床房</a:t>
            </a:r>
            <a:endParaRPr lang="zh-CN" sz="3200"/>
          </a:p>
        </p:txBody>
      </p:sp>
      <p:sp>
        <p:nvSpPr>
          <p:cNvPr id="98" name="TextBox 98"/>
          <p:cNvSpPr txBox="1"/>
          <p:nvPr/>
        </p:nvSpPr>
        <p:spPr>
          <a:xfrm rot="0">
            <a:off x="5305425" y="11391900"/>
            <a:ext cx="342900" cy="5048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00" b="1" i="1">
                <a:solidFill>
                  <a:srgbClr val="FFE09C"/>
                </a:solidFill>
                <a:latin typeface="Liberation Sans"/>
                <a:ea typeface="Liberation Sans"/>
                <a:cs typeface="Liberation Sans"/>
              </a:rPr>
              <a:t>¥</a:t>
            </a:r>
            <a:endParaRPr lang="zh-CN" sz="2700"/>
          </a:p>
        </p:txBody>
      </p:sp>
      <p:sp>
        <p:nvSpPr>
          <p:cNvPr id="99" name="TextBox 99"/>
          <p:cNvSpPr txBox="1"/>
          <p:nvPr/>
        </p:nvSpPr>
        <p:spPr>
          <a:xfrm rot="0">
            <a:off x="5648325" y="10839450"/>
            <a:ext cx="2009775" cy="12382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380" b="1" i="1">
                <a:solidFill>
                  <a:srgbClr val="FFE099"/>
                </a:solidFill>
                <a:latin typeface="Liberation Sans"/>
                <a:ea typeface="Liberation Sans"/>
                <a:cs typeface="Liberation Sans"/>
              </a:rPr>
              <a:t>468</a:t>
            </a:r>
            <a:endParaRPr lang="zh-CN" sz="9380"/>
          </a:p>
        </p:txBody>
      </p:sp>
      <p:sp>
        <p:nvSpPr>
          <p:cNvPr id="100" name="TextBox 100"/>
          <p:cNvSpPr txBox="1"/>
          <p:nvPr/>
        </p:nvSpPr>
        <p:spPr>
          <a:xfrm rot="0">
            <a:off x="7639050" y="11249025"/>
            <a:ext cx="904875" cy="638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100" b="1" i="1">
                <a:solidFill>
                  <a:srgbClr val="FFF9ED"/>
                </a:solidFill>
                <a:latin typeface="Microsoft YaHei"/>
                <a:ea typeface="Microsoft YaHei"/>
                <a:cs typeface="Microsoft YaHei"/>
              </a:rPr>
              <a:t>/3晚</a:t>
            </a:r>
            <a:endParaRPr lang="zh-CN" sz="3100"/>
          </a:p>
        </p:txBody>
      </p:sp>
      <p:sp>
        <p:nvSpPr>
          <p:cNvPr id="101" name="TextBox 101"/>
          <p:cNvSpPr txBox="1"/>
          <p:nvPr/>
        </p:nvSpPr>
        <p:spPr>
          <a:xfrm rot="0">
            <a:off x="866775" y="13496925"/>
            <a:ext cx="1257300" cy="8572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>
                <a:solidFill>
                  <a:srgbClr val="FFF5DB"/>
                </a:solidFill>
                <a:latin typeface="Microsoft YaHei"/>
                <a:ea typeface="Microsoft YaHei"/>
                <a:cs typeface="Microsoft YaHei"/>
              </a:rPr>
              <a:t>住宿权益</a:t>
            </a:r>
            <a:endParaRPr lang="zh-CN" sz="2300"/>
          </a:p>
          <a:p>
            <a:pPr algn="ctr"/>
            <a:r>
              <a:rPr lang="zh-CN" sz="2300">
                <a:solidFill>
                  <a:srgbClr val="FFF5DB"/>
                </a:solidFill>
                <a:latin typeface="Microsoft YaHei"/>
                <a:ea typeface="Microsoft YaHei"/>
                <a:cs typeface="Microsoft YaHei"/>
              </a:rPr>
              <a:t>提前囤</a:t>
            </a:r>
            <a:endParaRPr lang="zh-CN" sz="2300"/>
          </a:p>
        </p:txBody>
      </p:sp>
      <p:sp>
        <p:nvSpPr>
          <p:cNvPr id="102" name="TextBox 102"/>
          <p:cNvSpPr txBox="1"/>
          <p:nvPr/>
        </p:nvSpPr>
        <p:spPr>
          <a:xfrm rot="0">
            <a:off x="3019425" y="13496925"/>
            <a:ext cx="1257300" cy="8572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>
                <a:solidFill>
                  <a:srgbClr val="FFF5DB"/>
                </a:solidFill>
                <a:latin typeface="Microsoft YaHei"/>
                <a:ea typeface="Microsoft YaHei"/>
                <a:cs typeface="Microsoft YaHei"/>
              </a:rPr>
              <a:t>支持拆分</a:t>
            </a:r>
            <a:endParaRPr lang="zh-CN" sz="2300"/>
          </a:p>
          <a:p>
            <a:pPr algn="ctr"/>
            <a:r>
              <a:rPr lang="zh-CN" sz="2300">
                <a:solidFill>
                  <a:srgbClr val="FFF5DB"/>
                </a:solidFill>
                <a:latin typeface="Microsoft YaHei"/>
                <a:ea typeface="Microsoft YaHei"/>
                <a:cs typeface="Microsoft YaHei"/>
              </a:rPr>
              <a:t>使用</a:t>
            </a:r>
            <a:endParaRPr lang="zh-CN" sz="2300"/>
          </a:p>
        </p:txBody>
      </p:sp>
      <p:sp>
        <p:nvSpPr>
          <p:cNvPr id="103" name="TextBox 103"/>
          <p:cNvSpPr txBox="1"/>
          <p:nvPr/>
        </p:nvSpPr>
        <p:spPr>
          <a:xfrm rot="0">
            <a:off x="5048250" y="13496925"/>
            <a:ext cx="1266825" cy="8572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>
                <a:solidFill>
                  <a:srgbClr val="FFF5DB"/>
                </a:solidFill>
                <a:latin typeface="Microsoft YaHei"/>
                <a:ea typeface="Microsoft YaHei"/>
                <a:cs typeface="Microsoft YaHei"/>
              </a:rPr>
              <a:t>未使用</a:t>
            </a:r>
            <a:endParaRPr lang="zh-CN" sz="2300"/>
          </a:p>
          <a:p>
            <a:pPr algn="ctr"/>
            <a:r>
              <a:rPr lang="zh-CN" sz="2300">
                <a:solidFill>
                  <a:srgbClr val="FFF5DB"/>
                </a:solidFill>
                <a:latin typeface="Microsoft YaHei"/>
                <a:ea typeface="Microsoft YaHei"/>
                <a:cs typeface="Microsoft YaHei"/>
              </a:rPr>
              <a:t>支持退款</a:t>
            </a:r>
            <a:endParaRPr lang="zh-CN" sz="2300"/>
          </a:p>
        </p:txBody>
      </p:sp>
      <p:sp>
        <p:nvSpPr>
          <p:cNvPr id="104" name="TextBox 104"/>
          <p:cNvSpPr txBox="1"/>
          <p:nvPr/>
        </p:nvSpPr>
        <p:spPr>
          <a:xfrm rot="0">
            <a:off x="7181850" y="14001750"/>
            <a:ext cx="1266825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>
                <a:solidFill>
                  <a:srgbClr val="FFF5DB"/>
                </a:solidFill>
                <a:latin typeface="Microsoft YaHei"/>
                <a:ea typeface="Microsoft YaHei"/>
                <a:cs typeface="Microsoft YaHei"/>
              </a:rPr>
              <a:t>扫码预订</a:t>
            </a:r>
            <a:endParaRPr lang="zh-CN" sz="2300"/>
          </a:p>
        </p:txBody>
      </p:sp>
      <p:sp>
        <p:nvSpPr>
          <p:cNvPr id="105" name="TextBox 105"/>
          <p:cNvSpPr txBox="1"/>
          <p:nvPr/>
        </p:nvSpPr>
        <p:spPr>
          <a:xfrm rot="0">
            <a:off x="904875" y="14716125"/>
            <a:ext cx="1571625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00">
                <a:solidFill>
                  <a:srgbClr val="FFF5DB"/>
                </a:solidFill>
                <a:latin typeface="Microsoft YaHei"/>
                <a:ea typeface="Microsoft YaHei"/>
                <a:cs typeface="Microsoft YaHei"/>
              </a:rPr>
              <a:t>全国连锁品牌</a:t>
            </a:r>
            <a:endParaRPr lang="zh-CN" sz="1900"/>
          </a:p>
        </p:txBody>
      </p:sp>
      <p:sp>
        <p:nvSpPr>
          <p:cNvPr id="106" name="TextBox 106"/>
          <p:cNvSpPr txBox="1"/>
          <p:nvPr/>
        </p:nvSpPr>
        <p:spPr>
          <a:xfrm rot="0">
            <a:off x="2809875" y="14716125"/>
            <a:ext cx="1571625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00">
                <a:solidFill>
                  <a:srgbClr val="FFF5DB"/>
                </a:solidFill>
                <a:latin typeface="Microsoft YaHei"/>
                <a:ea typeface="Microsoft YaHei"/>
                <a:cs typeface="Microsoft YaHei"/>
              </a:rPr>
              <a:t>舒享旅居空间</a:t>
            </a:r>
            <a:endParaRPr lang="zh-CN" sz="1900"/>
          </a:p>
        </p:txBody>
      </p:sp>
      <p:sp>
        <p:nvSpPr>
          <p:cNvPr id="107" name="TextBox 107"/>
          <p:cNvSpPr txBox="1"/>
          <p:nvPr/>
        </p:nvSpPr>
        <p:spPr>
          <a:xfrm rot="0">
            <a:off x="4724400" y="14716125"/>
            <a:ext cx="1571625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00">
                <a:solidFill>
                  <a:srgbClr val="FFF5DB"/>
                </a:solidFill>
                <a:latin typeface="Microsoft YaHei"/>
                <a:ea typeface="Microsoft YaHei"/>
                <a:cs typeface="Microsoft YaHei"/>
              </a:rPr>
              <a:t>电竞休娱阵地</a:t>
            </a:r>
            <a:endParaRPr lang="zh-CN" sz="1900"/>
          </a:p>
        </p:txBody>
      </p:sp>
      <p:sp>
        <p:nvSpPr>
          <p:cNvPr id="108" name="TextBox 108"/>
          <p:cNvSpPr txBox="1"/>
          <p:nvPr/>
        </p:nvSpPr>
        <p:spPr>
          <a:xfrm rot="0">
            <a:off x="6619875" y="14716125"/>
            <a:ext cx="1571625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00">
                <a:solidFill>
                  <a:srgbClr val="FFF5DB"/>
                </a:solidFill>
                <a:latin typeface="Microsoft YaHei"/>
                <a:ea typeface="Microsoft YaHei"/>
                <a:cs typeface="Microsoft YaHei"/>
              </a:rPr>
              <a:t>商务出行驿站</a:t>
            </a:r>
            <a:endParaRPr lang="zh-CN"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