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131184"/>
            <a:ext cx="182200" cy="597615"/>
          </a:xfrm>
          <a:prstGeom prst="rect">
            <a:avLst/>
          </a:prstGeom>
          <a:solidFill>
            <a:srgbClr val="C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43590" y="131184"/>
            <a:ext cx="58304" cy="597615"/>
          </a:xfrm>
          <a:prstGeom prst="rect">
            <a:avLst/>
          </a:prstGeom>
          <a:solidFill>
            <a:srgbClr val="C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9783571" y="0"/>
            <a:ext cx="2405037" cy="408128"/>
          </a:xfrm>
          <a:prstGeom prst="rect">
            <a:avLst/>
          </a:prstGeom>
          <a:solidFill>
            <a:srgbClr val="EAF1F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7990725" y="1967758"/>
            <a:ext cx="3891787" cy="1275399"/>
          </a:xfrm>
          <a:prstGeom prst="roundRect">
            <a:avLst>
              <a:gd name="adj" fmla="val 7429"/>
            </a:avLst>
          </a:prstGeom>
          <a:solidFill>
            <a:srgbClr val="D7D7D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7990725" y="3308748"/>
            <a:ext cx="3891787" cy="1282687"/>
          </a:xfrm>
          <a:prstGeom prst="roundRect">
            <a:avLst>
              <a:gd name="adj" fmla="val 7386"/>
            </a:avLst>
          </a:prstGeom>
          <a:solidFill>
            <a:srgbClr val="D7D7D7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7990725" y="4657027"/>
            <a:ext cx="3891787" cy="1224383"/>
          </a:xfrm>
          <a:prstGeom prst="roundRect">
            <a:avLst>
              <a:gd name="adj" fmla="val 7738"/>
            </a:avLst>
          </a:prstGeom>
          <a:solidFill>
            <a:srgbClr val="D7D7D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345622" y="874559"/>
            <a:ext cx="11522315" cy="685071"/>
          </a:xfrm>
          <a:prstGeom prst="roundRect">
            <a:avLst>
              <a:gd name="adj" fmla="val 15957"/>
            </a:avLst>
          </a:prstGeom>
          <a:solidFill>
            <a:srgbClr val="E0EDF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52910" y="1945894"/>
            <a:ext cx="7470191" cy="3891787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0057A2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69518" y="2149957"/>
            <a:ext cx="1537766" cy="2040638"/>
          </a:xfrm>
          <a:prstGeom prst="roundRect">
            <a:avLst>
              <a:gd name="adj" fmla="val 9005"/>
            </a:avLst>
          </a:prstGeom>
          <a:solidFill>
            <a:srgbClr val="FFE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2517444" y="2055214"/>
            <a:ext cx="3323324" cy="1158791"/>
          </a:xfrm>
          <a:prstGeom prst="roundRect">
            <a:avLst>
              <a:gd name="adj" fmla="val 10063"/>
            </a:avLst>
          </a:prstGeom>
          <a:solidFill>
            <a:srgbClr val="E4F0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6168728" y="3119260"/>
            <a:ext cx="1559630" cy="1209807"/>
          </a:xfrm>
          <a:prstGeom prst="roundRect">
            <a:avLst>
              <a:gd name="adj" fmla="val 9639"/>
            </a:avLst>
          </a:prstGeom>
          <a:solidFill>
            <a:srgbClr val="E4F0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579945" y="4256187"/>
            <a:ext cx="1690814" cy="1486750"/>
          </a:xfrm>
          <a:prstGeom prst="roundRect">
            <a:avLst>
              <a:gd name="adj" fmla="val 7843"/>
            </a:avLst>
          </a:prstGeom>
          <a:solidFill>
            <a:srgbClr val="E2E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69518" y="4999562"/>
            <a:ext cx="2288429" cy="750663"/>
          </a:xfrm>
          <a:prstGeom prst="roundRect">
            <a:avLst>
              <a:gd name="adj" fmla="val 13592"/>
            </a:avLst>
          </a:prstGeom>
          <a:solidFill>
            <a:srgbClr val="F6F6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7976149" y="1953182"/>
            <a:ext cx="3899075" cy="1275399"/>
          </a:xfrm>
          <a:prstGeom prst="roundRect">
            <a:avLst>
              <a:gd name="adj" fmla="val 7429"/>
            </a:avLst>
          </a:prstGeom>
          <a:solidFill>
            <a:srgbClr val="FD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7976149" y="3294172"/>
            <a:ext cx="3899075" cy="1282687"/>
          </a:xfrm>
          <a:prstGeom prst="roundRect">
            <a:avLst>
              <a:gd name="adj" fmla="val 7386"/>
            </a:avLst>
          </a:prstGeom>
          <a:solidFill>
            <a:srgbClr val="F4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7976149" y="4642451"/>
            <a:ext cx="3899075" cy="1224383"/>
          </a:xfrm>
          <a:prstGeom prst="roundRect">
            <a:avLst>
              <a:gd name="adj" fmla="val 7738"/>
            </a:avLst>
          </a:prstGeom>
          <a:solidFill>
            <a:srgbClr val="F4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352910" y="5939713"/>
            <a:ext cx="11515027" cy="459143"/>
          </a:xfrm>
          <a:prstGeom prst="roundRect">
            <a:avLst>
              <a:gd name="adj" fmla="val 19048"/>
            </a:avLst>
          </a:prstGeom>
          <a:solidFill>
            <a:srgbClr val="104C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8566477" y="2922485"/>
            <a:ext cx="3308748" cy="306096"/>
          </a:xfrm>
          <a:prstGeom prst="roundRect">
            <a:avLst>
              <a:gd name="adj" fmla="val 23810"/>
            </a:avLst>
          </a:prstGeom>
          <a:solidFill>
            <a:srgbClr val="F4E6E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8566477" y="4270763"/>
            <a:ext cx="3308748" cy="306096"/>
          </a:xfrm>
          <a:prstGeom prst="roundRect">
            <a:avLst>
              <a:gd name="adj" fmla="val 23810"/>
            </a:avLst>
          </a:prstGeom>
          <a:solidFill>
            <a:srgbClr val="E3EE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8566477" y="5560738"/>
            <a:ext cx="3308748" cy="306096"/>
          </a:xfrm>
          <a:prstGeom prst="roundRect">
            <a:avLst>
              <a:gd name="adj" fmla="val 23810"/>
            </a:avLst>
          </a:prstGeom>
          <a:solidFill>
            <a:srgbClr val="E7EC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8566477" y="2922485"/>
            <a:ext cx="3308748" cy="94744"/>
          </a:xfrm>
          <a:prstGeom prst="rect">
            <a:avLst/>
          </a:prstGeom>
          <a:solidFill>
            <a:srgbClr val="F4E6E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8566477" y="4270763"/>
            <a:ext cx="3308748" cy="94744"/>
          </a:xfrm>
          <a:prstGeom prst="rect">
            <a:avLst/>
          </a:prstGeom>
          <a:solidFill>
            <a:srgbClr val="E3EE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8566477" y="5560738"/>
            <a:ext cx="3308748" cy="94744"/>
          </a:xfrm>
          <a:prstGeom prst="rect">
            <a:avLst/>
          </a:prstGeom>
          <a:solidFill>
            <a:srgbClr val="E7EC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352910" y="736087"/>
            <a:ext cx="11515027" cy="0"/>
          </a:xfrm>
          <a:prstGeom prst="line">
            <a:avLst/>
          </a:prstGeom>
          <a:noFill/>
          <a:ln w="7620">
            <a:solidFill>
              <a:srgbClr val="9A9A9A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352910" y="896423"/>
            <a:ext cx="1100487" cy="386264"/>
          </a:xfrm>
          <a:prstGeom prst="roundRect">
            <a:avLst>
              <a:gd name="adj" fmla="val 18868"/>
            </a:avLst>
          </a:prstGeom>
          <a:solidFill>
            <a:srgbClr val="CC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4864177" y="2499781"/>
            <a:ext cx="925575" cy="429991"/>
          </a:xfrm>
          <a:prstGeom prst="roundRect">
            <a:avLst>
              <a:gd name="adj" fmla="val 16949"/>
            </a:avLst>
          </a:prstGeom>
          <a:solidFill>
            <a:srgbClr val="CA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7976149" y="1953182"/>
            <a:ext cx="590327" cy="1275399"/>
          </a:xfrm>
          <a:prstGeom prst="roundRect">
            <a:avLst>
              <a:gd name="adj" fmla="val 16049"/>
            </a:avLst>
          </a:prstGeom>
          <a:solidFill>
            <a:srgbClr val="CC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7976149" y="3294172"/>
            <a:ext cx="590327" cy="1282687"/>
          </a:xfrm>
          <a:prstGeom prst="roundRect">
            <a:avLst>
              <a:gd name="adj" fmla="val 16049"/>
            </a:avLst>
          </a:prstGeom>
          <a:solidFill>
            <a:srgbClr val="147EB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7976149" y="4642451"/>
            <a:ext cx="590327" cy="1224383"/>
          </a:xfrm>
          <a:prstGeom prst="roundRect">
            <a:avLst>
              <a:gd name="adj" fmla="val 16049"/>
            </a:avLst>
          </a:prstGeom>
          <a:solidFill>
            <a:srgbClr val="073D6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352910" y="6493600"/>
            <a:ext cx="11515027" cy="0"/>
          </a:xfrm>
          <a:prstGeom prst="line">
            <a:avLst/>
          </a:prstGeom>
          <a:noFill/>
          <a:ln w="7620">
            <a:solidFill>
              <a:srgbClr val="9D9D9D"/>
            </a:solidFill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8369701" y="1953182"/>
            <a:ext cx="196776" cy="1275399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8369701" y="3294172"/>
            <a:ext cx="196776" cy="1282687"/>
          </a:xfrm>
          <a:prstGeom prst="rect">
            <a:avLst/>
          </a:prstGeom>
          <a:solidFill>
            <a:srgbClr val="147EB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8369701" y="4642451"/>
            <a:ext cx="196776" cy="1224383"/>
          </a:xfrm>
          <a:prstGeom prst="rect">
            <a:avLst/>
          </a:prstGeom>
          <a:solidFill>
            <a:srgbClr val="073D6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5" name="Original aged intestinal-villus illustration and integrated local damage cue; all surrounding labels native."/>
          <p:cNvPicPr/>
          <p:nvPr/>
        </p:nvPicPr>
        <p:blipFill>
          <a:blip r:embed="rId2"/>
          <a:stretch>
            <a:fillRect/>
          </a:stretch>
        </p:blipFill>
        <p:spPr>
          <a:xfrm>
            <a:off x="514534" y="2972064"/>
            <a:ext cx="1425870" cy="899296"/>
          </a:xfrm>
          <a:prstGeom prst="rect">
            <a:avLst/>
          </a:prstGeom>
        </p:spPr>
      </p:pic>
      <p:pic>
        <p:nvPicPr>
          <p:cNvPr id="36" name="Original small orange soybean container and soybean mark."/>
          <p:cNvPicPr/>
          <p:nvPr/>
        </p:nvPicPr>
        <p:blipFill>
          <a:blip r:embed="rId3"/>
          <a:stretch>
            <a:fillRect/>
          </a:stretch>
        </p:blipFill>
        <p:spPr>
          <a:xfrm>
            <a:off x="2568049" y="2496437"/>
            <a:ext cx="321493" cy="407527"/>
          </a:xfrm>
          <a:prstGeom prst="rect">
            <a:avLst/>
          </a:prstGeom>
        </p:spPr>
      </p:pic>
      <p:pic>
        <p:nvPicPr>
          <p:cNvPr id="37" name="Source multicolor soybean-protein fold, preserving its color arrangement."/>
          <p:cNvPicPr/>
          <p:nvPr/>
        </p:nvPicPr>
        <p:blipFill>
          <a:blip r:embed="rId4"/>
          <a:stretch>
            <a:fillRect/>
          </a:stretch>
        </p:blipFill>
        <p:spPr>
          <a:xfrm>
            <a:off x="2877128" y="2347591"/>
            <a:ext cx="723655" cy="632340"/>
          </a:xfrm>
          <a:prstGeom prst="rect">
            <a:avLst/>
          </a:prstGeom>
        </p:spPr>
      </p:pic>
      <p:pic>
        <p:nvPicPr>
          <p:cNvPr id="38" name="Source beige peptide/bean-fragment cluster."/>
          <p:cNvPicPr/>
          <p:nvPr/>
        </p:nvPicPr>
        <p:blipFill>
          <a:blip r:embed="rId5"/>
          <a:stretch>
            <a:fillRect/>
          </a:stretch>
        </p:blipFill>
        <p:spPr>
          <a:xfrm>
            <a:off x="4025674" y="2436207"/>
            <a:ext cx="569230" cy="535275"/>
          </a:xfrm>
          <a:prstGeom prst="rect">
            <a:avLst/>
          </a:prstGeom>
        </p:spPr>
      </p:pic>
      <p:pic>
        <p:nvPicPr>
          <p:cNvPr id="39" name="Source red gradient down-arrow, separate from native white label text."/>
          <p:cNvPicPr/>
          <p:nvPr/>
        </p:nvPicPr>
        <p:blipFill>
          <a:blip r:embed="rId6"/>
          <a:stretch>
            <a:fillRect/>
          </a:stretch>
        </p:blipFill>
        <p:spPr>
          <a:xfrm>
            <a:off x="4614810" y="2479756"/>
            <a:ext cx="250943" cy="433603"/>
          </a:xfrm>
          <a:prstGeom prst="rect">
            <a:avLst/>
          </a:prstGeom>
        </p:spPr>
      </p:pic>
      <p:pic>
        <p:nvPicPr>
          <p:cNvPr id="40" name="Source pale-orange circle containing digestion-information fragments and particles."/>
          <p:cNvPicPr/>
          <p:nvPr/>
        </p:nvPicPr>
        <p:blipFill>
          <a:blip r:embed="rId7"/>
          <a:stretch>
            <a:fillRect/>
          </a:stretch>
        </p:blipFill>
        <p:spPr>
          <a:xfrm>
            <a:off x="6580251" y="2203454"/>
            <a:ext cx="853191" cy="869599"/>
          </a:xfrm>
          <a:prstGeom prst="rect">
            <a:avLst/>
          </a:prstGeom>
        </p:spPr>
      </p:pic>
      <p:pic>
        <p:nvPicPr>
          <p:cNvPr id="41" name="Source six-cell epithelial strip with four receptor groups, calcium dots and sensing arcs; source Ca²⁺ label removed and restored natively."/>
          <p:cNvPicPr/>
          <p:nvPr/>
        </p:nvPicPr>
        <p:blipFill>
          <a:blip r:embed="rId8"/>
          <a:stretch>
            <a:fillRect/>
          </a:stretch>
        </p:blipFill>
        <p:spPr>
          <a:xfrm>
            <a:off x="2465798" y="3262025"/>
            <a:ext cx="2122065" cy="1295966"/>
          </a:xfrm>
          <a:prstGeom prst="rect">
            <a:avLst/>
          </a:prstGeom>
        </p:spPr>
      </p:pic>
      <p:pic>
        <p:nvPicPr>
          <p:cNvPr id="42" name="Original green circular Tregs immune-cell graphic."/>
          <p:cNvPicPr/>
          <p:nvPr/>
        </p:nvPicPr>
        <p:blipFill>
          <a:blip r:embed="rId9"/>
          <a:stretch>
            <a:fillRect/>
          </a:stretch>
        </p:blipFill>
        <p:spPr>
          <a:xfrm>
            <a:off x="6380663" y="3556733"/>
            <a:ext cx="341368" cy="349437"/>
          </a:xfrm>
          <a:prstGeom prst="rect">
            <a:avLst/>
          </a:prstGeom>
        </p:spPr>
      </p:pic>
      <p:pic>
        <p:nvPicPr>
          <p:cNvPr id="43" name="Original purple circular immune-cell graphic."/>
          <p:cNvPicPr/>
          <p:nvPr/>
        </p:nvPicPr>
        <p:blipFill>
          <a:blip r:embed="rId10"/>
          <a:stretch>
            <a:fillRect/>
          </a:stretch>
        </p:blipFill>
        <p:spPr>
          <a:xfrm>
            <a:off x="6774278" y="3556669"/>
            <a:ext cx="341242" cy="349565"/>
          </a:xfrm>
          <a:prstGeom prst="rect">
            <a:avLst/>
          </a:prstGeom>
        </p:spPr>
      </p:pic>
      <p:pic>
        <p:nvPicPr>
          <p:cNvPr id="44" name="Original purple irregular myeloid/dendritic-cell graphic."/>
          <p:cNvPicPr/>
          <p:nvPr/>
        </p:nvPicPr>
        <p:blipFill>
          <a:blip r:embed="rId11"/>
          <a:stretch>
            <a:fillRect/>
          </a:stretch>
        </p:blipFill>
        <p:spPr>
          <a:xfrm>
            <a:off x="7115332" y="3533500"/>
            <a:ext cx="417085" cy="403190"/>
          </a:xfrm>
          <a:prstGeom prst="rect">
            <a:avLst/>
          </a:prstGeom>
        </p:spPr>
      </p:pic>
      <p:pic>
        <p:nvPicPr>
          <p:cNvPr id="45" name="Source five-cell repair strip, two central blue cells, four repair posts and red basal stripe; no text."/>
          <p:cNvPicPr/>
          <p:nvPr/>
        </p:nvPicPr>
        <p:blipFill>
          <a:blip r:embed="rId12"/>
          <a:stretch>
            <a:fillRect/>
          </a:stretch>
        </p:blipFill>
        <p:spPr>
          <a:xfrm>
            <a:off x="4622878" y="4861965"/>
            <a:ext cx="1633570" cy="668746"/>
          </a:xfrm>
          <a:prstGeom prst="rect">
            <a:avLst/>
          </a:prstGeom>
        </p:spPr>
      </p:pic>
      <p:pic>
        <p:nvPicPr>
          <p:cNvPr id="46" name="Source healthy older man with original green check and gold sparkles as one illustration; caption native."/>
          <p:cNvPicPr/>
          <p:nvPr/>
        </p:nvPicPr>
        <p:blipFill>
          <a:blip r:embed="rId13"/>
          <a:stretch>
            <a:fillRect/>
          </a:stretch>
        </p:blipFill>
        <p:spPr>
          <a:xfrm>
            <a:off x="6754440" y="4643345"/>
            <a:ext cx="920229" cy="894634"/>
          </a:xfrm>
          <a:prstGeom prst="rect">
            <a:avLst/>
          </a:prstGeom>
        </p:spPr>
      </p:pic>
      <p:sp>
        <p:nvSpPr>
          <p:cNvPr id="47" name="Rect 47"/>
          <p:cNvSpPr/>
          <p:nvPr/>
        </p:nvSpPr>
        <p:spPr>
          <a:xfrm>
            <a:off x="3472171" y="3425356"/>
            <a:ext cx="451855" cy="247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2058300" y="2543509"/>
            <a:ext cx="422704" cy="247792"/>
          </a:xfrm>
          <a:prstGeom prst="rightArrow">
            <a:avLst/>
          </a:prstGeom>
          <a:solidFill>
            <a:srgbClr val="258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3647082" y="2550797"/>
            <a:ext cx="342536" cy="225928"/>
          </a:xfrm>
          <a:prstGeom prst="rightArrow">
            <a:avLst/>
          </a:prstGeom>
          <a:solidFill>
            <a:srgbClr val="A9CEE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5928224" y="2543509"/>
            <a:ext cx="583039" cy="247792"/>
          </a:xfrm>
          <a:prstGeom prst="rightArrow">
            <a:avLst/>
          </a:prstGeom>
          <a:solidFill>
            <a:srgbClr val="258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2087452" y="3541964"/>
            <a:ext cx="437279" cy="240504"/>
          </a:xfrm>
          <a:prstGeom prst="rightArrow">
            <a:avLst/>
          </a:prstGeom>
          <a:solidFill>
            <a:srgbClr val="258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Path 52"/>
          <p:cNvSpPr/>
          <p:nvPr/>
        </p:nvSpPr>
        <p:spPr>
          <a:xfrm>
            <a:off x="4579945" y="3250444"/>
            <a:ext cx="386264" cy="49558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6518"/>
                </a:moveTo>
                <a:lnTo>
                  <a:pt x="11411" y="16518"/>
                </a:lnTo>
                <a:lnTo>
                  <a:pt x="11411" y="8576"/>
                </a:lnTo>
                <a:lnTo>
                  <a:pt x="8151" y="8576"/>
                </a:lnTo>
                <a:lnTo>
                  <a:pt x="14672" y="0"/>
                </a:lnTo>
                <a:lnTo>
                  <a:pt x="21600" y="8576"/>
                </a:lnTo>
                <a:lnTo>
                  <a:pt x="17932" y="8576"/>
                </a:lnTo>
                <a:lnTo>
                  <a:pt x="1793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58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Path 53"/>
          <p:cNvSpPr/>
          <p:nvPr/>
        </p:nvSpPr>
        <p:spPr>
          <a:xfrm>
            <a:off x="5323321" y="3665860"/>
            <a:ext cx="801679" cy="52473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lnTo>
                  <a:pt x="0" y="2700"/>
                </a:lnTo>
                <a:lnTo>
                  <a:pt x="16102" y="2700"/>
                </a:lnTo>
                <a:lnTo>
                  <a:pt x="16102" y="0"/>
                </a:lnTo>
                <a:lnTo>
                  <a:pt x="21600" y="5100"/>
                </a:lnTo>
                <a:lnTo>
                  <a:pt x="16102" y="9900"/>
                </a:lnTo>
                <a:lnTo>
                  <a:pt x="16102" y="7200"/>
                </a:lnTo>
                <a:lnTo>
                  <a:pt x="3338" y="7200"/>
                </a:lnTo>
                <a:lnTo>
                  <a:pt x="3338" y="21600"/>
                </a:lnTo>
                <a:close/>
              </a:path>
            </a:pathLst>
          </a:custGeom>
          <a:solidFill>
            <a:srgbClr val="258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Path 54"/>
          <p:cNvSpPr/>
          <p:nvPr/>
        </p:nvSpPr>
        <p:spPr>
          <a:xfrm>
            <a:off x="3464883" y="4795498"/>
            <a:ext cx="1042183" cy="45185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417" y="0"/>
                </a:lnTo>
                <a:lnTo>
                  <a:pt x="2417" y="12542"/>
                </a:lnTo>
                <a:lnTo>
                  <a:pt x="17220" y="12542"/>
                </a:lnTo>
                <a:lnTo>
                  <a:pt x="17220" y="9058"/>
                </a:lnTo>
                <a:lnTo>
                  <a:pt x="21600" y="15329"/>
                </a:lnTo>
                <a:lnTo>
                  <a:pt x="17220" y="21600"/>
                </a:lnTo>
                <a:lnTo>
                  <a:pt x="17220" y="18116"/>
                </a:lnTo>
                <a:lnTo>
                  <a:pt x="0" y="18116"/>
                </a:lnTo>
                <a:close/>
              </a:path>
            </a:pathLst>
          </a:custGeom>
          <a:solidFill>
            <a:srgbClr val="258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6358215" y="4999562"/>
            <a:ext cx="481007" cy="247792"/>
          </a:xfrm>
          <a:prstGeom prst="rightArrow">
            <a:avLst/>
          </a:prstGeom>
          <a:solidFill>
            <a:srgbClr val="2588C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extBox 56"/>
          <p:cNvSpPr txBox="1"/>
          <p:nvPr/>
        </p:nvSpPr>
        <p:spPr>
          <a:xfrm>
            <a:off x="469518" y="189488"/>
            <a:ext cx="9219309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70" b="1">
                <a:solidFill>
                  <a:srgbClr val="0C3B61"/>
                </a:solidFill>
                <a:latin typeface="Microsoft YaHei"/>
                <a:ea typeface="Microsoft YaHei"/>
                <a:cs typeface="Microsoft YaHei"/>
              </a:rPr>
              <a:t>科学假说与研究内容：经肠上皮Ca²⁺感知重塑衰老肠道免疫耐受</a:t>
            </a:r>
            <a:endParaRPr lang="zh-CN" sz="2470"/>
          </a:p>
        </p:txBody>
      </p:sp>
      <p:sp>
        <p:nvSpPr>
          <p:cNvPr id="57" name="TextBox 57"/>
          <p:cNvSpPr txBox="1"/>
          <p:nvPr/>
        </p:nvSpPr>
        <p:spPr>
          <a:xfrm>
            <a:off x="9929331" y="72880"/>
            <a:ext cx="2120806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 立项依据与关键科学问题</a:t>
            </a:r>
            <a:endParaRPr lang="zh-CN" sz="1250"/>
          </a:p>
        </p:txBody>
      </p:sp>
      <p:sp>
        <p:nvSpPr>
          <p:cNvPr id="58" name="TextBox 58"/>
          <p:cNvSpPr txBox="1"/>
          <p:nvPr/>
        </p:nvSpPr>
        <p:spPr>
          <a:xfrm>
            <a:off x="352910" y="896423"/>
            <a:ext cx="1100487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科学假说</a:t>
            </a:r>
            <a:endParaRPr lang="zh-CN" sz="1800"/>
          </a:p>
        </p:txBody>
      </p:sp>
      <p:sp>
        <p:nvSpPr>
          <p:cNvPr id="59" name="TextBox 59"/>
          <p:cNvSpPr txBox="1"/>
          <p:nvPr/>
        </p:nvSpPr>
        <p:spPr>
          <a:xfrm>
            <a:off x="1562717" y="918287"/>
            <a:ext cx="10188612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适度低致敏化加工重塑消化信息，经</a:t>
            </a:r>
            <a:r>
              <a:rPr lang="zh-CN" sz="1500" b="1">
                <a:solidFill>
                  <a:srgbClr val="D11919"/>
                </a:solidFill>
                <a:latin typeface="Microsoft YaHei"/>
                <a:ea typeface="Microsoft YaHei"/>
                <a:cs typeface="Microsoft YaHei"/>
              </a:rPr>
              <a:t>CaSR/Ca²⁺感知</a:t>
            </a:r>
            <a:r>
              <a:rPr lang="zh-CN"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改善上皮稳态，并驱动</a:t>
            </a:r>
            <a:r>
              <a:rPr lang="zh-CN" sz="1500" b="1">
                <a:solidFill>
                  <a:srgbClr val="D11919"/>
                </a:solidFill>
                <a:latin typeface="Microsoft YaHei"/>
                <a:ea typeface="Microsoft YaHei"/>
                <a:cs typeface="Microsoft YaHei"/>
              </a:rPr>
              <a:t>上皮—髓系细胞—Treg</a:t>
            </a:r>
            <a:r>
              <a:rPr lang="zh-CN"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信号转译，最终重建</a:t>
            </a:r>
            <a:endParaRPr lang="zh-CN" sz="1500"/>
          </a:p>
        </p:txBody>
      </p:sp>
      <p:sp>
        <p:nvSpPr>
          <p:cNvPr id="60" name="TextBox 60"/>
          <p:cNvSpPr txBox="1"/>
          <p:nvPr/>
        </p:nvSpPr>
        <p:spPr>
          <a:xfrm>
            <a:off x="1562717" y="1231671"/>
            <a:ext cx="2915197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衰老肠道</a:t>
            </a:r>
            <a:r>
              <a:rPr lang="zh-CN" sz="1500" b="1">
                <a:solidFill>
                  <a:srgbClr val="D11919"/>
                </a:solidFill>
                <a:latin typeface="Microsoft YaHei"/>
                <a:ea typeface="Microsoft YaHei"/>
                <a:cs typeface="Microsoft YaHei"/>
              </a:rPr>
              <a:t>免疫耐受</a:t>
            </a:r>
            <a:r>
              <a:rPr lang="zh-CN"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zh-CN" sz="1500"/>
          </a:p>
        </p:txBody>
      </p:sp>
      <p:sp>
        <p:nvSpPr>
          <p:cNvPr id="61" name="TextBox 61"/>
          <p:cNvSpPr txBox="1"/>
          <p:nvPr/>
        </p:nvSpPr>
        <p:spPr>
          <a:xfrm>
            <a:off x="411214" y="1639798"/>
            <a:ext cx="1610646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核心机制图</a:t>
            </a:r>
            <a:endParaRPr lang="zh-CN" sz="1600"/>
          </a:p>
        </p:txBody>
      </p:sp>
      <p:sp>
        <p:nvSpPr>
          <p:cNvPr id="62" name="TextBox 62"/>
          <p:cNvSpPr txBox="1"/>
          <p:nvPr/>
        </p:nvSpPr>
        <p:spPr>
          <a:xfrm>
            <a:off x="8012589" y="1639798"/>
            <a:ext cx="3833484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拟开展研究内容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（后续三页分别展开）</a:t>
            </a:r>
            <a:endParaRPr lang="zh-CN" sz="1500"/>
          </a:p>
        </p:txBody>
      </p:sp>
      <p:sp>
        <p:nvSpPr>
          <p:cNvPr id="63" name="TextBox 63"/>
          <p:cNvSpPr txBox="1"/>
          <p:nvPr/>
        </p:nvSpPr>
        <p:spPr>
          <a:xfrm>
            <a:off x="629854" y="2251989"/>
            <a:ext cx="1246247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衰老肠道微环境</a:t>
            </a:r>
            <a:endParaRPr lang="zh-CN" sz="1400"/>
          </a:p>
        </p:txBody>
      </p:sp>
      <p:sp>
        <p:nvSpPr>
          <p:cNvPr id="64" name="TextBox 64"/>
          <p:cNvSpPr txBox="1"/>
          <p:nvPr/>
        </p:nvSpPr>
        <p:spPr>
          <a:xfrm>
            <a:off x="688158" y="2499781"/>
            <a:ext cx="1115063" cy="1894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消化适应性下降</a:t>
            </a:r>
            <a:endParaRPr lang="zh-CN" sz="1150"/>
          </a:p>
        </p:txBody>
      </p:sp>
      <p:sp>
        <p:nvSpPr>
          <p:cNvPr id="65" name="TextBox 65"/>
          <p:cNvSpPr txBox="1"/>
          <p:nvPr/>
        </p:nvSpPr>
        <p:spPr>
          <a:xfrm>
            <a:off x="804766" y="2667405"/>
            <a:ext cx="903711" cy="1894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屏障受损</a:t>
            </a:r>
            <a:endParaRPr lang="zh-CN" sz="1150"/>
          </a:p>
        </p:txBody>
      </p:sp>
      <p:sp>
        <p:nvSpPr>
          <p:cNvPr id="66" name="TextBox 66"/>
          <p:cNvSpPr txBox="1"/>
          <p:nvPr/>
        </p:nvSpPr>
        <p:spPr>
          <a:xfrm>
            <a:off x="637142" y="2835029"/>
            <a:ext cx="1238959" cy="1894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黏膜免疫耐受减弱</a:t>
            </a:r>
            <a:endParaRPr lang="zh-CN" sz="1150"/>
          </a:p>
        </p:txBody>
      </p:sp>
      <p:sp>
        <p:nvSpPr>
          <p:cNvPr id="67" name="TextBox 67"/>
          <p:cNvSpPr txBox="1"/>
          <p:nvPr/>
        </p:nvSpPr>
        <p:spPr>
          <a:xfrm>
            <a:off x="600702" y="3869923"/>
            <a:ext cx="1297262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衰老肠道微环境</a:t>
            </a:r>
            <a:endParaRPr lang="zh-CN" sz="1400"/>
          </a:p>
        </p:txBody>
      </p:sp>
      <p:sp>
        <p:nvSpPr>
          <p:cNvPr id="68" name="TextBox 68"/>
          <p:cNvSpPr txBox="1"/>
          <p:nvPr/>
        </p:nvSpPr>
        <p:spPr>
          <a:xfrm>
            <a:off x="3319123" y="2120806"/>
            <a:ext cx="1902166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低致敏蛋白消化信息</a:t>
            </a:r>
            <a:endParaRPr lang="zh-CN" sz="1450"/>
          </a:p>
        </p:txBody>
      </p:sp>
      <p:sp>
        <p:nvSpPr>
          <p:cNvPr id="69" name="TextBox 69"/>
          <p:cNvSpPr txBox="1"/>
          <p:nvPr/>
        </p:nvSpPr>
        <p:spPr>
          <a:xfrm>
            <a:off x="2721508" y="2944349"/>
            <a:ext cx="976591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常规大豆蛋白</a:t>
            </a:r>
            <a:endParaRPr lang="zh-CN" sz="1250"/>
          </a:p>
        </p:txBody>
      </p:sp>
      <p:sp>
        <p:nvSpPr>
          <p:cNvPr id="70" name="TextBox 70"/>
          <p:cNvSpPr txBox="1"/>
          <p:nvPr/>
        </p:nvSpPr>
        <p:spPr>
          <a:xfrm>
            <a:off x="3836570" y="2944349"/>
            <a:ext cx="1085911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20" b="1">
                <a:solidFill>
                  <a:srgbClr val="D10B0B"/>
                </a:solidFill>
                <a:latin typeface="Microsoft YaHei"/>
                <a:ea typeface="Microsoft YaHei"/>
                <a:cs typeface="Microsoft YaHei"/>
              </a:rPr>
              <a:t>低致敏大豆蛋白</a:t>
            </a:r>
            <a:endParaRPr lang="zh-CN" sz="1220"/>
          </a:p>
        </p:txBody>
      </p:sp>
      <p:sp>
        <p:nvSpPr>
          <p:cNvPr id="71" name="TextBox 71"/>
          <p:cNvSpPr txBox="1"/>
          <p:nvPr/>
        </p:nvSpPr>
        <p:spPr>
          <a:xfrm>
            <a:off x="4864177" y="2499781"/>
            <a:ext cx="92557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抗原负荷下降</a:t>
            </a:r>
            <a:endParaRPr lang="zh-CN" sz="1150"/>
          </a:p>
          <a:p>
            <a:pPr algn="ctr"/>
            <a:r>
              <a:rPr lang="zh-CN"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特征肽形成</a:t>
            </a:r>
            <a:endParaRPr lang="zh-CN" sz="1150"/>
          </a:p>
        </p:txBody>
      </p:sp>
      <p:sp>
        <p:nvSpPr>
          <p:cNvPr id="72" name="TextBox 72"/>
          <p:cNvSpPr txBox="1"/>
          <p:nvPr/>
        </p:nvSpPr>
        <p:spPr>
          <a:xfrm>
            <a:off x="3486747" y="3425356"/>
            <a:ext cx="532023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Ca²⁺</a:t>
            </a:r>
            <a:endParaRPr lang="zh-CN" sz="1500"/>
          </a:p>
        </p:txBody>
      </p:sp>
      <p:sp>
        <p:nvSpPr>
          <p:cNvPr id="73" name="TextBox 73"/>
          <p:cNvSpPr txBox="1"/>
          <p:nvPr/>
        </p:nvSpPr>
        <p:spPr>
          <a:xfrm>
            <a:off x="2546596" y="4518555"/>
            <a:ext cx="2004198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肠上皮CaSR相关Ca²⁺感知</a:t>
            </a:r>
            <a:endParaRPr lang="zh-CN" sz="1250"/>
          </a:p>
        </p:txBody>
      </p:sp>
      <p:sp>
        <p:nvSpPr>
          <p:cNvPr id="74" name="TextBox 74"/>
          <p:cNvSpPr txBox="1"/>
          <p:nvPr/>
        </p:nvSpPr>
        <p:spPr>
          <a:xfrm>
            <a:off x="6248895" y="3148412"/>
            <a:ext cx="1413870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黏膜免疫耐受重塑</a:t>
            </a:r>
            <a:endParaRPr lang="zh-CN" sz="1350"/>
          </a:p>
        </p:txBody>
      </p:sp>
      <p:sp>
        <p:nvSpPr>
          <p:cNvPr id="75" name="TextBox 75"/>
          <p:cNvSpPr txBox="1"/>
          <p:nvPr/>
        </p:nvSpPr>
        <p:spPr>
          <a:xfrm>
            <a:off x="6380079" y="3374340"/>
            <a:ext cx="1268111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Tregs / tol-DCs/</a:t>
            </a:r>
            <a:endParaRPr lang="zh-CN" sz="1200"/>
          </a:p>
        </p:txBody>
      </p:sp>
      <p:sp>
        <p:nvSpPr>
          <p:cNvPr id="76" name="TextBox 76"/>
          <p:cNvSpPr txBox="1"/>
          <p:nvPr/>
        </p:nvSpPr>
        <p:spPr>
          <a:xfrm>
            <a:off x="6380079" y="3913651"/>
            <a:ext cx="1268111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Tregs / tol-DCs/</a:t>
            </a:r>
            <a:endParaRPr lang="zh-CN" sz="1200"/>
          </a:p>
        </p:txBody>
      </p:sp>
      <p:sp>
        <p:nvSpPr>
          <p:cNvPr id="77" name="TextBox 77"/>
          <p:cNvSpPr txBox="1"/>
          <p:nvPr/>
        </p:nvSpPr>
        <p:spPr>
          <a:xfrm>
            <a:off x="6365503" y="4081275"/>
            <a:ext cx="1319126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免疫耐受相关反应</a:t>
            </a:r>
            <a:endParaRPr lang="zh-CN" sz="1200"/>
          </a:p>
        </p:txBody>
      </p:sp>
      <p:sp>
        <p:nvSpPr>
          <p:cNvPr id="78" name="TextBox 78"/>
          <p:cNvSpPr txBox="1"/>
          <p:nvPr/>
        </p:nvSpPr>
        <p:spPr>
          <a:xfrm>
            <a:off x="4878753" y="4299915"/>
            <a:ext cx="1319126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上皮稳态重建</a:t>
            </a:r>
            <a:endParaRPr lang="zh-CN" sz="1400"/>
          </a:p>
        </p:txBody>
      </p:sp>
      <p:sp>
        <p:nvSpPr>
          <p:cNvPr id="79" name="TextBox 79"/>
          <p:cNvSpPr txBox="1"/>
          <p:nvPr/>
        </p:nvSpPr>
        <p:spPr>
          <a:xfrm>
            <a:off x="4696553" y="4547707"/>
            <a:ext cx="1515902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2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紧密连接修复  细胞更新</a:t>
            </a:r>
            <a:endParaRPr lang="zh-CN" sz="1120"/>
          </a:p>
        </p:txBody>
      </p:sp>
      <p:sp>
        <p:nvSpPr>
          <p:cNvPr id="80" name="TextBox 80"/>
          <p:cNvSpPr txBox="1"/>
          <p:nvPr/>
        </p:nvSpPr>
        <p:spPr>
          <a:xfrm>
            <a:off x="4696553" y="4737194"/>
            <a:ext cx="1515902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4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微环境优化  信号释放</a:t>
            </a:r>
            <a:endParaRPr lang="zh-CN" sz="1140"/>
          </a:p>
        </p:txBody>
      </p:sp>
      <p:sp>
        <p:nvSpPr>
          <p:cNvPr id="81" name="TextBox 81"/>
          <p:cNvSpPr txBox="1"/>
          <p:nvPr/>
        </p:nvSpPr>
        <p:spPr>
          <a:xfrm>
            <a:off x="4937057" y="5480570"/>
            <a:ext cx="1129639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微环境修复</a:t>
            </a:r>
            <a:endParaRPr lang="zh-CN" sz="1150"/>
          </a:p>
        </p:txBody>
      </p:sp>
      <p:sp>
        <p:nvSpPr>
          <p:cNvPr id="82" name="TextBox 82"/>
          <p:cNvSpPr txBox="1"/>
          <p:nvPr/>
        </p:nvSpPr>
        <p:spPr>
          <a:xfrm>
            <a:off x="6554991" y="5480570"/>
            <a:ext cx="1187943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老年人健康状态</a:t>
            </a:r>
            <a:endParaRPr lang="zh-CN" sz="1300"/>
          </a:p>
        </p:txBody>
      </p:sp>
      <p:sp>
        <p:nvSpPr>
          <p:cNvPr id="83" name="TextBox 83"/>
          <p:cNvSpPr txBox="1"/>
          <p:nvPr/>
        </p:nvSpPr>
        <p:spPr>
          <a:xfrm>
            <a:off x="527822" y="5057866"/>
            <a:ext cx="2186397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90" b="1">
                <a:solidFill>
                  <a:srgbClr val="0070B9"/>
                </a:solidFill>
                <a:latin typeface="Microsoft YaHei"/>
                <a:ea typeface="Microsoft YaHei"/>
                <a:cs typeface="Microsoft YaHei"/>
              </a:rPr>
              <a:t>蓝色实线箭头</a:t>
            </a:r>
            <a:r>
              <a:rPr lang="zh-CN" sz="109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=促进/重建</a:t>
            </a:r>
            <a:endParaRPr lang="zh-CN" sz="1090"/>
          </a:p>
        </p:txBody>
      </p:sp>
      <p:sp>
        <p:nvSpPr>
          <p:cNvPr id="84" name="TextBox 84"/>
          <p:cNvSpPr txBox="1"/>
          <p:nvPr/>
        </p:nvSpPr>
        <p:spPr>
          <a:xfrm>
            <a:off x="527822" y="5276506"/>
            <a:ext cx="2186397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90" b="1">
                <a:solidFill>
                  <a:srgbClr val="CC0000"/>
                </a:solidFill>
                <a:latin typeface="Microsoft YaHei"/>
                <a:ea typeface="Microsoft YaHei"/>
                <a:cs typeface="Microsoft YaHei"/>
              </a:rPr>
              <a:t>红色标识</a:t>
            </a:r>
            <a:r>
              <a:rPr lang="zh-CN" sz="109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=抗原负荷下降/风险降低</a:t>
            </a:r>
            <a:endParaRPr lang="zh-CN" sz="1090"/>
          </a:p>
        </p:txBody>
      </p:sp>
      <p:sp>
        <p:nvSpPr>
          <p:cNvPr id="85" name="TextBox 85"/>
          <p:cNvSpPr txBox="1"/>
          <p:nvPr/>
        </p:nvSpPr>
        <p:spPr>
          <a:xfrm>
            <a:off x="527822" y="5487858"/>
            <a:ext cx="2186397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终点图标</a:t>
            </a:r>
            <a:r>
              <a:rPr lang="zh-CN" sz="109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=老年健康状态改善</a:t>
            </a:r>
            <a:endParaRPr lang="zh-CN" sz="1090"/>
          </a:p>
        </p:txBody>
      </p:sp>
      <p:sp>
        <p:nvSpPr>
          <p:cNvPr id="86" name="TextBox 86"/>
          <p:cNvSpPr txBox="1"/>
          <p:nvPr/>
        </p:nvSpPr>
        <p:spPr>
          <a:xfrm rot="16200000">
            <a:off x="7633614" y="2419613"/>
            <a:ext cx="1275399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内容一 | 2027</a:t>
            </a:r>
            <a:endParaRPr lang="zh-CN" sz="1550"/>
          </a:p>
        </p:txBody>
      </p:sp>
      <p:sp>
        <p:nvSpPr>
          <p:cNvPr id="87" name="TextBox 87"/>
          <p:cNvSpPr txBox="1"/>
          <p:nvPr/>
        </p:nvSpPr>
        <p:spPr>
          <a:xfrm>
            <a:off x="8690373" y="2062502"/>
            <a:ext cx="3141124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2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加工结构与衰老适配性消化信息</a:t>
            </a:r>
            <a:endParaRPr lang="zh-CN" sz="1520"/>
          </a:p>
        </p:txBody>
      </p:sp>
      <p:sp>
        <p:nvSpPr>
          <p:cNvPr id="88" name="TextBox 88"/>
          <p:cNvSpPr txBox="1"/>
          <p:nvPr/>
        </p:nvSpPr>
        <p:spPr>
          <a:xfrm>
            <a:off x="8697661" y="2397749"/>
            <a:ext cx="310468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3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方式：</a:t>
            </a:r>
            <a:r>
              <a:rPr lang="zh-CN" sz="12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INFOGEST衰老校正 + 肽组学筛选</a:t>
            </a:r>
            <a:endParaRPr lang="zh-CN" sz="1230"/>
          </a:p>
        </p:txBody>
      </p:sp>
      <p:sp>
        <p:nvSpPr>
          <p:cNvPr id="89" name="TextBox 89"/>
          <p:cNvSpPr txBox="1"/>
          <p:nvPr/>
        </p:nvSpPr>
        <p:spPr>
          <a:xfrm>
            <a:off x="8697661" y="2638253"/>
            <a:ext cx="310468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3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输出：</a:t>
            </a:r>
            <a:r>
              <a:rPr lang="zh-CN" sz="12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锁定1–2类候选信息单元</a:t>
            </a:r>
            <a:endParaRPr lang="zh-CN" sz="1230"/>
          </a:p>
        </p:txBody>
      </p:sp>
      <p:sp>
        <p:nvSpPr>
          <p:cNvPr id="90" name="TextBox 90"/>
          <p:cNvSpPr txBox="1"/>
          <p:nvPr/>
        </p:nvSpPr>
        <p:spPr>
          <a:xfrm>
            <a:off x="10424915" y="2966213"/>
            <a:ext cx="1348278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18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对应科学问题一</a:t>
            </a:r>
            <a:endParaRPr lang="zh-CN" sz="1180"/>
          </a:p>
        </p:txBody>
      </p:sp>
      <p:sp>
        <p:nvSpPr>
          <p:cNvPr id="91" name="TextBox 91"/>
          <p:cNvSpPr txBox="1"/>
          <p:nvPr/>
        </p:nvSpPr>
        <p:spPr>
          <a:xfrm rot="16200000">
            <a:off x="7629970" y="3764248"/>
            <a:ext cx="128268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内容二 | 2028</a:t>
            </a:r>
            <a:endParaRPr lang="zh-CN" sz="1550"/>
          </a:p>
        </p:txBody>
      </p:sp>
      <p:sp>
        <p:nvSpPr>
          <p:cNvPr id="92" name="TextBox 92"/>
          <p:cNvSpPr txBox="1"/>
          <p:nvPr/>
        </p:nvSpPr>
        <p:spPr>
          <a:xfrm>
            <a:off x="8690373" y="3403492"/>
            <a:ext cx="3141124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CaSR/Ca²⁺感知改善衰老肠上皮稳态</a:t>
            </a:r>
            <a:endParaRPr lang="zh-CN" sz="1490"/>
          </a:p>
        </p:txBody>
      </p:sp>
      <p:sp>
        <p:nvSpPr>
          <p:cNvPr id="93" name="TextBox 93"/>
          <p:cNvSpPr txBox="1"/>
          <p:nvPr/>
        </p:nvSpPr>
        <p:spPr>
          <a:xfrm>
            <a:off x="8697661" y="3738740"/>
            <a:ext cx="310468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3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方式：</a:t>
            </a:r>
            <a:r>
              <a:rPr lang="zh-CN" sz="12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回肠类器官 + Ca²⁺成像</a:t>
            </a:r>
            <a:endParaRPr lang="zh-CN" sz="1230"/>
          </a:p>
        </p:txBody>
      </p:sp>
      <p:sp>
        <p:nvSpPr>
          <p:cNvPr id="94" name="TextBox 94"/>
          <p:cNvSpPr txBox="1"/>
          <p:nvPr/>
        </p:nvSpPr>
        <p:spPr>
          <a:xfrm>
            <a:off x="8697661" y="3979243"/>
            <a:ext cx="310468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3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输出：</a:t>
            </a:r>
            <a:r>
              <a:rPr lang="zh-CN" sz="12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建立激活/拮抗/沉默/回补因果验证</a:t>
            </a:r>
            <a:endParaRPr lang="zh-CN" sz="1230"/>
          </a:p>
        </p:txBody>
      </p:sp>
      <p:sp>
        <p:nvSpPr>
          <p:cNvPr id="95" name="TextBox 95"/>
          <p:cNvSpPr txBox="1"/>
          <p:nvPr/>
        </p:nvSpPr>
        <p:spPr>
          <a:xfrm>
            <a:off x="10424915" y="4314491"/>
            <a:ext cx="1348278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18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对应科学问题二</a:t>
            </a:r>
            <a:endParaRPr lang="zh-CN" sz="1180"/>
          </a:p>
        </p:txBody>
      </p:sp>
      <p:sp>
        <p:nvSpPr>
          <p:cNvPr id="96" name="TextBox 96"/>
          <p:cNvSpPr txBox="1"/>
          <p:nvPr/>
        </p:nvSpPr>
        <p:spPr>
          <a:xfrm rot="16200000">
            <a:off x="7659122" y="5083374"/>
            <a:ext cx="1224383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内容三 | 2029</a:t>
            </a:r>
            <a:endParaRPr lang="zh-CN" sz="1510"/>
          </a:p>
        </p:txBody>
      </p:sp>
      <p:sp>
        <p:nvSpPr>
          <p:cNvPr id="97" name="TextBox 97"/>
          <p:cNvSpPr txBox="1"/>
          <p:nvPr/>
        </p:nvSpPr>
        <p:spPr>
          <a:xfrm>
            <a:off x="8690373" y="4751770"/>
            <a:ext cx="3141124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2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上皮—免疫互作与自然衰老验证</a:t>
            </a:r>
            <a:endParaRPr lang="zh-CN" sz="1520"/>
          </a:p>
        </p:txBody>
      </p:sp>
      <p:sp>
        <p:nvSpPr>
          <p:cNvPr id="98" name="TextBox 98"/>
          <p:cNvSpPr txBox="1"/>
          <p:nvPr/>
        </p:nvSpPr>
        <p:spPr>
          <a:xfrm>
            <a:off x="8697661" y="5087018"/>
            <a:ext cx="310468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3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方式：</a:t>
            </a:r>
            <a:r>
              <a:rPr lang="zh-CN" sz="12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共培养体系 + 自然衰老小鼠</a:t>
            </a:r>
            <a:endParaRPr lang="zh-CN" sz="1230"/>
          </a:p>
        </p:txBody>
      </p:sp>
      <p:sp>
        <p:nvSpPr>
          <p:cNvPr id="99" name="TextBox 99"/>
          <p:cNvSpPr txBox="1"/>
          <p:nvPr/>
        </p:nvSpPr>
        <p:spPr>
          <a:xfrm>
            <a:off x="8697661" y="5327522"/>
            <a:ext cx="310468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3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输出：</a:t>
            </a:r>
            <a:r>
              <a:rPr lang="zh-CN" sz="12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验证免疫耐受表型与体内效应</a:t>
            </a:r>
            <a:endParaRPr lang="zh-CN" sz="1230"/>
          </a:p>
        </p:txBody>
      </p:sp>
      <p:sp>
        <p:nvSpPr>
          <p:cNvPr id="100" name="TextBox 100"/>
          <p:cNvSpPr txBox="1"/>
          <p:nvPr/>
        </p:nvSpPr>
        <p:spPr>
          <a:xfrm>
            <a:off x="10424915" y="5604465"/>
            <a:ext cx="1348278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18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对应科学问题三</a:t>
            </a:r>
            <a:endParaRPr lang="zh-CN" sz="1180"/>
          </a:p>
        </p:txBody>
      </p:sp>
      <p:sp>
        <p:nvSpPr>
          <p:cNvPr id="101" name="TextBox 101"/>
          <p:cNvSpPr txBox="1"/>
          <p:nvPr/>
        </p:nvSpPr>
        <p:spPr>
          <a:xfrm>
            <a:off x="1365941" y="5990729"/>
            <a:ext cx="9576421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提出“衰老适配性消化信息”新视角，建立“加工—感知—耐受”连续因果证据链。</a:t>
            </a:r>
            <a:endParaRPr lang="zh-CN" sz="1900"/>
          </a:p>
        </p:txBody>
      </p:sp>
      <p:sp>
        <p:nvSpPr>
          <p:cNvPr id="102" name="TextBox 102"/>
          <p:cNvSpPr txBox="1"/>
          <p:nvPr/>
        </p:nvSpPr>
        <p:spPr>
          <a:xfrm>
            <a:off x="338334" y="6551904"/>
            <a:ext cx="5939713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浙江省自然科学基金青年科学基金项目（A类） · 王晶</a:t>
            </a:r>
            <a:endParaRPr lang="zh-CN" sz="1200"/>
          </a:p>
        </p:txBody>
      </p:sp>
      <p:sp>
        <p:nvSpPr>
          <p:cNvPr id="103" name="TextBox 103"/>
          <p:cNvSpPr txBox="1"/>
          <p:nvPr/>
        </p:nvSpPr>
        <p:spPr>
          <a:xfrm>
            <a:off x="11292186" y="6551904"/>
            <a:ext cx="597615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 / 23</a:t>
            </a:r>
            <a:endParaRPr 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