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e sunny school campus scene, teacher and child, steps, rail and foliage; all typography and foreground removed."/>
          <p:cNvPicPr/>
          <p:nvPr/>
        </p:nvPicPr>
        <p:blipFill>
          <a:blip r:embed="rId2"/>
          <a:stretch>
            <a:fillRect/>
          </a:stretch>
        </p:blipFill>
        <p:spPr>
          <a:xfrm>
            <a:off x="3944" y="0"/>
            <a:ext cx="12183806" cy="6858000"/>
          </a:xfrm>
          <a:prstGeom prst="rect">
            <a:avLst/>
          </a:prstGeom>
        </p:spPr>
      </p:pic>
      <p:pic>
        <p:nvPicPr>
          <p:cNvPr id="3" name="Left blank irregular rough paper texture backing; content removed and rebuilt natively. This is backing texture only, not a text-bearing card screenshot."/>
          <p:cNvPicPr/>
          <p:nvPr/>
        </p:nvPicPr>
        <p:blipFill>
          <a:blip r:embed="rId3"/>
          <a:stretch>
            <a:fillRect/>
          </a:stretch>
        </p:blipFill>
        <p:spPr>
          <a:xfrm>
            <a:off x="510122" y="2212258"/>
            <a:ext cx="5731996" cy="2515419"/>
          </a:xfrm>
          <a:prstGeom prst="rect">
            <a:avLst/>
          </a:prstGeom>
        </p:spPr>
      </p:pic>
      <p:pic>
        <p:nvPicPr>
          <p:cNvPr id="4" name="Right blank irregular rough paper texture backing; content removed and rebuilt natively. This is backing texture only, not a text-bearing card screenshot."/>
          <p:cNvPicPr/>
          <p:nvPr/>
        </p:nvPicPr>
        <p:blipFill>
          <a:blip r:embed="rId4"/>
          <a:stretch>
            <a:fillRect/>
          </a:stretch>
        </p:blipFill>
        <p:spPr>
          <a:xfrm>
            <a:off x="6145151" y="2213765"/>
            <a:ext cx="5611180" cy="2512406"/>
          </a:xfrm>
          <a:prstGeom prst="rect">
            <a:avLst/>
          </a:prstGeom>
        </p:spPr>
      </p:pic>
      <p:pic>
        <p:nvPicPr>
          <p:cNvPr id="5" name="Original blue title swoosh, dotted loop flight path and paperplane, complete decorative group."/>
          <p:cNvPicPr/>
          <p:nvPr/>
        </p:nvPicPr>
        <p:blipFill>
          <a:blip r:embed="rId7"/>
          <a:stretch>
            <a:fillRect/>
          </a:stretch>
        </p:blipFill>
        <p:spPr>
          <a:xfrm>
            <a:off x="1232661" y="917075"/>
            <a:ext cx="10783341" cy="1342176"/>
          </a:xfrm>
          <a:prstGeom prst="rect">
            <a:avLst/>
          </a:prstGeom>
        </p:spPr>
      </p:pic>
      <p:pic>
        <p:nvPicPr>
          <p:cNvPr id="6" name="Original pale gold-orange title swash, with all title character strokes excluded."/>
          <p:cNvPicPr/>
          <p:nvPr/>
        </p:nvPicPr>
        <p:blipFill>
          <a:blip r:embed="rId8"/>
          <a:stretch>
            <a:fillRect/>
          </a:stretch>
        </p:blipFill>
        <p:spPr>
          <a:xfrm>
            <a:off x="4382101" y="1674059"/>
            <a:ext cx="3132525" cy="511043"/>
          </a:xfrm>
          <a:prstGeom prst="rect">
            <a:avLst/>
          </a:prstGeom>
        </p:spPr>
      </p:pic>
      <p:pic>
        <p:nvPicPr>
          <p:cNvPr id="7" name="Original pale-gold left body brush underline."/>
          <p:cNvPicPr/>
          <p:nvPr/>
        </p:nvPicPr>
        <p:blipFill>
          <a:blip r:embed="rId9"/>
          <a:stretch>
            <a:fillRect/>
          </a:stretch>
        </p:blipFill>
        <p:spPr>
          <a:xfrm>
            <a:off x="1622437" y="4024478"/>
            <a:ext cx="3743919" cy="365818"/>
          </a:xfrm>
          <a:prstGeom prst="rect">
            <a:avLst/>
          </a:prstGeom>
        </p:spPr>
      </p:pic>
      <p:pic>
        <p:nvPicPr>
          <p:cNvPr id="8" name="Original pale-gold right body brush underline."/>
          <p:cNvPicPr/>
          <p:nvPr/>
        </p:nvPicPr>
        <p:blipFill>
          <a:blip r:embed="rId10"/>
          <a:stretch>
            <a:fillRect/>
          </a:stretch>
        </p:blipFill>
        <p:spPr>
          <a:xfrm>
            <a:off x="7128011" y="4022705"/>
            <a:ext cx="3753092" cy="369365"/>
          </a:xfrm>
          <a:prstGeom prst="rect">
            <a:avLst/>
          </a:prstGeom>
        </p:spPr>
      </p:pic>
      <p:sp>
        <p:nvSpPr>
          <p:cNvPr id="9" name="Line 9"/>
          <p:cNvSpPr/>
          <p:nvPr/>
        </p:nvSpPr>
        <p:spPr>
          <a:xfrm>
            <a:off x="2191622" y="3465871"/>
            <a:ext cx="2941484" cy="0"/>
          </a:xfrm>
          <a:prstGeom prst="line">
            <a:avLst/>
          </a:prstGeom>
          <a:noFill/>
          <a:ln w="5080">
            <a:solidFill>
              <a:srgbClr val="ADDFF0"/>
            </a:solidFill>
            <a:prstDash val="sysDot"/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7738654" y="3465871"/>
            <a:ext cx="3129935" cy="0"/>
          </a:xfrm>
          <a:prstGeom prst="line">
            <a:avLst/>
          </a:prstGeom>
          <a:noFill/>
          <a:ln w="5080">
            <a:solidFill>
              <a:srgbClr val="ADDFF0"/>
            </a:solidFill>
            <a:prstDash val="sysDot"/>
          </a:ln>
        </p:spPr>
        <p:txBody>
          <a:bodyPr/>
          <a:lstStyle/>
          <a:p/>
        </p:txBody>
      </p:sp>
      <p:pic>
        <p:nvPicPr>
          <p:cNvPr id="11" name="Original blue clipboard, blank ruled paper and yellow pencil."/>
          <p:cNvPicPr/>
          <p:nvPr/>
        </p:nvPicPr>
        <p:blipFill>
          <a:blip r:embed="rId5"/>
          <a:stretch>
            <a:fillRect/>
          </a:stretch>
        </p:blipFill>
        <p:spPr>
          <a:xfrm>
            <a:off x="880205" y="2396579"/>
            <a:ext cx="1098833" cy="1083986"/>
          </a:xfrm>
          <a:prstGeom prst="rect">
            <a:avLst/>
          </a:prstGeom>
        </p:spPr>
      </p:pic>
      <p:pic>
        <p:nvPicPr>
          <p:cNvPr id="12" name="Original green sprout, leaves, brown soil and orange flecks."/>
          <p:cNvPicPr/>
          <p:nvPr/>
        </p:nvPicPr>
        <p:blipFill>
          <a:blip r:embed="rId6"/>
          <a:stretch>
            <a:fillRect/>
          </a:stretch>
        </p:blipFill>
        <p:spPr>
          <a:xfrm>
            <a:off x="6508857" y="2460796"/>
            <a:ext cx="1033917" cy="979584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675428" y="958645"/>
            <a:ext cx="2933290" cy="9176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700" b="1" i="1">
                <a:solidFill>
                  <a:srgbClr val="00486D"/>
                </a:solidFill>
                <a:latin typeface="SimSun"/>
                <a:ea typeface="SimSun"/>
                <a:cs typeface="SimSun"/>
              </a:rPr>
              <a:t>教育理念</a:t>
            </a:r>
            <a:endParaRPr lang="zh-CN" sz="5700"/>
          </a:p>
        </p:txBody>
      </p:sp>
      <p:sp>
        <p:nvSpPr>
          <p:cNvPr id="14" name="TextBox 14"/>
          <p:cNvSpPr txBox="1"/>
          <p:nvPr/>
        </p:nvSpPr>
        <p:spPr>
          <a:xfrm>
            <a:off x="4223622" y="958645"/>
            <a:ext cx="671871" cy="9176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700" b="1" i="1">
                <a:solidFill>
                  <a:srgbClr val="00486D"/>
                </a:solidFill>
                <a:latin typeface="SimSun"/>
                <a:ea typeface="SimSun"/>
                <a:cs typeface="SimSun"/>
              </a:rPr>
              <a:t>：</a:t>
            </a:r>
            <a:endParaRPr lang="zh-CN" sz="5700"/>
          </a:p>
        </p:txBody>
      </p:sp>
      <p:sp>
        <p:nvSpPr>
          <p:cNvPr id="15" name="TextBox 15"/>
          <p:cNvSpPr txBox="1"/>
          <p:nvPr/>
        </p:nvSpPr>
        <p:spPr>
          <a:xfrm>
            <a:off x="4821751" y="745613"/>
            <a:ext cx="1024194" cy="1261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600">
                <a:solidFill>
                  <a:srgbClr val="FFA013"/>
                </a:solidFill>
                <a:latin typeface="KaiTi"/>
                <a:ea typeface="KaiTi"/>
                <a:cs typeface="KaiTi"/>
              </a:rPr>
              <a:t>看</a:t>
            </a:r>
            <a:endParaRPr lang="zh-CN" sz="7600"/>
          </a:p>
        </p:txBody>
      </p:sp>
      <p:sp>
        <p:nvSpPr>
          <p:cNvPr id="16" name="TextBox 16"/>
          <p:cNvSpPr txBox="1"/>
          <p:nvPr/>
        </p:nvSpPr>
        <p:spPr>
          <a:xfrm>
            <a:off x="5682073" y="745613"/>
            <a:ext cx="1024194" cy="1261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600">
                <a:solidFill>
                  <a:srgbClr val="FFA013"/>
                </a:solidFill>
                <a:latin typeface="KaiTi"/>
                <a:ea typeface="KaiTi"/>
                <a:cs typeface="KaiTi"/>
              </a:rPr>
              <a:t>见</a:t>
            </a:r>
            <a:endParaRPr lang="zh-CN" sz="7600"/>
          </a:p>
        </p:txBody>
      </p:sp>
      <p:sp>
        <p:nvSpPr>
          <p:cNvPr id="17" name="TextBox 17"/>
          <p:cNvSpPr txBox="1"/>
          <p:nvPr/>
        </p:nvSpPr>
        <p:spPr>
          <a:xfrm>
            <a:off x="6476848" y="745613"/>
            <a:ext cx="1024194" cy="1261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600">
                <a:solidFill>
                  <a:srgbClr val="FFA013"/>
                </a:solidFill>
                <a:latin typeface="KaiTi"/>
                <a:ea typeface="KaiTi"/>
                <a:cs typeface="KaiTi"/>
              </a:rPr>
              <a:t>人</a:t>
            </a:r>
            <a:endParaRPr lang="zh-CN" sz="7600"/>
          </a:p>
        </p:txBody>
      </p:sp>
      <p:sp>
        <p:nvSpPr>
          <p:cNvPr id="18" name="TextBox 18"/>
          <p:cNvSpPr txBox="1"/>
          <p:nvPr/>
        </p:nvSpPr>
        <p:spPr>
          <a:xfrm>
            <a:off x="6927493" y="852129"/>
            <a:ext cx="819355" cy="10897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600">
                <a:solidFill>
                  <a:srgbClr val="FF8A0C"/>
                </a:solidFill>
                <a:latin typeface="KaiTi"/>
                <a:ea typeface="KaiTi"/>
                <a:cs typeface="KaiTi"/>
              </a:rPr>
              <a:t>，</a:t>
            </a:r>
            <a:endParaRPr lang="zh-CN" sz="7600"/>
          </a:p>
        </p:txBody>
      </p:sp>
      <p:sp>
        <p:nvSpPr>
          <p:cNvPr id="19" name="TextBox 19"/>
          <p:cNvSpPr txBox="1"/>
          <p:nvPr/>
        </p:nvSpPr>
        <p:spPr>
          <a:xfrm>
            <a:off x="7566590" y="950452"/>
            <a:ext cx="2957871" cy="9176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700" b="1" i="1">
                <a:solidFill>
                  <a:srgbClr val="00486D"/>
                </a:solidFill>
                <a:latin typeface="SimSun"/>
                <a:ea typeface="SimSun"/>
                <a:cs typeface="SimSun"/>
              </a:rPr>
              <a:t>而非行为</a:t>
            </a:r>
            <a:endParaRPr lang="zh-CN" sz="5700"/>
          </a:p>
        </p:txBody>
      </p:sp>
      <p:sp>
        <p:nvSpPr>
          <p:cNvPr id="20" name="TextBox 20"/>
          <p:cNvSpPr txBox="1"/>
          <p:nvPr/>
        </p:nvSpPr>
        <p:spPr>
          <a:xfrm>
            <a:off x="2011364" y="2851355"/>
            <a:ext cx="3228258" cy="5243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60" b="1">
                <a:solidFill>
                  <a:srgbClr val="00486D"/>
                </a:solidFill>
                <a:latin typeface="SimSun"/>
                <a:ea typeface="SimSun"/>
                <a:cs typeface="SimSun"/>
              </a:rPr>
              <a:t>不再是</a:t>
            </a:r>
            <a:r>
              <a:rPr lang="zh-CN" sz="2760" b="1">
                <a:solidFill>
                  <a:srgbClr val="00486D"/>
                </a:solidFill>
                <a:latin typeface="Noto Serif"/>
                <a:ea typeface="Noto Serif"/>
                <a:cs typeface="Noto Serif"/>
              </a:rPr>
              <a:t>“</a:t>
            </a:r>
            <a:r>
              <a:rPr lang="zh-CN" sz="2760" b="1">
                <a:solidFill>
                  <a:srgbClr val="00486D"/>
                </a:solidFill>
                <a:latin typeface="SimSun"/>
                <a:ea typeface="SimSun"/>
                <a:cs typeface="SimSun"/>
              </a:rPr>
              <a:t>逼他交作业</a:t>
            </a:r>
            <a:r>
              <a:rPr lang="zh-CN" sz="2760" b="1">
                <a:solidFill>
                  <a:srgbClr val="00486D"/>
                </a:solidFill>
                <a:latin typeface="Noto Serif"/>
                <a:ea typeface="Noto Serif"/>
                <a:cs typeface="Noto Serif"/>
              </a:rPr>
              <a:t>”</a:t>
            </a:r>
            <a:endParaRPr lang="zh-CN" sz="2760"/>
          </a:p>
        </p:txBody>
      </p:sp>
      <p:sp>
        <p:nvSpPr>
          <p:cNvPr id="21" name="TextBox 21"/>
          <p:cNvSpPr txBox="1"/>
          <p:nvPr/>
        </p:nvSpPr>
        <p:spPr>
          <a:xfrm>
            <a:off x="7591170" y="2851355"/>
            <a:ext cx="2875935" cy="5243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60" b="1">
                <a:solidFill>
                  <a:srgbClr val="00486D"/>
                </a:solidFill>
                <a:latin typeface="SimSun"/>
                <a:ea typeface="SimSun"/>
                <a:cs typeface="SimSun"/>
              </a:rPr>
              <a:t>不再是</a:t>
            </a:r>
            <a:r>
              <a:rPr lang="zh-CN" sz="2760" b="1">
                <a:solidFill>
                  <a:srgbClr val="00486D"/>
                </a:solidFill>
                <a:latin typeface="Noto Serif"/>
                <a:ea typeface="Noto Serif"/>
                <a:cs typeface="Noto Serif"/>
              </a:rPr>
              <a:t>“</a:t>
            </a:r>
            <a:r>
              <a:rPr lang="zh-CN" sz="2760" b="1">
                <a:solidFill>
                  <a:srgbClr val="00486D"/>
                </a:solidFill>
                <a:latin typeface="SimSun"/>
                <a:ea typeface="SimSun"/>
                <a:cs typeface="SimSun"/>
              </a:rPr>
              <a:t>催他进步</a:t>
            </a:r>
            <a:r>
              <a:rPr lang="zh-CN" sz="2760" b="1">
                <a:solidFill>
                  <a:srgbClr val="00486D"/>
                </a:solidFill>
                <a:latin typeface="Noto Serif"/>
                <a:ea typeface="Noto Serif"/>
                <a:cs typeface="Noto Serif"/>
              </a:rPr>
              <a:t>”</a:t>
            </a:r>
            <a:endParaRPr lang="zh-CN" sz="2760"/>
          </a:p>
        </p:txBody>
      </p:sp>
      <p:sp>
        <p:nvSpPr>
          <p:cNvPr id="22" name="TextBox 22"/>
          <p:cNvSpPr txBox="1"/>
          <p:nvPr/>
        </p:nvSpPr>
        <p:spPr>
          <a:xfrm>
            <a:off x="1159235" y="3580581"/>
            <a:ext cx="4670323" cy="5489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20" b="1">
                <a:solidFill>
                  <a:srgbClr val="EC3B00"/>
                </a:solidFill>
                <a:latin typeface="SimSun"/>
                <a:ea typeface="SimSun"/>
                <a:cs typeface="SimSun"/>
              </a:rPr>
              <a:t>而是让他</a:t>
            </a:r>
            <a:r>
              <a:rPr lang="zh-CN" sz="2820" b="1">
                <a:solidFill>
                  <a:srgbClr val="EC3B00"/>
                </a:solidFill>
                <a:latin typeface="Noto Serif"/>
                <a:ea typeface="Noto Serif"/>
                <a:cs typeface="Noto Serif"/>
              </a:rPr>
              <a:t>“</a:t>
            </a:r>
            <a:r>
              <a:rPr lang="zh-CN" sz="2820" b="1">
                <a:solidFill>
                  <a:srgbClr val="EC3B00"/>
                </a:solidFill>
                <a:latin typeface="SimSun"/>
                <a:ea typeface="SimSun"/>
                <a:cs typeface="SimSun"/>
              </a:rPr>
              <a:t>敢试着交一次作业</a:t>
            </a:r>
            <a:r>
              <a:rPr lang="zh-CN" sz="2820" b="1">
                <a:solidFill>
                  <a:srgbClr val="EC3B00"/>
                </a:solidFill>
                <a:latin typeface="Noto Serif"/>
                <a:ea typeface="Noto Serif"/>
                <a:cs typeface="Noto Serif"/>
              </a:rPr>
              <a:t>”</a:t>
            </a:r>
            <a:endParaRPr lang="zh-CN" sz="2820"/>
          </a:p>
        </p:txBody>
      </p:sp>
      <p:sp>
        <p:nvSpPr>
          <p:cNvPr id="23" name="TextBox 23"/>
          <p:cNvSpPr txBox="1"/>
          <p:nvPr/>
        </p:nvSpPr>
        <p:spPr>
          <a:xfrm>
            <a:off x="6902912" y="3580581"/>
            <a:ext cx="4358968" cy="5489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20" b="1">
                <a:solidFill>
                  <a:srgbClr val="E83100"/>
                </a:solidFill>
                <a:latin typeface="SimSun"/>
                <a:ea typeface="SimSun"/>
                <a:cs typeface="SimSun"/>
              </a:rPr>
              <a:t>而是让他</a:t>
            </a:r>
            <a:r>
              <a:rPr lang="zh-CN" sz="2820" b="1">
                <a:solidFill>
                  <a:srgbClr val="E83100"/>
                </a:solidFill>
                <a:latin typeface="Noto Serif"/>
                <a:ea typeface="Noto Serif"/>
                <a:cs typeface="Noto Serif"/>
              </a:rPr>
              <a:t>“</a:t>
            </a:r>
            <a:r>
              <a:rPr lang="zh-CN" sz="2820" b="1">
                <a:solidFill>
                  <a:srgbClr val="E83100"/>
                </a:solidFill>
                <a:latin typeface="SimSun"/>
                <a:ea typeface="SimSun"/>
                <a:cs typeface="SimSun"/>
              </a:rPr>
              <a:t>相信自己能进步</a:t>
            </a:r>
            <a:r>
              <a:rPr lang="zh-CN" sz="2820" b="1">
                <a:solidFill>
                  <a:srgbClr val="E83100"/>
                </a:solidFill>
                <a:latin typeface="Noto Serif"/>
                <a:ea typeface="Noto Serif"/>
                <a:cs typeface="Noto Serif"/>
              </a:rPr>
              <a:t>”</a:t>
            </a:r>
            <a:endParaRPr lang="zh-CN" sz="28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sunlit school scene: seated boy at left, blue/gold sky, campus, right books/chair, lower waves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pic>
        <p:nvPicPr>
          <p:cNvPr id="3" name="Original cyan-to-yellow long hooked title underline, all lettering removed."/>
          <p:cNvPicPr/>
          <p:nvPr/>
        </p:nvPicPr>
        <p:blipFill>
          <a:blip r:embed="rId3"/>
          <a:stretch>
            <a:fillRect/>
          </a:stretch>
        </p:blipFill>
        <p:spPr>
          <a:xfrm>
            <a:off x="2263678" y="1467357"/>
            <a:ext cx="6840797" cy="727626"/>
          </a:xfrm>
          <a:prstGeom prst="rect">
            <a:avLst/>
          </a:prstGeom>
        </p:spPr>
      </p:pic>
      <p:pic>
        <p:nvPicPr>
          <p:cNvPr id="4" name="Original rough white/off-white painted backing beneath bottom quotation line, no text."/>
          <p:cNvPicPr/>
          <p:nvPr/>
        </p:nvPicPr>
        <p:blipFill>
          <a:blip r:embed="rId4"/>
          <a:stretch>
            <a:fillRect/>
          </a:stretch>
        </p:blipFill>
        <p:spPr>
          <a:xfrm>
            <a:off x="2956646" y="3946508"/>
            <a:ext cx="7728713" cy="1136805"/>
          </a:xfrm>
          <a:prstGeom prst="rect">
            <a:avLst/>
          </a:prstGeom>
        </p:spPr>
      </p:pic>
      <p:pic>
        <p:nvPicPr>
          <p:cNvPr id="5" name="Original blue paperplane above-left and cyan dashed two-heart flight path below/right, separated as one ornament."/>
          <p:cNvPicPr/>
          <p:nvPr/>
        </p:nvPicPr>
        <p:blipFill>
          <a:blip r:embed="rId5"/>
          <a:stretch>
            <a:fillRect/>
          </a:stretch>
        </p:blipFill>
        <p:spPr>
          <a:xfrm>
            <a:off x="10348521" y="744661"/>
            <a:ext cx="1858178" cy="1156218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136923" y="808967"/>
            <a:ext cx="1975046" cy="10931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900" b="1" i="1">
                <a:solidFill>
                  <a:srgbClr val="005579"/>
                </a:solidFill>
                <a:latin typeface="SimSun"/>
                <a:ea typeface="SimSun"/>
                <a:cs typeface="SimSun"/>
              </a:rPr>
              <a:t>真相</a:t>
            </a:r>
            <a:endParaRPr lang="zh-CN" sz="6900"/>
          </a:p>
        </p:txBody>
      </p:sp>
      <p:sp>
        <p:nvSpPr>
          <p:cNvPr id="7" name="TextBox 7"/>
          <p:cNvSpPr txBox="1"/>
          <p:nvPr/>
        </p:nvSpPr>
        <p:spPr>
          <a:xfrm>
            <a:off x="4798585" y="838119"/>
            <a:ext cx="874559" cy="10276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900" b="1" i="1">
                <a:solidFill>
                  <a:srgbClr val="005579"/>
                </a:solidFill>
                <a:latin typeface="SimSun"/>
                <a:ea typeface="SimSun"/>
                <a:cs typeface="SimSun"/>
              </a:rPr>
              <a:t>：</a:t>
            </a:r>
            <a:endParaRPr lang="zh-CN" sz="6900"/>
          </a:p>
        </p:txBody>
      </p:sp>
      <p:sp>
        <p:nvSpPr>
          <p:cNvPr id="8" name="TextBox 8"/>
          <p:cNvSpPr txBox="1"/>
          <p:nvPr/>
        </p:nvSpPr>
        <p:spPr>
          <a:xfrm>
            <a:off x="5563824" y="867271"/>
            <a:ext cx="3578404" cy="9328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5500" b="1" i="1">
                <a:solidFill>
                  <a:srgbClr val="005C83"/>
                </a:solidFill>
                <a:latin typeface="SimSun"/>
                <a:ea typeface="SimSun"/>
                <a:cs typeface="SimSun"/>
              </a:rPr>
              <a:t>沉默的呼救</a:t>
            </a:r>
            <a:endParaRPr lang="zh-CN" sz="5500"/>
          </a:p>
        </p:txBody>
      </p:sp>
      <p:sp>
        <p:nvSpPr>
          <p:cNvPr id="9" name="TextBox 9"/>
          <p:cNvSpPr txBox="1"/>
          <p:nvPr/>
        </p:nvSpPr>
        <p:spPr>
          <a:xfrm>
            <a:off x="2597612" y="2149957"/>
            <a:ext cx="8089671" cy="184386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0">
                <a:solidFill>
                  <a:srgbClr val="F12D14"/>
                </a:solidFill>
                <a:latin typeface="KaiTi"/>
                <a:ea typeface="KaiTi"/>
                <a:cs typeface="KaiTi"/>
              </a:rPr>
              <a:t>“习得性无助”</a:t>
            </a:r>
            <a:endParaRPr lang="zh-CN" sz="11300"/>
          </a:p>
        </p:txBody>
      </p:sp>
      <p:sp>
        <p:nvSpPr>
          <p:cNvPr id="10" name="TextBox 10"/>
          <p:cNvSpPr txBox="1"/>
          <p:nvPr/>
        </p:nvSpPr>
        <p:spPr>
          <a:xfrm>
            <a:off x="3552339" y="4132291"/>
            <a:ext cx="1880302" cy="6340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>
                <a:solidFill>
                  <a:srgbClr val="536A82"/>
                </a:solidFill>
                <a:latin typeface="SimSun"/>
                <a:ea typeface="SimSun"/>
                <a:cs typeface="SimSun"/>
              </a:rPr>
              <a:t>“我不会”</a:t>
            </a:r>
            <a:endParaRPr lang="zh-CN" sz="3600"/>
          </a:p>
        </p:txBody>
      </p:sp>
      <p:sp>
        <p:nvSpPr>
          <p:cNvPr id="11" name="TextBox 11"/>
          <p:cNvSpPr txBox="1"/>
          <p:nvPr/>
        </p:nvSpPr>
        <p:spPr>
          <a:xfrm>
            <a:off x="5731448" y="4132291"/>
            <a:ext cx="1435734" cy="6340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>
                <a:solidFill>
                  <a:srgbClr val="536A82"/>
                </a:solidFill>
                <a:latin typeface="SimSun"/>
                <a:ea typeface="SimSun"/>
                <a:cs typeface="SimSun"/>
              </a:rPr>
              <a:t>“我笨”</a:t>
            </a:r>
            <a:endParaRPr lang="zh-CN" sz="3600"/>
          </a:p>
        </p:txBody>
      </p:sp>
      <p:sp>
        <p:nvSpPr>
          <p:cNvPr id="12" name="TextBox 12"/>
          <p:cNvSpPr txBox="1"/>
          <p:nvPr/>
        </p:nvSpPr>
        <p:spPr>
          <a:xfrm>
            <a:off x="7291078" y="4205171"/>
            <a:ext cx="357112" cy="5028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10">
                <a:solidFill>
                  <a:srgbClr val="536A82"/>
                </a:solidFill>
                <a:latin typeface="Liberation Serif"/>
                <a:ea typeface="Liberation Serif"/>
                <a:cs typeface="Liberation Serif"/>
              </a:rPr>
              <a:t>=</a:t>
            </a:r>
            <a:endParaRPr lang="zh-CN" sz="2810"/>
          </a:p>
        </p:txBody>
      </p:sp>
      <p:sp>
        <p:nvSpPr>
          <p:cNvPr id="13" name="TextBox 13"/>
          <p:cNvSpPr txBox="1"/>
          <p:nvPr/>
        </p:nvSpPr>
        <p:spPr>
          <a:xfrm>
            <a:off x="7852254" y="4088563"/>
            <a:ext cx="2179109" cy="7215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000" b="1">
                <a:solidFill>
                  <a:srgbClr val="F20C0B"/>
                </a:solidFill>
                <a:latin typeface="SimSun"/>
                <a:ea typeface="SimSun"/>
                <a:cs typeface="SimSun"/>
              </a:rPr>
              <a:t>“救救我”</a:t>
            </a:r>
            <a:endParaRPr lang="zh-CN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sunny blue sky classroom scenic background with foreground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5"/>
            <a:ext cx="12191695" cy="6856270"/>
          </a:xfrm>
          <a:prstGeom prst="rect">
            <a:avLst/>
          </a:prstGeom>
        </p:spPr>
      </p:pic>
      <p:pic>
        <p:nvPicPr>
          <p:cNvPr id="3" name="Original blue/cyan loop underline and muted green-blue continuation, separated without lettering."/>
          <p:cNvPicPr/>
          <p:nvPr/>
        </p:nvPicPr>
        <p:blipFill>
          <a:blip r:embed="rId5"/>
          <a:stretch>
            <a:fillRect/>
          </a:stretch>
        </p:blipFill>
        <p:spPr>
          <a:xfrm>
            <a:off x="994895" y="2039047"/>
            <a:ext cx="5601972" cy="610831"/>
          </a:xfrm>
          <a:prstGeom prst="rect">
            <a:avLst/>
          </a:prstGeom>
        </p:spPr>
      </p:pic>
      <p:pic>
        <p:nvPicPr>
          <p:cNvPr id="4" name="Original long thin golden sweep below the brush title, separated without letter strokes."/>
          <p:cNvPicPr/>
          <p:nvPr/>
        </p:nvPicPr>
        <p:blipFill>
          <a:blip r:embed="rId6"/>
          <a:stretch>
            <a:fillRect/>
          </a:stretch>
        </p:blipFill>
        <p:spPr>
          <a:xfrm>
            <a:off x="6547019" y="2145008"/>
            <a:ext cx="4470480" cy="714714"/>
          </a:xfrm>
          <a:prstGeom prst="rect">
            <a:avLst/>
          </a:prstGeom>
        </p:spPr>
      </p:pic>
      <p:pic>
        <p:nvPicPr>
          <p:cNvPr id="5" name="Original counterclockwise tilted left photo: student resting forehead on folded arms at wooden classroom desk, original white rough frame and crop."/>
          <p:cNvPicPr/>
          <p:nvPr/>
        </p:nvPicPr>
        <p:blipFill>
          <a:blip r:embed="rId3"/>
          <a:stretch>
            <a:fillRect/>
          </a:stretch>
        </p:blipFill>
        <p:spPr>
          <a:xfrm>
            <a:off x="1396186" y="2331997"/>
            <a:ext cx="4799389" cy="3241146"/>
          </a:xfrm>
          <a:prstGeom prst="rect">
            <a:avLst/>
          </a:prstGeom>
        </p:spPr>
      </p:pic>
      <p:pic>
        <p:nvPicPr>
          <p:cNvPr id="6" name="Original clockwise tilted right photo: student resting head on arms at wooden desk, visible blue cuff stripe, original white rough frame and crop."/>
          <p:cNvPicPr/>
          <p:nvPr/>
        </p:nvPicPr>
        <p:blipFill>
          <a:blip r:embed="rId4"/>
          <a:stretch>
            <a:fillRect/>
          </a:stretch>
        </p:blipFill>
        <p:spPr>
          <a:xfrm>
            <a:off x="5983654" y="2880498"/>
            <a:ext cx="4649798" cy="3166350"/>
          </a:xfrm>
          <a:prstGeom prst="rect">
            <a:avLst/>
          </a:prstGeom>
        </p:spPr>
      </p:pic>
      <p:pic>
        <p:nvPicPr>
          <p:cNvPr id="7" name="Original small blue folded paper plane with preserved facets and orientation."/>
          <p:cNvPicPr/>
          <p:nvPr/>
        </p:nvPicPr>
        <p:blipFill>
          <a:blip r:embed="rId7"/>
          <a:stretch>
            <a:fillRect/>
          </a:stretch>
        </p:blipFill>
        <p:spPr>
          <a:xfrm>
            <a:off x="10317753" y="644904"/>
            <a:ext cx="992909" cy="644144"/>
          </a:xfrm>
          <a:prstGeom prst="rect">
            <a:avLst/>
          </a:prstGeom>
        </p:spPr>
      </p:pic>
      <p:pic>
        <p:nvPicPr>
          <p:cNvPr id="8" name="Original cyan dotted trail with two small heart-like loops; independent from paper plane to preserve source placement."/>
          <p:cNvPicPr/>
          <p:nvPr/>
        </p:nvPicPr>
        <p:blipFill>
          <a:blip r:embed="rId8"/>
          <a:stretch>
            <a:fillRect/>
          </a:stretch>
        </p:blipFill>
        <p:spPr>
          <a:xfrm>
            <a:off x="10745571" y="1382798"/>
            <a:ext cx="1496062" cy="763996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 rot="0">
            <a:off x="1346322" y="1259925"/>
            <a:ext cx="2730042" cy="10222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070" b="1" i="1">
                <a:solidFill>
                  <a:srgbClr val="17658A"/>
                </a:solidFill>
                <a:latin typeface="SimSun"/>
                <a:ea typeface="SimSun"/>
                <a:cs typeface="SimSun"/>
              </a:rPr>
              <a:t>缘起：</a:t>
            </a:r>
            <a:endParaRPr lang="zh-CN" sz="7070"/>
          </a:p>
        </p:txBody>
      </p:sp>
      <p:sp>
        <p:nvSpPr>
          <p:cNvPr id="10" name="TextBox 10"/>
          <p:cNvSpPr txBox="1"/>
          <p:nvPr/>
        </p:nvSpPr>
        <p:spPr>
          <a:xfrm rot="0">
            <a:off x="3926773" y="1446915"/>
            <a:ext cx="2543053" cy="74795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820" b="1" i="1">
                <a:solidFill>
                  <a:srgbClr val="206D90"/>
                </a:solidFill>
                <a:latin typeface="SimSun"/>
                <a:ea typeface="SimSun"/>
                <a:cs typeface="SimSun"/>
              </a:rPr>
              <a:t>角落里的</a:t>
            </a:r>
            <a:endParaRPr lang="zh-CN" sz="4820"/>
          </a:p>
        </p:txBody>
      </p:sp>
      <p:sp>
        <p:nvSpPr>
          <p:cNvPr id="11" name="TextBox 11"/>
          <p:cNvSpPr txBox="1"/>
          <p:nvPr/>
        </p:nvSpPr>
        <p:spPr>
          <a:xfrm rot="0">
            <a:off x="6669281" y="1272391"/>
            <a:ext cx="1121935" cy="13213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40">
                <a:solidFill>
                  <a:srgbClr val="F5A61C"/>
                </a:solidFill>
                <a:latin typeface="KaiTi"/>
                <a:ea typeface="KaiTi"/>
                <a:cs typeface="KaiTi"/>
              </a:rPr>
              <a:t>影</a:t>
            </a:r>
            <a:endParaRPr lang="zh-CN" sz="8640"/>
          </a:p>
        </p:txBody>
      </p:sp>
      <p:sp>
        <p:nvSpPr>
          <p:cNvPr id="12" name="TextBox 12"/>
          <p:cNvSpPr txBox="1"/>
          <p:nvPr/>
        </p:nvSpPr>
        <p:spPr>
          <a:xfrm rot="0">
            <a:off x="7604227" y="1372119"/>
            <a:ext cx="1121935" cy="12465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40">
                <a:solidFill>
                  <a:srgbClr val="F5A61C"/>
                </a:solidFill>
                <a:latin typeface="KaiTi"/>
                <a:ea typeface="KaiTi"/>
                <a:cs typeface="KaiTi"/>
              </a:rPr>
              <a:t>子</a:t>
            </a:r>
            <a:endParaRPr lang="zh-CN" sz="8640"/>
          </a:p>
        </p:txBody>
      </p:sp>
      <p:sp>
        <p:nvSpPr>
          <p:cNvPr id="13" name="TextBox 13"/>
          <p:cNvSpPr txBox="1"/>
          <p:nvPr/>
        </p:nvSpPr>
        <p:spPr>
          <a:xfrm rot="0">
            <a:off x="8514241" y="1259925"/>
            <a:ext cx="1121935" cy="1358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40">
                <a:solidFill>
                  <a:srgbClr val="F5A61C"/>
                </a:solidFill>
                <a:latin typeface="KaiTi"/>
                <a:ea typeface="KaiTi"/>
                <a:cs typeface="KaiTi"/>
              </a:rPr>
              <a:t>少</a:t>
            </a:r>
            <a:endParaRPr lang="zh-CN" sz="8640"/>
          </a:p>
        </p:txBody>
      </p:sp>
      <p:sp>
        <p:nvSpPr>
          <p:cNvPr id="14" name="TextBox 14"/>
          <p:cNvSpPr txBox="1"/>
          <p:nvPr/>
        </p:nvSpPr>
        <p:spPr>
          <a:xfrm rot="0">
            <a:off x="9386857" y="1172664"/>
            <a:ext cx="1121935" cy="1508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40">
                <a:solidFill>
                  <a:srgbClr val="F5A61C"/>
                </a:solidFill>
                <a:latin typeface="KaiTi"/>
                <a:ea typeface="KaiTi"/>
                <a:cs typeface="KaiTi"/>
              </a:rPr>
              <a:t>年</a:t>
            </a:r>
            <a:endParaRPr lang="zh-CN" sz="8640"/>
          </a:p>
        </p:txBody>
      </p:sp>
      <p:sp>
        <p:nvSpPr>
          <p:cNvPr id="15" name="TextBox 15"/>
          <p:cNvSpPr txBox="1"/>
          <p:nvPr/>
        </p:nvSpPr>
        <p:spPr>
          <a:xfrm rot="0">
            <a:off x="5946256" y="1509244"/>
            <a:ext cx="486172" cy="6606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40" b="1">
                <a:solidFill>
                  <a:srgbClr val="F8C12B"/>
                </a:solidFill>
                <a:latin typeface="SimSun"/>
                <a:ea typeface="SimSun"/>
                <a:cs typeface="SimSun"/>
              </a:rPr>
              <a:t>“</a:t>
            </a:r>
            <a:endParaRPr lang="zh-CN" sz="8640"/>
          </a:p>
        </p:txBody>
      </p:sp>
      <p:sp>
        <p:nvSpPr>
          <p:cNvPr id="16" name="TextBox 16"/>
          <p:cNvSpPr txBox="1"/>
          <p:nvPr/>
        </p:nvSpPr>
        <p:spPr>
          <a:xfrm rot="0">
            <a:off x="10159746" y="1509244"/>
            <a:ext cx="498638" cy="6606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40" b="1">
                <a:solidFill>
                  <a:srgbClr val="F8C12B"/>
                </a:solidFill>
                <a:latin typeface="SimSun"/>
                <a:ea typeface="SimSun"/>
                <a:cs typeface="SimSun"/>
              </a:rPr>
              <a:t>”</a:t>
            </a:r>
            <a:endParaRPr lang="zh-CN" sz="864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sunlit classroom, leaves, painted brush backdrop and blue lower waves with slide foreground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pic>
        <p:nvPicPr>
          <p:cNvPr id="3" name="Literal photograph of two backs-facing people at a desk, orange/yellow certificate wall, original blue/orange clothing, household objects, warm flecks and tilted rough white paper edge. Small certificate, packaging and clothing lettering remains in the photograph as source identity under section 3.1; it is not editable slide copy."/>
          <p:cNvPicPr/>
          <p:nvPr/>
        </p:nvPicPr>
        <p:blipFill>
          <a:blip r:embed="rId3"/>
          <a:stretch>
            <a:fillRect/>
          </a:stretch>
        </p:blipFill>
        <p:spPr>
          <a:xfrm>
            <a:off x="2336283" y="1755127"/>
            <a:ext cx="7302744" cy="4429533"/>
          </a:xfrm>
          <a:prstGeom prst="rect">
            <a:avLst/>
          </a:prstGeom>
        </p:spPr>
      </p:pic>
      <p:pic>
        <p:nvPicPr>
          <p:cNvPr id="4" name="Original thin blue-to-green swooping title underline."/>
          <p:cNvPicPr/>
          <p:nvPr/>
        </p:nvPicPr>
        <p:blipFill>
          <a:blip r:embed="rId4"/>
          <a:stretch>
            <a:fillRect/>
          </a:stretch>
        </p:blipFill>
        <p:spPr>
          <a:xfrm>
            <a:off x="601900" y="1670136"/>
            <a:ext cx="6093651" cy="522363"/>
          </a:xfrm>
          <a:prstGeom prst="rect">
            <a:avLst/>
          </a:prstGeom>
        </p:spPr>
      </p:pic>
      <p:pic>
        <p:nvPicPr>
          <p:cNvPr id="5" name="Original gold/orange brush underline beneath the calligraphic title."/>
          <p:cNvPicPr/>
          <p:nvPr/>
        </p:nvPicPr>
        <p:blipFill>
          <a:blip r:embed="rId5"/>
          <a:stretch>
            <a:fillRect/>
          </a:stretch>
        </p:blipFill>
        <p:spPr>
          <a:xfrm>
            <a:off x="8001989" y="1901497"/>
            <a:ext cx="3273633" cy="432465"/>
          </a:xfrm>
          <a:prstGeom prst="rect">
            <a:avLst/>
          </a:prstGeom>
        </p:spPr>
      </p:pic>
      <p:pic>
        <p:nvPicPr>
          <p:cNvPr id="6" name="Original folded blue paper plane, same orientation and source corner position."/>
          <p:cNvPicPr/>
          <p:nvPr/>
        </p:nvPicPr>
        <p:blipFill>
          <a:blip r:embed="rId6"/>
          <a:stretch>
            <a:fillRect/>
          </a:stretch>
        </p:blipFill>
        <p:spPr>
          <a:xfrm>
            <a:off x="10881381" y="244668"/>
            <a:ext cx="945505" cy="609068"/>
          </a:xfrm>
          <a:prstGeom prst="rect">
            <a:avLst/>
          </a:prstGeom>
        </p:spPr>
      </p:pic>
      <p:pic>
        <p:nvPicPr>
          <p:cNvPr id="7" name="Original visible thin blue dashed flight trail with two heart-shaped loops, separately placed to preserve original plane/path spacing."/>
          <p:cNvPicPr/>
          <p:nvPr/>
        </p:nvPicPr>
        <p:blipFill>
          <a:blip r:embed="rId7"/>
          <a:stretch>
            <a:fillRect/>
          </a:stretch>
        </p:blipFill>
        <p:spPr>
          <a:xfrm>
            <a:off x="11232249" y="1118496"/>
            <a:ext cx="1001721" cy="60394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92222" y="823543"/>
            <a:ext cx="2186397" cy="12025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300" b="1" i="1">
                <a:solidFill>
                  <a:srgbClr val="07577F"/>
                </a:solidFill>
                <a:latin typeface="SimSun"/>
                <a:ea typeface="SimSun"/>
                <a:cs typeface="SimSun"/>
              </a:rPr>
              <a:t>溯源</a:t>
            </a:r>
            <a:endParaRPr lang="zh-CN" sz="7300"/>
          </a:p>
        </p:txBody>
      </p:sp>
      <p:sp>
        <p:nvSpPr>
          <p:cNvPr id="9" name="TextBox 9"/>
          <p:cNvSpPr txBox="1"/>
          <p:nvPr/>
        </p:nvSpPr>
        <p:spPr>
          <a:xfrm>
            <a:off x="2619476" y="823543"/>
            <a:ext cx="925575" cy="12025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300" b="1" i="1">
                <a:solidFill>
                  <a:srgbClr val="07577F"/>
                </a:solidFill>
                <a:latin typeface="SimSun"/>
                <a:ea typeface="SimSun"/>
                <a:cs typeface="SimSun"/>
              </a:rPr>
              <a:t>：</a:t>
            </a:r>
            <a:endParaRPr lang="zh-CN" sz="7300"/>
          </a:p>
        </p:txBody>
      </p:sp>
      <p:sp>
        <p:nvSpPr>
          <p:cNvPr id="10" name="TextBox 10"/>
          <p:cNvSpPr txBox="1"/>
          <p:nvPr/>
        </p:nvSpPr>
        <p:spPr>
          <a:xfrm>
            <a:off x="3472171" y="1158791"/>
            <a:ext cx="3060956" cy="7215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820" b="1" i="1">
                <a:solidFill>
                  <a:srgbClr val="07577F"/>
                </a:solidFill>
                <a:latin typeface="SimSun"/>
                <a:ea typeface="SimSun"/>
                <a:cs typeface="SimSun"/>
              </a:rPr>
              <a:t>墙上的奖状与</a:t>
            </a:r>
            <a:endParaRPr lang="zh-CN" sz="3820"/>
          </a:p>
        </p:txBody>
      </p:sp>
      <p:sp>
        <p:nvSpPr>
          <p:cNvPr id="11" name="TextBox 11"/>
          <p:cNvSpPr txBox="1"/>
          <p:nvPr/>
        </p:nvSpPr>
        <p:spPr>
          <a:xfrm>
            <a:off x="6401943" y="765239"/>
            <a:ext cx="1166079" cy="14211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200">
                <a:solidFill>
                  <a:srgbClr val="F3A317"/>
                </a:solidFill>
                <a:latin typeface="KaiTi"/>
                <a:ea typeface="KaiTi"/>
                <a:cs typeface="KaiTi"/>
              </a:rPr>
              <a:t>被</a:t>
            </a:r>
            <a:endParaRPr lang="zh-CN" sz="8200"/>
          </a:p>
        </p:txBody>
      </p:sp>
      <p:sp>
        <p:nvSpPr>
          <p:cNvPr id="12" name="TextBox 12"/>
          <p:cNvSpPr txBox="1"/>
          <p:nvPr/>
        </p:nvSpPr>
        <p:spPr>
          <a:xfrm>
            <a:off x="7298366" y="721511"/>
            <a:ext cx="1166079" cy="14211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200">
                <a:solidFill>
                  <a:srgbClr val="F3A317"/>
                </a:solidFill>
                <a:latin typeface="KaiTi"/>
                <a:ea typeface="KaiTi"/>
                <a:cs typeface="KaiTi"/>
              </a:rPr>
              <a:t>否</a:t>
            </a:r>
            <a:endParaRPr lang="zh-CN" sz="8200"/>
          </a:p>
        </p:txBody>
      </p:sp>
      <p:sp>
        <p:nvSpPr>
          <p:cNvPr id="13" name="TextBox 13"/>
          <p:cNvSpPr txBox="1"/>
          <p:nvPr/>
        </p:nvSpPr>
        <p:spPr>
          <a:xfrm>
            <a:off x="8114621" y="801679"/>
            <a:ext cx="1166079" cy="14211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200">
                <a:solidFill>
                  <a:srgbClr val="F3A317"/>
                </a:solidFill>
                <a:latin typeface="KaiTi"/>
                <a:ea typeface="KaiTi"/>
                <a:cs typeface="KaiTi"/>
              </a:rPr>
              <a:t>定</a:t>
            </a:r>
            <a:endParaRPr lang="zh-CN" sz="8200"/>
          </a:p>
        </p:txBody>
      </p:sp>
      <p:sp>
        <p:nvSpPr>
          <p:cNvPr id="14" name="TextBox 14"/>
          <p:cNvSpPr txBox="1"/>
          <p:nvPr/>
        </p:nvSpPr>
        <p:spPr>
          <a:xfrm>
            <a:off x="8930876" y="852695"/>
            <a:ext cx="1166079" cy="14211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200">
                <a:solidFill>
                  <a:srgbClr val="F3A317"/>
                </a:solidFill>
                <a:latin typeface="KaiTi"/>
                <a:ea typeface="KaiTi"/>
                <a:cs typeface="KaiTi"/>
              </a:rPr>
              <a:t>的</a:t>
            </a:r>
            <a:endParaRPr lang="zh-CN" sz="8200"/>
          </a:p>
        </p:txBody>
      </p:sp>
      <p:sp>
        <p:nvSpPr>
          <p:cNvPr id="15" name="TextBox 15"/>
          <p:cNvSpPr txBox="1"/>
          <p:nvPr/>
        </p:nvSpPr>
        <p:spPr>
          <a:xfrm>
            <a:off x="9710691" y="736087"/>
            <a:ext cx="1166079" cy="14211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200">
                <a:solidFill>
                  <a:srgbClr val="F3A317"/>
                </a:solidFill>
                <a:latin typeface="KaiTi"/>
                <a:ea typeface="KaiTi"/>
                <a:cs typeface="KaiTi"/>
              </a:rPr>
              <a:t>童</a:t>
            </a:r>
            <a:endParaRPr lang="zh-CN" sz="8200"/>
          </a:p>
        </p:txBody>
      </p:sp>
      <p:sp>
        <p:nvSpPr>
          <p:cNvPr id="16" name="TextBox 16"/>
          <p:cNvSpPr txBox="1"/>
          <p:nvPr/>
        </p:nvSpPr>
        <p:spPr>
          <a:xfrm>
            <a:off x="10475930" y="779815"/>
            <a:ext cx="1166079" cy="14211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200">
                <a:solidFill>
                  <a:srgbClr val="F3A317"/>
                </a:solidFill>
                <a:latin typeface="KaiTi"/>
                <a:ea typeface="KaiTi"/>
                <a:cs typeface="KaiTi"/>
              </a:rPr>
              <a:t>年</a:t>
            </a:r>
            <a:endParaRPr lang="zh-CN" sz="8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4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