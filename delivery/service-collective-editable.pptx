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ing sky, header, filmstrip and silk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7869" y="0"/>
            <a:ext cx="12175958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424963" y="2326105"/>
            <a:ext cx="2767263" cy="2005263"/>
          </a:xfrm>
          <a:prstGeom prst="roundRect">
            <a:avLst>
              <a:gd name="adj" fmla="val 14000"/>
            </a:avLst>
          </a:prstGeom>
          <a:solidFill>
            <a:srgbClr val="FCFBF9"/>
          </a:solidFill>
          <a:ln w="11430">
            <a:solidFill>
              <a:srgbClr val="FFD0A9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456921" y="2326105"/>
            <a:ext cx="2671011" cy="2005263"/>
          </a:xfrm>
          <a:prstGeom prst="roundRect">
            <a:avLst>
              <a:gd name="adj" fmla="val 14000"/>
            </a:avLst>
          </a:prstGeom>
          <a:solidFill>
            <a:srgbClr val="FCFBF9"/>
          </a:solidFill>
          <a:ln w="11430">
            <a:solidFill>
              <a:srgbClr val="FFD0A9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6368563" y="2326105"/>
            <a:ext cx="2662989" cy="2005263"/>
          </a:xfrm>
          <a:prstGeom prst="roundRect">
            <a:avLst>
              <a:gd name="adj" fmla="val 14000"/>
            </a:avLst>
          </a:prstGeom>
          <a:solidFill>
            <a:srgbClr val="FCFBF9"/>
          </a:solidFill>
          <a:ln w="11430">
            <a:solidFill>
              <a:srgbClr val="FFD0A9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9280205" y="2326105"/>
            <a:ext cx="2598821" cy="2005263"/>
          </a:xfrm>
          <a:prstGeom prst="roundRect">
            <a:avLst>
              <a:gd name="adj" fmla="val 14000"/>
            </a:avLst>
          </a:prstGeom>
          <a:solidFill>
            <a:srgbClr val="FCFBF9"/>
          </a:solidFill>
          <a:ln w="11430">
            <a:solidFill>
              <a:srgbClr val="FFD0A9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4571848" y="152400"/>
            <a:ext cx="0" cy="352926"/>
          </a:xfrm>
          <a:prstGeom prst="line">
            <a:avLst/>
          </a:prstGeom>
          <a:noFill/>
          <a:ln w="8255">
            <a:solidFill>
              <a:srgbClr val="EF171C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5799069" y="152400"/>
            <a:ext cx="0" cy="352926"/>
          </a:xfrm>
          <a:prstGeom prst="line">
            <a:avLst/>
          </a:prstGeom>
          <a:noFill/>
          <a:ln w="8255">
            <a:solidFill>
              <a:srgbClr val="EF171C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7042332" y="152400"/>
            <a:ext cx="0" cy="352926"/>
          </a:xfrm>
          <a:prstGeom prst="line">
            <a:avLst/>
          </a:prstGeom>
          <a:noFill/>
          <a:ln w="8255">
            <a:solidFill>
              <a:srgbClr val="EF171C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8333721" y="152400"/>
            <a:ext cx="0" cy="352926"/>
          </a:xfrm>
          <a:prstGeom prst="line">
            <a:avLst/>
          </a:prstGeom>
          <a:noFill/>
          <a:ln w="8255">
            <a:solidFill>
              <a:srgbClr val="EF171C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9641153" y="152400"/>
            <a:ext cx="0" cy="352926"/>
          </a:xfrm>
          <a:prstGeom prst="line">
            <a:avLst/>
          </a:prstGeom>
          <a:noFill/>
          <a:ln w="8255">
            <a:solidFill>
              <a:srgbClr val="EF171C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0868374" y="152400"/>
            <a:ext cx="0" cy="352926"/>
          </a:xfrm>
          <a:prstGeom prst="line">
            <a:avLst/>
          </a:prstGeom>
          <a:noFill/>
          <a:ln w="8255">
            <a:solidFill>
              <a:srgbClr val="EF171C"/>
            </a:solidFill>
          </a:ln>
        </p:spPr>
        <p:txBody>
          <a:bodyPr/>
          <a:lstStyle/>
          <a:p/>
        </p:txBody>
      </p:sp>
      <p:pic>
        <p:nvPicPr>
          <p:cNvPr id="13" name="title-gold-accent"/>
          <p:cNvPicPr/>
          <p:nvPr/>
        </p:nvPicPr>
        <p:blipFill>
          <a:blip r:embed="rId3"/>
          <a:stretch>
            <a:fillRect/>
          </a:stretch>
        </p:blipFill>
        <p:spPr>
          <a:xfrm>
            <a:off x="2378763" y="1329570"/>
            <a:ext cx="7620193" cy="445008"/>
          </a:xfrm>
          <a:prstGeom prst="rect">
            <a:avLst/>
          </a:prstGeom>
        </p:spPr>
      </p:pic>
      <p:pic>
        <p:nvPicPr>
          <p:cNvPr id="14" name="gold-arrow-1"/>
          <p:cNvPicPr/>
          <p:nvPr/>
        </p:nvPicPr>
        <p:blipFill>
          <a:blip r:embed="rId4"/>
          <a:stretch>
            <a:fillRect/>
          </a:stretch>
        </p:blipFill>
        <p:spPr>
          <a:xfrm>
            <a:off x="2556972" y="1845497"/>
            <a:ext cx="1102066" cy="588647"/>
          </a:xfrm>
          <a:prstGeom prst="rect">
            <a:avLst/>
          </a:prstGeom>
        </p:spPr>
      </p:pic>
      <p:pic>
        <p:nvPicPr>
          <p:cNvPr id="15" name="gold-arrow-2"/>
          <p:cNvPicPr/>
          <p:nvPr/>
        </p:nvPicPr>
        <p:blipFill>
          <a:blip r:embed="rId5"/>
          <a:stretch>
            <a:fillRect/>
          </a:stretch>
        </p:blipFill>
        <p:spPr>
          <a:xfrm>
            <a:off x="5572888" y="1845497"/>
            <a:ext cx="1102066" cy="588647"/>
          </a:xfrm>
          <a:prstGeom prst="rect">
            <a:avLst/>
          </a:prstGeom>
        </p:spPr>
      </p:pic>
      <p:pic>
        <p:nvPicPr>
          <p:cNvPr id="16" name="gold-arrow-3"/>
          <p:cNvPicPr/>
          <p:nvPr/>
        </p:nvPicPr>
        <p:blipFill>
          <a:blip r:embed="rId6"/>
          <a:stretch>
            <a:fillRect/>
          </a:stretch>
        </p:blipFill>
        <p:spPr>
          <a:xfrm>
            <a:off x="8484530" y="1845497"/>
            <a:ext cx="1102066" cy="588647"/>
          </a:xfrm>
          <a:prstGeom prst="rect">
            <a:avLst/>
          </a:prstGeom>
        </p:spPr>
      </p:pic>
      <p:sp>
        <p:nvSpPr>
          <p:cNvPr id="17" name="Ellipse 17"/>
          <p:cNvSpPr/>
          <p:nvPr/>
        </p:nvSpPr>
        <p:spPr>
          <a:xfrm>
            <a:off x="609448" y="3184358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609448" y="3449053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609448" y="3713747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3657448" y="3015916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3657448" y="3617495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6577111" y="3023937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6577111" y="3441032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6577111" y="3697705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9673237" y="3080084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9673237" y="3344779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9673237" y="3609474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9673237" y="3874168"/>
            <a:ext cx="96253" cy="96253"/>
          </a:xfrm>
          <a:prstGeom prst="ellipse">
            <a:avLst/>
          </a:prstGeom>
          <a:solidFill>
            <a:srgbClr val="CA1014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9" name="photo-gym"/>
          <p:cNvPicPr/>
          <p:nvPr/>
        </p:nvPicPr>
        <p:blipFill>
          <a:blip r:embed="rId15"/>
          <a:stretch>
            <a:fillRect/>
          </a:stretch>
        </p:blipFill>
        <p:spPr>
          <a:xfrm>
            <a:off x="306815" y="4501174"/>
            <a:ext cx="3147939" cy="1585442"/>
          </a:xfrm>
          <a:prstGeom prst="rect">
            <a:avLst/>
          </a:prstGeom>
        </p:spPr>
      </p:pic>
      <p:pic>
        <p:nvPicPr>
          <p:cNvPr id="30" name="photo-classroom"/>
          <p:cNvPicPr/>
          <p:nvPr/>
        </p:nvPicPr>
        <p:blipFill>
          <a:blip r:embed="rId16"/>
          <a:stretch>
            <a:fillRect/>
          </a:stretch>
        </p:blipFill>
        <p:spPr>
          <a:xfrm>
            <a:off x="3374544" y="4501174"/>
            <a:ext cx="2843786" cy="1585442"/>
          </a:xfrm>
          <a:prstGeom prst="rect">
            <a:avLst/>
          </a:prstGeom>
        </p:spPr>
      </p:pic>
      <p:pic>
        <p:nvPicPr>
          <p:cNvPr id="31" name="photo-tug"/>
          <p:cNvPicPr/>
          <p:nvPr/>
        </p:nvPicPr>
        <p:blipFill>
          <a:blip r:embed="rId17"/>
          <a:stretch>
            <a:fillRect/>
          </a:stretch>
        </p:blipFill>
        <p:spPr>
          <a:xfrm>
            <a:off x="6168700" y="4507916"/>
            <a:ext cx="3086778" cy="1571957"/>
          </a:xfrm>
          <a:prstGeom prst="rect">
            <a:avLst/>
          </a:prstGeom>
        </p:spPr>
      </p:pic>
      <p:pic>
        <p:nvPicPr>
          <p:cNvPr id="32" name="photo-certificate"/>
          <p:cNvPicPr/>
          <p:nvPr/>
        </p:nvPicPr>
        <p:blipFill>
          <a:blip r:embed="rId18"/>
          <a:stretch>
            <a:fillRect/>
          </a:stretch>
        </p:blipFill>
        <p:spPr>
          <a:xfrm>
            <a:off x="9219488" y="4534263"/>
            <a:ext cx="2567857" cy="1519264"/>
          </a:xfrm>
          <a:prstGeom prst="rect">
            <a:avLst/>
          </a:prstGeom>
        </p:spPr>
      </p:pic>
      <p:pic>
        <p:nvPicPr>
          <p:cNvPr id="33" name="duties-medallion"/>
          <p:cNvPicPr/>
          <p:nvPr/>
        </p:nvPicPr>
        <p:blipFill>
          <a:blip r:embed="rId7"/>
          <a:stretch>
            <a:fillRect/>
          </a:stretch>
        </p:blipFill>
        <p:spPr>
          <a:xfrm>
            <a:off x="1126685" y="1558758"/>
            <a:ext cx="1219441" cy="1229895"/>
          </a:xfrm>
          <a:prstGeom prst="rect">
            <a:avLst/>
          </a:prstGeom>
        </p:spPr>
      </p:pic>
      <p:pic>
        <p:nvPicPr>
          <p:cNvPr id="34" name="people-medallion"/>
          <p:cNvPicPr/>
          <p:nvPr/>
        </p:nvPicPr>
        <p:blipFill>
          <a:blip r:embed="rId8"/>
          <a:stretch>
            <a:fillRect/>
          </a:stretch>
        </p:blipFill>
        <p:spPr>
          <a:xfrm>
            <a:off x="4153275" y="1527890"/>
            <a:ext cx="1198092" cy="1219441"/>
          </a:xfrm>
          <a:prstGeom prst="rect">
            <a:avLst/>
          </a:prstGeom>
        </p:spPr>
      </p:pic>
      <p:pic>
        <p:nvPicPr>
          <p:cNvPr id="35" name="trophy-medallion"/>
          <p:cNvPicPr/>
          <p:nvPr/>
        </p:nvPicPr>
        <p:blipFill>
          <a:blip r:embed="rId9"/>
          <a:stretch>
            <a:fillRect/>
          </a:stretch>
        </p:blipFill>
        <p:spPr>
          <a:xfrm>
            <a:off x="7082709" y="1563828"/>
            <a:ext cx="1154488" cy="1147565"/>
          </a:xfrm>
          <a:prstGeom prst="rect">
            <a:avLst/>
          </a:prstGeom>
        </p:spPr>
      </p:pic>
      <p:pic>
        <p:nvPicPr>
          <p:cNvPr id="36" name="growth-medallion"/>
          <p:cNvPicPr/>
          <p:nvPr/>
        </p:nvPicPr>
        <p:blipFill>
          <a:blip r:embed="rId10"/>
          <a:stretch>
            <a:fillRect/>
          </a:stretch>
        </p:blipFill>
        <p:spPr>
          <a:xfrm>
            <a:off x="9990702" y="1535550"/>
            <a:ext cx="1225955" cy="1228184"/>
          </a:xfrm>
          <a:prstGeom prst="rect">
            <a:avLst/>
          </a:prstGeom>
        </p:spPr>
      </p:pic>
      <p:pic>
        <p:nvPicPr>
          <p:cNvPr id="37" name="heading-plate-1"/>
          <p:cNvPicPr/>
          <p:nvPr/>
        </p:nvPicPr>
        <p:blipFill>
          <a:blip r:embed="rId11"/>
          <a:stretch>
            <a:fillRect/>
          </a:stretch>
        </p:blipFill>
        <p:spPr>
          <a:xfrm>
            <a:off x="821457" y="2499360"/>
            <a:ext cx="1749686" cy="471638"/>
          </a:xfrm>
          <a:prstGeom prst="rect">
            <a:avLst/>
          </a:prstGeom>
        </p:spPr>
      </p:pic>
      <p:pic>
        <p:nvPicPr>
          <p:cNvPr id="38" name="heading-plate-2"/>
          <p:cNvPicPr/>
          <p:nvPr/>
        </p:nvPicPr>
        <p:blipFill>
          <a:blip r:embed="rId12"/>
          <a:stretch>
            <a:fillRect/>
          </a:stretch>
        </p:blipFill>
        <p:spPr>
          <a:xfrm>
            <a:off x="3861436" y="2459255"/>
            <a:ext cx="1749686" cy="471638"/>
          </a:xfrm>
          <a:prstGeom prst="rect">
            <a:avLst/>
          </a:prstGeom>
        </p:spPr>
      </p:pic>
      <p:pic>
        <p:nvPicPr>
          <p:cNvPr id="39" name="heading-plate-3"/>
          <p:cNvPicPr/>
          <p:nvPr/>
        </p:nvPicPr>
        <p:blipFill>
          <a:blip r:embed="rId13"/>
          <a:stretch>
            <a:fillRect/>
          </a:stretch>
        </p:blipFill>
        <p:spPr>
          <a:xfrm>
            <a:off x="6756694" y="2459255"/>
            <a:ext cx="1758391" cy="471638"/>
          </a:xfrm>
          <a:prstGeom prst="rect">
            <a:avLst/>
          </a:prstGeom>
        </p:spPr>
      </p:pic>
      <p:pic>
        <p:nvPicPr>
          <p:cNvPr id="40" name="heading-plate-4"/>
          <p:cNvPicPr/>
          <p:nvPr/>
        </p:nvPicPr>
        <p:blipFill>
          <a:blip r:embed="rId14"/>
          <a:stretch>
            <a:fillRect/>
          </a:stretch>
        </p:blipFill>
        <p:spPr>
          <a:xfrm>
            <a:off x="9699736" y="2481714"/>
            <a:ext cx="1775801" cy="482867"/>
          </a:xfrm>
          <a:prstGeom prst="rect">
            <a:avLst/>
          </a:prstGeom>
        </p:spPr>
      </p:pic>
      <p:pic>
        <p:nvPicPr>
          <p:cNvPr id="41" name="caption-plate-1"/>
          <p:cNvPicPr/>
          <p:nvPr/>
        </p:nvPicPr>
        <p:blipFill>
          <a:blip r:embed="rId19"/>
          <a:stretch>
            <a:fillRect/>
          </a:stretch>
        </p:blipFill>
        <p:spPr>
          <a:xfrm>
            <a:off x="839826" y="5769175"/>
            <a:ext cx="2041811" cy="494084"/>
          </a:xfrm>
          <a:prstGeom prst="rect">
            <a:avLst/>
          </a:prstGeom>
        </p:spPr>
      </p:pic>
      <p:pic>
        <p:nvPicPr>
          <p:cNvPr id="42" name="caption-plate-2"/>
          <p:cNvPicPr/>
          <p:nvPr/>
        </p:nvPicPr>
        <p:blipFill>
          <a:blip r:embed="rId20"/>
          <a:stretch>
            <a:fillRect/>
          </a:stretch>
        </p:blipFill>
        <p:spPr>
          <a:xfrm>
            <a:off x="3845001" y="5777196"/>
            <a:ext cx="1878810" cy="494084"/>
          </a:xfrm>
          <a:prstGeom prst="rect">
            <a:avLst/>
          </a:prstGeom>
        </p:spPr>
      </p:pic>
      <p:pic>
        <p:nvPicPr>
          <p:cNvPr id="43" name="caption-plate-3"/>
          <p:cNvPicPr/>
          <p:nvPr/>
        </p:nvPicPr>
        <p:blipFill>
          <a:blip r:embed="rId21"/>
          <a:stretch>
            <a:fillRect/>
          </a:stretch>
        </p:blipFill>
        <p:spPr>
          <a:xfrm>
            <a:off x="6811953" y="5769175"/>
            <a:ext cx="1904547" cy="494084"/>
          </a:xfrm>
          <a:prstGeom prst="rect">
            <a:avLst/>
          </a:prstGeom>
        </p:spPr>
      </p:pic>
      <p:pic>
        <p:nvPicPr>
          <p:cNvPr id="44" name="caption-plate-4"/>
          <p:cNvPicPr/>
          <p:nvPr/>
        </p:nvPicPr>
        <p:blipFill>
          <a:blip r:embed="rId22"/>
          <a:stretch>
            <a:fillRect/>
          </a:stretch>
        </p:blipFill>
        <p:spPr>
          <a:xfrm>
            <a:off x="9532694" y="5769175"/>
            <a:ext cx="2101865" cy="494084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890184" y="2566737"/>
            <a:ext cx="1612232" cy="3368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岗位职责</a:t>
            </a:r>
            <a:endParaRPr lang="zh-CN" sz="1950"/>
          </a:p>
        </p:txBody>
      </p:sp>
      <p:sp>
        <p:nvSpPr>
          <p:cNvPr id="46" name="TextBox 46"/>
          <p:cNvSpPr txBox="1"/>
          <p:nvPr/>
        </p:nvSpPr>
        <p:spPr>
          <a:xfrm>
            <a:off x="3930163" y="2526632"/>
            <a:ext cx="1612232" cy="3368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组织活动</a:t>
            </a:r>
            <a:endParaRPr lang="zh-CN" sz="1950"/>
          </a:p>
        </p:txBody>
      </p:sp>
      <p:sp>
        <p:nvSpPr>
          <p:cNvPr id="47" name="TextBox 47"/>
          <p:cNvSpPr txBox="1"/>
          <p:nvPr/>
        </p:nvSpPr>
        <p:spPr>
          <a:xfrm>
            <a:off x="6825763" y="2526632"/>
            <a:ext cx="1620253" cy="3368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成长收获</a:t>
            </a:r>
            <a:endParaRPr lang="zh-CN" sz="1950"/>
          </a:p>
        </p:txBody>
      </p:sp>
      <p:sp>
        <p:nvSpPr>
          <p:cNvPr id="48" name="TextBox 48"/>
          <p:cNvSpPr txBox="1"/>
          <p:nvPr/>
        </p:nvSpPr>
        <p:spPr>
          <a:xfrm>
            <a:off x="9769490" y="2550695"/>
            <a:ext cx="1636295" cy="3449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能力成长</a:t>
            </a:r>
            <a:endParaRPr lang="zh-CN" sz="1950"/>
          </a:p>
        </p:txBody>
      </p:sp>
      <p:sp>
        <p:nvSpPr>
          <p:cNvPr id="49" name="TextBox 49"/>
          <p:cNvSpPr txBox="1"/>
          <p:nvPr/>
        </p:nvSpPr>
        <p:spPr>
          <a:xfrm>
            <a:off x="906227" y="5831305"/>
            <a:ext cx="1909011" cy="3609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集体活动</a:t>
            </a:r>
            <a:endParaRPr lang="zh-CN" sz="1900"/>
          </a:p>
        </p:txBody>
      </p:sp>
      <p:sp>
        <p:nvSpPr>
          <p:cNvPr id="50" name="TextBox 50"/>
          <p:cNvSpPr txBox="1"/>
          <p:nvPr/>
        </p:nvSpPr>
        <p:spPr>
          <a:xfrm>
            <a:off x="3906100" y="5839326"/>
            <a:ext cx="1756611" cy="3609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组织协作</a:t>
            </a:r>
            <a:endParaRPr lang="zh-CN" sz="1900"/>
          </a:p>
        </p:txBody>
      </p:sp>
      <p:sp>
        <p:nvSpPr>
          <p:cNvPr id="51" name="TextBox 51"/>
          <p:cNvSpPr txBox="1"/>
          <p:nvPr/>
        </p:nvSpPr>
        <p:spPr>
          <a:xfrm>
            <a:off x="6873890" y="5831305"/>
            <a:ext cx="1780674" cy="3609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文体实践</a:t>
            </a:r>
            <a:endParaRPr lang="zh-CN" sz="1900"/>
          </a:p>
        </p:txBody>
      </p:sp>
      <p:sp>
        <p:nvSpPr>
          <p:cNvPr id="52" name="TextBox 52"/>
          <p:cNvSpPr txBox="1"/>
          <p:nvPr/>
        </p:nvSpPr>
        <p:spPr>
          <a:xfrm>
            <a:off x="9601048" y="5831305"/>
            <a:ext cx="1965158" cy="3609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荣誉见证</a:t>
            </a:r>
            <a:endParaRPr lang="zh-CN" sz="1900"/>
          </a:p>
        </p:txBody>
      </p:sp>
      <p:sp>
        <p:nvSpPr>
          <p:cNvPr id="53" name="TextBox 53"/>
          <p:cNvSpPr txBox="1"/>
          <p:nvPr/>
        </p:nvSpPr>
        <p:spPr>
          <a:xfrm>
            <a:off x="392879" y="136358"/>
            <a:ext cx="1925053" cy="521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9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工作服务</a:t>
            </a:r>
            <a:endParaRPr lang="zh-CN" sz="3790"/>
          </a:p>
        </p:txBody>
      </p:sp>
      <p:sp>
        <p:nvSpPr>
          <p:cNvPr id="54" name="TextBox 54"/>
          <p:cNvSpPr txBox="1"/>
          <p:nvPr/>
        </p:nvSpPr>
        <p:spPr>
          <a:xfrm>
            <a:off x="3376711" y="144379"/>
            <a:ext cx="1098884" cy="3529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风华正茂</a:t>
            </a:r>
            <a:endParaRPr lang="zh-CN" sz="1850"/>
          </a:p>
        </p:txBody>
      </p:sp>
      <p:sp>
        <p:nvSpPr>
          <p:cNvPr id="55" name="TextBox 55"/>
          <p:cNvSpPr txBox="1"/>
          <p:nvPr/>
        </p:nvSpPr>
        <p:spPr>
          <a:xfrm>
            <a:off x="4660079" y="144379"/>
            <a:ext cx="1058779" cy="3529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初心向党</a:t>
            </a:r>
            <a:endParaRPr lang="zh-CN" sz="1850"/>
          </a:p>
        </p:txBody>
      </p:sp>
      <p:sp>
        <p:nvSpPr>
          <p:cNvPr id="56" name="TextBox 56"/>
          <p:cNvSpPr txBox="1"/>
          <p:nvPr/>
        </p:nvSpPr>
        <p:spPr>
          <a:xfrm>
            <a:off x="5887300" y="144379"/>
            <a:ext cx="1058779" cy="3529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学海砺行</a:t>
            </a:r>
            <a:endParaRPr lang="zh-CN" sz="1850"/>
          </a:p>
        </p:txBody>
      </p:sp>
      <p:sp>
        <p:nvSpPr>
          <p:cNvPr id="57" name="TextBox 57"/>
          <p:cNvSpPr txBox="1"/>
          <p:nvPr/>
        </p:nvSpPr>
        <p:spPr>
          <a:xfrm>
            <a:off x="7162648" y="144379"/>
            <a:ext cx="1066800" cy="3529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F56B10"/>
                </a:solidFill>
                <a:latin typeface="Noto Sans CJK SC"/>
                <a:ea typeface="Noto Sans CJK SC"/>
                <a:cs typeface="Noto Sans CJK SC"/>
              </a:rPr>
              <a:t>担当有为</a:t>
            </a:r>
            <a:endParaRPr lang="zh-CN" sz="1850"/>
          </a:p>
        </p:txBody>
      </p:sp>
      <p:sp>
        <p:nvSpPr>
          <p:cNvPr id="58" name="TextBox 58"/>
          <p:cNvSpPr txBox="1"/>
          <p:nvPr/>
        </p:nvSpPr>
        <p:spPr>
          <a:xfrm>
            <a:off x="8437995" y="144379"/>
            <a:ext cx="1074821" cy="3529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以趣润心</a:t>
            </a:r>
            <a:endParaRPr lang="zh-CN" sz="1850"/>
          </a:p>
        </p:txBody>
      </p:sp>
      <p:sp>
        <p:nvSpPr>
          <p:cNvPr id="59" name="TextBox 59"/>
          <p:cNvSpPr txBox="1"/>
          <p:nvPr/>
        </p:nvSpPr>
        <p:spPr>
          <a:xfrm>
            <a:off x="9729384" y="144379"/>
            <a:ext cx="1058779" cy="3529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志愿同行</a:t>
            </a:r>
            <a:endParaRPr lang="zh-CN" sz="1850"/>
          </a:p>
        </p:txBody>
      </p:sp>
      <p:sp>
        <p:nvSpPr>
          <p:cNvPr id="60" name="TextBox 60"/>
          <p:cNvSpPr txBox="1"/>
          <p:nvPr/>
        </p:nvSpPr>
        <p:spPr>
          <a:xfrm>
            <a:off x="10948584" y="144379"/>
            <a:ext cx="1074821" cy="3529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笃行致远</a:t>
            </a:r>
            <a:endParaRPr lang="zh-CN" sz="1850"/>
          </a:p>
        </p:txBody>
      </p:sp>
      <p:sp>
        <p:nvSpPr>
          <p:cNvPr id="61" name="TextBox 61"/>
          <p:cNvSpPr txBox="1"/>
          <p:nvPr/>
        </p:nvSpPr>
        <p:spPr>
          <a:xfrm>
            <a:off x="2935553" y="898358"/>
            <a:ext cx="6609347" cy="6978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950">
                <a:solidFill>
                  <a:srgbClr val="D5130E"/>
                </a:solidFill>
                <a:latin typeface="Ma Shan Zheng"/>
                <a:ea typeface="Ma Shan Zheng"/>
                <a:cs typeface="Ma Shan Zheng"/>
              </a:rPr>
              <a:t>服务集体，在担当中收获成长</a:t>
            </a:r>
            <a:endParaRPr lang="zh-CN" sz="3950"/>
          </a:p>
        </p:txBody>
      </p:sp>
      <p:sp>
        <p:nvSpPr>
          <p:cNvPr id="62" name="TextBox 62"/>
          <p:cNvSpPr txBox="1"/>
          <p:nvPr/>
        </p:nvSpPr>
        <p:spPr>
          <a:xfrm>
            <a:off x="777890" y="3120189"/>
            <a:ext cx="2390274" cy="224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班级体育委员（兼文艺艺术委员）</a:t>
            </a:r>
            <a:endParaRPr lang="zh-CN" sz="1250"/>
          </a:p>
        </p:txBody>
      </p:sp>
      <p:sp>
        <p:nvSpPr>
          <p:cNvPr id="63" name="TextBox 63"/>
          <p:cNvSpPr txBox="1"/>
          <p:nvPr/>
        </p:nvSpPr>
        <p:spPr>
          <a:xfrm>
            <a:off x="777890" y="3392905"/>
            <a:ext cx="2269958" cy="224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经济学院团委组织部成员</a:t>
            </a:r>
            <a:endParaRPr lang="zh-CN" sz="1250"/>
          </a:p>
        </p:txBody>
      </p:sp>
      <p:sp>
        <p:nvSpPr>
          <p:cNvPr id="64" name="TextBox 64"/>
          <p:cNvSpPr txBox="1"/>
          <p:nvPr/>
        </p:nvSpPr>
        <p:spPr>
          <a:xfrm>
            <a:off x="777890" y="3657600"/>
            <a:ext cx="2334126" cy="2245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经济学院学生会体育部副部长</a:t>
            </a:r>
            <a:endParaRPr lang="zh-CN" sz="1250"/>
          </a:p>
        </p:txBody>
      </p:sp>
      <p:sp>
        <p:nvSpPr>
          <p:cNvPr id="65" name="TextBox 65"/>
          <p:cNvSpPr txBox="1"/>
          <p:nvPr/>
        </p:nvSpPr>
        <p:spPr>
          <a:xfrm>
            <a:off x="3833911" y="2959768"/>
            <a:ext cx="2173705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组织策划新生才艺大赛、</a:t>
            </a:r>
            <a:endParaRPr lang="zh-CN" sz="1250"/>
          </a:p>
        </p:txBody>
      </p:sp>
      <p:sp>
        <p:nvSpPr>
          <p:cNvPr id="66" name="TextBox 66"/>
          <p:cNvSpPr txBox="1"/>
          <p:nvPr/>
        </p:nvSpPr>
        <p:spPr>
          <a:xfrm>
            <a:off x="3833911" y="3152274"/>
            <a:ext cx="2213811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校运会、理工杯、趣味运动会</a:t>
            </a:r>
            <a:endParaRPr lang="zh-CN" sz="1250"/>
          </a:p>
        </p:txBody>
      </p:sp>
      <p:sp>
        <p:nvSpPr>
          <p:cNvPr id="67" name="TextBox 67"/>
          <p:cNvSpPr txBox="1"/>
          <p:nvPr/>
        </p:nvSpPr>
        <p:spPr>
          <a:xfrm>
            <a:off x="3833911" y="3344779"/>
            <a:ext cx="2173705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等活动</a:t>
            </a:r>
            <a:endParaRPr lang="zh-CN" sz="1250"/>
          </a:p>
        </p:txBody>
      </p:sp>
      <p:sp>
        <p:nvSpPr>
          <p:cNvPr id="68" name="TextBox 68"/>
          <p:cNvSpPr txBox="1"/>
          <p:nvPr/>
        </p:nvSpPr>
        <p:spPr>
          <a:xfrm>
            <a:off x="3833911" y="3561347"/>
            <a:ext cx="2229853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及时收集同学意见，协助解决</a:t>
            </a:r>
            <a:endParaRPr lang="zh-CN" sz="1250"/>
          </a:p>
        </p:txBody>
      </p:sp>
      <p:sp>
        <p:nvSpPr>
          <p:cNvPr id="69" name="TextBox 69"/>
          <p:cNvSpPr txBox="1"/>
          <p:nvPr/>
        </p:nvSpPr>
        <p:spPr>
          <a:xfrm>
            <a:off x="3833911" y="3753853"/>
            <a:ext cx="2213811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学习、生活或活动参与中的</a:t>
            </a:r>
            <a:endParaRPr lang="zh-CN" sz="1250"/>
          </a:p>
        </p:txBody>
      </p:sp>
      <p:sp>
        <p:nvSpPr>
          <p:cNvPr id="70" name="TextBox 70"/>
          <p:cNvSpPr txBox="1"/>
          <p:nvPr/>
        </p:nvSpPr>
        <p:spPr>
          <a:xfrm>
            <a:off x="3833911" y="3946358"/>
            <a:ext cx="2173705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实际问题</a:t>
            </a:r>
            <a:endParaRPr lang="zh-CN" sz="1250"/>
          </a:p>
        </p:txBody>
      </p:sp>
      <p:sp>
        <p:nvSpPr>
          <p:cNvPr id="71" name="TextBox 71"/>
          <p:cNvSpPr txBox="1"/>
          <p:nvPr/>
        </p:nvSpPr>
        <p:spPr>
          <a:xfrm>
            <a:off x="6745553" y="2959768"/>
            <a:ext cx="2141621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获 2024—2025 学年</a:t>
            </a:r>
            <a:endParaRPr lang="zh-CN" sz="1250"/>
          </a:p>
        </p:txBody>
      </p:sp>
      <p:sp>
        <p:nvSpPr>
          <p:cNvPr id="72" name="TextBox 72"/>
          <p:cNvSpPr txBox="1"/>
          <p:nvPr/>
        </p:nvSpPr>
        <p:spPr>
          <a:xfrm>
            <a:off x="6745553" y="3160295"/>
            <a:ext cx="2141621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优秀学生干部</a:t>
            </a:r>
            <a:endParaRPr lang="zh-CN" sz="1250"/>
          </a:p>
        </p:txBody>
      </p:sp>
      <p:sp>
        <p:nvSpPr>
          <p:cNvPr id="73" name="TextBox 73"/>
          <p:cNvSpPr txBox="1"/>
          <p:nvPr/>
        </p:nvSpPr>
        <p:spPr>
          <a:xfrm>
            <a:off x="6745553" y="3392905"/>
            <a:ext cx="2173705" cy="2085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获 2024 年优秀团员称号</a:t>
            </a:r>
            <a:endParaRPr lang="zh-CN" sz="1250"/>
          </a:p>
        </p:txBody>
      </p:sp>
      <p:sp>
        <p:nvSpPr>
          <p:cNvPr id="74" name="TextBox 74"/>
          <p:cNvSpPr txBox="1"/>
          <p:nvPr/>
        </p:nvSpPr>
        <p:spPr>
          <a:xfrm>
            <a:off x="6745553" y="3649579"/>
            <a:ext cx="2173705" cy="2005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在服务同学、协作沟通和</a:t>
            </a:r>
            <a:endParaRPr lang="zh-CN" sz="1250"/>
          </a:p>
        </p:txBody>
      </p:sp>
      <p:sp>
        <p:nvSpPr>
          <p:cNvPr id="75" name="TextBox 75"/>
          <p:cNvSpPr txBox="1"/>
          <p:nvPr/>
        </p:nvSpPr>
        <p:spPr>
          <a:xfrm>
            <a:off x="6745553" y="3834063"/>
            <a:ext cx="2221832" cy="2005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完成具体任务的过程中，逐步</a:t>
            </a:r>
            <a:endParaRPr lang="zh-CN" sz="1250"/>
          </a:p>
        </p:txBody>
      </p:sp>
      <p:sp>
        <p:nvSpPr>
          <p:cNvPr id="76" name="TextBox 76"/>
          <p:cNvSpPr txBox="1"/>
          <p:nvPr/>
        </p:nvSpPr>
        <p:spPr>
          <a:xfrm>
            <a:off x="6745553" y="4018547"/>
            <a:ext cx="2173705" cy="2005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增强责任意识与集体观念</a:t>
            </a:r>
            <a:endParaRPr lang="zh-CN" sz="1250"/>
          </a:p>
        </p:txBody>
      </p:sp>
      <p:sp>
        <p:nvSpPr>
          <p:cNvPr id="77" name="TextBox 77"/>
          <p:cNvSpPr txBox="1"/>
          <p:nvPr/>
        </p:nvSpPr>
        <p:spPr>
          <a:xfrm>
            <a:off x="9825637" y="3031958"/>
            <a:ext cx="1941095" cy="2165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提升组织协调能力</a:t>
            </a:r>
            <a:endParaRPr lang="zh-CN" sz="1250"/>
          </a:p>
        </p:txBody>
      </p:sp>
      <p:sp>
        <p:nvSpPr>
          <p:cNvPr id="78" name="TextBox 78"/>
          <p:cNvSpPr txBox="1"/>
          <p:nvPr/>
        </p:nvSpPr>
        <p:spPr>
          <a:xfrm>
            <a:off x="9825637" y="3296653"/>
            <a:ext cx="1941095" cy="2165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增强沟通表达能力</a:t>
            </a:r>
            <a:endParaRPr lang="zh-CN" sz="1250"/>
          </a:p>
        </p:txBody>
      </p:sp>
      <p:sp>
        <p:nvSpPr>
          <p:cNvPr id="79" name="TextBox 79"/>
          <p:cNvSpPr txBox="1"/>
          <p:nvPr/>
        </p:nvSpPr>
        <p:spPr>
          <a:xfrm>
            <a:off x="9825637" y="3561347"/>
            <a:ext cx="1941095" cy="2165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锻炼解决问题能力</a:t>
            </a:r>
            <a:endParaRPr lang="zh-CN" sz="1250"/>
          </a:p>
        </p:txBody>
      </p:sp>
      <p:sp>
        <p:nvSpPr>
          <p:cNvPr id="80" name="TextBox 80"/>
          <p:cNvSpPr txBox="1"/>
          <p:nvPr/>
        </p:nvSpPr>
        <p:spPr>
          <a:xfrm>
            <a:off x="9825637" y="3826042"/>
            <a:ext cx="1997242" cy="2165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培养责任意识与集体观念</a:t>
            </a:r>
            <a:endParaRPr lang="zh-CN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