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3087" y="240504"/>
            <a:ext cx="3578404" cy="5903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54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6E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3087" y="138472"/>
            <a:ext cx="3374340" cy="6923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29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379F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087" y="138472"/>
            <a:ext cx="1260823" cy="6923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810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EE9F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84094" y="1151503"/>
            <a:ext cx="11223507" cy="655919"/>
          </a:xfrm>
          <a:prstGeom prst="roundRect">
            <a:avLst>
              <a:gd name="adj" fmla="val 12222"/>
            </a:avLst>
          </a:prstGeom>
          <a:solidFill>
            <a:srgbClr val="F4FBFF"/>
          </a:solidFill>
          <a:ln w="8890">
            <a:solidFill>
              <a:srgbClr val="3696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433078" y="2332157"/>
            <a:ext cx="3571116" cy="3367052"/>
          </a:xfrm>
          <a:prstGeom prst="roundRect">
            <a:avLst>
              <a:gd name="adj" fmla="val 3680"/>
            </a:avLst>
          </a:prstGeom>
          <a:solidFill>
            <a:srgbClr val="F2FAFF"/>
          </a:solidFill>
          <a:ln w="8255">
            <a:solidFill>
              <a:srgbClr val="2D99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324866" y="2332157"/>
            <a:ext cx="3571116" cy="3367052"/>
          </a:xfrm>
          <a:prstGeom prst="roundRect">
            <a:avLst>
              <a:gd name="adj" fmla="val 3680"/>
            </a:avLst>
          </a:prstGeom>
          <a:solidFill>
            <a:srgbClr val="F1FDFE"/>
          </a:solidFill>
          <a:ln w="8255">
            <a:solidFill>
              <a:srgbClr val="39CFE1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8209365" y="2332157"/>
            <a:ext cx="3571116" cy="3367052"/>
          </a:xfrm>
          <a:prstGeom prst="roundRect">
            <a:avLst>
              <a:gd name="adj" fmla="val 3680"/>
            </a:avLst>
          </a:prstGeom>
          <a:solidFill>
            <a:srgbClr val="FFFBF6"/>
          </a:solidFill>
          <a:ln w="8255">
            <a:solidFill>
              <a:srgbClr val="F6AA43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33078" y="5947001"/>
            <a:ext cx="11340115" cy="612191"/>
          </a:xfrm>
          <a:prstGeom prst="roundRect">
            <a:avLst>
              <a:gd name="adj" fmla="val 21429"/>
            </a:avLst>
          </a:prstGeom>
          <a:solidFill>
            <a:srgbClr val="F4FBFF"/>
          </a:solidFill>
          <a:ln w="8890">
            <a:solidFill>
              <a:srgbClr val="8CC5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505958" y="1173367"/>
            <a:ext cx="11179779" cy="612191"/>
          </a:xfrm>
          <a:prstGeom prst="roundRect">
            <a:avLst>
              <a:gd name="adj" fmla="val 9524"/>
            </a:avLst>
          </a:prstGeom>
          <a:solidFill>
            <a:srgbClr val="F2FAF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47654" y="2346733"/>
            <a:ext cx="3541964" cy="3337900"/>
          </a:xfrm>
          <a:prstGeom prst="roundRect">
            <a:avLst>
              <a:gd name="adj" fmla="val 3275"/>
            </a:avLst>
          </a:prstGeom>
          <a:noFill/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339442" y="2346733"/>
            <a:ext cx="3541964" cy="3337900"/>
          </a:xfrm>
          <a:prstGeom prst="roundRect">
            <a:avLst>
              <a:gd name="adj" fmla="val 3275"/>
            </a:avLst>
          </a:prstGeom>
          <a:noFill/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8223941" y="2346733"/>
            <a:ext cx="3541964" cy="3337900"/>
          </a:xfrm>
          <a:prstGeom prst="roundRect">
            <a:avLst>
              <a:gd name="adj" fmla="val 3275"/>
            </a:avLst>
          </a:prstGeom>
          <a:noFill/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454942" y="5968865"/>
            <a:ext cx="11296387" cy="568463"/>
          </a:xfrm>
          <a:prstGeom prst="roundRect">
            <a:avLst>
              <a:gd name="adj" fmla="val 19231"/>
            </a:avLst>
          </a:prstGeom>
          <a:solidFill>
            <a:srgbClr val="F4FB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527822" y="4409235"/>
            <a:ext cx="51016" cy="291520"/>
          </a:xfrm>
          <a:prstGeom prst="rect">
            <a:avLst/>
          </a:prstGeom>
          <a:solidFill>
            <a:srgbClr val="D6E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607990" y="4154155"/>
            <a:ext cx="36440" cy="546599"/>
          </a:xfrm>
          <a:prstGeom prst="rect">
            <a:avLst/>
          </a:prstGeom>
          <a:solidFill>
            <a:srgbClr val="D6E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688158" y="3971955"/>
            <a:ext cx="36440" cy="728799"/>
          </a:xfrm>
          <a:prstGeom prst="rect">
            <a:avLst/>
          </a:prstGeom>
          <a:solidFill>
            <a:srgbClr val="D6E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435731" y="2842317"/>
            <a:ext cx="357112" cy="4882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704"/>
                </a:lnTo>
                <a:lnTo>
                  <a:pt x="21600" y="21600"/>
                </a:lnTo>
                <a:lnTo>
                  <a:pt x="0" y="15475"/>
                </a:lnTo>
                <a:close/>
              </a:path>
            </a:pathLst>
          </a:custGeom>
          <a:solidFill>
            <a:srgbClr val="E3F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4419610" y="4409235"/>
            <a:ext cx="51016" cy="291520"/>
          </a:xfrm>
          <a:prstGeom prst="rect">
            <a:avLst/>
          </a:prstGeom>
          <a:solidFill>
            <a:srgbClr val="D1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499777" y="4154155"/>
            <a:ext cx="36440" cy="546599"/>
          </a:xfrm>
          <a:prstGeom prst="rect">
            <a:avLst/>
          </a:prstGeom>
          <a:solidFill>
            <a:srgbClr val="D1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4579945" y="3971955"/>
            <a:ext cx="36440" cy="728799"/>
          </a:xfrm>
          <a:prstGeom prst="rect">
            <a:avLst/>
          </a:prstGeom>
          <a:solidFill>
            <a:srgbClr val="D1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327518" y="2842317"/>
            <a:ext cx="357112" cy="4882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704"/>
                </a:lnTo>
                <a:lnTo>
                  <a:pt x="21600" y="21600"/>
                </a:lnTo>
                <a:lnTo>
                  <a:pt x="0" y="15475"/>
                </a:lnTo>
                <a:close/>
              </a:path>
            </a:pathLst>
          </a:custGeom>
          <a:solidFill>
            <a:srgbClr val="E3F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8304109" y="4409235"/>
            <a:ext cx="51016" cy="29152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8384277" y="4154155"/>
            <a:ext cx="36440" cy="546599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8464445" y="3971955"/>
            <a:ext cx="36440" cy="728799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1212018" y="2842317"/>
            <a:ext cx="357112" cy="4882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704"/>
                </a:lnTo>
                <a:lnTo>
                  <a:pt x="21600" y="21600"/>
                </a:lnTo>
                <a:lnTo>
                  <a:pt x="0" y="15475"/>
                </a:lnTo>
                <a:close/>
              </a:path>
            </a:pathLst>
          </a:custGeom>
          <a:solidFill>
            <a:srgbClr val="FFF6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0833042" y="1596070"/>
            <a:ext cx="225928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452" y="0"/>
                </a:moveTo>
                <a:lnTo>
                  <a:pt x="21600" y="0"/>
                </a:lnTo>
                <a:lnTo>
                  <a:pt x="1045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DE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1073546" y="1596070"/>
            <a:ext cx="225928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452" y="0"/>
                </a:moveTo>
                <a:lnTo>
                  <a:pt x="21600" y="0"/>
                </a:lnTo>
                <a:lnTo>
                  <a:pt x="1045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BC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1314050" y="1596070"/>
            <a:ext cx="225928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452" y="0"/>
                </a:moveTo>
                <a:lnTo>
                  <a:pt x="21600" y="0"/>
                </a:lnTo>
                <a:lnTo>
                  <a:pt x="1045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5B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447654" y="2113518"/>
            <a:ext cx="3469084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88"/>
                </a:moveTo>
                <a:lnTo>
                  <a:pt x="20284" y="288"/>
                </a:lnTo>
                <a:lnTo>
                  <a:pt x="20692" y="2304"/>
                </a:lnTo>
                <a:lnTo>
                  <a:pt x="21555" y="10656"/>
                </a:lnTo>
                <a:lnTo>
                  <a:pt x="20556" y="21024"/>
                </a:lnTo>
                <a:lnTo>
                  <a:pt x="0" y="21600"/>
                </a:lnTo>
                <a:close/>
              </a:path>
            </a:pathLst>
          </a:custGeom>
          <a:solidFill>
            <a:srgbClr val="0068F9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710022" y="5057866"/>
            <a:ext cx="3017228" cy="502871"/>
          </a:xfrm>
          <a:prstGeom prst="roundRect">
            <a:avLst>
              <a:gd name="adj" fmla="val 26087"/>
            </a:avLst>
          </a:prstGeom>
          <a:solidFill>
            <a:srgbClr val="F9FDFF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4339442" y="2113518"/>
            <a:ext cx="3469084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88"/>
                </a:moveTo>
                <a:lnTo>
                  <a:pt x="20284" y="288"/>
                </a:lnTo>
                <a:lnTo>
                  <a:pt x="20692" y="2304"/>
                </a:lnTo>
                <a:lnTo>
                  <a:pt x="21555" y="10656"/>
                </a:lnTo>
                <a:lnTo>
                  <a:pt x="20556" y="21024"/>
                </a:lnTo>
                <a:lnTo>
                  <a:pt x="0" y="21600"/>
                </a:lnTo>
                <a:close/>
              </a:path>
            </a:pathLst>
          </a:custGeom>
          <a:solidFill>
            <a:srgbClr val="00B6B8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4601809" y="5057866"/>
            <a:ext cx="3017228" cy="502871"/>
          </a:xfrm>
          <a:prstGeom prst="roundRect">
            <a:avLst>
              <a:gd name="adj" fmla="val 26087"/>
            </a:avLst>
          </a:prstGeom>
          <a:solidFill>
            <a:srgbClr val="F9FDFF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223941" y="2113518"/>
            <a:ext cx="3469084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88"/>
                </a:moveTo>
                <a:lnTo>
                  <a:pt x="20284" y="288"/>
                </a:lnTo>
                <a:lnTo>
                  <a:pt x="20692" y="2304"/>
                </a:lnTo>
                <a:lnTo>
                  <a:pt x="21555" y="10656"/>
                </a:lnTo>
                <a:lnTo>
                  <a:pt x="20556" y="21024"/>
                </a:lnTo>
                <a:lnTo>
                  <a:pt x="0" y="21600"/>
                </a:lnTo>
                <a:close/>
              </a:path>
            </a:pathLst>
          </a:custGeom>
          <a:solidFill>
            <a:srgbClr val="FF9416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8486309" y="5057866"/>
            <a:ext cx="3017228" cy="502871"/>
          </a:xfrm>
          <a:prstGeom prst="roundRect">
            <a:avLst>
              <a:gd name="adj" fmla="val 26087"/>
            </a:avLst>
          </a:prstGeom>
          <a:solidFill>
            <a:srgbClr val="FFFEFA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7" name="Path 37"/>
          <p:cNvSpPr/>
          <p:nvPr/>
        </p:nvSpPr>
        <p:spPr>
          <a:xfrm>
            <a:off x="3087" y="327960"/>
            <a:ext cx="969303" cy="28423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4872" y="0"/>
                </a:lnTo>
                <a:lnTo>
                  <a:pt x="11368" y="21600"/>
                </a:lnTo>
                <a:lnTo>
                  <a:pt x="21600" y="21600"/>
                </a:lnTo>
              </a:path>
            </a:pathLst>
          </a:custGeom>
          <a:noFill/>
          <a:ln w="7620">
            <a:solidFill>
              <a:srgbClr val="2584FE"/>
            </a:solidFill>
          </a:ln>
        </p:spPr>
        <p:txBody>
          <a:bodyPr/>
          <a:lstStyle/>
          <a:p/>
        </p:txBody>
      </p:sp>
      <p:sp>
        <p:nvSpPr>
          <p:cNvPr id="38" name="Path 38"/>
          <p:cNvSpPr/>
          <p:nvPr/>
        </p:nvSpPr>
        <p:spPr>
          <a:xfrm>
            <a:off x="3087" y="459143"/>
            <a:ext cx="298808" cy="10203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4751" y="0"/>
                </a:lnTo>
                <a:lnTo>
                  <a:pt x="20546" y="18514"/>
                </a:lnTo>
              </a:path>
            </a:pathLst>
          </a:custGeom>
          <a:noFill/>
          <a:ln w="7620">
            <a:solidFill>
              <a:srgbClr val="2584FE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78838" y="553887"/>
            <a:ext cx="298808" cy="0"/>
          </a:xfrm>
          <a:prstGeom prst="line">
            <a:avLst/>
          </a:prstGeom>
          <a:noFill/>
          <a:ln w="7620">
            <a:solidFill>
              <a:srgbClr val="2584FE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447654" y="2120806"/>
            <a:ext cx="3469084" cy="36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284" y="0"/>
                </a:lnTo>
                <a:lnTo>
                  <a:pt x="2046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FB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4339442" y="2120806"/>
            <a:ext cx="3469084" cy="36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284" y="0"/>
                </a:lnTo>
                <a:lnTo>
                  <a:pt x="2046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0DAD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8223941" y="2120806"/>
            <a:ext cx="3469084" cy="36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284" y="0"/>
                </a:lnTo>
                <a:lnTo>
                  <a:pt x="2046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D07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613733" y="6114625"/>
            <a:ext cx="0" cy="284232"/>
          </a:xfrm>
          <a:prstGeom prst="line">
            <a:avLst/>
          </a:prstGeom>
          <a:noFill/>
          <a:ln w="27940">
            <a:solidFill>
              <a:srgbClr val="0573FF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265454" y="524735"/>
            <a:ext cx="43728" cy="43728"/>
          </a:xfrm>
          <a:prstGeom prst="ellipse">
            <a:avLst/>
          </a:prstGeom>
          <a:solidFill>
            <a:srgbClr val="ECFBFF"/>
          </a:solidFill>
          <a:ln w="6350">
            <a:solidFill>
              <a:srgbClr val="2584FE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950526" y="590327"/>
            <a:ext cx="43728" cy="43728"/>
          </a:xfrm>
          <a:prstGeom prst="ellipse">
            <a:avLst/>
          </a:prstGeom>
          <a:solidFill>
            <a:srgbClr val="ECFBFF"/>
          </a:solidFill>
          <a:ln w="6350">
            <a:solidFill>
              <a:srgbClr val="2584FE"/>
            </a:solidFill>
          </a:ln>
        </p:spPr>
        <p:txBody>
          <a:bodyPr/>
          <a:lstStyle/>
          <a:p/>
        </p:txBody>
      </p:sp>
      <p:pic>
        <p:nvPicPr>
          <p:cNvPr id="46" name="badge-blue"/>
          <p:cNvPicPr/>
          <p:nvPr/>
        </p:nvPicPr>
        <p:blipFill>
          <a:blip r:embed="rId3"/>
          <a:stretch>
            <a:fillRect/>
          </a:stretch>
        </p:blipFill>
        <p:spPr>
          <a:xfrm>
            <a:off x="425790" y="1982334"/>
            <a:ext cx="910999" cy="808967"/>
          </a:xfrm>
          <a:prstGeom prst="rect">
            <a:avLst/>
          </a:prstGeom>
        </p:spPr>
      </p:pic>
      <p:pic>
        <p:nvPicPr>
          <p:cNvPr id="47" name="badge-teal"/>
          <p:cNvPicPr/>
          <p:nvPr/>
        </p:nvPicPr>
        <p:blipFill>
          <a:blip r:embed="rId4"/>
          <a:stretch>
            <a:fillRect/>
          </a:stretch>
        </p:blipFill>
        <p:spPr>
          <a:xfrm>
            <a:off x="4317578" y="1982334"/>
            <a:ext cx="910999" cy="808967"/>
          </a:xfrm>
          <a:prstGeom prst="rect">
            <a:avLst/>
          </a:prstGeom>
        </p:spPr>
      </p:pic>
      <p:pic>
        <p:nvPicPr>
          <p:cNvPr id="48" name="badge-orange"/>
          <p:cNvPicPr/>
          <p:nvPr/>
        </p:nvPicPr>
        <p:blipFill>
          <a:blip r:embed="rId5"/>
          <a:stretch>
            <a:fillRect/>
          </a:stretch>
        </p:blipFill>
        <p:spPr>
          <a:xfrm>
            <a:off x="8202077" y="1982334"/>
            <a:ext cx="910999" cy="808967"/>
          </a:xfrm>
          <a:prstGeom prst="rect">
            <a:avLst/>
          </a:prstGeom>
        </p:spPr>
      </p:pic>
      <p:pic>
        <p:nvPicPr>
          <p:cNvPr id="49" name="chip-platform"/>
          <p:cNvPicPr/>
          <p:nvPr/>
        </p:nvPicPr>
        <p:blipFill>
          <a:blip r:embed="rId6"/>
          <a:stretch>
            <a:fillRect/>
          </a:stretch>
        </p:blipFill>
        <p:spPr>
          <a:xfrm>
            <a:off x="1438821" y="2732997"/>
            <a:ext cx="1734542" cy="947439"/>
          </a:xfrm>
          <a:prstGeom prst="rect">
            <a:avLst/>
          </a:prstGeom>
        </p:spPr>
      </p:pic>
      <p:pic>
        <p:nvPicPr>
          <p:cNvPr id="50" name="clock-platform"/>
          <p:cNvPicPr/>
          <p:nvPr/>
        </p:nvPicPr>
        <p:blipFill>
          <a:blip r:embed="rId7"/>
          <a:stretch>
            <a:fillRect/>
          </a:stretch>
        </p:blipFill>
        <p:spPr>
          <a:xfrm>
            <a:off x="5286881" y="2732997"/>
            <a:ext cx="1683526" cy="962015"/>
          </a:xfrm>
          <a:prstGeom prst="rect">
            <a:avLst/>
          </a:prstGeom>
        </p:spPr>
      </p:pic>
      <p:pic>
        <p:nvPicPr>
          <p:cNvPr id="51" name="growth-platform"/>
          <p:cNvPicPr/>
          <p:nvPr/>
        </p:nvPicPr>
        <p:blipFill>
          <a:blip r:embed="rId8"/>
          <a:stretch>
            <a:fillRect/>
          </a:stretch>
        </p:blipFill>
        <p:spPr>
          <a:xfrm>
            <a:off x="9193244" y="2732997"/>
            <a:ext cx="1741830" cy="969303"/>
          </a:xfrm>
          <a:prstGeom prst="rect">
            <a:avLst/>
          </a:prstGeom>
        </p:spPr>
      </p:pic>
      <p:pic>
        <p:nvPicPr>
          <p:cNvPr id="52" name="blue-glass-podium"/>
          <p:cNvPicPr/>
          <p:nvPr/>
        </p:nvPicPr>
        <p:blipFill>
          <a:blip r:embed="rId9"/>
          <a:stretch>
            <a:fillRect/>
          </a:stretch>
        </p:blipFill>
        <p:spPr>
          <a:xfrm>
            <a:off x="607990" y="4001107"/>
            <a:ext cx="3228580" cy="1056759"/>
          </a:xfrm>
          <a:prstGeom prst="rect">
            <a:avLst/>
          </a:prstGeom>
        </p:spPr>
      </p:pic>
      <p:pic>
        <p:nvPicPr>
          <p:cNvPr id="53" name="teal-glass-podium"/>
          <p:cNvPicPr/>
          <p:nvPr/>
        </p:nvPicPr>
        <p:blipFill>
          <a:blip r:embed="rId10"/>
          <a:stretch>
            <a:fillRect/>
          </a:stretch>
        </p:blipFill>
        <p:spPr>
          <a:xfrm>
            <a:off x="4492489" y="4001107"/>
            <a:ext cx="3250444" cy="1056759"/>
          </a:xfrm>
          <a:prstGeom prst="rect">
            <a:avLst/>
          </a:prstGeom>
        </p:spPr>
      </p:pic>
      <p:pic>
        <p:nvPicPr>
          <p:cNvPr id="54" name="orange-glass-podiu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98853" y="4001107"/>
            <a:ext cx="3235868" cy="1056759"/>
          </a:xfrm>
          <a:prstGeom prst="rect">
            <a:avLst/>
          </a:prstGeom>
        </p:spPr>
      </p:pic>
      <p:pic>
        <p:nvPicPr>
          <p:cNvPr id="55" name="condition-target"/>
          <p:cNvPicPr/>
          <p:nvPr/>
        </p:nvPicPr>
        <p:blipFill>
          <a:blip r:embed="rId12"/>
          <a:stretch>
            <a:fillRect/>
          </a:stretch>
        </p:blipFill>
        <p:spPr>
          <a:xfrm>
            <a:off x="731886" y="1180655"/>
            <a:ext cx="597615" cy="597615"/>
          </a:xfrm>
          <a:prstGeom prst="rect">
            <a:avLst/>
          </a:prstGeom>
        </p:spPr>
      </p:pic>
      <p:pic>
        <p:nvPicPr>
          <p:cNvPr id="56" name="caption-target"/>
          <p:cNvPicPr/>
          <p:nvPr/>
        </p:nvPicPr>
        <p:blipFill>
          <a:blip r:embed="rId13"/>
          <a:stretch>
            <a:fillRect/>
          </a:stretch>
        </p:blipFill>
        <p:spPr>
          <a:xfrm>
            <a:off x="1118149" y="5101594"/>
            <a:ext cx="481007" cy="466431"/>
          </a:xfrm>
          <a:prstGeom prst="rect">
            <a:avLst/>
          </a:prstGeom>
        </p:spPr>
      </p:pic>
      <p:pic>
        <p:nvPicPr>
          <p:cNvPr id="57" name="caption-clock"/>
          <p:cNvPicPr/>
          <p:nvPr/>
        </p:nvPicPr>
        <p:blipFill>
          <a:blip r:embed="rId14"/>
          <a:stretch>
            <a:fillRect/>
          </a:stretch>
        </p:blipFill>
        <p:spPr>
          <a:xfrm>
            <a:off x="5090105" y="5108882"/>
            <a:ext cx="466431" cy="466431"/>
          </a:xfrm>
          <a:prstGeom prst="rect">
            <a:avLst/>
          </a:prstGeom>
        </p:spPr>
      </p:pic>
      <p:pic>
        <p:nvPicPr>
          <p:cNvPr id="58" name="caption-bars"/>
          <p:cNvPicPr/>
          <p:nvPr/>
        </p:nvPicPr>
        <p:blipFill>
          <a:blip r:embed="rId15"/>
          <a:stretch>
            <a:fillRect/>
          </a:stretch>
        </p:blipFill>
        <p:spPr>
          <a:xfrm>
            <a:off x="8850708" y="5116170"/>
            <a:ext cx="429991" cy="415416"/>
          </a:xfrm>
          <a:prstGeom prst="rect">
            <a:avLst/>
          </a:prstGeom>
        </p:spPr>
      </p:pic>
      <p:pic>
        <p:nvPicPr>
          <p:cNvPr id="59" name="note-document"/>
          <p:cNvPicPr/>
          <p:nvPr/>
        </p:nvPicPr>
        <p:blipFill>
          <a:blip r:embed="rId16"/>
          <a:stretch>
            <a:fillRect/>
          </a:stretch>
        </p:blipFill>
        <p:spPr>
          <a:xfrm>
            <a:off x="688158" y="5888697"/>
            <a:ext cx="750663" cy="692359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1212893" y="240504"/>
            <a:ext cx="2026062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研发目标</a:t>
            </a:r>
            <a:endParaRPr lang="zh-CN" sz="3100"/>
          </a:p>
        </p:txBody>
      </p:sp>
      <p:sp>
        <p:nvSpPr>
          <p:cNvPr id="61" name="TextBox 61"/>
          <p:cNvSpPr txBox="1"/>
          <p:nvPr/>
        </p:nvSpPr>
        <p:spPr>
          <a:xfrm>
            <a:off x="8661221" y="502871"/>
            <a:ext cx="3075532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 i="1">
                <a:solidFill>
                  <a:srgbClr val="71ABFF"/>
                </a:solidFill>
                <a:latin typeface="Liberation Sans"/>
                <a:ea typeface="Liberation Sans"/>
                <a:cs typeface="Liberation Sans"/>
              </a:rPr>
              <a:t>LOW-COST DISCIPLINED OSCILLATOR</a:t>
            </a:r>
            <a:endParaRPr lang="zh-CN" sz="1370"/>
          </a:p>
        </p:txBody>
      </p:sp>
      <p:sp>
        <p:nvSpPr>
          <p:cNvPr id="62" name="TextBox 62"/>
          <p:cNvSpPr txBox="1"/>
          <p:nvPr/>
        </p:nvSpPr>
        <p:spPr>
          <a:xfrm>
            <a:off x="1533565" y="1297262"/>
            <a:ext cx="927032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3E9C"/>
                </a:solidFill>
                <a:latin typeface="Noto Sans CJK SC"/>
                <a:ea typeface="Noto Sans CJK SC"/>
                <a:cs typeface="Noto Sans CJK SC"/>
              </a:rPr>
              <a:t>标准 OCXO 套件</a:t>
            </a:r>
            <a:r>
              <a:rPr lang="zh-CN" sz="1700">
                <a:solidFill>
                  <a:srgbClr val="25477F"/>
                </a:solidFill>
                <a:latin typeface="Noto Sans CJK SC"/>
                <a:ea typeface="Noto Sans CJK SC"/>
                <a:cs typeface="Noto Sans CJK SC"/>
              </a:rPr>
              <a:t> · 25±2 °C · 规定供电和负载 · 完成预热、连续驯服 </a:t>
            </a:r>
            <a:r>
              <a:rPr lang="zh-CN" sz="2200" b="1">
                <a:solidFill>
                  <a:srgbClr val="063CA5"/>
                </a:solidFill>
                <a:latin typeface="Noto Sans CJK SC"/>
                <a:ea typeface="Noto Sans CJK SC"/>
                <a:cs typeface="Noto Sans CJK SC"/>
              </a:rPr>
              <a:t>≥ 24 h</a:t>
            </a:r>
            <a:r>
              <a:rPr lang="zh-CN" sz="1700">
                <a:solidFill>
                  <a:srgbClr val="25477F"/>
                </a:solidFill>
                <a:latin typeface="Noto Sans CJK SC"/>
                <a:ea typeface="Noto Sans CJK SC"/>
                <a:cs typeface="Noto Sans CJK SC"/>
              </a:rPr>
              <a:t> 后开始评估</a:t>
            </a:r>
            <a:endParaRPr lang="zh-CN" sz="1700"/>
          </a:p>
        </p:txBody>
      </p:sp>
      <p:sp>
        <p:nvSpPr>
          <p:cNvPr id="63" name="TextBox 63"/>
          <p:cNvSpPr txBox="1"/>
          <p:nvPr/>
        </p:nvSpPr>
        <p:spPr>
          <a:xfrm>
            <a:off x="425790" y="1982334"/>
            <a:ext cx="910999" cy="8089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zh-CN" sz="3700"/>
          </a:p>
        </p:txBody>
      </p:sp>
      <p:sp>
        <p:nvSpPr>
          <p:cNvPr id="64" name="TextBox 64"/>
          <p:cNvSpPr txBox="1"/>
          <p:nvPr/>
        </p:nvSpPr>
        <p:spPr>
          <a:xfrm>
            <a:off x="1402381" y="2186397"/>
            <a:ext cx="2317581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【研发目标】锁定</a:t>
            </a:r>
            <a:endParaRPr lang="zh-CN" sz="1950"/>
          </a:p>
        </p:txBody>
      </p:sp>
      <p:sp>
        <p:nvSpPr>
          <p:cNvPr id="65" name="TextBox 65"/>
          <p:cNvSpPr txBox="1"/>
          <p:nvPr/>
        </p:nvSpPr>
        <p:spPr>
          <a:xfrm>
            <a:off x="877646" y="3658572"/>
            <a:ext cx="2747573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61F4C"/>
                </a:solidFill>
                <a:latin typeface="Noto Sans CJK SC"/>
                <a:ea typeface="Noto Sans CJK SC"/>
                <a:cs typeface="Noto Sans CJK SC"/>
              </a:rPr>
              <a:t>1000 s 平均相对频偏绝对值</a:t>
            </a:r>
            <a:endParaRPr lang="zh-CN" sz="1700"/>
          </a:p>
        </p:txBody>
      </p:sp>
      <p:sp>
        <p:nvSpPr>
          <p:cNvPr id="66" name="TextBox 66"/>
          <p:cNvSpPr txBox="1"/>
          <p:nvPr/>
        </p:nvSpPr>
        <p:spPr>
          <a:xfrm>
            <a:off x="1759493" y="5152610"/>
            <a:ext cx="1858438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>
                <a:solidFill>
                  <a:srgbClr val="003FAD"/>
                </a:solidFill>
                <a:latin typeface="Noto Sans CJK SC"/>
                <a:ea typeface="Noto Sans CJK SC"/>
                <a:cs typeface="Noto Sans CJK SC"/>
              </a:rPr>
              <a:t>频率准确度指标</a:t>
            </a:r>
            <a:endParaRPr lang="zh-CN" sz="1700"/>
          </a:p>
        </p:txBody>
      </p:sp>
      <p:sp>
        <p:nvSpPr>
          <p:cNvPr id="67" name="TextBox 67"/>
          <p:cNvSpPr txBox="1"/>
          <p:nvPr/>
        </p:nvSpPr>
        <p:spPr>
          <a:xfrm>
            <a:off x="4317578" y="1982334"/>
            <a:ext cx="910999" cy="8089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zh-CN" sz="3700"/>
          </a:p>
        </p:txBody>
      </p:sp>
      <p:sp>
        <p:nvSpPr>
          <p:cNvPr id="68" name="TextBox 68"/>
          <p:cNvSpPr txBox="1"/>
          <p:nvPr/>
        </p:nvSpPr>
        <p:spPr>
          <a:xfrm>
            <a:off x="5294169" y="2186397"/>
            <a:ext cx="2317581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【研发目标】对齐</a:t>
            </a:r>
            <a:endParaRPr lang="zh-CN" sz="1950"/>
          </a:p>
        </p:txBody>
      </p:sp>
      <p:sp>
        <p:nvSpPr>
          <p:cNvPr id="69" name="TextBox 69"/>
          <p:cNvSpPr txBox="1"/>
          <p:nvPr/>
        </p:nvSpPr>
        <p:spPr>
          <a:xfrm>
            <a:off x="4769433" y="3658572"/>
            <a:ext cx="2747573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61F4C"/>
                </a:solidFill>
                <a:latin typeface="Noto Sans CJK SC"/>
                <a:ea typeface="Noto Sans CJK SC"/>
                <a:cs typeface="Noto Sans CJK SC"/>
              </a:rPr>
              <a:t>1PPS 时间误差绝对值</a:t>
            </a:r>
            <a:endParaRPr lang="zh-CN" sz="1700"/>
          </a:p>
        </p:txBody>
      </p:sp>
      <p:sp>
        <p:nvSpPr>
          <p:cNvPr id="70" name="TextBox 70"/>
          <p:cNvSpPr txBox="1"/>
          <p:nvPr/>
        </p:nvSpPr>
        <p:spPr>
          <a:xfrm>
            <a:off x="5651280" y="5152610"/>
            <a:ext cx="1858438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>
                <a:solidFill>
                  <a:srgbClr val="0061F5"/>
                </a:solidFill>
                <a:latin typeface="Noto Sans CJK SC"/>
                <a:ea typeface="Noto Sans CJK SC"/>
                <a:cs typeface="Noto Sans CJK SC"/>
              </a:rPr>
              <a:t>秒沿对齐精度</a:t>
            </a:r>
            <a:endParaRPr lang="zh-CN" sz="1700"/>
          </a:p>
        </p:txBody>
      </p:sp>
      <p:sp>
        <p:nvSpPr>
          <p:cNvPr id="71" name="TextBox 71"/>
          <p:cNvSpPr txBox="1"/>
          <p:nvPr/>
        </p:nvSpPr>
        <p:spPr>
          <a:xfrm>
            <a:off x="8202077" y="1982334"/>
            <a:ext cx="910999" cy="8089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zh-CN" sz="3700"/>
          </a:p>
        </p:txBody>
      </p:sp>
      <p:sp>
        <p:nvSpPr>
          <p:cNvPr id="72" name="TextBox 72"/>
          <p:cNvSpPr txBox="1"/>
          <p:nvPr/>
        </p:nvSpPr>
        <p:spPr>
          <a:xfrm>
            <a:off x="9178668" y="2186397"/>
            <a:ext cx="2317581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【研发目标】保持</a:t>
            </a:r>
            <a:endParaRPr lang="zh-CN" sz="1950"/>
          </a:p>
        </p:txBody>
      </p:sp>
      <p:sp>
        <p:nvSpPr>
          <p:cNvPr id="73" name="TextBox 73"/>
          <p:cNvSpPr txBox="1"/>
          <p:nvPr/>
        </p:nvSpPr>
        <p:spPr>
          <a:xfrm>
            <a:off x="8653933" y="3658572"/>
            <a:ext cx="2747573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60">
                <a:solidFill>
                  <a:srgbClr val="061F4C"/>
                </a:solidFill>
                <a:latin typeface="Noto Sans CJK SC"/>
                <a:ea typeface="Noto Sans CJK SC"/>
                <a:cs typeface="Noto Sans CJK SC"/>
              </a:rPr>
              <a:t>断参考 1 h 新增累计时间误差</a:t>
            </a:r>
            <a:endParaRPr lang="zh-CN" sz="1660"/>
          </a:p>
        </p:txBody>
      </p:sp>
      <p:sp>
        <p:nvSpPr>
          <p:cNvPr id="74" name="TextBox 74"/>
          <p:cNvSpPr txBox="1"/>
          <p:nvPr/>
        </p:nvSpPr>
        <p:spPr>
          <a:xfrm>
            <a:off x="9535780" y="5152610"/>
            <a:ext cx="1858438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>
                <a:solidFill>
                  <a:srgbClr val="003FA8"/>
                </a:solidFill>
                <a:latin typeface="Noto Sans CJK SC"/>
                <a:ea typeface="Noto Sans CJK SC"/>
                <a:cs typeface="Noto Sans CJK SC"/>
              </a:rPr>
              <a:t>断参考后保持能力</a:t>
            </a:r>
            <a:endParaRPr lang="zh-CN" sz="1700"/>
          </a:p>
        </p:txBody>
      </p:sp>
      <p:sp>
        <p:nvSpPr>
          <p:cNvPr id="75" name="TextBox 75"/>
          <p:cNvSpPr txBox="1"/>
          <p:nvPr/>
        </p:nvSpPr>
        <p:spPr>
          <a:xfrm>
            <a:off x="1774069" y="6107337"/>
            <a:ext cx="7506631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23477A"/>
                </a:solidFill>
                <a:latin typeface="Noto Sans CJK SC"/>
                <a:ea typeface="Noto Sans CJK SC"/>
                <a:cs typeface="Noto Sans CJK SC"/>
              </a:rPr>
              <a:t>注：4 h、24 h 保持特性记录曲线，暂不承诺保证值。</a:t>
            </a:r>
            <a:endParaRPr lang="zh-CN" sz="1550"/>
          </a:p>
        </p:txBody>
      </p:sp>
      <p:pic>
        <p:nvPicPr>
          <p:cNvPr id="76" name="研发目标：1000 s平均相对频偏绝对值≤1×10^-9"/>
          <p:cNvPicPr/>
          <p:nvPr/>
        </p:nvPicPr>
        <p:blipFill>
          <a:blip r:embed="rId17"/>
          <a:stretch>
            <a:fillRect/>
          </a:stretch>
        </p:blipFill>
        <p:spPr>
          <a:xfrm>
            <a:off x="1176453" y="4190595"/>
            <a:ext cx="2157245" cy="488295"/>
          </a:xfrm>
          <a:prstGeom prst="rect">
            <a:avLst/>
          </a:prstGeom>
        </p:spPr>
      </p:pic>
      <p:pic>
        <p:nvPicPr>
          <p:cNvPr id="77" name="研发目标：1PPS时间误差绝对值≤100 ns"/>
          <p:cNvPicPr/>
          <p:nvPr/>
        </p:nvPicPr>
        <p:blipFill>
          <a:blip r:embed="rId18"/>
          <a:stretch>
            <a:fillRect/>
          </a:stretch>
        </p:blipFill>
        <p:spPr>
          <a:xfrm>
            <a:off x="5082817" y="4241611"/>
            <a:ext cx="2084366" cy="437279"/>
          </a:xfrm>
          <a:prstGeom prst="rect">
            <a:avLst/>
          </a:prstGeom>
        </p:spPr>
      </p:pic>
      <p:pic>
        <p:nvPicPr>
          <p:cNvPr id="78" name="研发目标：断参考1 h新增累计时间误差≤10 µs"/>
          <p:cNvPicPr/>
          <p:nvPr/>
        </p:nvPicPr>
        <p:blipFill>
          <a:blip r:embed="rId19"/>
          <a:stretch>
            <a:fillRect/>
          </a:stretch>
        </p:blipFill>
        <p:spPr>
          <a:xfrm>
            <a:off x="9185956" y="4212459"/>
            <a:ext cx="1785558" cy="481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faithful clean wave and circuit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403926" y="2303005"/>
            <a:ext cx="6413433" cy="3111972"/>
          </a:xfrm>
          <a:prstGeom prst="roundRect">
            <a:avLst>
              <a:gd name="adj" fmla="val 5152"/>
            </a:avLst>
          </a:prstGeom>
          <a:solidFill>
            <a:srgbClr val="C6E9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25790" y="5524298"/>
            <a:ext cx="11281811" cy="874559"/>
          </a:xfrm>
          <a:prstGeom prst="roundRect">
            <a:avLst>
              <a:gd name="adj" fmla="val 18333"/>
            </a:avLst>
          </a:prstGeom>
          <a:solidFill>
            <a:srgbClr val="D0E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087" y="225928"/>
            <a:ext cx="4110427" cy="5830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71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9E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33078" y="2295717"/>
            <a:ext cx="6355129" cy="3068244"/>
          </a:xfrm>
          <a:prstGeom prst="roundRect">
            <a:avLst>
              <a:gd name="adj" fmla="val 5226"/>
            </a:avLst>
          </a:prstGeom>
          <a:solidFill>
            <a:srgbClr val="F2FAFF"/>
          </a:solidFill>
          <a:ln w="12700">
            <a:solidFill>
              <a:srgbClr val="ADE0F8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999559" y="2310293"/>
            <a:ext cx="4722618" cy="969303"/>
          </a:xfrm>
          <a:prstGeom prst="roundRect">
            <a:avLst>
              <a:gd name="adj" fmla="val 15038"/>
            </a:avLst>
          </a:prstGeom>
          <a:solidFill>
            <a:srgbClr val="F4FBFF"/>
          </a:solidFill>
          <a:ln w="1651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6999559" y="3388916"/>
            <a:ext cx="4722618" cy="969303"/>
          </a:xfrm>
          <a:prstGeom prst="roundRect">
            <a:avLst>
              <a:gd name="adj" fmla="val 15038"/>
            </a:avLst>
          </a:prstGeom>
          <a:solidFill>
            <a:srgbClr val="F4FBFF"/>
          </a:solidFill>
          <a:ln w="1651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999559" y="4445675"/>
            <a:ext cx="4722618" cy="910999"/>
          </a:xfrm>
          <a:prstGeom prst="roundRect">
            <a:avLst>
              <a:gd name="adj" fmla="val 16000"/>
            </a:avLst>
          </a:prstGeom>
          <a:solidFill>
            <a:srgbClr val="F4FBFF"/>
          </a:solidFill>
          <a:ln w="1651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54942" y="5524298"/>
            <a:ext cx="11267235" cy="845407"/>
          </a:xfrm>
          <a:prstGeom prst="roundRect">
            <a:avLst>
              <a:gd name="adj" fmla="val 18966"/>
            </a:avLst>
          </a:prstGeom>
          <a:solidFill>
            <a:srgbClr val="F1FBFF"/>
          </a:solidFill>
          <a:ln w="12700">
            <a:solidFill>
              <a:srgbClr val="ACE2FB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087" y="153048"/>
            <a:ext cx="3928227" cy="641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73"/>
                </a:moveTo>
                <a:lnTo>
                  <a:pt x="21600" y="0"/>
                </a:lnTo>
                <a:lnTo>
                  <a:pt x="2059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790190" y="1187943"/>
            <a:ext cx="2303005" cy="8089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344" y="0"/>
                </a:lnTo>
                <a:lnTo>
                  <a:pt x="21600" y="10703"/>
                </a:lnTo>
                <a:lnTo>
                  <a:pt x="1934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2FBFF"/>
          </a:solidFill>
          <a:ln w="8255">
            <a:solidFill>
              <a:srgbClr val="319CFA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821994" y="1187943"/>
            <a:ext cx="2266565" cy="8089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447" y="0"/>
                </a:lnTo>
                <a:lnTo>
                  <a:pt x="21600" y="10703"/>
                </a:lnTo>
                <a:lnTo>
                  <a:pt x="1944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2FBFF"/>
          </a:solidFill>
          <a:ln w="8255">
            <a:solidFill>
              <a:srgbClr val="319CFA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708039" y="1187943"/>
            <a:ext cx="2310293" cy="8089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624" y="0"/>
                </a:lnTo>
                <a:lnTo>
                  <a:pt x="21600" y="10703"/>
                </a:lnTo>
                <a:lnTo>
                  <a:pt x="1962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2FBFF"/>
          </a:solidFill>
          <a:ln w="8255">
            <a:solidFill>
              <a:srgbClr val="319CFA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9754419" y="1187943"/>
            <a:ext cx="2047926" cy="8089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8986" y="0"/>
                </a:lnTo>
                <a:lnTo>
                  <a:pt x="21600" y="10703"/>
                </a:lnTo>
                <a:lnTo>
                  <a:pt x="1898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2FBFF"/>
          </a:solidFill>
          <a:ln w="8255">
            <a:solidFill>
              <a:srgbClr val="319CFA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571550" y="2448765"/>
            <a:ext cx="6078185" cy="2813165"/>
          </a:xfrm>
          <a:prstGeom prst="roundRect">
            <a:avLst>
              <a:gd name="adj" fmla="val 4663"/>
            </a:avLst>
          </a:prstGeom>
          <a:solidFill>
            <a:srgbClr val="EFF9FF"/>
          </a:solidFill>
          <a:ln w="5080">
            <a:solidFill>
              <a:srgbClr val="D9F4FF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087" y="189488"/>
            <a:ext cx="1399294" cy="60490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60"/>
                </a:moveTo>
                <a:lnTo>
                  <a:pt x="21600" y="0"/>
                </a:lnTo>
                <a:lnTo>
                  <a:pt x="1822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7D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3931314" y="736087"/>
            <a:ext cx="7820015" cy="0"/>
          </a:xfrm>
          <a:prstGeom prst="line">
            <a:avLst/>
          </a:prstGeom>
          <a:noFill/>
          <a:ln w="7620">
            <a:solidFill>
              <a:srgbClr val="229AF5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3087" y="269656"/>
            <a:ext cx="1064047" cy="34982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6066" y="0"/>
                </a:lnTo>
                <a:lnTo>
                  <a:pt x="12427" y="21600"/>
                </a:lnTo>
                <a:lnTo>
                  <a:pt x="21600" y="21600"/>
                </a:lnTo>
              </a:path>
            </a:pathLst>
          </a:custGeom>
          <a:noFill/>
          <a:ln w="6985">
            <a:solidFill>
              <a:srgbClr val="007BFA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3087" y="437279"/>
            <a:ext cx="371688" cy="9474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2282" y="0"/>
                </a:lnTo>
                <a:lnTo>
                  <a:pt x="21600" y="21600"/>
                </a:lnTo>
              </a:path>
            </a:pathLst>
          </a:custGeom>
          <a:noFill/>
          <a:ln w="6985">
            <a:solidFill>
              <a:srgbClr val="007BFA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695446" y="546599"/>
            <a:ext cx="306096" cy="0"/>
          </a:xfrm>
          <a:prstGeom prst="line">
            <a:avLst/>
          </a:prstGeom>
          <a:noFill/>
          <a:ln w="6350">
            <a:solidFill>
              <a:srgbClr val="007BFA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345622" y="502871"/>
            <a:ext cx="58304" cy="58304"/>
          </a:xfrm>
          <a:prstGeom prst="ellipse">
            <a:avLst/>
          </a:prstGeom>
          <a:solidFill>
            <a:srgbClr val="C8EEFF"/>
          </a:solidFill>
          <a:ln w="6985">
            <a:solidFill>
              <a:srgbClr val="007BFA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1067133" y="590327"/>
            <a:ext cx="58304" cy="58304"/>
          </a:xfrm>
          <a:prstGeom prst="ellipse">
            <a:avLst/>
          </a:prstGeom>
          <a:solidFill>
            <a:srgbClr val="C8EEFF"/>
          </a:solidFill>
          <a:ln w="6985">
            <a:solidFill>
              <a:srgbClr val="007BFA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69518" y="2215549"/>
            <a:ext cx="2354021" cy="437279"/>
          </a:xfrm>
          <a:prstGeom prst="roundRect">
            <a:avLst>
              <a:gd name="adj" fmla="val 30000"/>
            </a:avLst>
          </a:prstGeom>
          <a:solidFill>
            <a:srgbClr val="91DFF7"/>
          </a:solidFill>
          <a:ln w="12700">
            <a:solidFill>
              <a:srgbClr val="C4F4FF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739174" y="2973501"/>
            <a:ext cx="1763694" cy="721511"/>
          </a:xfrm>
          <a:prstGeom prst="roundRect">
            <a:avLst>
              <a:gd name="adj" fmla="val 6061"/>
            </a:avLst>
          </a:prstGeom>
          <a:solidFill>
            <a:srgbClr val="F4FBFF"/>
          </a:solidFill>
          <a:ln w="9525">
            <a:solidFill>
              <a:srgbClr val="158CFF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739174" y="4205171"/>
            <a:ext cx="1800134" cy="736087"/>
          </a:xfrm>
          <a:prstGeom prst="roundRect">
            <a:avLst>
              <a:gd name="adj" fmla="val 5941"/>
            </a:avLst>
          </a:prstGeom>
          <a:solidFill>
            <a:srgbClr val="F4FBFF"/>
          </a:solidFill>
          <a:ln w="9525">
            <a:solidFill>
              <a:srgbClr val="158CFF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3362851" y="4205171"/>
            <a:ext cx="2164533" cy="736087"/>
          </a:xfrm>
          <a:prstGeom prst="roundRect">
            <a:avLst>
              <a:gd name="adj" fmla="val 5941"/>
            </a:avLst>
          </a:prstGeom>
          <a:solidFill>
            <a:srgbClr val="F4FBFF"/>
          </a:solidFill>
          <a:ln w="9525">
            <a:solidFill>
              <a:srgbClr val="158CFF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3151499" y="1377430"/>
            <a:ext cx="218640" cy="4154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2960" y="10989"/>
                </a:lnTo>
                <a:lnTo>
                  <a:pt x="0" y="21600"/>
                </a:lnTo>
                <a:lnTo>
                  <a:pt x="7920" y="21600"/>
                </a:lnTo>
                <a:lnTo>
                  <a:pt x="21600" y="10989"/>
                </a:lnTo>
                <a:lnTo>
                  <a:pt x="7920" y="0"/>
                </a:lnTo>
                <a:close/>
              </a:path>
            </a:pathLst>
          </a:custGeom>
          <a:solidFill>
            <a:srgbClr val="C0E9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6044832" y="1377430"/>
            <a:ext cx="218640" cy="4154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2960" y="10989"/>
                </a:lnTo>
                <a:lnTo>
                  <a:pt x="0" y="21600"/>
                </a:lnTo>
                <a:lnTo>
                  <a:pt x="7920" y="21600"/>
                </a:lnTo>
                <a:lnTo>
                  <a:pt x="21600" y="10989"/>
                </a:lnTo>
                <a:lnTo>
                  <a:pt x="7920" y="0"/>
                </a:lnTo>
                <a:close/>
              </a:path>
            </a:pathLst>
          </a:custGeom>
          <a:solidFill>
            <a:srgbClr val="C0E9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9069348" y="1377430"/>
            <a:ext cx="218640" cy="4154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2960" y="10989"/>
                </a:lnTo>
                <a:lnTo>
                  <a:pt x="0" y="21600"/>
                </a:lnTo>
                <a:lnTo>
                  <a:pt x="7920" y="21600"/>
                </a:lnTo>
                <a:lnTo>
                  <a:pt x="21600" y="10989"/>
                </a:lnTo>
                <a:lnTo>
                  <a:pt x="7920" y="0"/>
                </a:lnTo>
                <a:close/>
              </a:path>
            </a:pathLst>
          </a:custGeom>
          <a:solidFill>
            <a:srgbClr val="C0E9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433078" y="2288429"/>
            <a:ext cx="2375885" cy="50287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66" y="15026"/>
                </a:lnTo>
                <a:lnTo>
                  <a:pt x="3777" y="0"/>
                </a:lnTo>
                <a:lnTo>
                  <a:pt x="21600" y="0"/>
                </a:lnTo>
                <a:lnTo>
                  <a:pt x="19480" y="16591"/>
                </a:lnTo>
                <a:lnTo>
                  <a:pt x="1590" y="17217"/>
                </a:lnTo>
                <a:close/>
              </a:path>
            </a:pathLst>
          </a:custGeom>
          <a:solidFill>
            <a:srgbClr val="BFDE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7546158" y="2463341"/>
            <a:ext cx="1967758" cy="36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24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5D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7546158" y="3512812"/>
            <a:ext cx="1967758" cy="36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24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5D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7546158" y="4584147"/>
            <a:ext cx="1967758" cy="36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24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5D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3238955" y="1377430"/>
            <a:ext cx="211352" cy="4154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407" y="10989"/>
                </a:lnTo>
                <a:lnTo>
                  <a:pt x="0" y="21600"/>
                </a:lnTo>
                <a:lnTo>
                  <a:pt x="7448" y="21600"/>
                </a:lnTo>
                <a:lnTo>
                  <a:pt x="21600" y="10989"/>
                </a:lnTo>
                <a:lnTo>
                  <a:pt x="7448" y="0"/>
                </a:lnTo>
                <a:close/>
              </a:path>
            </a:pathLst>
          </a:custGeom>
          <a:solidFill>
            <a:srgbClr val="63C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6132288" y="1377430"/>
            <a:ext cx="211352" cy="4154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407" y="10989"/>
                </a:lnTo>
                <a:lnTo>
                  <a:pt x="0" y="21600"/>
                </a:lnTo>
                <a:lnTo>
                  <a:pt x="7448" y="21600"/>
                </a:lnTo>
                <a:lnTo>
                  <a:pt x="21600" y="10989"/>
                </a:lnTo>
                <a:lnTo>
                  <a:pt x="7448" y="0"/>
                </a:lnTo>
                <a:close/>
              </a:path>
            </a:pathLst>
          </a:custGeom>
          <a:solidFill>
            <a:srgbClr val="63C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9156804" y="1377430"/>
            <a:ext cx="211352" cy="4154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407" y="10989"/>
                </a:lnTo>
                <a:lnTo>
                  <a:pt x="0" y="21600"/>
                </a:lnTo>
                <a:lnTo>
                  <a:pt x="7448" y="21600"/>
                </a:lnTo>
                <a:lnTo>
                  <a:pt x="21600" y="10989"/>
                </a:lnTo>
                <a:lnTo>
                  <a:pt x="7448" y="0"/>
                </a:lnTo>
                <a:close/>
              </a:path>
            </a:pathLst>
          </a:custGeom>
          <a:solidFill>
            <a:srgbClr val="63C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440366" y="2230125"/>
            <a:ext cx="2244701" cy="40812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3577" y="1157"/>
                </a:lnTo>
                <a:lnTo>
                  <a:pt x="21600" y="0"/>
                </a:lnTo>
                <a:lnTo>
                  <a:pt x="19145" y="21214"/>
                </a:lnTo>
                <a:close/>
              </a:path>
            </a:pathLst>
          </a:custGeom>
          <a:solidFill>
            <a:srgbClr val="007EF4"/>
          </a:solidFill>
          <a:ln w="10160">
            <a:solidFill>
              <a:srgbClr val="7CE8FF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7546158" y="2463341"/>
            <a:ext cx="1843862" cy="36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06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9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7546158" y="3512812"/>
            <a:ext cx="1843862" cy="36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06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9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7546158" y="4584147"/>
            <a:ext cx="1843862" cy="36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06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9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502868" y="3359764"/>
            <a:ext cx="685071" cy="0"/>
          </a:xfrm>
          <a:prstGeom prst="line">
            <a:avLst/>
          </a:prstGeom>
          <a:noFill/>
          <a:ln w="22860">
            <a:solidFill>
              <a:srgbClr val="0083FF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2539308" y="4576859"/>
            <a:ext cx="801679" cy="0"/>
          </a:xfrm>
          <a:prstGeom prst="line">
            <a:avLst/>
          </a:prstGeom>
          <a:noFill/>
          <a:ln w="22860">
            <a:solidFill>
              <a:srgbClr val="0083FF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5009937" y="3359764"/>
            <a:ext cx="1042183" cy="0"/>
          </a:xfrm>
          <a:prstGeom prst="line">
            <a:avLst/>
          </a:prstGeom>
          <a:noFill/>
          <a:ln w="22860">
            <a:solidFill>
              <a:srgbClr val="0083FF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5" name="Path 45"/>
          <p:cNvSpPr/>
          <p:nvPr/>
        </p:nvSpPr>
        <p:spPr>
          <a:xfrm>
            <a:off x="6044832" y="3359764"/>
            <a:ext cx="510159" cy="111506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9566" y="0"/>
                </a:lnTo>
                <a:lnTo>
                  <a:pt x="9566" y="21600"/>
                </a:lnTo>
                <a:lnTo>
                  <a:pt x="21600" y="21600"/>
                </a:lnTo>
              </a:path>
            </a:pathLst>
          </a:custGeom>
          <a:noFill/>
          <a:ln w="22860">
            <a:solidFill>
              <a:srgbClr val="0083FF"/>
            </a:solidFill>
            <a:prstDash val="dash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2648628" y="5859545"/>
            <a:ext cx="0" cy="225928"/>
          </a:xfrm>
          <a:prstGeom prst="line">
            <a:avLst/>
          </a:prstGeom>
          <a:noFill/>
          <a:ln w="10160">
            <a:solidFill>
              <a:srgbClr val="639DF7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pic>
        <p:nvPicPr>
          <p:cNvPr id="47" name="Blank source blue phase badge; native digit centered on its exact image box."/>
          <p:cNvPicPr/>
          <p:nvPr/>
        </p:nvPicPr>
        <p:blipFill>
          <a:blip r:embed="rId3"/>
          <a:stretch>
            <a:fillRect/>
          </a:stretch>
        </p:blipFill>
        <p:spPr>
          <a:xfrm>
            <a:off x="452150" y="955667"/>
            <a:ext cx="1010629" cy="1069455"/>
          </a:xfrm>
          <a:prstGeom prst="rect">
            <a:avLst/>
          </a:prstGeom>
        </p:spPr>
      </p:pic>
      <p:pic>
        <p:nvPicPr>
          <p:cNvPr id="48" name="Blank source blue phase badge; native digit centered on its exact image box."/>
          <p:cNvPicPr/>
          <p:nvPr/>
        </p:nvPicPr>
        <p:blipFill>
          <a:blip r:embed="rId4"/>
          <a:stretch>
            <a:fillRect/>
          </a:stretch>
        </p:blipFill>
        <p:spPr>
          <a:xfrm>
            <a:off x="3483955" y="955667"/>
            <a:ext cx="1010629" cy="1069455"/>
          </a:xfrm>
          <a:prstGeom prst="rect">
            <a:avLst/>
          </a:prstGeom>
        </p:spPr>
      </p:pic>
      <p:pic>
        <p:nvPicPr>
          <p:cNvPr id="49" name="Blank source blue phase badge; native digit centered on its exact image box."/>
          <p:cNvPicPr/>
          <p:nvPr/>
        </p:nvPicPr>
        <p:blipFill>
          <a:blip r:embed="rId5"/>
          <a:stretch>
            <a:fillRect/>
          </a:stretch>
        </p:blipFill>
        <p:spPr>
          <a:xfrm>
            <a:off x="6340847" y="955667"/>
            <a:ext cx="1010629" cy="1069455"/>
          </a:xfrm>
          <a:prstGeom prst="rect">
            <a:avLst/>
          </a:prstGeom>
        </p:spPr>
      </p:pic>
      <p:pic>
        <p:nvPicPr>
          <p:cNvPr id="50" name="Blank source blue phase badge; native digit centered on its exact image box."/>
          <p:cNvPicPr/>
          <p:nvPr/>
        </p:nvPicPr>
        <p:blipFill>
          <a:blip r:embed="rId6"/>
          <a:stretch>
            <a:fillRect/>
          </a:stretch>
        </p:blipFill>
        <p:spPr>
          <a:xfrm>
            <a:off x="9387228" y="955667"/>
            <a:ext cx="1010629" cy="1069455"/>
          </a:xfrm>
          <a:prstGeom prst="rect">
            <a:avLst/>
          </a:prstGeom>
        </p:spPr>
      </p:pic>
      <p:pic>
        <p:nvPicPr>
          <p:cNvPr id="51" name="satellite"/>
          <p:cNvPicPr/>
          <p:nvPr/>
        </p:nvPicPr>
        <p:blipFill>
          <a:blip r:embed="rId7"/>
          <a:stretch>
            <a:fillRect/>
          </a:stretch>
        </p:blipFill>
        <p:spPr>
          <a:xfrm>
            <a:off x="847831" y="3060922"/>
            <a:ext cx="577076" cy="546669"/>
          </a:xfrm>
          <a:prstGeom prst="rect">
            <a:avLst/>
          </a:prstGeom>
        </p:spPr>
      </p:pic>
      <p:pic>
        <p:nvPicPr>
          <p:cNvPr id="52" name="reference-document"/>
          <p:cNvPicPr/>
          <p:nvPr/>
        </p:nvPicPr>
        <p:blipFill>
          <a:blip r:embed="rId8"/>
          <a:stretch>
            <a:fillRect/>
          </a:stretch>
        </p:blipFill>
        <p:spPr>
          <a:xfrm>
            <a:off x="951414" y="4290589"/>
            <a:ext cx="442790" cy="572539"/>
          </a:xfrm>
          <a:prstGeom prst="rect">
            <a:avLst/>
          </a:prstGeom>
        </p:spPr>
      </p:pic>
      <p:pic>
        <p:nvPicPr>
          <p:cNvPr id="53" name="measurement-monitor"/>
          <p:cNvPicPr/>
          <p:nvPr/>
        </p:nvPicPr>
        <p:blipFill>
          <a:blip r:embed="rId9"/>
          <a:stretch>
            <a:fillRect/>
          </a:stretch>
        </p:blipFill>
        <p:spPr>
          <a:xfrm>
            <a:off x="3634014" y="4306099"/>
            <a:ext cx="492568" cy="534232"/>
          </a:xfrm>
          <a:prstGeom prst="rect">
            <a:avLst/>
          </a:prstGeom>
        </p:spPr>
      </p:pic>
      <p:pic>
        <p:nvPicPr>
          <p:cNvPr id="54" name="Exact source-style blank DUT module hardware; 被测模块 and (DUT) are native text. Incidental unreadable circuit microtexture retained as visual identity."/>
          <p:cNvPicPr/>
          <p:nvPr/>
        </p:nvPicPr>
        <p:blipFill>
          <a:blip r:embed="rId10"/>
          <a:stretch>
            <a:fillRect/>
          </a:stretch>
        </p:blipFill>
        <p:spPr>
          <a:xfrm>
            <a:off x="3043665" y="2747070"/>
            <a:ext cx="2132409" cy="1256550"/>
          </a:xfrm>
          <a:prstGeom prst="rect">
            <a:avLst/>
          </a:prstGeom>
        </p:spPr>
      </p:pic>
      <p:pic>
        <p:nvPicPr>
          <p:cNvPr id="55" name="method-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7161130" y="2318331"/>
            <a:ext cx="706441" cy="712724"/>
          </a:xfrm>
          <a:prstGeom prst="rect">
            <a:avLst/>
          </a:prstGeom>
        </p:spPr>
      </p:pic>
      <p:pic>
        <p:nvPicPr>
          <p:cNvPr id="56" name="scenario-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7161009" y="3397076"/>
            <a:ext cx="710218" cy="712479"/>
          </a:xfrm>
          <a:prstGeom prst="rect">
            <a:avLst/>
          </a:prstGeom>
        </p:spPr>
      </p:pic>
      <p:pic>
        <p:nvPicPr>
          <p:cNvPr id="57" name="evidence-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7161130" y="4453712"/>
            <a:ext cx="708212" cy="712724"/>
          </a:xfrm>
          <a:prstGeom prst="rect">
            <a:avLst/>
          </a:prstGeom>
        </p:spPr>
      </p:pic>
      <p:pic>
        <p:nvPicPr>
          <p:cNvPr id="58" name="sample-database"/>
          <p:cNvPicPr/>
          <p:nvPr/>
        </p:nvPicPr>
        <p:blipFill>
          <a:blip r:embed="rId14"/>
          <a:stretch>
            <a:fillRect/>
          </a:stretch>
        </p:blipFill>
        <p:spPr>
          <a:xfrm>
            <a:off x="747981" y="5629693"/>
            <a:ext cx="665158" cy="671056"/>
          </a:xfrm>
          <a:prstGeom prst="rect">
            <a:avLst/>
          </a:prstGeom>
        </p:spPr>
      </p:pic>
      <p:pic>
        <p:nvPicPr>
          <p:cNvPr id="59" name="Source-faithful silver/blue DUT chip and its immediate luminous ring, main DUT label removed; only incidental unreadable board/silver microtexture kept. Source is clipped at slide bottom/right, preserved here."/>
          <p:cNvPicPr/>
          <p:nvPr/>
        </p:nvPicPr>
        <p:blipFill>
          <a:blip r:embed="rId15"/>
          <a:stretch>
            <a:fillRect/>
          </a:stretch>
        </p:blipFill>
        <p:spPr>
          <a:xfrm>
            <a:off x="8905630" y="5224429"/>
            <a:ext cx="3607032" cy="1720058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1344077" y="218640"/>
            <a:ext cx="2405037" cy="5174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目标与验收</a:t>
            </a:r>
            <a:endParaRPr lang="zh-CN" sz="3250"/>
          </a:p>
        </p:txBody>
      </p:sp>
      <p:sp>
        <p:nvSpPr>
          <p:cNvPr id="61" name="TextBox 61"/>
          <p:cNvSpPr txBox="1"/>
          <p:nvPr/>
        </p:nvSpPr>
        <p:spPr>
          <a:xfrm>
            <a:off x="8442581" y="429991"/>
            <a:ext cx="3279596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40" i="1">
                <a:solidFill>
                  <a:srgbClr val="639EFA"/>
                </a:solidFill>
                <a:latin typeface="Liberation Sans"/>
                <a:ea typeface="Liberation Sans"/>
                <a:cs typeface="Liberation Sans"/>
              </a:rPr>
              <a:t>LOW-COST DISCIPLINED OSCILLATOR</a:t>
            </a:r>
            <a:endParaRPr lang="zh-CN" sz="1440"/>
          </a:p>
        </p:txBody>
      </p:sp>
      <p:sp>
        <p:nvSpPr>
          <p:cNvPr id="62" name="TextBox 62"/>
          <p:cNvSpPr txBox="1"/>
          <p:nvPr/>
        </p:nvSpPr>
        <p:spPr>
          <a:xfrm>
            <a:off x="1657461" y="1289974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2E73"/>
                </a:solidFill>
                <a:latin typeface="Noto Sans CJK SC"/>
                <a:ea typeface="Noto Sans CJK SC"/>
                <a:cs typeface="Noto Sans CJK SC"/>
              </a:rPr>
              <a:t>自由运行</a:t>
            </a:r>
            <a:endParaRPr lang="zh-CN" sz="1700"/>
          </a:p>
        </p:txBody>
      </p:sp>
      <p:sp>
        <p:nvSpPr>
          <p:cNvPr id="63" name="TextBox 63"/>
          <p:cNvSpPr txBox="1"/>
          <p:nvPr/>
        </p:nvSpPr>
        <p:spPr>
          <a:xfrm>
            <a:off x="1613733" y="1617934"/>
            <a:ext cx="1428446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426B91"/>
                </a:solidFill>
                <a:latin typeface="Noto Sans CJK SC"/>
                <a:ea typeface="Noto Sans CJK SC"/>
                <a:cs typeface="Noto Sans CJK SC"/>
              </a:rPr>
              <a:t>基线频率记录</a:t>
            </a:r>
            <a:endParaRPr lang="zh-CN" sz="1250"/>
          </a:p>
        </p:txBody>
      </p:sp>
      <p:sp>
        <p:nvSpPr>
          <p:cNvPr id="64" name="TextBox 64"/>
          <p:cNvSpPr txBox="1"/>
          <p:nvPr/>
        </p:nvSpPr>
        <p:spPr>
          <a:xfrm>
            <a:off x="4769433" y="1289974"/>
            <a:ext cx="123895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2E73"/>
                </a:solidFill>
                <a:latin typeface="Noto Sans CJK SC"/>
                <a:ea typeface="Noto Sans CJK SC"/>
                <a:cs typeface="Noto Sans CJK SC"/>
              </a:rPr>
              <a:t>驯服</a:t>
            </a:r>
            <a:endParaRPr lang="zh-CN" sz="1700"/>
          </a:p>
        </p:txBody>
      </p:sp>
      <p:sp>
        <p:nvSpPr>
          <p:cNvPr id="65" name="TextBox 65"/>
          <p:cNvSpPr txBox="1"/>
          <p:nvPr/>
        </p:nvSpPr>
        <p:spPr>
          <a:xfrm>
            <a:off x="4660113" y="1617934"/>
            <a:ext cx="1428446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426B91"/>
                </a:solidFill>
                <a:latin typeface="Noto Sans CJK SC"/>
                <a:ea typeface="Noto Sans CJK SC"/>
                <a:cs typeface="Noto Sans CJK SC"/>
              </a:rPr>
              <a:t>参考锁定 ≥24 h</a:t>
            </a:r>
            <a:endParaRPr lang="zh-CN" sz="1250"/>
          </a:p>
        </p:txBody>
      </p:sp>
      <p:sp>
        <p:nvSpPr>
          <p:cNvPr id="66" name="TextBox 66"/>
          <p:cNvSpPr txBox="1"/>
          <p:nvPr/>
        </p:nvSpPr>
        <p:spPr>
          <a:xfrm>
            <a:off x="7524294" y="1289974"/>
            <a:ext cx="123895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2E73"/>
                </a:solidFill>
                <a:latin typeface="Noto Sans CJK SC"/>
                <a:ea typeface="Noto Sans CJK SC"/>
                <a:cs typeface="Noto Sans CJK SC"/>
              </a:rPr>
              <a:t>失锁 1 h</a:t>
            </a:r>
            <a:endParaRPr lang="zh-CN" sz="1700"/>
          </a:p>
        </p:txBody>
      </p:sp>
      <p:sp>
        <p:nvSpPr>
          <p:cNvPr id="67" name="TextBox 67"/>
          <p:cNvSpPr txBox="1"/>
          <p:nvPr/>
        </p:nvSpPr>
        <p:spPr>
          <a:xfrm>
            <a:off x="7517006" y="1617934"/>
            <a:ext cx="1428446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426B91"/>
                </a:solidFill>
                <a:latin typeface="Noto Sans CJK SC"/>
                <a:ea typeface="Noto Sans CJK SC"/>
                <a:cs typeface="Noto Sans CJK SC"/>
              </a:rPr>
              <a:t>断开控制参考</a:t>
            </a:r>
            <a:endParaRPr lang="zh-CN" sz="1250"/>
          </a:p>
        </p:txBody>
      </p:sp>
      <p:sp>
        <p:nvSpPr>
          <p:cNvPr id="68" name="TextBox 68"/>
          <p:cNvSpPr txBox="1"/>
          <p:nvPr/>
        </p:nvSpPr>
        <p:spPr>
          <a:xfrm>
            <a:off x="10607114" y="1289974"/>
            <a:ext cx="123895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2E73"/>
                </a:solidFill>
                <a:latin typeface="Noto Sans CJK SC"/>
                <a:ea typeface="Noto Sans CJK SC"/>
                <a:cs typeface="Noto Sans CJK SC"/>
              </a:rPr>
              <a:t>恢复</a:t>
            </a:r>
            <a:endParaRPr lang="zh-CN" sz="1700"/>
          </a:p>
        </p:txBody>
      </p:sp>
      <p:sp>
        <p:nvSpPr>
          <p:cNvPr id="69" name="TextBox 69"/>
          <p:cNvSpPr txBox="1"/>
          <p:nvPr/>
        </p:nvSpPr>
        <p:spPr>
          <a:xfrm>
            <a:off x="10403051" y="1617934"/>
            <a:ext cx="1428446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426B91"/>
                </a:solidFill>
                <a:latin typeface="Noto Sans CJK SC"/>
                <a:ea typeface="Noto Sans CJK SC"/>
                <a:cs typeface="Noto Sans CJK SC"/>
              </a:rPr>
              <a:t>参考恢复后记录</a:t>
            </a:r>
            <a:endParaRPr lang="zh-CN" sz="1250"/>
          </a:p>
        </p:txBody>
      </p:sp>
      <p:sp>
        <p:nvSpPr>
          <p:cNvPr id="70" name="TextBox 70"/>
          <p:cNvSpPr txBox="1"/>
          <p:nvPr/>
        </p:nvSpPr>
        <p:spPr>
          <a:xfrm>
            <a:off x="928662" y="2273853"/>
            <a:ext cx="1537766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系统流程</a:t>
            </a:r>
            <a:endParaRPr lang="zh-CN" sz="2000"/>
          </a:p>
        </p:txBody>
      </p:sp>
      <p:sp>
        <p:nvSpPr>
          <p:cNvPr id="71" name="TextBox 71"/>
          <p:cNvSpPr txBox="1"/>
          <p:nvPr/>
        </p:nvSpPr>
        <p:spPr>
          <a:xfrm>
            <a:off x="1562717" y="3082820"/>
            <a:ext cx="903711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003477"/>
                </a:solidFill>
                <a:latin typeface="Noto Sans CJK SC"/>
                <a:ea typeface="Noto Sans CJK SC"/>
                <a:cs typeface="Noto Sans CJK SC"/>
              </a:rPr>
              <a:t>控制参考</a:t>
            </a:r>
            <a:endParaRPr lang="zh-CN" sz="1450"/>
          </a:p>
        </p:txBody>
      </p:sp>
      <p:sp>
        <p:nvSpPr>
          <p:cNvPr id="72" name="TextBox 72"/>
          <p:cNvSpPr txBox="1"/>
          <p:nvPr/>
        </p:nvSpPr>
        <p:spPr>
          <a:xfrm>
            <a:off x="1570005" y="3359764"/>
            <a:ext cx="918287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294F80"/>
                </a:solidFill>
                <a:latin typeface="Noto Sans CJK SC"/>
                <a:ea typeface="Noto Sans CJK SC"/>
                <a:cs typeface="Noto Sans CJK SC"/>
              </a:rPr>
              <a:t>GPS / 北斗</a:t>
            </a:r>
            <a:endParaRPr lang="zh-CN" sz="1320"/>
          </a:p>
        </p:txBody>
      </p:sp>
      <p:sp>
        <p:nvSpPr>
          <p:cNvPr id="73" name="TextBox 73"/>
          <p:cNvSpPr txBox="1"/>
          <p:nvPr/>
        </p:nvSpPr>
        <p:spPr>
          <a:xfrm>
            <a:off x="1562717" y="4329067"/>
            <a:ext cx="903711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003477"/>
                </a:solidFill>
                <a:latin typeface="Noto Sans CJK SC"/>
                <a:ea typeface="Noto Sans CJK SC"/>
                <a:cs typeface="Noto Sans CJK SC"/>
              </a:rPr>
              <a:t>评价参考</a:t>
            </a:r>
            <a:endParaRPr lang="zh-CN" sz="1450"/>
          </a:p>
        </p:txBody>
      </p:sp>
      <p:sp>
        <p:nvSpPr>
          <p:cNvPr id="74" name="TextBox 74"/>
          <p:cNvSpPr txBox="1"/>
          <p:nvPr/>
        </p:nvSpPr>
        <p:spPr>
          <a:xfrm>
            <a:off x="1562717" y="4598723"/>
            <a:ext cx="874559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294F80"/>
                </a:solidFill>
                <a:latin typeface="Noto Sans CJK SC"/>
                <a:ea typeface="Noto Sans CJK SC"/>
                <a:cs typeface="Noto Sans CJK SC"/>
              </a:rPr>
              <a:t>独立基准</a:t>
            </a:r>
            <a:endParaRPr lang="zh-CN" sz="1320"/>
          </a:p>
        </p:txBody>
      </p:sp>
      <p:sp>
        <p:nvSpPr>
          <p:cNvPr id="75" name="TextBox 75"/>
          <p:cNvSpPr txBox="1"/>
          <p:nvPr/>
        </p:nvSpPr>
        <p:spPr>
          <a:xfrm>
            <a:off x="4368594" y="4329067"/>
            <a:ext cx="1013031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003477"/>
                </a:solidFill>
                <a:latin typeface="Noto Sans CJK SC"/>
                <a:ea typeface="Noto Sans CJK SC"/>
                <a:cs typeface="Noto Sans CJK SC"/>
              </a:rPr>
              <a:t>测量仪器</a:t>
            </a:r>
            <a:endParaRPr lang="zh-CN" sz="1450"/>
          </a:p>
        </p:txBody>
      </p:sp>
      <p:sp>
        <p:nvSpPr>
          <p:cNvPr id="76" name="TextBox 76"/>
          <p:cNvSpPr txBox="1"/>
          <p:nvPr/>
        </p:nvSpPr>
        <p:spPr>
          <a:xfrm>
            <a:off x="4368594" y="4598723"/>
            <a:ext cx="728799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294F80"/>
                </a:solidFill>
                <a:latin typeface="Noto Sans CJK SC"/>
                <a:ea typeface="Noto Sans CJK SC"/>
                <a:cs typeface="Noto Sans CJK SC"/>
              </a:rPr>
              <a:t>待确认</a:t>
            </a:r>
            <a:endParaRPr lang="zh-CN" sz="1320"/>
          </a:p>
        </p:txBody>
      </p:sp>
      <p:sp>
        <p:nvSpPr>
          <p:cNvPr id="77" name="TextBox 77"/>
          <p:cNvSpPr txBox="1"/>
          <p:nvPr/>
        </p:nvSpPr>
        <p:spPr>
          <a:xfrm>
            <a:off x="3559627" y="3104684"/>
            <a:ext cx="1129639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被测模块</a:t>
            </a:r>
            <a:endParaRPr lang="zh-CN" sz="1700"/>
          </a:p>
        </p:txBody>
      </p:sp>
      <p:sp>
        <p:nvSpPr>
          <p:cNvPr id="78" name="TextBox 78"/>
          <p:cNvSpPr txBox="1"/>
          <p:nvPr/>
        </p:nvSpPr>
        <p:spPr>
          <a:xfrm>
            <a:off x="3792842" y="3381628"/>
            <a:ext cx="699647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(DUT)</a:t>
            </a:r>
            <a:endParaRPr lang="zh-CN" sz="1600"/>
          </a:p>
        </p:txBody>
      </p:sp>
      <p:sp>
        <p:nvSpPr>
          <p:cNvPr id="79" name="TextBox 79"/>
          <p:cNvSpPr txBox="1"/>
          <p:nvPr/>
        </p:nvSpPr>
        <p:spPr>
          <a:xfrm>
            <a:off x="5272305" y="3060956"/>
            <a:ext cx="874559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184779"/>
                </a:solidFill>
                <a:latin typeface="Noto Sans CJK SC"/>
                <a:ea typeface="Noto Sans CJK SC"/>
                <a:cs typeface="Noto Sans CJK SC"/>
              </a:rPr>
              <a:t>1PPS 输出</a:t>
            </a:r>
            <a:endParaRPr lang="zh-CN" sz="1320"/>
          </a:p>
        </p:txBody>
      </p:sp>
      <p:sp>
        <p:nvSpPr>
          <p:cNvPr id="80" name="TextBox 80"/>
          <p:cNvSpPr txBox="1"/>
          <p:nvPr/>
        </p:nvSpPr>
        <p:spPr>
          <a:xfrm>
            <a:off x="7983437" y="2448765"/>
            <a:ext cx="134827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对照方法</a:t>
            </a:r>
            <a:endParaRPr lang="zh-CN" sz="1820"/>
          </a:p>
        </p:txBody>
      </p:sp>
      <p:sp>
        <p:nvSpPr>
          <p:cNvPr id="81" name="TextBox 81"/>
          <p:cNvSpPr txBox="1"/>
          <p:nvPr/>
        </p:nvSpPr>
        <p:spPr>
          <a:xfrm>
            <a:off x="7983437" y="2893333"/>
            <a:ext cx="3571116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>
                <a:solidFill>
                  <a:srgbClr val="214C80"/>
                </a:solidFill>
                <a:latin typeface="Noto Sans CJK SC"/>
                <a:ea typeface="Noto Sans CJK SC"/>
                <a:cs typeface="Noto Sans CJK SC"/>
              </a:rPr>
              <a:t>自由运行 / 固定控制保持 / 模型补偿保持</a:t>
            </a:r>
            <a:endParaRPr lang="zh-CN" sz="1370"/>
          </a:p>
        </p:txBody>
      </p:sp>
      <p:sp>
        <p:nvSpPr>
          <p:cNvPr id="82" name="TextBox 82"/>
          <p:cNvSpPr txBox="1"/>
          <p:nvPr/>
        </p:nvSpPr>
        <p:spPr>
          <a:xfrm>
            <a:off x="7983437" y="3498236"/>
            <a:ext cx="134827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补充场景</a:t>
            </a:r>
            <a:endParaRPr lang="zh-CN" sz="1820"/>
          </a:p>
        </p:txBody>
      </p:sp>
      <p:sp>
        <p:nvSpPr>
          <p:cNvPr id="83" name="TextBox 83"/>
          <p:cNvSpPr txBox="1"/>
          <p:nvPr/>
        </p:nvSpPr>
        <p:spPr>
          <a:xfrm>
            <a:off x="7983437" y="3971955"/>
            <a:ext cx="3571116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>
                <a:solidFill>
                  <a:srgbClr val="214C80"/>
                </a:solidFill>
                <a:latin typeface="Noto Sans CJK SC"/>
                <a:ea typeface="Noto Sans CJK SC"/>
                <a:cs typeface="Noto Sans CJK SC"/>
              </a:rPr>
              <a:t>温变、供电扰动、缺脉冲、参考恢复</a:t>
            </a:r>
            <a:endParaRPr lang="zh-CN" sz="1370"/>
          </a:p>
        </p:txBody>
      </p:sp>
      <p:sp>
        <p:nvSpPr>
          <p:cNvPr id="84" name="TextBox 84"/>
          <p:cNvSpPr txBox="1"/>
          <p:nvPr/>
        </p:nvSpPr>
        <p:spPr>
          <a:xfrm>
            <a:off x="7983437" y="4569571"/>
            <a:ext cx="134827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</a:t>
            </a:r>
            <a:endParaRPr lang="zh-CN" sz="1820"/>
          </a:p>
        </p:txBody>
      </p:sp>
      <p:sp>
        <p:nvSpPr>
          <p:cNvPr id="85" name="TextBox 85"/>
          <p:cNvSpPr txBox="1"/>
          <p:nvPr/>
        </p:nvSpPr>
        <p:spPr>
          <a:xfrm>
            <a:off x="7983437" y="5028714"/>
            <a:ext cx="3571116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>
                <a:solidFill>
                  <a:srgbClr val="214C80"/>
                </a:solidFill>
                <a:latin typeface="Noto Sans CJK SC"/>
                <a:ea typeface="Noto Sans CJK SC"/>
                <a:cs typeface="Noto Sans CJK SC"/>
              </a:rPr>
              <a:t>独立测量参考 + 原始日志 + 设备与版本信息</a:t>
            </a:r>
            <a:endParaRPr lang="zh-CN" sz="1370"/>
          </a:p>
        </p:txBody>
      </p:sp>
      <p:sp>
        <p:nvSpPr>
          <p:cNvPr id="86" name="TextBox 86"/>
          <p:cNvSpPr txBox="1"/>
          <p:nvPr/>
        </p:nvSpPr>
        <p:spPr>
          <a:xfrm>
            <a:off x="1548141" y="5779377"/>
            <a:ext cx="1020319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 i="1">
                <a:solidFill>
                  <a:srgbClr val="003B89"/>
                </a:solidFill>
                <a:latin typeface="Noto Sans CJK SC"/>
                <a:ea typeface="Noto Sans CJK SC"/>
                <a:cs typeface="Noto Sans CJK SC"/>
              </a:rPr>
              <a:t>样本量</a:t>
            </a:r>
            <a:endParaRPr lang="zh-CN" sz="1900"/>
          </a:p>
        </p:txBody>
      </p:sp>
      <p:sp>
        <p:nvSpPr>
          <p:cNvPr id="87" name="TextBox 87"/>
          <p:cNvSpPr txBox="1"/>
          <p:nvPr/>
        </p:nvSpPr>
        <p:spPr>
          <a:xfrm>
            <a:off x="2910995" y="5808529"/>
            <a:ext cx="2208261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70">
                <a:solidFill>
                  <a:srgbClr val="2D5786"/>
                </a:solidFill>
                <a:latin typeface="Noto Sans CJK SC"/>
                <a:ea typeface="Noto Sans CJK SC"/>
                <a:cs typeface="Noto Sans CJK SC"/>
              </a:rPr>
              <a:t>两种晶振，每种至少三只</a:t>
            </a:r>
            <a:endParaRPr lang="zh-CN" sz="1470"/>
          </a:p>
        </p:txBody>
      </p:sp>
      <p:sp>
        <p:nvSpPr>
          <p:cNvPr id="88" name="TextBox 88"/>
          <p:cNvSpPr txBox="1"/>
          <p:nvPr/>
        </p:nvSpPr>
        <p:spPr>
          <a:xfrm>
            <a:off x="5097393" y="5779377"/>
            <a:ext cx="823543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20" b="1">
                <a:solidFill>
                  <a:srgbClr val="0074DC"/>
                </a:solidFill>
                <a:latin typeface="Noto Sans CJK SC"/>
                <a:ea typeface="Noto Sans CJK SC"/>
                <a:cs typeface="Noto Sans CJK SC"/>
              </a:rPr>
              <a:t>（计划）</a:t>
            </a:r>
            <a:endParaRPr lang="zh-CN" sz="1620"/>
          </a:p>
        </p:txBody>
      </p:sp>
      <p:sp>
        <p:nvSpPr>
          <p:cNvPr id="89" name="TextBox 89"/>
          <p:cNvSpPr txBox="1"/>
          <p:nvPr/>
        </p:nvSpPr>
        <p:spPr>
          <a:xfrm>
            <a:off x="452150" y="955667"/>
            <a:ext cx="1010629" cy="10694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 i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  <a:endParaRPr lang="zh-CN" sz="3600"/>
          </a:p>
        </p:txBody>
      </p:sp>
      <p:sp>
        <p:nvSpPr>
          <p:cNvPr id="90" name="TextBox 90"/>
          <p:cNvSpPr txBox="1"/>
          <p:nvPr/>
        </p:nvSpPr>
        <p:spPr>
          <a:xfrm>
            <a:off x="3483955" y="955667"/>
            <a:ext cx="1010629" cy="10694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 i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  <a:endParaRPr lang="zh-CN" sz="3600"/>
          </a:p>
        </p:txBody>
      </p:sp>
      <p:sp>
        <p:nvSpPr>
          <p:cNvPr id="91" name="TextBox 91"/>
          <p:cNvSpPr txBox="1"/>
          <p:nvPr/>
        </p:nvSpPr>
        <p:spPr>
          <a:xfrm>
            <a:off x="6340847" y="955667"/>
            <a:ext cx="1010629" cy="10694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 i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  <a:endParaRPr lang="zh-CN" sz="3600"/>
          </a:p>
        </p:txBody>
      </p:sp>
      <p:sp>
        <p:nvSpPr>
          <p:cNvPr id="92" name="TextBox 92"/>
          <p:cNvSpPr txBox="1"/>
          <p:nvPr/>
        </p:nvSpPr>
        <p:spPr>
          <a:xfrm>
            <a:off x="9387228" y="955667"/>
            <a:ext cx="1010629" cy="10694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 i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</a:t>
            </a:r>
            <a:endParaRPr lang="zh-CN" sz="3600"/>
          </a:p>
        </p:txBody>
      </p:sp>
      <p:sp>
        <p:nvSpPr>
          <p:cNvPr id="93" name="TextBox 93"/>
          <p:cNvSpPr txBox="1"/>
          <p:nvPr/>
        </p:nvSpPr>
        <p:spPr>
          <a:xfrm rot="1320000">
            <a:off x="10570674" y="5764801"/>
            <a:ext cx="532023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 i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DUT</a:t>
            </a:r>
            <a:endParaRPr lang="zh-CN" sz="1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