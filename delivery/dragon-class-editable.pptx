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pale ocean-sky/mountain/coast background with slide foreground remove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0" y="1055747"/>
            <a:ext cx="6000600" cy="49211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0171" y="0"/>
                </a:lnTo>
                <a:cubicBezTo>
                  <a:pt x="21600" y="0"/>
                  <a:pt x="21600" y="21600"/>
                  <a:pt x="20171" y="21600"/>
                </a:cubicBezTo>
                <a:lnTo>
                  <a:pt x="0" y="21600"/>
                </a:lnTo>
                <a:close/>
              </a:path>
            </a:pathLst>
          </a:custGeom>
          <a:solidFill>
            <a:srgbClr val="D9D8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0" y="1674856"/>
            <a:ext cx="4309955" cy="485762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3063" y="0"/>
                </a:moveTo>
                <a:lnTo>
                  <a:pt x="21282" y="106"/>
                </a:lnTo>
                <a:lnTo>
                  <a:pt x="21600" y="21318"/>
                </a:lnTo>
                <a:lnTo>
                  <a:pt x="0" y="21600"/>
                </a:lnTo>
                <a:lnTo>
                  <a:pt x="0" y="13200"/>
                </a:lnTo>
                <a:close/>
              </a:path>
            </a:pathLst>
          </a:custGeom>
          <a:solidFill>
            <a:srgbClr val="F8EEE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3714657" y="150894"/>
            <a:ext cx="1349341" cy="698483"/>
          </a:xfrm>
          <a:prstGeom prst="roundRect">
            <a:avLst>
              <a:gd name="adj" fmla="val 50000"/>
            </a:avLst>
          </a:prstGeom>
          <a:solidFill>
            <a:srgbClr val="FFC6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27047" y="754129"/>
            <a:ext cx="2079573" cy="55561"/>
          </a:xfrm>
          <a:prstGeom prst="roundRect">
            <a:avLst>
              <a:gd name="adj" fmla="val 50000"/>
            </a:avLst>
          </a:prstGeom>
          <a:solidFill>
            <a:srgbClr val="0756C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Path 7"/>
          <p:cNvSpPr/>
          <p:nvPr/>
        </p:nvSpPr>
        <p:spPr>
          <a:xfrm>
            <a:off x="3730532" y="150894"/>
            <a:ext cx="8461163" cy="69848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16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216" y="21600"/>
                </a:lnTo>
                <a:cubicBezTo>
                  <a:pt x="20" y="21600"/>
                  <a:pt x="0" y="0"/>
                  <a:pt x="1216" y="0"/>
                </a:cubicBezTo>
                <a:close/>
              </a:path>
            </a:pathLst>
          </a:custGeom>
          <a:solidFill>
            <a:srgbClr val="008CC5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ath 8"/>
          <p:cNvSpPr/>
          <p:nvPr/>
        </p:nvSpPr>
        <p:spPr>
          <a:xfrm>
            <a:off x="0" y="1023998"/>
            <a:ext cx="5960913" cy="49211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0277" y="0"/>
                </a:lnTo>
                <a:cubicBezTo>
                  <a:pt x="21600" y="0"/>
                  <a:pt x="21600" y="21600"/>
                  <a:pt x="20277" y="21600"/>
                </a:cubicBezTo>
                <a:lnTo>
                  <a:pt x="0" y="21600"/>
                </a:lnTo>
                <a:close/>
              </a:path>
            </a:pathLst>
          </a:custGeom>
          <a:solidFill>
            <a:srgbClr val="007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8096048" y="277891"/>
            <a:ext cx="1325529" cy="4603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ath 10"/>
          <p:cNvSpPr/>
          <p:nvPr/>
        </p:nvSpPr>
        <p:spPr>
          <a:xfrm>
            <a:off x="6460097" y="1902691"/>
            <a:ext cx="4296031" cy="143619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2039" y="0"/>
                </a:moveTo>
                <a:lnTo>
                  <a:pt x="19131" y="2746"/>
                </a:lnTo>
                <a:cubicBezTo>
                  <a:pt x="20795" y="2746"/>
                  <a:pt x="21466" y="4668"/>
                  <a:pt x="21493" y="10617"/>
                </a:cubicBezTo>
                <a:lnTo>
                  <a:pt x="21600" y="21600"/>
                </a:lnTo>
                <a:lnTo>
                  <a:pt x="0" y="19495"/>
                </a:lnTo>
                <a:lnTo>
                  <a:pt x="0" y="15468"/>
                </a:lnTo>
                <a:cubicBezTo>
                  <a:pt x="698" y="9702"/>
                  <a:pt x="1207" y="3295"/>
                  <a:pt x="2039" y="0"/>
                </a:cubicBezTo>
                <a:close/>
              </a:path>
            </a:pathLst>
          </a:custGeom>
          <a:solidFill>
            <a:srgbClr val="EAF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ath 11"/>
          <p:cNvSpPr/>
          <p:nvPr/>
        </p:nvSpPr>
        <p:spPr>
          <a:xfrm>
            <a:off x="5969122" y="3241513"/>
            <a:ext cx="4520171" cy="139967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811" y="0"/>
                </a:moveTo>
                <a:lnTo>
                  <a:pt x="20299" y="2254"/>
                </a:lnTo>
                <a:cubicBezTo>
                  <a:pt x="21421" y="2160"/>
                  <a:pt x="21600" y="3757"/>
                  <a:pt x="21523" y="6574"/>
                </a:cubicBezTo>
                <a:lnTo>
                  <a:pt x="21574" y="21600"/>
                </a:lnTo>
                <a:lnTo>
                  <a:pt x="0" y="19346"/>
                </a:lnTo>
                <a:lnTo>
                  <a:pt x="0" y="14744"/>
                </a:lnTo>
                <a:cubicBezTo>
                  <a:pt x="638" y="7231"/>
                  <a:pt x="1046" y="2348"/>
                  <a:pt x="1811" y="0"/>
                </a:cubicBezTo>
                <a:close/>
              </a:path>
            </a:pathLst>
          </a:custGeom>
          <a:solidFill>
            <a:srgbClr val="EAF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ath 12"/>
          <p:cNvSpPr/>
          <p:nvPr/>
        </p:nvSpPr>
        <p:spPr>
          <a:xfrm>
            <a:off x="5793011" y="4495137"/>
            <a:ext cx="4829699" cy="124145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90" y="0"/>
                </a:moveTo>
                <a:lnTo>
                  <a:pt x="20287" y="2647"/>
                </a:lnTo>
                <a:cubicBezTo>
                  <a:pt x="21576" y="2541"/>
                  <a:pt x="21600" y="5400"/>
                  <a:pt x="21576" y="9953"/>
                </a:cubicBezTo>
                <a:cubicBezTo>
                  <a:pt x="21505" y="17894"/>
                  <a:pt x="20454" y="21176"/>
                  <a:pt x="18784" y="21600"/>
                </a:cubicBezTo>
                <a:lnTo>
                  <a:pt x="1838" y="20753"/>
                </a:lnTo>
                <a:lnTo>
                  <a:pt x="0" y="15671"/>
                </a:lnTo>
                <a:cubicBezTo>
                  <a:pt x="668" y="8788"/>
                  <a:pt x="955" y="2859"/>
                  <a:pt x="1790" y="0"/>
                </a:cubicBezTo>
                <a:close/>
              </a:path>
            </a:pathLst>
          </a:custGeom>
          <a:solidFill>
            <a:srgbClr val="EAF8F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" name="Original blue/gold dragon-boat with scaled hull, head, flag, waves, four oars and three ornate empty frame apertures. All ordinary text/numbers/title pills and semantic icons removed."/>
          <p:cNvPicPr/>
          <p:nvPr/>
        </p:nvPicPr>
        <p:blipFill>
          <a:blip r:embed="rId3"/>
          <a:stretch>
            <a:fillRect/>
          </a:stretch>
        </p:blipFill>
        <p:spPr>
          <a:xfrm>
            <a:off x="4245373" y="1148082"/>
            <a:ext cx="8074403" cy="5726507"/>
          </a:xfrm>
          <a:prstGeom prst="rect">
            <a:avLst/>
          </a:prstGeom>
        </p:spPr>
      </p:pic>
      <p:pic>
        <p:nvPicPr>
          <p:cNvPr id="14" name="Original student group before orange school building; full white-edge skew preserved."/>
          <p:cNvPicPr/>
          <p:nvPr/>
        </p:nvPicPr>
        <p:blipFill>
          <a:blip r:embed="rId4"/>
          <a:stretch>
            <a:fillRect/>
          </a:stretch>
        </p:blipFill>
        <p:spPr>
          <a:xfrm>
            <a:off x="339135" y="1663193"/>
            <a:ext cx="2155347" cy="1470021"/>
          </a:xfrm>
          <a:prstGeom prst="rect">
            <a:avLst/>
          </a:prstGeom>
        </p:spPr>
      </p:pic>
      <p:pic>
        <p:nvPicPr>
          <p:cNvPr id="15" name="Original parent/classroom meeting collage; its internal collage is photographic identity."/>
          <p:cNvPicPr/>
          <p:nvPr/>
        </p:nvPicPr>
        <p:blipFill>
          <a:blip r:embed="rId5"/>
          <a:stretch>
            <a:fillRect/>
          </a:stretch>
        </p:blipFill>
        <p:spPr>
          <a:xfrm>
            <a:off x="2284667" y="1662828"/>
            <a:ext cx="1994814" cy="1479508"/>
          </a:xfrm>
          <a:prstGeom prst="rect">
            <a:avLst/>
          </a:prstGeom>
        </p:spPr>
      </p:pic>
      <p:pic>
        <p:nvPicPr>
          <p:cNvPr id="16" name="Original photographed flower-mark record document; tiny document lettering is photographed identity."/>
          <p:cNvPicPr/>
          <p:nvPr/>
        </p:nvPicPr>
        <p:blipFill>
          <a:blip r:embed="rId6"/>
          <a:stretch>
            <a:fillRect/>
          </a:stretch>
        </p:blipFill>
        <p:spPr>
          <a:xfrm>
            <a:off x="103185" y="3059616"/>
            <a:ext cx="2278006" cy="1587669"/>
          </a:xfrm>
          <a:prstGeom prst="rect">
            <a:avLst/>
          </a:prstGeom>
        </p:spPr>
      </p:pic>
      <p:pic>
        <p:nvPicPr>
          <p:cNvPr id="17" name="Original handmade future planning poster. Small photographed poster lettering remains photo identity."/>
          <p:cNvPicPr/>
          <p:nvPr/>
        </p:nvPicPr>
        <p:blipFill>
          <a:blip r:embed="rId7"/>
          <a:stretch>
            <a:fillRect/>
          </a:stretch>
        </p:blipFill>
        <p:spPr>
          <a:xfrm>
            <a:off x="2174623" y="3074138"/>
            <a:ext cx="2111717" cy="1587669"/>
          </a:xfrm>
          <a:prstGeom prst="rect">
            <a:avLst/>
          </a:prstGeom>
        </p:spPr>
      </p:pic>
      <p:pic>
        <p:nvPicPr>
          <p:cNvPr id="18" name="Original student activity collage, with each internal photograph and white collage divider retained."/>
          <p:cNvPicPr/>
          <p:nvPr/>
        </p:nvPicPr>
        <p:blipFill>
          <a:blip r:embed="rId8"/>
          <a:stretch>
            <a:fillRect/>
          </a:stretch>
        </p:blipFill>
        <p:spPr>
          <a:xfrm>
            <a:off x="-94383" y="4641861"/>
            <a:ext cx="2355650" cy="1862998"/>
          </a:xfrm>
          <a:prstGeom prst="rect">
            <a:avLst/>
          </a:prstGeom>
        </p:spPr>
      </p:pic>
      <p:pic>
        <p:nvPicPr>
          <p:cNvPr id="19" name="Original multicolored teamwork paper poster. Tiny paper writing is photographed identity."/>
          <p:cNvPicPr/>
          <p:nvPr/>
        </p:nvPicPr>
        <p:blipFill>
          <a:blip r:embed="rId9"/>
          <a:stretch>
            <a:fillRect/>
          </a:stretch>
        </p:blipFill>
        <p:spPr>
          <a:xfrm>
            <a:off x="2032496" y="4654106"/>
            <a:ext cx="2253101" cy="1846231"/>
          </a:xfrm>
          <a:prstGeom prst="rect">
            <a:avLst/>
          </a:prstGeom>
        </p:spPr>
      </p:pic>
      <p:pic>
        <p:nvPicPr>
          <p:cNvPr id="20" name="Original aqua H2 water-swoosh logo and small molecular droplets; H2 is identity lettering."/>
          <p:cNvPicPr/>
          <p:nvPr/>
        </p:nvPicPr>
        <p:blipFill>
          <a:blip r:embed="rId10"/>
          <a:stretch>
            <a:fillRect/>
          </a:stretch>
        </p:blipFill>
        <p:spPr>
          <a:xfrm>
            <a:off x="323245" y="17293"/>
            <a:ext cx="806037" cy="727567"/>
          </a:xfrm>
          <a:prstGeom prst="rect">
            <a:avLst/>
          </a:prstGeom>
        </p:spPr>
      </p:pic>
      <p:pic>
        <p:nvPicPr>
          <p:cNvPr id="21" name="Original upper-right blue molecular chain/H2 identity bubble."/>
          <p:cNvPicPr/>
          <p:nvPr/>
        </p:nvPicPr>
        <p:blipFill>
          <a:blip r:embed="rId11"/>
          <a:stretch>
            <a:fillRect/>
          </a:stretch>
        </p:blipFill>
        <p:spPr>
          <a:xfrm>
            <a:off x="11095099" y="90619"/>
            <a:ext cx="1089907" cy="787283"/>
          </a:xfrm>
          <a:prstGeom prst="rect">
            <a:avLst/>
          </a:prstGeom>
        </p:spPr>
      </p:pic>
      <p:pic>
        <p:nvPicPr>
          <p:cNvPr id="22" name="Original bright-blue H2 cluster at left of stage ribbon."/>
          <p:cNvPicPr/>
          <p:nvPr/>
        </p:nvPicPr>
        <p:blipFill>
          <a:blip r:embed="rId12"/>
          <a:stretch>
            <a:fillRect/>
          </a:stretch>
        </p:blipFill>
        <p:spPr>
          <a:xfrm>
            <a:off x="77609" y="915485"/>
            <a:ext cx="1011565" cy="677389"/>
          </a:xfrm>
          <a:prstGeom prst="rect">
            <a:avLst/>
          </a:prstGeom>
        </p:spPr>
      </p:pic>
      <p:pic>
        <p:nvPicPr>
          <p:cNvPr id="23" name="Original left-pointing yellow chevron with fading dot trail."/>
          <p:cNvPicPr/>
          <p:nvPr/>
        </p:nvPicPr>
        <p:blipFill>
          <a:blip r:embed="rId13"/>
          <a:stretch>
            <a:fillRect/>
          </a:stretch>
        </p:blipFill>
        <p:spPr>
          <a:xfrm>
            <a:off x="2715409" y="214769"/>
            <a:ext cx="903148" cy="570734"/>
          </a:xfrm>
          <a:prstGeom prst="rect">
            <a:avLst/>
          </a:prstGeom>
        </p:spPr>
      </p:pic>
      <p:pic>
        <p:nvPicPr>
          <p:cNvPr id="24" name="Original circular glossy H2 icon with pale cyan disc; H2 wordmark retained as identity."/>
          <p:cNvPicPr/>
          <p:nvPr/>
        </p:nvPicPr>
        <p:blipFill>
          <a:blip r:embed="rId14"/>
          <a:stretch>
            <a:fillRect/>
          </a:stretch>
        </p:blipFill>
        <p:spPr>
          <a:xfrm>
            <a:off x="9432205" y="2176563"/>
            <a:ext cx="1018531" cy="1012662"/>
          </a:xfrm>
          <a:prstGeom prst="rect">
            <a:avLst/>
          </a:prstGeom>
        </p:spPr>
      </p:pic>
      <p:pic>
        <p:nvPicPr>
          <p:cNvPr id="25" name="Original blue/turquoise sailboat semantic icon with pale cyan disc."/>
          <p:cNvPicPr/>
          <p:nvPr/>
        </p:nvPicPr>
        <p:blipFill>
          <a:blip r:embed="rId15"/>
          <a:stretch>
            <a:fillRect/>
          </a:stretch>
        </p:blipFill>
        <p:spPr>
          <a:xfrm>
            <a:off x="9264793" y="3453916"/>
            <a:ext cx="1035862" cy="1021703"/>
          </a:xfrm>
          <a:prstGeom prst="rect">
            <a:avLst/>
          </a:prstGeom>
        </p:spPr>
      </p:pic>
      <p:pic>
        <p:nvPicPr>
          <p:cNvPr id="26" name="Original blue family semantic icon with pale cyan disc."/>
          <p:cNvPicPr/>
          <p:nvPr/>
        </p:nvPicPr>
        <p:blipFill>
          <a:blip r:embed="rId16"/>
          <a:stretch>
            <a:fillRect/>
          </a:stretch>
        </p:blipFill>
        <p:spPr>
          <a:xfrm>
            <a:off x="9079024" y="4659834"/>
            <a:ext cx="1089907" cy="1030745"/>
          </a:xfrm>
          <a:prstGeom prst="rect">
            <a:avLst/>
          </a:prstGeom>
        </p:spPr>
      </p:pic>
      <p:sp>
        <p:nvSpPr>
          <p:cNvPr id="27" name="Path 27"/>
          <p:cNvSpPr/>
          <p:nvPr/>
        </p:nvSpPr>
        <p:spPr>
          <a:xfrm>
            <a:off x="6770518" y="2063784"/>
            <a:ext cx="2492313" cy="38099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2132" y="0"/>
                </a:moveTo>
                <a:lnTo>
                  <a:pt x="21600" y="0"/>
                </a:lnTo>
                <a:cubicBezTo>
                  <a:pt x="20362" y="2250"/>
                  <a:pt x="20362" y="21600"/>
                  <a:pt x="18917" y="21600"/>
                </a:cubicBezTo>
                <a:lnTo>
                  <a:pt x="2132" y="21600"/>
                </a:lnTo>
                <a:cubicBezTo>
                  <a:pt x="0" y="21600"/>
                  <a:pt x="0" y="0"/>
                  <a:pt x="2132" y="0"/>
                </a:cubicBezTo>
                <a:close/>
              </a:path>
            </a:pathLst>
          </a:custGeom>
          <a:solidFill>
            <a:srgbClr val="0067F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Path 28"/>
          <p:cNvSpPr/>
          <p:nvPr/>
        </p:nvSpPr>
        <p:spPr>
          <a:xfrm>
            <a:off x="6278406" y="3373439"/>
            <a:ext cx="2841554" cy="38892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901" y="0"/>
                </a:moveTo>
                <a:lnTo>
                  <a:pt x="21600" y="0"/>
                </a:lnTo>
                <a:cubicBezTo>
                  <a:pt x="20514" y="2204"/>
                  <a:pt x="20514" y="21600"/>
                  <a:pt x="19247" y="21600"/>
                </a:cubicBezTo>
                <a:lnTo>
                  <a:pt x="1901" y="21600"/>
                </a:lnTo>
                <a:cubicBezTo>
                  <a:pt x="0" y="21600"/>
                  <a:pt x="0" y="0"/>
                  <a:pt x="1901" y="0"/>
                </a:cubicBezTo>
                <a:close/>
              </a:path>
            </a:pathLst>
          </a:custGeom>
          <a:solidFill>
            <a:srgbClr val="0067F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Path 29"/>
          <p:cNvSpPr/>
          <p:nvPr/>
        </p:nvSpPr>
        <p:spPr>
          <a:xfrm>
            <a:off x="6183158" y="4627533"/>
            <a:ext cx="2357379" cy="40480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2364" y="0"/>
                </a:moveTo>
                <a:lnTo>
                  <a:pt x="21600" y="0"/>
                </a:lnTo>
                <a:cubicBezTo>
                  <a:pt x="20291" y="2118"/>
                  <a:pt x="20291" y="21600"/>
                  <a:pt x="18764" y="21600"/>
                </a:cubicBezTo>
                <a:lnTo>
                  <a:pt x="2364" y="21600"/>
                </a:lnTo>
                <a:cubicBezTo>
                  <a:pt x="0" y="21600"/>
                  <a:pt x="0" y="0"/>
                  <a:pt x="2364" y="0"/>
                </a:cubicBezTo>
                <a:close/>
              </a:path>
            </a:pathLst>
          </a:custGeom>
          <a:solidFill>
            <a:srgbClr val="0067F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Box 30"/>
          <p:cNvSpPr txBox="1"/>
          <p:nvPr/>
        </p:nvSpPr>
        <p:spPr>
          <a:xfrm>
            <a:off x="1047724" y="206456"/>
            <a:ext cx="1674771" cy="49211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100" b="1">
                <a:solidFill>
                  <a:srgbClr val="075381"/>
                </a:solidFill>
                <a:latin typeface="Microsoft YaHei"/>
                <a:ea typeface="Microsoft YaHei"/>
                <a:cs typeface="Microsoft YaHei"/>
              </a:rPr>
              <a:t>带班方略</a:t>
            </a:r>
            <a:endParaRPr lang="zh-CN" sz="3100"/>
          </a:p>
        </p:txBody>
      </p:sp>
      <p:sp>
        <p:nvSpPr>
          <p:cNvPr id="31" name="TextBox 31"/>
          <p:cNvSpPr txBox="1"/>
          <p:nvPr/>
        </p:nvSpPr>
        <p:spPr>
          <a:xfrm>
            <a:off x="4095648" y="246142"/>
            <a:ext cx="1135034" cy="484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>
                <a:solidFill>
                  <a:srgbClr val="FFFFFF"/>
                </a:solidFill>
                <a:latin typeface="KaiTi"/>
                <a:ea typeface="KaiTi"/>
                <a:cs typeface="KaiTi"/>
              </a:rPr>
              <a:t>班情分析</a:t>
            </a:r>
            <a:endParaRPr lang="zh-CN" sz="2200"/>
          </a:p>
        </p:txBody>
      </p:sp>
      <p:sp>
        <p:nvSpPr>
          <p:cNvPr id="32" name="TextBox 32"/>
          <p:cNvSpPr txBox="1"/>
          <p:nvPr/>
        </p:nvSpPr>
        <p:spPr>
          <a:xfrm>
            <a:off x="5460863" y="246142"/>
            <a:ext cx="1135034" cy="484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>
                <a:solidFill>
                  <a:srgbClr val="FFFFFF"/>
                </a:solidFill>
                <a:latin typeface="KaiTi"/>
                <a:ea typeface="KaiTi"/>
                <a:cs typeface="KaiTi"/>
              </a:rPr>
              <a:t>育人理念</a:t>
            </a:r>
            <a:endParaRPr lang="zh-CN" sz="2200"/>
          </a:p>
        </p:txBody>
      </p:sp>
      <p:sp>
        <p:nvSpPr>
          <p:cNvPr id="33" name="TextBox 33"/>
          <p:cNvSpPr txBox="1"/>
          <p:nvPr/>
        </p:nvSpPr>
        <p:spPr>
          <a:xfrm>
            <a:off x="6810205" y="246142"/>
            <a:ext cx="1150909" cy="484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>
                <a:solidFill>
                  <a:srgbClr val="FFFFFF"/>
                </a:solidFill>
                <a:latin typeface="KaiTi"/>
                <a:ea typeface="KaiTi"/>
                <a:cs typeface="KaiTi"/>
              </a:rPr>
              <a:t>发展目标</a:t>
            </a:r>
            <a:endParaRPr lang="zh-CN" sz="2200"/>
          </a:p>
        </p:txBody>
      </p:sp>
      <p:sp>
        <p:nvSpPr>
          <p:cNvPr id="34" name="TextBox 34"/>
          <p:cNvSpPr txBox="1"/>
          <p:nvPr/>
        </p:nvSpPr>
        <p:spPr>
          <a:xfrm>
            <a:off x="8230982" y="254079"/>
            <a:ext cx="1087410" cy="4603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>
                <a:solidFill>
                  <a:srgbClr val="034D78"/>
                </a:solidFill>
                <a:latin typeface="KaiTi"/>
                <a:ea typeface="KaiTi"/>
                <a:cs typeface="KaiTi"/>
              </a:rPr>
              <a:t>实践做法</a:t>
            </a:r>
            <a:endParaRPr lang="zh-CN" sz="2200"/>
          </a:p>
        </p:txBody>
      </p:sp>
      <p:sp>
        <p:nvSpPr>
          <p:cNvPr id="35" name="TextBox 35"/>
          <p:cNvSpPr txBox="1"/>
          <p:nvPr/>
        </p:nvSpPr>
        <p:spPr>
          <a:xfrm>
            <a:off x="9651759" y="246142"/>
            <a:ext cx="1150909" cy="484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>
                <a:solidFill>
                  <a:srgbClr val="FFFFFF"/>
                </a:solidFill>
                <a:latin typeface="KaiTi"/>
                <a:ea typeface="KaiTi"/>
                <a:cs typeface="KaiTi"/>
              </a:rPr>
              <a:t>特色成效</a:t>
            </a:r>
            <a:endParaRPr lang="zh-CN" sz="2200"/>
          </a:p>
        </p:txBody>
      </p:sp>
      <p:sp>
        <p:nvSpPr>
          <p:cNvPr id="36" name="TextBox 36"/>
          <p:cNvSpPr txBox="1"/>
          <p:nvPr/>
        </p:nvSpPr>
        <p:spPr>
          <a:xfrm>
            <a:off x="1238219" y="1087496"/>
            <a:ext cx="4429014" cy="3413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远航期：涵养担当，志存高远（九年级）</a:t>
            </a:r>
            <a:endParaRPr lang="zh-CN" sz="1900"/>
          </a:p>
        </p:txBody>
      </p:sp>
      <p:sp>
        <p:nvSpPr>
          <p:cNvPr id="37" name="TextBox 37"/>
          <p:cNvSpPr txBox="1"/>
          <p:nvPr/>
        </p:nvSpPr>
        <p:spPr>
          <a:xfrm>
            <a:off x="6135534" y="2095533"/>
            <a:ext cx="452426" cy="4524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00">
                <a:solidFill>
                  <a:srgbClr val="FFFFFF"/>
                </a:solidFill>
                <a:latin typeface="KaiTi"/>
                <a:ea typeface="KaiTi"/>
                <a:cs typeface="KaiTi"/>
              </a:rPr>
              <a:t>01</a:t>
            </a:r>
            <a:endParaRPr lang="zh-CN" sz="3000"/>
          </a:p>
        </p:txBody>
      </p:sp>
      <p:sp>
        <p:nvSpPr>
          <p:cNvPr id="38" name="TextBox 38"/>
          <p:cNvSpPr txBox="1"/>
          <p:nvPr/>
        </p:nvSpPr>
        <p:spPr>
          <a:xfrm>
            <a:off x="5564048" y="3413125"/>
            <a:ext cx="476238" cy="4524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00">
                <a:solidFill>
                  <a:srgbClr val="FFFFFF"/>
                </a:solidFill>
                <a:latin typeface="KaiTi"/>
                <a:ea typeface="KaiTi"/>
                <a:cs typeface="KaiTi"/>
              </a:rPr>
              <a:t>02</a:t>
            </a:r>
            <a:endParaRPr lang="zh-CN" sz="3000"/>
          </a:p>
        </p:txBody>
      </p:sp>
      <p:sp>
        <p:nvSpPr>
          <p:cNvPr id="39" name="TextBox 39"/>
          <p:cNvSpPr txBox="1"/>
          <p:nvPr/>
        </p:nvSpPr>
        <p:spPr>
          <a:xfrm>
            <a:off x="5381490" y="4627533"/>
            <a:ext cx="476238" cy="4524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00">
                <a:solidFill>
                  <a:srgbClr val="FFFFFF"/>
                </a:solidFill>
                <a:latin typeface="KaiTi"/>
                <a:ea typeface="KaiTi"/>
                <a:cs typeface="KaiTi"/>
              </a:rPr>
              <a:t>03</a:t>
            </a:r>
            <a:endParaRPr lang="zh-CN" sz="3000"/>
          </a:p>
        </p:txBody>
      </p:sp>
      <p:sp>
        <p:nvSpPr>
          <p:cNvPr id="40" name="TextBox 40"/>
          <p:cNvSpPr txBox="1"/>
          <p:nvPr/>
        </p:nvSpPr>
        <p:spPr>
          <a:xfrm>
            <a:off x="7024512" y="2095533"/>
            <a:ext cx="2111322" cy="333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生涯规划，中考目标</a:t>
            </a:r>
            <a:endParaRPr lang="zh-CN" sz="1780"/>
          </a:p>
        </p:txBody>
      </p:sp>
      <p:sp>
        <p:nvSpPr>
          <p:cNvPr id="41" name="TextBox 41"/>
          <p:cNvSpPr txBox="1"/>
          <p:nvPr/>
        </p:nvSpPr>
        <p:spPr>
          <a:xfrm>
            <a:off x="6516525" y="3397251"/>
            <a:ext cx="2452626" cy="333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组建</a:t>
            </a:r>
            <a:r>
              <a:rPr lang="zh-CN" sz="1780" b="1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“</a:t>
            </a:r>
            <a:r>
              <a:rPr lang="zh-CN" sz="17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氢舟志愿服务队</a:t>
            </a:r>
            <a:r>
              <a:rPr lang="zh-CN" sz="1780" b="1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”</a:t>
            </a:r>
            <a:endParaRPr lang="zh-CN" sz="1780"/>
          </a:p>
        </p:txBody>
      </p:sp>
      <p:sp>
        <p:nvSpPr>
          <p:cNvPr id="42" name="TextBox 42"/>
          <p:cNvSpPr txBox="1"/>
          <p:nvPr/>
        </p:nvSpPr>
        <p:spPr>
          <a:xfrm>
            <a:off x="6437152" y="4659282"/>
            <a:ext cx="2031949" cy="3413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家长沙龙职业课堂</a:t>
            </a:r>
            <a:endParaRPr lang="zh-CN" sz="1780"/>
          </a:p>
        </p:txBody>
      </p:sp>
      <p:sp>
        <p:nvSpPr>
          <p:cNvPr id="43" name="TextBox 43"/>
          <p:cNvSpPr txBox="1"/>
          <p:nvPr/>
        </p:nvSpPr>
        <p:spPr>
          <a:xfrm>
            <a:off x="6826079" y="2532085"/>
            <a:ext cx="1643021" cy="2539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走进氢能企业，撰写</a:t>
            </a:r>
            <a:endParaRPr lang="zh-CN" sz="1150"/>
          </a:p>
        </p:txBody>
      </p:sp>
      <p:sp>
        <p:nvSpPr>
          <p:cNvPr id="44" name="TextBox 44"/>
          <p:cNvSpPr txBox="1"/>
          <p:nvPr/>
        </p:nvSpPr>
        <p:spPr>
          <a:xfrm>
            <a:off x="6786393" y="2746392"/>
            <a:ext cx="2714557" cy="2539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11111"/>
                </a:solidFill>
                <a:latin typeface="Liberation Serif"/>
                <a:ea typeface="Liberation Serif"/>
                <a:cs typeface="Liberation Serif"/>
              </a:rPr>
              <a:t>“</a:t>
            </a:r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我的2035</a:t>
            </a:r>
            <a:r>
              <a:rPr lang="zh-CN" sz="1150">
                <a:solidFill>
                  <a:srgbClr val="111111"/>
                </a:solidFill>
                <a:latin typeface="Liberation Serif"/>
                <a:ea typeface="Liberation Serif"/>
                <a:cs typeface="Liberation Serif"/>
              </a:rPr>
              <a:t>”</a:t>
            </a:r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生涯规划书，封存</a:t>
            </a:r>
            <a:r>
              <a:rPr lang="zh-CN" sz="1150">
                <a:solidFill>
                  <a:srgbClr val="111111"/>
                </a:solidFill>
                <a:latin typeface="Liberation Serif"/>
                <a:ea typeface="Liberation Serif"/>
                <a:cs typeface="Liberation Serif"/>
              </a:rPr>
              <a:t>“</a:t>
            </a:r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时光胶囊</a:t>
            </a:r>
            <a:r>
              <a:rPr lang="zh-CN" sz="1150">
                <a:solidFill>
                  <a:srgbClr val="111111"/>
                </a:solidFill>
                <a:latin typeface="Liberation Serif"/>
                <a:ea typeface="Liberation Serif"/>
                <a:cs typeface="Liberation Serif"/>
              </a:rPr>
              <a:t>”</a:t>
            </a:r>
            <a:endParaRPr lang="zh-CN" sz="1150"/>
          </a:p>
        </p:txBody>
      </p:sp>
      <p:sp>
        <p:nvSpPr>
          <p:cNvPr id="45" name="TextBox 45"/>
          <p:cNvSpPr txBox="1"/>
          <p:nvPr/>
        </p:nvSpPr>
        <p:spPr>
          <a:xfrm>
            <a:off x="6310155" y="3841740"/>
            <a:ext cx="3039986" cy="2539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开展社区环保、敬老助老、龙舟文化节服务，</a:t>
            </a:r>
            <a:endParaRPr lang="zh-CN" sz="1150"/>
          </a:p>
        </p:txBody>
      </p:sp>
      <p:sp>
        <p:nvSpPr>
          <p:cNvPr id="46" name="TextBox 46"/>
          <p:cNvSpPr txBox="1"/>
          <p:nvPr/>
        </p:nvSpPr>
        <p:spPr>
          <a:xfrm>
            <a:off x="6310155" y="4063984"/>
            <a:ext cx="2127197" cy="2539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</a:t>
            </a:r>
            <a:r>
              <a:rPr lang="zh-CN" sz="1150">
                <a:solidFill>
                  <a:srgbClr val="111111"/>
                </a:solidFill>
                <a:latin typeface="Liberation Serif"/>
                <a:ea typeface="Liberation Serif"/>
                <a:cs typeface="Liberation Serif"/>
              </a:rPr>
              <a:t>“</a:t>
            </a:r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服务存折</a:t>
            </a:r>
            <a:r>
              <a:rPr lang="zh-CN" sz="1150">
                <a:solidFill>
                  <a:srgbClr val="111111"/>
                </a:solidFill>
                <a:latin typeface="Liberation Serif"/>
                <a:ea typeface="Liberation Serif"/>
                <a:cs typeface="Liberation Serif"/>
              </a:rPr>
              <a:t>”</a:t>
            </a:r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记录成长</a:t>
            </a:r>
            <a:endParaRPr lang="zh-CN" sz="1150"/>
          </a:p>
        </p:txBody>
      </p:sp>
      <p:sp>
        <p:nvSpPr>
          <p:cNvPr id="47" name="TextBox 47"/>
          <p:cNvSpPr txBox="1"/>
          <p:nvPr/>
        </p:nvSpPr>
        <p:spPr>
          <a:xfrm>
            <a:off x="6230782" y="5127583"/>
            <a:ext cx="2849491" cy="2539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建立家长能量库，对重点家庭一人一策，</a:t>
            </a:r>
            <a:endParaRPr lang="zh-CN" sz="1150"/>
          </a:p>
        </p:txBody>
      </p:sp>
      <p:sp>
        <p:nvSpPr>
          <p:cNvPr id="48" name="TextBox 48"/>
          <p:cNvSpPr txBox="1"/>
          <p:nvPr/>
        </p:nvSpPr>
        <p:spPr>
          <a:xfrm>
            <a:off x="6230782" y="5349827"/>
            <a:ext cx="2325629" cy="2539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让家长从旁观者变成同盟军</a:t>
            </a:r>
            <a:endParaRPr lang="zh-CN" sz="1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pale blue sky, white clouds, sea waves, dragon boat, mountains and coastal campus/windmills background; three wheels remove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  <p:pic>
        <p:nvPicPr>
          <p:cNvPr id="3" name="Blue target-wheel empty illustrated backing with glossy rim/spokes, pale landscape sectors, center bullseye, top target and arrow, tiny rowers/flag/waves and blank brush plate. All ordinary text and three semantic icons removed."/>
          <p:cNvPicPr/>
          <p:nvPr/>
        </p:nvPicPr>
        <p:blipFill>
          <a:blip r:embed="rId3"/>
          <a:stretch>
            <a:fillRect/>
          </a:stretch>
        </p:blipFill>
        <p:spPr>
          <a:xfrm>
            <a:off x="395780" y="1639827"/>
            <a:ext cx="3668521" cy="3578345"/>
          </a:xfrm>
          <a:prstGeom prst="rect">
            <a:avLst/>
          </a:prstGeom>
        </p:spPr>
      </p:pic>
      <p:pic>
        <p:nvPicPr>
          <p:cNvPr id="4" name="Orange target-wheel empty illustrated backing; top target/arrow, rowers/flag/wave and center bullseye integrated; all ordinary text and three semantic icons removed."/>
          <p:cNvPicPr/>
          <p:nvPr/>
        </p:nvPicPr>
        <p:blipFill>
          <a:blip r:embed="rId4"/>
          <a:stretch>
            <a:fillRect/>
          </a:stretch>
        </p:blipFill>
        <p:spPr>
          <a:xfrm>
            <a:off x="4291977" y="1608425"/>
            <a:ext cx="3684709" cy="3633453"/>
          </a:xfrm>
          <a:prstGeom prst="rect">
            <a:avLst/>
          </a:prstGeom>
        </p:spPr>
      </p:pic>
      <p:pic>
        <p:nvPicPr>
          <p:cNvPr id="5" name="Green target-wheel empty illustrated backing; top target/arrow, rowers/flag/waves and center bullseye integrated; all ordinary text and three semantic icons removed."/>
          <p:cNvPicPr/>
          <p:nvPr/>
        </p:nvPicPr>
        <p:blipFill>
          <a:blip r:embed="rId5"/>
          <a:stretch>
            <a:fillRect/>
          </a:stretch>
        </p:blipFill>
        <p:spPr>
          <a:xfrm>
            <a:off x="8167974" y="1641069"/>
            <a:ext cx="3626479" cy="3560469"/>
          </a:xfrm>
          <a:prstGeom prst="rect">
            <a:avLst/>
          </a:prstGeom>
        </p:spPr>
      </p:pic>
      <p:sp>
        <p:nvSpPr>
          <p:cNvPr id="6" name="Roundrect 6"/>
          <p:cNvSpPr/>
          <p:nvPr/>
        </p:nvSpPr>
        <p:spPr>
          <a:xfrm>
            <a:off x="2224369" y="2532325"/>
            <a:ext cx="1208394" cy="377142"/>
          </a:xfrm>
          <a:prstGeom prst="roundRect">
            <a:avLst>
              <a:gd name="adj" fmla="val 46939"/>
            </a:avLst>
          </a:prstGeom>
          <a:solidFill>
            <a:srgbClr val="F3FCFC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6111241" y="2509235"/>
            <a:ext cx="1246878" cy="392536"/>
          </a:xfrm>
          <a:prstGeom prst="roundRect">
            <a:avLst>
              <a:gd name="adj" fmla="val 45098"/>
            </a:avLst>
          </a:prstGeom>
          <a:solidFill>
            <a:srgbClr val="FFF8E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9882662" y="2524629"/>
            <a:ext cx="1316149" cy="377142"/>
          </a:xfrm>
          <a:prstGeom prst="roundRect">
            <a:avLst>
              <a:gd name="adj" fmla="val 46939"/>
            </a:avLst>
          </a:prstGeom>
          <a:solidFill>
            <a:srgbClr val="EAFFF7"/>
          </a:solidFill>
          <a:ln>
            <a:noFill/>
          </a:ln>
        </p:spPr>
        <p:txBody>
          <a:bodyPr/>
          <a:lstStyle/>
          <a:p/>
        </p:txBody>
      </p:sp>
      <p:pic>
        <p:nvPicPr>
          <p:cNvPr id="9" name="Blue folded-corner agreement document with circle and orbit."/>
          <p:cNvPicPr/>
          <p:nvPr/>
        </p:nvPicPr>
        <p:blipFill>
          <a:blip r:embed="rId6"/>
          <a:stretch>
            <a:fillRect/>
          </a:stretch>
        </p:blipFill>
        <p:spPr>
          <a:xfrm>
            <a:off x="930362" y="3144913"/>
            <a:ext cx="763877" cy="506599"/>
          </a:xfrm>
          <a:prstGeom prst="rect">
            <a:avLst/>
          </a:prstGeom>
        </p:spPr>
      </p:pic>
      <p:pic>
        <p:nvPicPr>
          <p:cNvPr id="10" name="Blue three-person team with circle and orbit."/>
          <p:cNvPicPr/>
          <p:nvPr/>
        </p:nvPicPr>
        <p:blipFill>
          <a:blip r:embed="rId7"/>
          <a:stretch>
            <a:fillRect/>
          </a:stretch>
        </p:blipFill>
        <p:spPr>
          <a:xfrm>
            <a:off x="2761839" y="3161306"/>
            <a:ext cx="795377" cy="494441"/>
          </a:xfrm>
          <a:prstGeom prst="rect">
            <a:avLst/>
          </a:prstGeom>
        </p:spPr>
      </p:pic>
      <p:pic>
        <p:nvPicPr>
          <p:cNvPr id="11" name="Blue trophy cup and star with circle and orbit."/>
          <p:cNvPicPr/>
          <p:nvPr/>
        </p:nvPicPr>
        <p:blipFill>
          <a:blip r:embed="rId8"/>
          <a:stretch>
            <a:fillRect/>
          </a:stretch>
        </p:blipFill>
        <p:spPr>
          <a:xfrm>
            <a:off x="1484682" y="4111679"/>
            <a:ext cx="648122" cy="543443"/>
          </a:xfrm>
          <a:prstGeom prst="rect">
            <a:avLst/>
          </a:prstGeom>
        </p:spPr>
      </p:pic>
      <p:pic>
        <p:nvPicPr>
          <p:cNvPr id="12" name="Orange ascending bars and upward arrow with circle/orbit."/>
          <p:cNvPicPr/>
          <p:nvPr/>
        </p:nvPicPr>
        <p:blipFill>
          <a:blip r:embed="rId9"/>
          <a:stretch>
            <a:fillRect/>
          </a:stretch>
        </p:blipFill>
        <p:spPr>
          <a:xfrm>
            <a:off x="4883268" y="3170005"/>
            <a:ext cx="693385" cy="487203"/>
          </a:xfrm>
          <a:prstGeom prst="rect">
            <a:avLst/>
          </a:prstGeom>
        </p:spPr>
      </p:pic>
      <p:pic>
        <p:nvPicPr>
          <p:cNvPr id="13" name="Orange running person with circle/orbit."/>
          <p:cNvPicPr/>
          <p:nvPr/>
        </p:nvPicPr>
        <p:blipFill>
          <a:blip r:embed="rId10"/>
          <a:stretch>
            <a:fillRect/>
          </a:stretch>
        </p:blipFill>
        <p:spPr>
          <a:xfrm>
            <a:off x="6714020" y="3136974"/>
            <a:ext cx="710939" cy="514780"/>
          </a:xfrm>
          <a:prstGeom prst="rect">
            <a:avLst/>
          </a:prstGeom>
        </p:spPr>
      </p:pic>
      <p:pic>
        <p:nvPicPr>
          <p:cNvPr id="14" name="Orange star medal and ribbon with circle/orbit."/>
          <p:cNvPicPr/>
          <p:nvPr/>
        </p:nvPicPr>
        <p:blipFill>
          <a:blip r:embed="rId11"/>
          <a:stretch>
            <a:fillRect/>
          </a:stretch>
        </p:blipFill>
        <p:spPr>
          <a:xfrm>
            <a:off x="5791529" y="4002005"/>
            <a:ext cx="685605" cy="478010"/>
          </a:xfrm>
          <a:prstGeom prst="rect">
            <a:avLst/>
          </a:prstGeom>
        </p:spPr>
      </p:pic>
      <p:pic>
        <p:nvPicPr>
          <p:cNvPr id="15" name="Green folded-corner career-plan document with circle/orbit."/>
          <p:cNvPicPr/>
          <p:nvPr/>
        </p:nvPicPr>
        <p:blipFill>
          <a:blip r:embed="rId12"/>
          <a:stretch>
            <a:fillRect/>
          </a:stretch>
        </p:blipFill>
        <p:spPr>
          <a:xfrm>
            <a:off x="8673866" y="3121239"/>
            <a:ext cx="762784" cy="515464"/>
          </a:xfrm>
          <a:prstGeom prst="rect">
            <a:avLst/>
          </a:prstGeom>
        </p:spPr>
      </p:pic>
      <p:pic>
        <p:nvPicPr>
          <p:cNvPr id="16" name="Green heart with circle/orbit."/>
          <p:cNvPicPr/>
          <p:nvPr/>
        </p:nvPicPr>
        <p:blipFill>
          <a:blip r:embed="rId13"/>
          <a:stretch>
            <a:fillRect/>
          </a:stretch>
        </p:blipFill>
        <p:spPr>
          <a:xfrm>
            <a:off x="10481555" y="3131681"/>
            <a:ext cx="787982" cy="486883"/>
          </a:xfrm>
          <a:prstGeom prst="rect">
            <a:avLst/>
          </a:prstGeom>
        </p:spPr>
      </p:pic>
      <p:pic>
        <p:nvPicPr>
          <p:cNvPr id="17" name="Green three-person parent group with circle/orbit."/>
          <p:cNvPicPr/>
          <p:nvPr/>
        </p:nvPicPr>
        <p:blipFill>
          <a:blip r:embed="rId14"/>
          <a:stretch>
            <a:fillRect/>
          </a:stretch>
        </p:blipFill>
        <p:spPr>
          <a:xfrm>
            <a:off x="9121872" y="4106363"/>
            <a:ext cx="744206" cy="523288"/>
          </a:xfrm>
          <a:prstGeom prst="rect">
            <a:avLst/>
          </a:prstGeom>
        </p:spPr>
      </p:pic>
      <p:sp>
        <p:nvSpPr>
          <p:cNvPr id="18" name="Line 18"/>
          <p:cNvSpPr/>
          <p:nvPr/>
        </p:nvSpPr>
        <p:spPr>
          <a:xfrm>
            <a:off x="2201278" y="2570809"/>
            <a:ext cx="0" cy="238600"/>
          </a:xfrm>
          <a:prstGeom prst="line">
            <a:avLst/>
          </a:prstGeom>
          <a:noFill/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6088151" y="2547719"/>
            <a:ext cx="0" cy="238600"/>
          </a:xfrm>
          <a:prstGeom prst="line">
            <a:avLst/>
          </a:prstGeom>
          <a:noFill/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9851875" y="2563113"/>
            <a:ext cx="0" cy="238600"/>
          </a:xfrm>
          <a:prstGeom prst="line">
            <a:avLst/>
          </a:prstGeom>
          <a:noFill/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1262271" y="2555416"/>
            <a:ext cx="915916" cy="3309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靶心小一</a:t>
            </a:r>
            <a:endParaRPr lang="zh-CN" sz="1800"/>
          </a:p>
        </p:txBody>
      </p:sp>
      <p:sp>
        <p:nvSpPr>
          <p:cNvPr id="22" name="TextBox 22"/>
          <p:cNvSpPr txBox="1"/>
          <p:nvPr/>
        </p:nvSpPr>
        <p:spPr>
          <a:xfrm>
            <a:off x="2285943" y="2555416"/>
            <a:ext cx="1100639" cy="3309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30" b="1">
                <a:solidFill>
                  <a:srgbClr val="0036B7"/>
                </a:solidFill>
                <a:latin typeface="Microsoft YaHei"/>
                <a:ea typeface="Microsoft YaHei"/>
                <a:cs typeface="Microsoft YaHei"/>
              </a:rPr>
              <a:t>规则与归属</a:t>
            </a:r>
            <a:endParaRPr lang="zh-CN" sz="1630"/>
          </a:p>
        </p:txBody>
      </p:sp>
      <p:sp>
        <p:nvSpPr>
          <p:cNvPr id="23" name="TextBox 23"/>
          <p:cNvSpPr txBox="1"/>
          <p:nvPr/>
        </p:nvSpPr>
        <p:spPr>
          <a:xfrm>
            <a:off x="1162213" y="2932558"/>
            <a:ext cx="2208975" cy="2232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从“各划各的桨”到“同舟共济”</a:t>
            </a:r>
            <a:endParaRPr lang="zh-CN" sz="1150"/>
          </a:p>
        </p:txBody>
      </p:sp>
      <p:sp>
        <p:nvSpPr>
          <p:cNvPr id="24" name="TextBox 24"/>
          <p:cNvSpPr txBox="1"/>
          <p:nvPr/>
        </p:nvSpPr>
        <p:spPr>
          <a:xfrm>
            <a:off x="5179931" y="2540022"/>
            <a:ext cx="885129" cy="3309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靶心二</a:t>
            </a:r>
            <a:endParaRPr lang="zh-CN" sz="1800"/>
          </a:p>
        </p:txBody>
      </p:sp>
      <p:sp>
        <p:nvSpPr>
          <p:cNvPr id="25" name="TextBox 25"/>
          <p:cNvSpPr txBox="1"/>
          <p:nvPr/>
        </p:nvSpPr>
        <p:spPr>
          <a:xfrm>
            <a:off x="6180512" y="2547719"/>
            <a:ext cx="1123729" cy="3309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30" b="1">
                <a:solidFill>
                  <a:srgbClr val="F54F0B"/>
                </a:solidFill>
                <a:latin typeface="Microsoft YaHei"/>
                <a:ea typeface="Microsoft YaHei"/>
                <a:cs typeface="Microsoft YaHei"/>
              </a:rPr>
              <a:t>内驱与自信</a:t>
            </a:r>
            <a:endParaRPr lang="zh-CN" sz="1630"/>
          </a:p>
        </p:txBody>
      </p:sp>
      <p:sp>
        <p:nvSpPr>
          <p:cNvPr id="26" name="TextBox 26"/>
          <p:cNvSpPr txBox="1"/>
          <p:nvPr/>
        </p:nvSpPr>
        <p:spPr>
          <a:xfrm>
            <a:off x="5164538" y="2924861"/>
            <a:ext cx="2039646" cy="2232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从“要我学”到“我要学”</a:t>
            </a:r>
            <a:endParaRPr lang="zh-CN" sz="1150"/>
          </a:p>
        </p:txBody>
      </p:sp>
      <p:sp>
        <p:nvSpPr>
          <p:cNvPr id="27" name="TextBox 27"/>
          <p:cNvSpPr txBox="1"/>
          <p:nvPr/>
        </p:nvSpPr>
        <p:spPr>
          <a:xfrm>
            <a:off x="9043713" y="2547719"/>
            <a:ext cx="777375" cy="3309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靶心三</a:t>
            </a:r>
            <a:endParaRPr lang="zh-CN" sz="1800"/>
          </a:p>
        </p:txBody>
      </p:sp>
      <p:sp>
        <p:nvSpPr>
          <p:cNvPr id="28" name="TextBox 28"/>
          <p:cNvSpPr txBox="1"/>
          <p:nvPr/>
        </p:nvSpPr>
        <p:spPr>
          <a:xfrm>
            <a:off x="9928843" y="2547719"/>
            <a:ext cx="1223788" cy="3309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30" b="1">
                <a:solidFill>
                  <a:srgbClr val="008D72"/>
                </a:solidFill>
                <a:latin typeface="Microsoft YaHei"/>
                <a:ea typeface="Microsoft YaHei"/>
                <a:cs typeface="Microsoft YaHei"/>
              </a:rPr>
              <a:t>担当与规划</a:t>
            </a:r>
            <a:endParaRPr lang="zh-CN" sz="1630"/>
          </a:p>
        </p:txBody>
      </p:sp>
      <p:sp>
        <p:nvSpPr>
          <p:cNvPr id="29" name="TextBox 29"/>
          <p:cNvSpPr txBox="1"/>
          <p:nvPr/>
        </p:nvSpPr>
        <p:spPr>
          <a:xfrm>
            <a:off x="8959049" y="2901771"/>
            <a:ext cx="2108917" cy="2232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从“躲在后面”到“划向远方”</a:t>
            </a:r>
            <a:endParaRPr lang="zh-CN" sz="1150"/>
          </a:p>
        </p:txBody>
      </p:sp>
      <p:sp>
        <p:nvSpPr>
          <p:cNvPr id="30" name="TextBox 30"/>
          <p:cNvSpPr txBox="1"/>
          <p:nvPr/>
        </p:nvSpPr>
        <p:spPr>
          <a:xfrm>
            <a:off x="846646" y="3648358"/>
            <a:ext cx="962097" cy="2001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 b="1">
                <a:solidFill>
                  <a:srgbClr val="0035B8"/>
                </a:solidFill>
                <a:latin typeface="Microsoft YaHei"/>
                <a:ea typeface="Microsoft YaHei"/>
                <a:cs typeface="Microsoft YaHei"/>
              </a:rPr>
              <a:t>《氢舟公约》</a:t>
            </a:r>
            <a:endParaRPr lang="zh-CN" sz="1200"/>
          </a:p>
        </p:txBody>
      </p:sp>
      <p:sp>
        <p:nvSpPr>
          <p:cNvPr id="31" name="TextBox 31"/>
          <p:cNvSpPr txBox="1"/>
          <p:nvPr/>
        </p:nvSpPr>
        <p:spPr>
          <a:xfrm>
            <a:off x="846646" y="3840778"/>
            <a:ext cx="1015975" cy="14623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全员共订、动态修订</a:t>
            </a:r>
            <a:endParaRPr lang="zh-CN" sz="869"/>
          </a:p>
        </p:txBody>
      </p:sp>
      <p:sp>
        <p:nvSpPr>
          <p:cNvPr id="32" name="TextBox 32"/>
          <p:cNvSpPr txBox="1"/>
          <p:nvPr/>
        </p:nvSpPr>
        <p:spPr>
          <a:xfrm>
            <a:off x="2716962" y="3648358"/>
            <a:ext cx="923613" cy="2001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 b="1">
                <a:solidFill>
                  <a:srgbClr val="0035B8"/>
                </a:solidFill>
                <a:latin typeface="Microsoft YaHei"/>
                <a:ea typeface="Microsoft YaHei"/>
                <a:cs typeface="Microsoft YaHei"/>
              </a:rPr>
              <a:t>小队自主管理</a:t>
            </a:r>
            <a:endParaRPr lang="zh-CN" sz="1200"/>
          </a:p>
        </p:txBody>
      </p:sp>
      <p:sp>
        <p:nvSpPr>
          <p:cNvPr id="33" name="TextBox 33"/>
          <p:cNvSpPr txBox="1"/>
          <p:nvPr/>
        </p:nvSpPr>
        <p:spPr>
          <a:xfrm>
            <a:off x="2740053" y="3840778"/>
            <a:ext cx="854342" cy="14623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值日轮岗不断档</a:t>
            </a:r>
            <a:endParaRPr lang="zh-CN" sz="869"/>
          </a:p>
        </p:txBody>
      </p:sp>
      <p:sp>
        <p:nvSpPr>
          <p:cNvPr id="34" name="TextBox 34"/>
          <p:cNvSpPr txBox="1"/>
          <p:nvPr/>
        </p:nvSpPr>
        <p:spPr>
          <a:xfrm>
            <a:off x="2070433" y="4225616"/>
            <a:ext cx="638833" cy="1924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 b="1">
                <a:solidFill>
                  <a:srgbClr val="0035B8"/>
                </a:solidFill>
                <a:latin typeface="Microsoft YaHei"/>
                <a:ea typeface="Microsoft YaHei"/>
                <a:cs typeface="Microsoft YaHei"/>
              </a:rPr>
              <a:t>班级获评</a:t>
            </a:r>
            <a:endParaRPr lang="zh-CN" sz="1200"/>
          </a:p>
        </p:txBody>
      </p:sp>
      <p:sp>
        <p:nvSpPr>
          <p:cNvPr id="35" name="TextBox 35"/>
          <p:cNvSpPr txBox="1"/>
          <p:nvPr/>
        </p:nvSpPr>
        <p:spPr>
          <a:xfrm>
            <a:off x="2001162" y="4410339"/>
            <a:ext cx="1146820" cy="2309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70" b="1">
                <a:solidFill>
                  <a:srgbClr val="FF420C"/>
                </a:solidFill>
                <a:latin typeface="KaiTi"/>
                <a:ea typeface="KaiTi"/>
                <a:cs typeface="KaiTi"/>
              </a:rPr>
              <a:t>校级“文明班级”</a:t>
            </a:r>
            <a:endParaRPr lang="zh-CN" sz="1170"/>
          </a:p>
        </p:txBody>
      </p:sp>
      <p:sp>
        <p:nvSpPr>
          <p:cNvPr id="36" name="TextBox 36"/>
          <p:cNvSpPr txBox="1"/>
          <p:nvPr/>
        </p:nvSpPr>
        <p:spPr>
          <a:xfrm>
            <a:off x="4664247" y="3648358"/>
            <a:ext cx="1100639" cy="1847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90" b="1">
                <a:solidFill>
                  <a:srgbClr val="FF440C"/>
                </a:solidFill>
                <a:latin typeface="Microsoft YaHei"/>
                <a:ea typeface="Microsoft YaHei"/>
                <a:cs typeface="Microsoft YaHei"/>
              </a:rPr>
              <a:t>人人有“成长航线图”</a:t>
            </a:r>
            <a:endParaRPr lang="zh-CN" sz="890"/>
          </a:p>
        </p:txBody>
      </p:sp>
      <p:sp>
        <p:nvSpPr>
          <p:cNvPr id="37" name="TextBox 37"/>
          <p:cNvSpPr txBox="1"/>
          <p:nvPr/>
        </p:nvSpPr>
        <p:spPr>
          <a:xfrm>
            <a:off x="4810486" y="3840778"/>
            <a:ext cx="846646" cy="1539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月月有小目标</a:t>
            </a:r>
            <a:endParaRPr lang="zh-CN" sz="869"/>
          </a:p>
        </p:txBody>
      </p:sp>
      <p:sp>
        <p:nvSpPr>
          <p:cNvPr id="38" name="TextBox 38"/>
          <p:cNvSpPr txBox="1"/>
          <p:nvPr/>
        </p:nvSpPr>
        <p:spPr>
          <a:xfrm>
            <a:off x="6726983" y="3640661"/>
            <a:ext cx="700407" cy="1770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FF440C"/>
                </a:solidFill>
                <a:latin typeface="Microsoft YaHei"/>
                <a:ea typeface="Microsoft YaHei"/>
                <a:cs typeface="Microsoft YaHei"/>
              </a:rPr>
              <a:t>优质优良率</a:t>
            </a:r>
            <a:endParaRPr lang="zh-CN" sz="980"/>
          </a:p>
        </p:txBody>
      </p:sp>
      <p:sp>
        <p:nvSpPr>
          <p:cNvPr id="39" name="TextBox 39"/>
          <p:cNvSpPr txBox="1"/>
          <p:nvPr/>
        </p:nvSpPr>
        <p:spPr>
          <a:xfrm>
            <a:off x="6726983" y="3779203"/>
            <a:ext cx="700407" cy="1616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由62%提升至</a:t>
            </a:r>
            <a:endParaRPr lang="zh-CN" sz="869"/>
          </a:p>
        </p:txBody>
      </p:sp>
      <p:sp>
        <p:nvSpPr>
          <p:cNvPr id="40" name="TextBox 40"/>
          <p:cNvSpPr txBox="1"/>
          <p:nvPr/>
        </p:nvSpPr>
        <p:spPr>
          <a:xfrm>
            <a:off x="6803951" y="3902352"/>
            <a:ext cx="584955" cy="2616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 b="1">
                <a:solidFill>
                  <a:srgbClr val="FF440C"/>
                </a:solidFill>
                <a:latin typeface="Microsoft YaHei"/>
                <a:ea typeface="Microsoft YaHei"/>
                <a:cs typeface="Microsoft YaHei"/>
              </a:rPr>
              <a:t>81%</a:t>
            </a:r>
            <a:endParaRPr lang="zh-CN" sz="1900"/>
          </a:p>
        </p:txBody>
      </p:sp>
      <p:sp>
        <p:nvSpPr>
          <p:cNvPr id="41" name="TextBox 41"/>
          <p:cNvSpPr txBox="1"/>
          <p:nvPr/>
        </p:nvSpPr>
        <p:spPr>
          <a:xfrm>
            <a:off x="5726402" y="4425733"/>
            <a:ext cx="823555" cy="1770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FF440C"/>
                </a:solidFill>
                <a:latin typeface="Microsoft YaHei"/>
                <a:ea typeface="Microsoft YaHei"/>
                <a:cs typeface="Microsoft YaHei"/>
              </a:rPr>
              <a:t>各类比赛获奖</a:t>
            </a:r>
            <a:endParaRPr lang="zh-CN" sz="980"/>
          </a:p>
        </p:txBody>
      </p:sp>
      <p:sp>
        <p:nvSpPr>
          <p:cNvPr id="42" name="TextBox 42"/>
          <p:cNvSpPr txBox="1"/>
          <p:nvPr/>
        </p:nvSpPr>
        <p:spPr>
          <a:xfrm>
            <a:off x="5695615" y="4579668"/>
            <a:ext cx="923613" cy="2539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60" b="1">
                <a:solidFill>
                  <a:srgbClr val="FF420C"/>
                </a:solidFill>
                <a:latin typeface="KaiTi"/>
                <a:ea typeface="KaiTi"/>
                <a:cs typeface="KaiTi"/>
              </a:rPr>
              <a:t>30余人次</a:t>
            </a:r>
            <a:endParaRPr lang="zh-CN" sz="1660"/>
          </a:p>
        </p:txBody>
      </p:sp>
      <p:sp>
        <p:nvSpPr>
          <p:cNvPr id="43" name="TextBox 43"/>
          <p:cNvSpPr txBox="1"/>
          <p:nvPr/>
        </p:nvSpPr>
        <p:spPr>
          <a:xfrm>
            <a:off x="8520332" y="3632965"/>
            <a:ext cx="1077549" cy="1770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008B89"/>
                </a:solidFill>
                <a:latin typeface="Microsoft YaHei"/>
                <a:ea typeface="Microsoft YaHei"/>
                <a:cs typeface="Microsoft YaHei"/>
              </a:rPr>
              <a:t>人人有“我的2035”</a:t>
            </a:r>
            <a:endParaRPr lang="zh-CN" sz="950"/>
          </a:p>
        </p:txBody>
      </p:sp>
      <p:sp>
        <p:nvSpPr>
          <p:cNvPr id="44" name="TextBox 44"/>
          <p:cNvSpPr txBox="1"/>
          <p:nvPr/>
        </p:nvSpPr>
        <p:spPr>
          <a:xfrm>
            <a:off x="8697358" y="3809990"/>
            <a:ext cx="723497" cy="1539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生涯规划书</a:t>
            </a:r>
            <a:endParaRPr lang="zh-CN" sz="869"/>
          </a:p>
        </p:txBody>
      </p:sp>
      <p:sp>
        <p:nvSpPr>
          <p:cNvPr id="45" name="TextBox 45"/>
          <p:cNvSpPr txBox="1"/>
          <p:nvPr/>
        </p:nvSpPr>
        <p:spPr>
          <a:xfrm>
            <a:off x="10498404" y="3594481"/>
            <a:ext cx="754284" cy="1847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008B89"/>
                </a:solidFill>
                <a:latin typeface="Microsoft YaHei"/>
                <a:ea typeface="Microsoft YaHei"/>
                <a:cs typeface="Microsoft YaHei"/>
              </a:rPr>
              <a:t>志愿服务累计</a:t>
            </a:r>
            <a:endParaRPr lang="zh-CN" sz="980"/>
          </a:p>
        </p:txBody>
      </p:sp>
      <p:sp>
        <p:nvSpPr>
          <p:cNvPr id="46" name="TextBox 46"/>
          <p:cNvSpPr txBox="1"/>
          <p:nvPr/>
        </p:nvSpPr>
        <p:spPr>
          <a:xfrm>
            <a:off x="10475314" y="3756113"/>
            <a:ext cx="838949" cy="23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20" b="1">
                <a:solidFill>
                  <a:srgbClr val="FF420C"/>
                </a:solidFill>
                <a:latin typeface="KaiTi"/>
                <a:ea typeface="KaiTi"/>
                <a:cs typeface="KaiTi"/>
              </a:rPr>
              <a:t>超200小时</a:t>
            </a:r>
            <a:endParaRPr lang="zh-CN" sz="1420"/>
          </a:p>
        </p:txBody>
      </p:sp>
      <p:sp>
        <p:nvSpPr>
          <p:cNvPr id="47" name="TextBox 47"/>
          <p:cNvSpPr txBox="1"/>
          <p:nvPr/>
        </p:nvSpPr>
        <p:spPr>
          <a:xfrm>
            <a:off x="9782604" y="4225616"/>
            <a:ext cx="838949" cy="1770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40" b="1">
                <a:solidFill>
                  <a:srgbClr val="008B89"/>
                </a:solidFill>
                <a:latin typeface="Microsoft YaHei"/>
                <a:ea typeface="Microsoft YaHei"/>
                <a:cs typeface="Microsoft YaHei"/>
              </a:rPr>
              <a:t>家长沙龙出勤率</a:t>
            </a:r>
            <a:endParaRPr lang="zh-CN" sz="940"/>
          </a:p>
        </p:txBody>
      </p:sp>
      <p:sp>
        <p:nvSpPr>
          <p:cNvPr id="48" name="TextBox 48"/>
          <p:cNvSpPr txBox="1"/>
          <p:nvPr/>
        </p:nvSpPr>
        <p:spPr>
          <a:xfrm>
            <a:off x="9859572" y="4402642"/>
            <a:ext cx="746587" cy="14623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4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由不足六成升至</a:t>
            </a:r>
            <a:endParaRPr lang="zh-CN" sz="840"/>
          </a:p>
        </p:txBody>
      </p:sp>
      <p:sp>
        <p:nvSpPr>
          <p:cNvPr id="49" name="TextBox 49"/>
          <p:cNvSpPr txBox="1"/>
          <p:nvPr/>
        </p:nvSpPr>
        <p:spPr>
          <a:xfrm>
            <a:off x="9874965" y="4525791"/>
            <a:ext cx="746587" cy="2309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20" b="1">
                <a:solidFill>
                  <a:srgbClr val="FF420C"/>
                </a:solidFill>
                <a:latin typeface="KaiTi"/>
                <a:ea typeface="KaiTi"/>
                <a:cs typeface="KaiTi"/>
              </a:rPr>
              <a:t>九成以上</a:t>
            </a:r>
            <a:endParaRPr lang="zh-CN" sz="14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