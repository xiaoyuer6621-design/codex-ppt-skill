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4458950" cy="8143875" type="custom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-master-work-service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-master-work-service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2acf4bcab59a7f5.png"/>
  <Relationship Id="rId3" Type="http://schemas.openxmlformats.org/officeDocument/2006/relationships/image" Target="../media/image_667fb431f05975c1.png"/>
  <Relationship Id="rId4" Type="http://schemas.openxmlformats.org/officeDocument/2006/relationships/image" Target="../media/image_46d93cb152c1d6ad.png"/>
  <Relationship Id="rId5" Type="http://schemas.openxmlformats.org/officeDocument/2006/relationships/image" Target="../media/image_5c0048d2fa88a5d3.png"/>
  <Relationship Id="rId6" Type="http://schemas.openxmlformats.org/officeDocument/2006/relationships/image" Target="../media/image_31076d88a037941c.png"/>
  <Relationship Id="rId7" Type="http://schemas.openxmlformats.org/officeDocument/2006/relationships/image" Target="../media/image_440dd2c51ab33793.png"/>
  <Relationship Id="rId8" Type="http://schemas.openxmlformats.org/officeDocument/2006/relationships/image" Target="../media/image_cddab0ab8013fd41.png"/>
  <Relationship Id="rId9" Type="http://schemas.openxmlformats.org/officeDocument/2006/relationships/image" Target="../media/image_69fa3a808491f184.png"/>
  <Relationship Id="rId10" Type="http://schemas.openxmlformats.org/officeDocument/2006/relationships/image" Target="../media/image_cddab0ab8013fd41.png"/>
  <Relationship Id="rId11" Type="http://schemas.openxmlformats.org/officeDocument/2006/relationships/image" Target="../media/image_8fcf5694adb0fd19.png"/>
  <Relationship Id="rId12" Type="http://schemas.openxmlformats.org/officeDocument/2006/relationships/image" Target="../media/image_cddab0ab8013fd41.png"/>
  <Relationship Id="rId13" Type="http://schemas.openxmlformats.org/officeDocument/2006/relationships/image" Target="../media/image_de8174402911ec8d.png"/>
  <Relationship Id="rId14" Type="http://schemas.openxmlformats.org/officeDocument/2006/relationships/image" Target="../media/image_cddab0ab8013fd41.png"/>
  <Relationship Id="rId15" Type="http://schemas.openxmlformats.org/officeDocument/2006/relationships/image" Target="../media/image_f2aea9008c7cb2c8.png"/>
  <Relationship Id="rId16" Type="http://schemas.openxmlformats.org/officeDocument/2006/relationships/image" Target="../media/image_3920cb07ccd89319.png"/>
  <Relationship Id="rId17" Type="http://schemas.openxmlformats.org/officeDocument/2006/relationships/image" Target="../media/image_3fc4edd3686c38c8.png"/>
  <Relationship Id="rId18" Type="http://schemas.openxmlformats.org/officeDocument/2006/relationships/image" Target="../media/image_deed378a4ba50a54.png"/>
  <Relationship Id="rId19" Type="http://schemas.openxmlformats.org/officeDocument/2006/relationships/image" Target="../media/image_e830c215b2e55ed4.png"/>
  <Relationship Id="rId20" Type="http://schemas.openxmlformats.org/officeDocument/2006/relationships/image" Target="../media/image_3fc4edd3686c38c8.png"/>
  <Relationship Id="rId21" Type="http://schemas.openxmlformats.org/officeDocument/2006/relationships/image" Target="../media/image_376618733505e481.png"/>
  <Relationship Id="rId22" Type="http://schemas.openxmlformats.org/officeDocument/2006/relationships/image" Target="../media/image_239bfbf34727773f.png"/>
  <Relationship Id="rId23" Type="http://schemas.openxmlformats.org/officeDocument/2006/relationships/image" Target="../media/image_3fc4edd3686c38c8.png"/>
  <Relationship Id="rId24" Type="http://schemas.openxmlformats.org/officeDocument/2006/relationships/image" Target="../media/image_a0cc668be32d44ce.png"/>
  <Relationship Id="rId25" Type="http://schemas.openxmlformats.org/officeDocument/2006/relationships/image" Target="../media/image_18d92b6742bbbd2c.png"/>
  <Relationship Id="rId26" Type="http://schemas.openxmlformats.org/officeDocument/2006/relationships/image" Target="../media/image_3fc4edd3686c38c8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source-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58950" cy="8143875"/>
          </a:xfrm>
          <a:prstGeom prst="rect">
            <a:avLst/>
          </a:prstGeom>
        </p:spPr>
      </p:pic>
      <p:grpSp>
        <p:nvGrpSpPr>
          <p:cNvPr id="19" name="navigation-header"/>
          <p:cNvGrpSpPr/>
          <p:nvPr/>
        </p:nvGrpSpPr>
        <p:grpSpPr>
          <a:xfrm>
            <a:off x="438150" y="101600"/>
            <a:ext cx="13780592" cy="876300"/>
            <a:chOff x="438150" y="101600"/>
            <a:chExt cx="13780592" cy="876300"/>
          </a:xfrm>
        </p:grpSpPr>
        <p:sp>
          <p:nvSpPr>
            <p:cNvPr id="3" name="TextBox 3"/>
            <p:cNvSpPr txBox="1"/>
            <p:nvPr/>
          </p:nvSpPr>
          <p:spPr>
            <a:xfrm>
              <a:off x="438150" y="101600"/>
              <a:ext cx="2598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rgbClr val="FFFFFF"/>
                  </a:solidFill>
                  <a:latin typeface="KaiTi"/>
                  <a:ea typeface="KaiTi"/>
                  <a:cs typeface="KaiTi"/>
                </a:rPr>
                <a:t>工作服务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4050208" y="219075"/>
              <a:ext cx="10168534" cy="426339"/>
              <a:chOff x="4050208" y="219075"/>
              <a:chExt cx="10168534" cy="426339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4050208" y="219075"/>
                <a:ext cx="1195984" cy="426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rgbClr val="0B0B0B"/>
                    </a:solidFill>
                    <a:latin typeface="+mn-lt"/>
                    <a:ea typeface="+mn-ea"/>
                    <a:cs typeface="+mn-cs"/>
                  </a:rPr>
                  <a:t>风华正茂</a:t>
                </a: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5564683" y="219075"/>
                <a:ext cx="1195984" cy="426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rgbClr val="0B0B0B"/>
                    </a:solidFill>
                    <a:latin typeface="+mn-lt"/>
                    <a:ea typeface="+mn-ea"/>
                    <a:cs typeface="+mn-cs"/>
                  </a:rPr>
                  <a:t>初心向党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022008" y="219075"/>
                <a:ext cx="1195984" cy="426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rgbClr val="0B0B0B"/>
                    </a:solidFill>
                    <a:latin typeface="+mn-lt"/>
                    <a:ea typeface="+mn-ea"/>
                    <a:cs typeface="+mn-cs"/>
                  </a:rPr>
                  <a:t>学海砺行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526958" y="219075"/>
                <a:ext cx="1195984" cy="426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rgbClr val="F16A16"/>
                    </a:solidFill>
                    <a:latin typeface="+mn-lt"/>
                    <a:ea typeface="+mn-ea"/>
                    <a:cs typeface="+mn-cs"/>
                  </a:rPr>
                  <a:t>担当有为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060483" y="219075"/>
                <a:ext cx="1195984" cy="426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rgbClr val="0B0B0B"/>
                    </a:solidFill>
                    <a:latin typeface="+mn-lt"/>
                    <a:ea typeface="+mn-ea"/>
                    <a:cs typeface="+mn-cs"/>
                  </a:rPr>
                  <a:t>以趣润心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565433" y="219075"/>
                <a:ext cx="1195984" cy="426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rgbClr val="0B0B0B"/>
                    </a:solidFill>
                    <a:latin typeface="+mn-lt"/>
                    <a:ea typeface="+mn-ea"/>
                    <a:cs typeface="+mn-cs"/>
                  </a:rPr>
                  <a:t>志愿同行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022758" y="219075"/>
                <a:ext cx="1195984" cy="426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rgbClr val="0B0B0B"/>
                    </a:solidFill>
                    <a:latin typeface="+mn-lt"/>
                    <a:ea typeface="+mn-ea"/>
                    <a:cs typeface="+mn-cs"/>
                  </a:rPr>
                  <a:t>笃行致远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419725" y="180975"/>
              <a:ext cx="7486650" cy="419100"/>
              <a:chOff x="5419725" y="180975"/>
              <a:chExt cx="7486650" cy="419100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5419725" y="180975"/>
                <a:ext cx="9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">
                    <a:moveTo>
                      <a:pt x="0" y="0"/>
                    </a:moveTo>
                    <a:lnTo>
                      <a:pt x="0" y="419100"/>
                    </a:lnTo>
                  </a:path>
                </a:pathLst>
              </a:custGeom>
              <a:noFill/>
              <a:ln w="12382">
                <a:solidFill>
                  <a:srgbClr val="D5130E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6877050" y="180975"/>
                <a:ext cx="9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">
                    <a:moveTo>
                      <a:pt x="0" y="0"/>
                    </a:moveTo>
                    <a:lnTo>
                      <a:pt x="0" y="419100"/>
                    </a:lnTo>
                  </a:path>
                </a:pathLst>
              </a:custGeom>
              <a:noFill/>
              <a:ln w="12382">
                <a:solidFill>
                  <a:srgbClr val="D5130E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8353425" y="180975"/>
                <a:ext cx="9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">
                    <a:moveTo>
                      <a:pt x="0" y="0"/>
                    </a:moveTo>
                    <a:lnTo>
                      <a:pt x="0" y="419100"/>
                    </a:lnTo>
                  </a:path>
                </a:pathLst>
              </a:custGeom>
              <a:noFill/>
              <a:ln w="12382">
                <a:solidFill>
                  <a:srgbClr val="D5130E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9886950" y="180975"/>
                <a:ext cx="9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">
                    <a:moveTo>
                      <a:pt x="0" y="0"/>
                    </a:moveTo>
                    <a:lnTo>
                      <a:pt x="0" y="419100"/>
                    </a:lnTo>
                  </a:path>
                </a:pathLst>
              </a:custGeom>
              <a:noFill/>
              <a:ln w="12382">
                <a:solidFill>
                  <a:srgbClr val="D5130E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1439525" y="180975"/>
                <a:ext cx="9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">
                    <a:moveTo>
                      <a:pt x="0" y="0"/>
                    </a:moveTo>
                    <a:lnTo>
                      <a:pt x="0" y="419100"/>
                    </a:lnTo>
                  </a:path>
                </a:pathLst>
              </a:custGeom>
              <a:noFill/>
              <a:ln w="12382">
                <a:solidFill>
                  <a:srgbClr val="D5130E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2896850" y="180975"/>
                <a:ext cx="9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">
                    <a:moveTo>
                      <a:pt x="0" y="0"/>
                    </a:moveTo>
                    <a:lnTo>
                      <a:pt x="0" y="419100"/>
                    </a:lnTo>
                  </a:path>
                </a:pathLst>
              </a:custGeom>
              <a:noFill/>
              <a:ln w="12382">
                <a:solidFill>
                  <a:srgbClr val="D5130E"/>
                </a:solidFill>
              </a:ln>
            </p:spPr>
          </p:sp>
        </p:grpSp>
      </p:grpSp>
      <p:pic>
        <p:nvPicPr>
          <p:cNvPr id="20" name="title-gold-orna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575" y="1847850"/>
            <a:ext cx="8515350" cy="85725"/>
          </a:xfrm>
          <a:prstGeom prst="rect">
            <a:avLst/>
          </a:prstGeom>
        </p:spPr>
      </p:pic>
      <p:grpSp>
        <p:nvGrpSpPr>
          <p:cNvPr id="22" name="page-title"/>
          <p:cNvGrpSpPr/>
          <p:nvPr/>
        </p:nvGrpSpPr>
        <p:grpSpPr>
          <a:xfrm>
            <a:off x="3457575" y="1060450"/>
            <a:ext cx="8913876" cy="933450"/>
            <a:chOff x="3457575" y="1060450"/>
            <a:chExt cx="8913876" cy="933450"/>
          </a:xfrm>
        </p:grpSpPr>
        <p:sp>
          <p:nvSpPr>
            <p:cNvPr id="21" name="TextBox 21"/>
            <p:cNvSpPr txBox="1"/>
            <p:nvPr/>
          </p:nvSpPr>
          <p:spPr>
            <a:xfrm>
              <a:off x="3457575" y="1060450"/>
              <a:ext cx="891387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rgbClr val="D5130E"/>
                  </a:solidFill>
                  <a:latin typeface="KaiTi"/>
                  <a:ea typeface="KaiTi"/>
                  <a:cs typeface="KaiTi"/>
                </a:rPr>
                <a:t>服务集体，在担当中收获成长</a:t>
              </a:r>
            </a:p>
          </p:txBody>
        </p:sp>
      </p:grpSp>
      <p:pic>
        <p:nvPicPr>
          <p:cNvPr id="23" name="gold-reading-arrow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2247900"/>
            <a:ext cx="1190625" cy="552450"/>
          </a:xfrm>
          <a:prstGeom prst="rect">
            <a:avLst/>
          </a:prstGeom>
        </p:spPr>
      </p:pic>
      <p:pic>
        <p:nvPicPr>
          <p:cNvPr id="24" name="gold-reading-arrow-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2247900"/>
            <a:ext cx="1190625" cy="552450"/>
          </a:xfrm>
          <a:prstGeom prst="rect">
            <a:avLst/>
          </a:prstGeom>
        </p:spPr>
      </p:pic>
      <p:pic>
        <p:nvPicPr>
          <p:cNvPr id="25" name="gold-reading-arrow-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5075" y="2247900"/>
            <a:ext cx="1190625" cy="552450"/>
          </a:xfrm>
          <a:prstGeom prst="rect">
            <a:avLst/>
          </a:prstGeom>
        </p:spPr>
      </p:pic>
      <p:grpSp>
        <p:nvGrpSpPr>
          <p:cNvPr id="39" name="duties-column"/>
          <p:cNvGrpSpPr/>
          <p:nvPr/>
        </p:nvGrpSpPr>
        <p:grpSpPr>
          <a:xfrm>
            <a:off x="495300" y="1952625"/>
            <a:ext cx="3394938" cy="3190875"/>
            <a:chOff x="495300" y="1952625"/>
            <a:chExt cx="3394938" cy="3190875"/>
          </a:xfrm>
        </p:grpSpPr>
        <p:sp>
          <p:nvSpPr>
            <p:cNvPr id="26" name="Rectangle 26"/>
            <p:cNvSpPr/>
            <p:nvPr/>
          </p:nvSpPr>
          <p:spPr>
            <a:xfrm>
              <a:off x="495300" y="2762250"/>
              <a:ext cx="3286125" cy="2381250"/>
            </a:xfrm>
            <a:prstGeom prst="roundRect">
              <a:avLst>
                <a:gd name="adj" fmla="val 14000"/>
              </a:avLst>
            </a:prstGeom>
            <a:solidFill>
              <a:srgbClr val="FCFCFA">
                <a:alpha val="92000"/>
              </a:srgbClr>
            </a:solidFill>
            <a:ln w="14288">
              <a:solidFill>
                <a:srgbClr val="F8CD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428750" y="1952625"/>
              <a:ext cx="1247775" cy="1257300"/>
            </a:xfrm>
            <a:prstGeom prst="ellipse">
              <a:avLst/>
            </a:prstGeom>
            <a:solidFill>
              <a:srgbClr val="CE9690">
                <a:alpha val="20000"/>
              </a:srgbClr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90675" y="2171700"/>
              <a:ext cx="904875" cy="895350"/>
            </a:xfrm>
            <a:prstGeom prst="ellipse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6121" y="2967990"/>
              <a:ext cx="2077783" cy="56007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1333208" y="3038475"/>
              <a:ext cx="134360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SimSun"/>
                  <a:ea typeface="SimSun"/>
                  <a:cs typeface="SimSun"/>
                </a:rPr>
                <a:t>岗位职责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14375" y="3781425"/>
              <a:ext cx="114300" cy="742950"/>
              <a:chOff x="714375" y="3781425"/>
              <a:chExt cx="114300" cy="74295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14375" y="3781425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714375" y="4095750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714375" y="4410075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906932" y="3727450"/>
              <a:ext cx="2983306" cy="916153"/>
              <a:chOff x="906932" y="3727450"/>
              <a:chExt cx="2983306" cy="916153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06932" y="3727450"/>
                <a:ext cx="2983306" cy="287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班级体育委员（兼文艺艺术委员）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06932" y="4041775"/>
                <a:ext cx="2191741" cy="287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经济学院团委组织部成员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06932" y="4356100"/>
                <a:ext cx="2587523" cy="287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经济学院学生会体育部副部长</a:t>
                </a:r>
              </a:p>
            </p:txBody>
          </p:sp>
        </p:grpSp>
      </p:grpSp>
      <p:grpSp>
        <p:nvGrpSpPr>
          <p:cNvPr id="51" name="activities-column"/>
          <p:cNvGrpSpPr/>
          <p:nvPr/>
        </p:nvGrpSpPr>
        <p:grpSpPr>
          <a:xfrm>
            <a:off x="4095750" y="1914525"/>
            <a:ext cx="3255492" cy="3228975"/>
            <a:chOff x="4095750" y="1914525"/>
            <a:chExt cx="3255492" cy="3228975"/>
          </a:xfrm>
        </p:grpSpPr>
        <p:sp>
          <p:nvSpPr>
            <p:cNvPr id="40" name="Rectangle 40"/>
            <p:cNvSpPr/>
            <p:nvPr/>
          </p:nvSpPr>
          <p:spPr>
            <a:xfrm>
              <a:off x="4095750" y="2762250"/>
              <a:ext cx="3171825" cy="2381250"/>
            </a:xfrm>
            <a:prstGeom prst="roundRect">
              <a:avLst>
                <a:gd name="adj" fmla="val 14000"/>
              </a:avLst>
            </a:prstGeom>
            <a:solidFill>
              <a:srgbClr val="FCFCFA">
                <a:alpha val="92000"/>
              </a:srgbClr>
            </a:solidFill>
            <a:ln w="14288">
              <a:solidFill>
                <a:srgbClr val="F8CD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5019675" y="1914525"/>
              <a:ext cx="1228725" cy="1247775"/>
            </a:xfrm>
            <a:prstGeom prst="ellipse">
              <a:avLst/>
            </a:prstGeom>
            <a:solidFill>
              <a:srgbClr val="CE9690">
                <a:alpha val="20000"/>
              </a:srgbClr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1125" y="2124075"/>
              <a:ext cx="895350" cy="904875"/>
            </a:xfrm>
            <a:prstGeom prst="ellipse">
              <a:avLst/>
            </a:prstGeom>
          </p:spPr>
        </p:pic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76096" y="2920365"/>
              <a:ext cx="2077783" cy="56007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4943183" y="2990850"/>
              <a:ext cx="134360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SimSun"/>
                  <a:ea typeface="SimSun"/>
                  <a:cs typeface="SimSun"/>
                </a:rPr>
                <a:t>组织活动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4333875" y="3581400"/>
              <a:ext cx="114300" cy="828675"/>
              <a:chOff x="4333875" y="3581400"/>
              <a:chExt cx="114300" cy="828675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4333875" y="3581400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4333875" y="4295775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</p:grpSp>
        <p:grpSp>
          <p:nvGrpSpPr>
            <p:cNvPr id="50" name="Group 50"/>
            <p:cNvGrpSpPr/>
            <p:nvPr/>
          </p:nvGrpSpPr>
          <p:grpSpPr>
            <a:xfrm>
              <a:off x="4535957" y="3536950"/>
              <a:ext cx="2815285" cy="1459078"/>
              <a:chOff x="4535957" y="3536950"/>
              <a:chExt cx="2815285" cy="1459078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4535957" y="3536950"/>
                <a:ext cx="2815285" cy="7447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组织策划新生才艺大赛、</a:t>
                </a:r>
                <a:b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校运会、理工杯、趣味运动会</a:t>
                </a:r>
                <a:b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等活动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535957" y="4251325"/>
                <a:ext cx="2815285" cy="7447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及时收集同学意见，协助解决</a:t>
                </a:r>
                <a:b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学习、生活或活动参与中的</a:t>
                </a:r>
                <a:b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实际问题</a:t>
                </a:r>
              </a:p>
            </p:txBody>
          </p:sp>
        </p:grpSp>
      </p:grpSp>
      <p:grpSp>
        <p:nvGrpSpPr>
          <p:cNvPr id="65" name="achievements-column"/>
          <p:cNvGrpSpPr/>
          <p:nvPr/>
        </p:nvGrpSpPr>
        <p:grpSpPr>
          <a:xfrm>
            <a:off x="7553325" y="1914525"/>
            <a:ext cx="3255492" cy="3228975"/>
            <a:chOff x="7553325" y="1914525"/>
            <a:chExt cx="3255492" cy="3228975"/>
          </a:xfrm>
        </p:grpSpPr>
        <p:sp>
          <p:nvSpPr>
            <p:cNvPr id="52" name="Rectangle 52"/>
            <p:cNvSpPr/>
            <p:nvPr/>
          </p:nvSpPr>
          <p:spPr>
            <a:xfrm>
              <a:off x="7553325" y="2762250"/>
              <a:ext cx="3162300" cy="2381250"/>
            </a:xfrm>
            <a:prstGeom prst="roundRect">
              <a:avLst>
                <a:gd name="adj" fmla="val 14000"/>
              </a:avLst>
            </a:prstGeom>
            <a:solidFill>
              <a:srgbClr val="FCFCFA">
                <a:alpha val="92000"/>
              </a:srgbClr>
            </a:solidFill>
            <a:ln w="14288">
              <a:solidFill>
                <a:srgbClr val="F8CD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458200" y="1914525"/>
              <a:ext cx="1257300" cy="1247775"/>
            </a:xfrm>
            <a:prstGeom prst="ellipse">
              <a:avLst/>
            </a:prstGeom>
            <a:solidFill>
              <a:srgbClr val="CE9690">
                <a:alpha val="20000"/>
              </a:srgbClr>
            </a:solidFill>
            <a:ln>
              <a:noFill/>
            </a:ln>
          </p:spPr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629650" y="2124075"/>
              <a:ext cx="904875" cy="904875"/>
            </a:xfrm>
            <a:prstGeom prst="ellipse">
              <a:avLst/>
            </a:prstGeom>
          </p:spPr>
        </p:pic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14240" y="2920365"/>
              <a:ext cx="2088070" cy="560070"/>
            </a:xfrm>
            <a:prstGeom prst="rect">
              <a:avLst/>
            </a:prstGeom>
          </p:spPr>
        </p:pic>
        <p:sp>
          <p:nvSpPr>
            <p:cNvPr id="56" name="TextBox 56"/>
            <p:cNvSpPr txBox="1"/>
            <p:nvPr/>
          </p:nvSpPr>
          <p:spPr>
            <a:xfrm>
              <a:off x="8386470" y="2990850"/>
              <a:ext cx="134360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SimSun"/>
                  <a:ea typeface="SimSun"/>
                  <a:cs typeface="SimSun"/>
                </a:rPr>
                <a:t>成长收获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800975" y="3590925"/>
              <a:ext cx="114300" cy="914400"/>
              <a:chOff x="7800975" y="3590925"/>
              <a:chExt cx="114300" cy="914400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7800975" y="3590925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  <p:sp>
            <p:nvSpPr>
              <p:cNvPr id="58" name="Ellipse 58"/>
              <p:cNvSpPr/>
              <p:nvPr/>
            </p:nvSpPr>
            <p:spPr>
              <a:xfrm>
                <a:off x="7800975" y="4086225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7800975" y="4391025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</p:grpSp>
        <p:grpSp>
          <p:nvGrpSpPr>
            <p:cNvPr id="64" name="Group 64"/>
            <p:cNvGrpSpPr/>
            <p:nvPr/>
          </p:nvGrpSpPr>
          <p:grpSpPr>
            <a:xfrm>
              <a:off x="7993532" y="3536950"/>
              <a:ext cx="2815285" cy="1525753"/>
              <a:chOff x="7993532" y="3536950"/>
              <a:chExt cx="2815285" cy="1525753"/>
            </a:xfrm>
          </p:grpSpPr>
          <p:sp>
            <p:nvSpPr>
              <p:cNvPr id="61" name="TextBox 61"/>
              <p:cNvSpPr txBox="1"/>
              <p:nvPr/>
            </p:nvSpPr>
            <p:spPr>
              <a:xfrm>
                <a:off x="7993532" y="3536950"/>
                <a:ext cx="2069496" cy="525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获 2024—2025 学年</a:t>
                </a:r>
                <a:b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优秀学生干部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93532" y="4032250"/>
                <a:ext cx="2148284" cy="287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获 2024 年优秀团员称号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993532" y="4337050"/>
                <a:ext cx="2815285" cy="725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725"/>
                  </a:lnSpc>
                </a:pP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在服务同学、协作沟通和</a:t>
                </a:r>
                <a:b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完成具体任务的过程中，逐步</a:t>
                </a:r>
                <a:b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增强责任意识与集体观念</a:t>
                </a:r>
              </a:p>
            </p:txBody>
          </p:sp>
        </p:grpSp>
      </p:grpSp>
      <p:grpSp>
        <p:nvGrpSpPr>
          <p:cNvPr id="81" name="capabilities-column"/>
          <p:cNvGrpSpPr/>
          <p:nvPr/>
        </p:nvGrpSpPr>
        <p:grpSpPr>
          <a:xfrm>
            <a:off x="11010900" y="1924050"/>
            <a:ext cx="3086100" cy="3219450"/>
            <a:chOff x="11010900" y="1924050"/>
            <a:chExt cx="3086100" cy="3219450"/>
          </a:xfrm>
        </p:grpSpPr>
        <p:sp>
          <p:nvSpPr>
            <p:cNvPr id="66" name="Rectangle 66"/>
            <p:cNvSpPr/>
            <p:nvPr/>
          </p:nvSpPr>
          <p:spPr>
            <a:xfrm>
              <a:off x="11010900" y="2762250"/>
              <a:ext cx="3086100" cy="2381250"/>
            </a:xfrm>
            <a:prstGeom prst="roundRect">
              <a:avLst>
                <a:gd name="adj" fmla="val 14000"/>
              </a:avLst>
            </a:prstGeom>
            <a:solidFill>
              <a:srgbClr val="FCFCFA">
                <a:alpha val="92000"/>
              </a:srgbClr>
            </a:solidFill>
            <a:ln w="14288">
              <a:solidFill>
                <a:srgbClr val="F8CD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1953875" y="1924050"/>
              <a:ext cx="1257300" cy="1257300"/>
            </a:xfrm>
            <a:prstGeom prst="ellipse">
              <a:avLst/>
            </a:prstGeom>
            <a:solidFill>
              <a:srgbClr val="CE9690">
                <a:alpha val="20000"/>
              </a:srgbClr>
            </a:solidFill>
            <a:ln>
              <a:noFill/>
            </a:ln>
          </p:spPr>
        </p:sp>
        <p:pic>
          <p:nvPicPr>
            <p:cNvPr id="68" name="Image 6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125325" y="2124075"/>
              <a:ext cx="904875" cy="904875"/>
            </a:xfrm>
            <a:prstGeom prst="ellipse">
              <a:avLst/>
            </a:prstGeom>
          </p:spPr>
        </p:pic>
        <p:pic>
          <p:nvPicPr>
            <p:cNvPr id="69" name="Image 6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509058" y="2947035"/>
              <a:ext cx="2108740" cy="573405"/>
            </a:xfrm>
            <a:prstGeom prst="rect">
              <a:avLst/>
            </a:prstGeom>
          </p:spPr>
        </p:pic>
        <p:sp>
          <p:nvSpPr>
            <p:cNvPr id="70" name="TextBox 70"/>
            <p:cNvSpPr txBox="1"/>
            <p:nvPr/>
          </p:nvSpPr>
          <p:spPr>
            <a:xfrm>
              <a:off x="11891670" y="3019425"/>
              <a:ext cx="134360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SimSun"/>
                  <a:ea typeface="SimSun"/>
                  <a:cs typeface="SimSun"/>
                </a:rPr>
                <a:t>能力成长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11477625" y="3657600"/>
              <a:ext cx="114300" cy="1057275"/>
              <a:chOff x="11477625" y="3657600"/>
              <a:chExt cx="114300" cy="1057275"/>
            </a:xfrm>
          </p:grpSpPr>
          <p:sp>
            <p:nvSpPr>
              <p:cNvPr id="71" name="Ellipse 71"/>
              <p:cNvSpPr/>
              <p:nvPr/>
            </p:nvSpPr>
            <p:spPr>
              <a:xfrm>
                <a:off x="11477625" y="3657600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11477625" y="3971925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11477625" y="4286250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1477625" y="4600575"/>
                <a:ext cx="114300" cy="114300"/>
              </a:xfrm>
              <a:prstGeom prst="ellipse">
                <a:avLst/>
              </a:prstGeom>
              <a:solidFill>
                <a:srgbClr val="BE0C11"/>
              </a:solidFill>
              <a:ln>
                <a:noFill/>
              </a:ln>
            </p:spPr>
          </p:sp>
        </p:grpSp>
        <p:grpSp>
          <p:nvGrpSpPr>
            <p:cNvPr id="80" name="Group 80"/>
            <p:cNvGrpSpPr/>
            <p:nvPr/>
          </p:nvGrpSpPr>
          <p:grpSpPr>
            <a:xfrm>
              <a:off x="11651132" y="3613150"/>
              <a:ext cx="2191741" cy="1230478"/>
              <a:chOff x="11651132" y="3613150"/>
              <a:chExt cx="2191741" cy="1230478"/>
            </a:xfrm>
          </p:grpSpPr>
          <p:sp>
            <p:nvSpPr>
              <p:cNvPr id="76" name="TextBox 76"/>
              <p:cNvSpPr txBox="1"/>
              <p:nvPr/>
            </p:nvSpPr>
            <p:spPr>
              <a:xfrm>
                <a:off x="11651132" y="3613150"/>
                <a:ext cx="1598066" cy="287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提升组织协调能力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1651132" y="3927475"/>
                <a:ext cx="1598066" cy="287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增强沟通表达能力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11651132" y="4241800"/>
                <a:ext cx="1598066" cy="287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锻炼解决问题能力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1651132" y="4556125"/>
                <a:ext cx="2191741" cy="287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70" dirty="0">
                    <a:solidFill>
                      <a:srgbClr val="111111"/>
                    </a:solidFill>
                    <a:latin typeface="+mn-lt"/>
                    <a:ea typeface="+mn-ea"/>
                    <a:cs typeface="+mn-cs"/>
                  </a:rPr>
                  <a:t>培养责任意识与集体观念</a:t>
                </a:r>
              </a:p>
            </p:txBody>
          </p:sp>
        </p:grpSp>
      </p:grpSp>
      <p:grpSp>
        <p:nvGrpSpPr>
          <p:cNvPr id="86" name="photo-collective-activity"/>
          <p:cNvGrpSpPr/>
          <p:nvPr/>
        </p:nvGrpSpPr>
        <p:grpSpPr>
          <a:xfrm>
            <a:off x="466725" y="5457825"/>
            <a:ext cx="3514725" cy="1979771"/>
            <a:chOff x="466725" y="5457825"/>
            <a:chExt cx="3514725" cy="1979771"/>
          </a:xfrm>
        </p:grpSpPr>
        <p:pic>
          <p:nvPicPr>
            <p:cNvPr id="82" name="Image 8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6725" y="5457825"/>
              <a:ext cx="3514725" cy="1657350"/>
            </a:xfrm>
            <a:prstGeom prst="roundRect">
              <a:avLst>
                <a:gd name="adj" fmla="val 10344"/>
              </a:avLst>
            </a:prstGeom>
          </p:spPr>
        </p:pic>
        <p:pic>
          <p:nvPicPr>
            <p:cNvPr id="83" name="Image 8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6725" y="5457825"/>
              <a:ext cx="3514725" cy="1657350"/>
            </a:xfrm>
            <a:prstGeom prst="roundRect">
              <a:avLst>
                <a:gd name="adj" fmla="val 10344"/>
              </a:avLst>
            </a:prstGeom>
          </p:spPr>
        </p:pic>
        <p:pic>
          <p:nvPicPr>
            <p:cNvPr id="84" name="Image 8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87933" y="6850856"/>
              <a:ext cx="2424684" cy="586740"/>
            </a:xfrm>
            <a:prstGeom prst="rect">
              <a:avLst/>
            </a:prstGeom>
          </p:spPr>
        </p:pic>
        <p:sp>
          <p:nvSpPr>
            <p:cNvPr id="85" name="TextBox 85"/>
            <p:cNvSpPr txBox="1"/>
            <p:nvPr/>
          </p:nvSpPr>
          <p:spPr>
            <a:xfrm>
              <a:off x="1548765" y="6927850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SimSun"/>
                  <a:ea typeface="SimSun"/>
                  <a:cs typeface="SimSun"/>
                </a:rPr>
                <a:t>集体活动</a:t>
              </a:r>
            </a:p>
          </p:txBody>
        </p:sp>
      </p:grpSp>
      <p:grpSp>
        <p:nvGrpSpPr>
          <p:cNvPr id="91" name="photo-organizational-cooperation"/>
          <p:cNvGrpSpPr/>
          <p:nvPr/>
        </p:nvGrpSpPr>
        <p:grpSpPr>
          <a:xfrm>
            <a:off x="4105275" y="5457825"/>
            <a:ext cx="3162300" cy="1989296"/>
            <a:chOff x="4105275" y="5457825"/>
            <a:chExt cx="3162300" cy="1989296"/>
          </a:xfrm>
        </p:grpSpPr>
        <p:pic>
          <p:nvPicPr>
            <p:cNvPr id="87" name="Image 87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105275" y="5457825"/>
              <a:ext cx="3162300" cy="1657350"/>
            </a:xfrm>
            <a:prstGeom prst="roundRect">
              <a:avLst>
                <a:gd name="adj" fmla="val 10344"/>
              </a:avLst>
            </a:prstGeom>
          </p:spPr>
        </p:pic>
        <p:pic>
          <p:nvPicPr>
            <p:cNvPr id="88" name="Image 8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05275" y="5457825"/>
              <a:ext cx="3162300" cy="1657350"/>
            </a:xfrm>
            <a:prstGeom prst="roundRect">
              <a:avLst>
                <a:gd name="adj" fmla="val 10344"/>
              </a:avLst>
            </a:prstGeom>
          </p:spPr>
        </p:pic>
        <p:pic>
          <p:nvPicPr>
            <p:cNvPr id="89" name="Image 89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556570" y="6860381"/>
              <a:ext cx="2231136" cy="586740"/>
            </a:xfrm>
            <a:prstGeom prst="rect">
              <a:avLst/>
            </a:prstGeom>
          </p:spPr>
        </p:pic>
        <p:sp>
          <p:nvSpPr>
            <p:cNvPr id="90" name="TextBox 90"/>
            <p:cNvSpPr txBox="1"/>
            <p:nvPr/>
          </p:nvSpPr>
          <p:spPr>
            <a:xfrm>
              <a:off x="5020627" y="6937375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SimSun"/>
                  <a:ea typeface="SimSun"/>
                  <a:cs typeface="SimSun"/>
                </a:rPr>
                <a:t>组织协作</a:t>
              </a:r>
            </a:p>
          </p:txBody>
        </p:sp>
      </p:grpSp>
      <p:grpSp>
        <p:nvGrpSpPr>
          <p:cNvPr id="96" name="photo-cultural-sports"/>
          <p:cNvGrpSpPr/>
          <p:nvPr/>
        </p:nvGrpSpPr>
        <p:grpSpPr>
          <a:xfrm>
            <a:off x="7419975" y="5457825"/>
            <a:ext cx="3457575" cy="1979771"/>
            <a:chOff x="7419975" y="5457825"/>
            <a:chExt cx="3457575" cy="1979771"/>
          </a:xfrm>
        </p:grpSpPr>
        <p:pic>
          <p:nvPicPr>
            <p:cNvPr id="92" name="Image 9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419975" y="5457825"/>
              <a:ext cx="3457575" cy="1657350"/>
            </a:xfrm>
            <a:prstGeom prst="roundRect">
              <a:avLst>
                <a:gd name="adj" fmla="val 10344"/>
              </a:avLst>
            </a:prstGeom>
          </p:spPr>
        </p:pic>
        <p:pic>
          <p:nvPicPr>
            <p:cNvPr id="93" name="Image 93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419975" y="5457825"/>
              <a:ext cx="3457575" cy="1657350"/>
            </a:xfrm>
            <a:prstGeom prst="roundRect">
              <a:avLst>
                <a:gd name="adj" fmla="val 10344"/>
              </a:avLst>
            </a:prstGeom>
          </p:spPr>
        </p:pic>
        <p:pic>
          <p:nvPicPr>
            <p:cNvPr id="94" name="Image 94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079867" y="6850856"/>
              <a:ext cx="2261616" cy="586740"/>
            </a:xfrm>
            <a:prstGeom prst="rect">
              <a:avLst/>
            </a:prstGeom>
          </p:spPr>
        </p:pic>
        <p:sp>
          <p:nvSpPr>
            <p:cNvPr id="95" name="TextBox 95"/>
            <p:cNvSpPr txBox="1"/>
            <p:nvPr/>
          </p:nvSpPr>
          <p:spPr>
            <a:xfrm>
              <a:off x="8559165" y="6927850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SimSun"/>
                  <a:ea typeface="SimSun"/>
                  <a:cs typeface="SimSun"/>
                </a:rPr>
                <a:t>文体实践</a:t>
              </a:r>
            </a:p>
          </p:txBody>
        </p:sp>
      </p:grpSp>
      <p:grpSp>
        <p:nvGrpSpPr>
          <p:cNvPr id="101" name="photo-honor-certificate"/>
          <p:cNvGrpSpPr/>
          <p:nvPr/>
        </p:nvGrpSpPr>
        <p:grpSpPr>
          <a:xfrm>
            <a:off x="11010900" y="5457825"/>
            <a:ext cx="2905125" cy="1979771"/>
            <a:chOff x="11010900" y="5457825"/>
            <a:chExt cx="2905125" cy="1979771"/>
          </a:xfrm>
        </p:grpSpPr>
        <p:pic>
          <p:nvPicPr>
            <p:cNvPr id="97" name="Image 97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1010900" y="5457825"/>
              <a:ext cx="2905125" cy="1657350"/>
            </a:xfrm>
            <a:prstGeom prst="roundRect">
              <a:avLst>
                <a:gd name="adj" fmla="val 10344"/>
              </a:avLst>
            </a:prstGeom>
          </p:spPr>
        </p:pic>
        <p:pic>
          <p:nvPicPr>
            <p:cNvPr id="98" name="Image 98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1010900" y="5457825"/>
              <a:ext cx="2905125" cy="1657350"/>
            </a:xfrm>
            <a:prstGeom prst="roundRect">
              <a:avLst>
                <a:gd name="adj" fmla="val 10344"/>
              </a:avLst>
            </a:prstGeom>
          </p:spPr>
        </p:pic>
        <p:pic>
          <p:nvPicPr>
            <p:cNvPr id="99" name="Image 99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1310747" y="6850856"/>
              <a:ext cx="2495931" cy="586740"/>
            </a:xfrm>
            <a:prstGeom prst="rect">
              <a:avLst/>
            </a:prstGeom>
          </p:spPr>
        </p:pic>
        <p:sp>
          <p:nvSpPr>
            <p:cNvPr id="100" name="TextBox 100"/>
            <p:cNvSpPr txBox="1"/>
            <p:nvPr/>
          </p:nvSpPr>
          <p:spPr>
            <a:xfrm>
              <a:off x="11907202" y="6927850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SimSun"/>
                  <a:ea typeface="SimSun"/>
                  <a:cs typeface="SimSun"/>
                </a:rPr>
                <a:t>荣誉见证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pt-master-work-services">
  <a:themeElements>
    <a:clrScheme name="ppt-master-work-service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-master-work-service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-master-work-servic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2026-10-21T08:08:35Z</dcterms:created>
  <dcterms:modified xsi:type="dcterms:W3CDTF">2026-10-21T08:08:35Z</dcterms:modified>
  <cp:category/>
  <cp:contentStatus/>
</cp:coreProperties>
</file>