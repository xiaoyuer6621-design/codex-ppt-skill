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Relationship Id="rId23" Type="http://schemas.openxmlformats.org/officeDocument/2006/relationships/image" Target="../media/image51.png"/><Relationship Id="rId24" Type="http://schemas.openxmlformats.org/officeDocument/2006/relationships/image" Target="../media/image52.png"/><Relationship Id="rId25" Type="http://schemas.openxmlformats.org/officeDocument/2006/relationships/image" Target="../media/image53.png"/><Relationship Id="rId26" Type="http://schemas.openxmlformats.org/officeDocument/2006/relationships/image" Target="../media/image54.png"/><Relationship Id="rId27" Type="http://schemas.openxmlformats.org/officeDocument/2006/relationships/image" Target="../media/image55.png"/><Relationship Id="rId28" Type="http://schemas.openxmlformats.org/officeDocument/2006/relationships/image" Target="../media/image56.png"/><Relationship Id="rId29" Type="http://schemas.openxmlformats.org/officeDocument/2006/relationships/image" Target="../media/image57.png"/><Relationship Id="rId30" Type="http://schemas.openxmlformats.org/officeDocument/2006/relationships/image" Target="../media/image58.png"/><Relationship Id="rId31" Type="http://schemas.openxmlformats.org/officeDocument/2006/relationships/image" Target="../media/image59.png"/><Relationship Id="rId32" Type="http://schemas.openxmlformats.org/officeDocument/2006/relationships/image" Target="../media/image6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77.png"/><Relationship Id="rId19" Type="http://schemas.openxmlformats.org/officeDocument/2006/relationships/image" Target="../media/image78.png"/><Relationship Id="rId20" Type="http://schemas.openxmlformats.org/officeDocument/2006/relationships/image" Target="../media/image79.png"/><Relationship Id="rId21" Type="http://schemas.openxmlformats.org/officeDocument/2006/relationships/image" Target="../media/image80.png"/><Relationship Id="rId22" Type="http://schemas.openxmlformats.org/officeDocument/2006/relationships/image" Target="../media/image8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ified exact current blue/cyan curved competition template header identity; bit-identical normalized prior builtin clean-header output. Prior producer and sheet/source/output SHA256 in analysis/reuse-provenance.json. No title pixels retained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962001"/>
          </a:xfrm>
          <a:prstGeom prst="rect">
            <a:avLst/>
          </a:prstGeom>
        </p:spPr>
      </p:pic>
      <p:pic>
        <p:nvPicPr>
          <p:cNvPr id="3" name="Current source background-only unoccluded faint engineering/regular line-art region, free of all text/foreground assets."/>
          <p:cNvPicPr/>
          <p:nvPr/>
        </p:nvPicPr>
        <p:blipFill>
          <a:blip r:embed="rId3"/>
          <a:stretch>
            <a:fillRect/>
          </a:stretch>
        </p:blipFill>
        <p:spPr>
          <a:xfrm>
            <a:off x="1276318" y="6248330"/>
            <a:ext cx="5619610" cy="295268"/>
          </a:xfrm>
          <a:prstGeom prst="rect">
            <a:avLst/>
          </a:prstGeom>
        </p:spPr>
      </p:pic>
      <p:pic>
        <p:nvPicPr>
          <p:cNvPr id="4" name="Current source background-only unoccluded faint engineering/regular line-art region, free of all text/foreground assets."/>
          <p:cNvPicPr/>
          <p:nvPr/>
        </p:nvPicPr>
        <p:blipFill>
          <a:blip r:embed="rId4"/>
          <a:stretch>
            <a:fillRect/>
          </a:stretch>
        </p:blipFill>
        <p:spPr>
          <a:xfrm>
            <a:off x="9524762" y="381076"/>
            <a:ext cx="2666933" cy="609585"/>
          </a:xfrm>
          <a:prstGeom prst="rect">
            <a:avLst/>
          </a:prstGeom>
        </p:spPr>
      </p:pic>
      <p:pic>
        <p:nvPicPr>
          <p:cNvPr id="5" name="Current source background-only unoccluded faint engineering/regular line-art region, free of all text/foreground assets."/>
          <p:cNvPicPr/>
          <p:nvPr/>
        </p:nvPicPr>
        <p:blipFill>
          <a:blip r:embed="rId5"/>
          <a:stretch>
            <a:fillRect/>
          </a:stretch>
        </p:blipFill>
        <p:spPr>
          <a:xfrm>
            <a:off x="11029674" y="5333952"/>
            <a:ext cx="1162021" cy="838179"/>
          </a:xfrm>
          <a:prstGeom prst="rect">
            <a:avLst/>
          </a:prstGeom>
        </p:spPr>
      </p:pic>
      <p:pic>
        <p:nvPicPr>
          <p:cNvPr id="6" name="Current source background-only unoccluded faint engineering/regular line-art region, free of all text/foreground assets.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5610170"/>
            <a:ext cx="1152496" cy="552436"/>
          </a:xfrm>
          <a:prstGeom prst="rect">
            <a:avLst/>
          </a:prstGeom>
        </p:spPr>
      </p:pic>
      <p:pic>
        <p:nvPicPr>
          <p:cNvPr id="7" name="Deterministic source-supported simple blue/cyan footer gradient and ordinary structural boundary. No source foreground copied.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6495973"/>
            <a:ext cx="12191695" cy="380990"/>
          </a:xfrm>
          <a:prstGeom prst="rect">
            <a:avLst/>
          </a:prstGeom>
        </p:spPr>
      </p:pic>
      <p:sp>
        <p:nvSpPr>
          <p:cNvPr id="8" name="Roundrect 8"/>
          <p:cNvSpPr/>
          <p:nvPr/>
        </p:nvSpPr>
        <p:spPr>
          <a:xfrm>
            <a:off x="247644" y="1866939"/>
            <a:ext cx="5619610" cy="3695608"/>
          </a:xfrm>
          <a:prstGeom prst="roundRect">
            <a:avLst>
              <a:gd name="adj" fmla="val 4639"/>
            </a:avLst>
          </a:prstGeom>
          <a:solidFill>
            <a:srgbClr val="F8FDFF"/>
          </a:solidFill>
          <a:ln w="8255">
            <a:solidFill>
              <a:srgbClr val="72C8FF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5933927" y="1876464"/>
            <a:ext cx="6038699" cy="3400340"/>
          </a:xfrm>
          <a:prstGeom prst="roundRect">
            <a:avLst>
              <a:gd name="adj" fmla="val 4482"/>
            </a:avLst>
          </a:prstGeom>
          <a:solidFill>
            <a:srgbClr val="F8FDFF"/>
          </a:solidFill>
          <a:ln w="8255">
            <a:solidFill>
              <a:srgbClr val="72C8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038699" y="2362227"/>
            <a:ext cx="1152496" cy="266693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B3E4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286443" y="2362227"/>
            <a:ext cx="1028674" cy="266693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B3E4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410365" y="2362227"/>
            <a:ext cx="1028674" cy="266693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B3E4F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9581910" y="2362227"/>
            <a:ext cx="1104872" cy="266693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B3E4FF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10782030" y="2362227"/>
            <a:ext cx="1104872" cy="266693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B3E4FF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1171546" y="5619695"/>
            <a:ext cx="9848604" cy="619110"/>
          </a:xfrm>
          <a:prstGeom prst="roundRect">
            <a:avLst>
              <a:gd name="adj" fmla="val 50000"/>
            </a:avLst>
          </a:prstGeom>
          <a:solidFill>
            <a:srgbClr val="EAF8FF"/>
          </a:solidFill>
          <a:ln w="10795">
            <a:solidFill>
              <a:srgbClr val="76D1F6"/>
            </a:solidFill>
          </a:ln>
        </p:spPr>
        <p:txBody>
          <a:bodyPr/>
          <a:lstStyle/>
          <a:p/>
        </p:txBody>
      </p:sp>
      <p:sp>
        <p:nvSpPr>
          <p:cNvPr id="16" name="Path 16"/>
          <p:cNvSpPr/>
          <p:nvPr/>
        </p:nvSpPr>
        <p:spPr>
          <a:xfrm>
            <a:off x="371466" y="1819315"/>
            <a:ext cx="1771606" cy="41909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94" y="0"/>
                </a:moveTo>
                <a:lnTo>
                  <a:pt x="18581" y="0"/>
                </a:lnTo>
                <a:lnTo>
                  <a:pt x="21600" y="21600"/>
                </a:lnTo>
                <a:lnTo>
                  <a:pt x="1394" y="21600"/>
                </a:lnTo>
                <a:cubicBezTo>
                  <a:pt x="465" y="21600"/>
                  <a:pt x="0" y="19636"/>
                  <a:pt x="0" y="15709"/>
                </a:cubicBezTo>
                <a:lnTo>
                  <a:pt x="0" y="5891"/>
                </a:lnTo>
                <a:cubicBezTo>
                  <a:pt x="0" y="1964"/>
                  <a:pt x="465" y="0"/>
                  <a:pt x="1394" y="0"/>
                </a:cubicBezTo>
                <a:close/>
              </a:path>
            </a:pathLst>
          </a:custGeom>
          <a:solidFill>
            <a:srgbClr val="0074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6095848" y="1866939"/>
            <a:ext cx="2914577" cy="38099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47" y="0"/>
                </a:moveTo>
                <a:lnTo>
                  <a:pt x="19765" y="0"/>
                </a:lnTo>
                <a:lnTo>
                  <a:pt x="21600" y="21600"/>
                </a:lnTo>
                <a:lnTo>
                  <a:pt x="847" y="21600"/>
                </a:lnTo>
                <a:cubicBezTo>
                  <a:pt x="282" y="21600"/>
                  <a:pt x="0" y="19440"/>
                  <a:pt x="0" y="15120"/>
                </a:cubicBezTo>
                <a:lnTo>
                  <a:pt x="0" y="6480"/>
                </a:lnTo>
                <a:cubicBezTo>
                  <a:pt x="0" y="2160"/>
                  <a:pt x="282" y="0"/>
                  <a:pt x="847" y="0"/>
                </a:cubicBezTo>
                <a:close/>
              </a:path>
            </a:pathLst>
          </a:custGeom>
          <a:solidFill>
            <a:srgbClr val="0074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olygon 18"/>
          <p:cNvSpPr/>
          <p:nvPr/>
        </p:nvSpPr>
        <p:spPr>
          <a:xfrm>
            <a:off x="1952576" y="1819315"/>
            <a:ext cx="314317" cy="4190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4582" y="0"/>
                </a:lnTo>
                <a:lnTo>
                  <a:pt x="21600" y="21600"/>
                </a:lnTo>
                <a:lnTo>
                  <a:pt x="17018" y="21600"/>
                </a:lnTo>
                <a:close/>
              </a:path>
            </a:pathLst>
          </a:custGeom>
          <a:solidFill>
            <a:srgbClr val="B1E2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olygon 19"/>
          <p:cNvSpPr/>
          <p:nvPr/>
        </p:nvSpPr>
        <p:spPr>
          <a:xfrm>
            <a:off x="2066873" y="1819315"/>
            <a:ext cx="314317" cy="4190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4582" y="0"/>
                </a:lnTo>
                <a:lnTo>
                  <a:pt x="21600" y="21600"/>
                </a:lnTo>
                <a:lnTo>
                  <a:pt x="17018" y="21600"/>
                </a:lnTo>
                <a:close/>
              </a:path>
            </a:pathLst>
          </a:custGeom>
          <a:solidFill>
            <a:srgbClr val="D5EF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olygon 20"/>
          <p:cNvSpPr/>
          <p:nvPr/>
        </p:nvSpPr>
        <p:spPr>
          <a:xfrm>
            <a:off x="8819929" y="1866939"/>
            <a:ext cx="314317" cy="3809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4582" y="0"/>
                </a:lnTo>
                <a:lnTo>
                  <a:pt x="21600" y="21600"/>
                </a:lnTo>
                <a:lnTo>
                  <a:pt x="17018" y="21600"/>
                </a:lnTo>
                <a:close/>
              </a:path>
            </a:pathLst>
          </a:custGeom>
          <a:solidFill>
            <a:srgbClr val="B1E2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olygon 21"/>
          <p:cNvSpPr/>
          <p:nvPr/>
        </p:nvSpPr>
        <p:spPr>
          <a:xfrm>
            <a:off x="8934227" y="1866939"/>
            <a:ext cx="314317" cy="3809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4582" y="0"/>
                </a:lnTo>
                <a:lnTo>
                  <a:pt x="21600" y="21600"/>
                </a:lnTo>
                <a:lnTo>
                  <a:pt x="17018" y="21600"/>
                </a:lnTo>
                <a:close/>
              </a:path>
            </a:pathLst>
          </a:custGeom>
          <a:solidFill>
            <a:srgbClr val="D5EF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3514637" y="5772091"/>
            <a:ext cx="0" cy="304792"/>
          </a:xfrm>
          <a:prstGeom prst="line">
            <a:avLst/>
          </a:prstGeom>
          <a:noFill/>
          <a:ln w="6350">
            <a:solidFill>
              <a:srgbClr val="78BDF1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5724382" y="5772091"/>
            <a:ext cx="0" cy="304792"/>
          </a:xfrm>
          <a:prstGeom prst="line">
            <a:avLst/>
          </a:prstGeom>
          <a:noFill/>
          <a:ln w="6350">
            <a:solidFill>
              <a:srgbClr val="78BDF1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7686483" y="5772091"/>
            <a:ext cx="0" cy="304792"/>
          </a:xfrm>
          <a:prstGeom prst="line">
            <a:avLst/>
          </a:prstGeom>
          <a:noFill/>
          <a:ln w="6350">
            <a:solidFill>
              <a:srgbClr val="78BDF1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85743" y="1228780"/>
            <a:ext cx="1600160" cy="0"/>
          </a:xfrm>
          <a:prstGeom prst="line">
            <a:avLst/>
          </a:prstGeom>
          <a:noFill/>
          <a:ln w="7620">
            <a:solidFill>
              <a:srgbClr val="9DE1FF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504812" y="1276404"/>
            <a:ext cx="1219170" cy="0"/>
          </a:xfrm>
          <a:prstGeom prst="line">
            <a:avLst/>
          </a:prstGeom>
          <a:noFill/>
          <a:ln w="5715">
            <a:solidFill>
              <a:srgbClr val="C7EEFF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10362941" y="1228780"/>
            <a:ext cx="1543011" cy="0"/>
          </a:xfrm>
          <a:prstGeom prst="line">
            <a:avLst/>
          </a:prstGeom>
          <a:noFill/>
          <a:ln w="7620">
            <a:solidFill>
              <a:srgbClr val="9DE1FF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10448664" y="1276404"/>
            <a:ext cx="1181070" cy="0"/>
          </a:xfrm>
          <a:prstGeom prst="line">
            <a:avLst/>
          </a:prstGeom>
          <a:noFill/>
          <a:ln w="5715">
            <a:solidFill>
              <a:srgbClr val="C7EEFF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295268" y="1600246"/>
            <a:ext cx="1933527" cy="0"/>
          </a:xfrm>
          <a:prstGeom prst="line">
            <a:avLst/>
          </a:prstGeom>
          <a:noFill/>
          <a:ln w="8890">
            <a:solidFill>
              <a:srgbClr val="12AEF1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476238" y="1647870"/>
            <a:ext cx="1752556" cy="0"/>
          </a:xfrm>
          <a:prstGeom prst="line">
            <a:avLst/>
          </a:prstGeom>
          <a:noFill/>
          <a:ln w="5715">
            <a:solidFill>
              <a:srgbClr val="45C4F7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9600960" y="1600246"/>
            <a:ext cx="2324042" cy="0"/>
          </a:xfrm>
          <a:prstGeom prst="line">
            <a:avLst/>
          </a:prstGeom>
          <a:noFill/>
          <a:ln w="8890">
            <a:solidFill>
              <a:srgbClr val="12AEF1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9600960" y="1647870"/>
            <a:ext cx="2047824" cy="0"/>
          </a:xfrm>
          <a:prstGeom prst="line">
            <a:avLst/>
          </a:prstGeom>
          <a:noFill/>
          <a:ln w="5715">
            <a:solidFill>
              <a:srgbClr val="45C4F7"/>
            </a:solidFill>
          </a:ln>
        </p:spPr>
        <p:txBody>
          <a:bodyPr/>
          <a:lstStyle/>
          <a:p/>
        </p:txBody>
      </p:sp>
      <p:pic>
        <p:nvPicPr>
          <p:cNvPr id="33" name="Current-source actual builtin image-edit separation of exact original desktop browser GUI, original white aisle-bar map, dark navigation and cow-barn camera with original colored control layout. Small internal UI text/wordmarks preserved as screenshot identity under3.1. Outside panel/heading not flatten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360246" y="2204666"/>
            <a:ext cx="5394405" cy="3324945"/>
          </a:xfrm>
          <a:prstGeom prst="rect">
            <a:avLst/>
          </a:prstGeom>
        </p:spPr>
      </p:pic>
      <p:pic>
        <p:nvPicPr>
          <p:cNvPr id="34" name="Current-source actual builtin separated original phone-realtime screenshot. Original screen content, control layout, colors and phone identity retained; source aspect normalized to measured box. Internal tiny UI text is the explicit3.1 exception; outside top label is native editable."/>
          <p:cNvPicPr/>
          <p:nvPr/>
        </p:nvPicPr>
        <p:blipFill>
          <a:blip r:embed="rId11"/>
          <a:stretch>
            <a:fillRect/>
          </a:stretch>
        </p:blipFill>
        <p:spPr>
          <a:xfrm>
            <a:off x="5949946" y="2642783"/>
            <a:ext cx="1320478" cy="2532213"/>
          </a:xfrm>
          <a:prstGeom prst="rect">
            <a:avLst/>
          </a:prstGeom>
        </p:spPr>
      </p:pic>
      <p:pic>
        <p:nvPicPr>
          <p:cNvPr id="35" name="Current-source actual builtin separated original phone-control screenshot. Original screen content, control layout, colors and phone identity retained; source aspect normalized to measured box. Internal tiny UI text is the explicit3.1 exception; outside top label is native editable."/>
          <p:cNvPicPr/>
          <p:nvPr/>
        </p:nvPicPr>
        <p:blipFill>
          <a:blip r:embed="rId12"/>
          <a:stretch>
            <a:fillRect/>
          </a:stretch>
        </p:blipFill>
        <p:spPr>
          <a:xfrm>
            <a:off x="7212681" y="2635827"/>
            <a:ext cx="1204772" cy="2535799"/>
          </a:xfrm>
          <a:prstGeom prst="rect">
            <a:avLst/>
          </a:prstGeom>
        </p:spPr>
      </p:pic>
      <p:pic>
        <p:nvPicPr>
          <p:cNvPr id="36" name="Current-source actual builtin separated original phone-status screenshot. Original screen content, control layout, colors and phone identity retained; source aspect normalized to measured box. Internal tiny UI text is the explicit3.1 exception; outside top label is native editable."/>
          <p:cNvPicPr/>
          <p:nvPr/>
        </p:nvPicPr>
        <p:blipFill>
          <a:blip r:embed="rId13"/>
          <a:stretch>
            <a:fillRect/>
          </a:stretch>
        </p:blipFill>
        <p:spPr>
          <a:xfrm>
            <a:off x="8344142" y="2635827"/>
            <a:ext cx="1218268" cy="2535799"/>
          </a:xfrm>
          <a:prstGeom prst="rect">
            <a:avLst/>
          </a:prstGeom>
        </p:spPr>
      </p:pic>
      <p:pic>
        <p:nvPicPr>
          <p:cNvPr id="37" name="Current-source actual builtin separated original phone-video screenshot. Original screen content, control layout, colors and phone identity retained; source aspect normalized to measured box. Internal tiny UI text is the explicit3.1 exception; outside top label is native editable."/>
          <p:cNvPicPr/>
          <p:nvPr/>
        </p:nvPicPr>
        <p:blipFill>
          <a:blip r:embed="rId14"/>
          <a:stretch>
            <a:fillRect/>
          </a:stretch>
        </p:blipFill>
        <p:spPr>
          <a:xfrm>
            <a:off x="9525539" y="2632284"/>
            <a:ext cx="1217503" cy="2539396"/>
          </a:xfrm>
          <a:prstGeom prst="rect">
            <a:avLst/>
          </a:prstGeom>
        </p:spPr>
      </p:pic>
      <p:pic>
        <p:nvPicPr>
          <p:cNvPr id="38" name="Current-source actual builtin separated original phone-device screenshot. Original screen content, control layout, colors and phone identity retained; source aspect normalized to measured box. Internal tiny UI text is the explicit3.1 exception; outside top label is native editable."/>
          <p:cNvPicPr/>
          <p:nvPr/>
        </p:nvPicPr>
        <p:blipFill>
          <a:blip r:embed="rId15"/>
          <a:stretch>
            <a:fillRect/>
          </a:stretch>
        </p:blipFill>
        <p:spPr>
          <a:xfrm>
            <a:off x="10720509" y="2635716"/>
            <a:ext cx="1211228" cy="2539396"/>
          </a:xfrm>
          <a:prstGeom prst="rect">
            <a:avLst/>
          </a:prstGeom>
        </p:spPr>
      </p:pic>
      <p:pic>
        <p:nvPicPr>
          <p:cNvPr id="39" name="Exact same CPIPC mark compared to current source; prior builtin separated asset copied bit-identically and prior actual producer/sheet hash verified. Brand lettering is section3.1 identity exception; analysis/reuse-provenance.json."/>
          <p:cNvPicPr/>
          <p:nvPr/>
        </p:nvPicPr>
        <p:blipFill>
          <a:blip r:embed="rId8"/>
          <a:stretch>
            <a:fillRect/>
          </a:stretch>
        </p:blipFill>
        <p:spPr>
          <a:xfrm>
            <a:off x="238119" y="6143557"/>
            <a:ext cx="952476" cy="609585"/>
          </a:xfrm>
          <a:prstGeom prst="rect">
            <a:avLst/>
          </a:prstGeom>
        </p:spPr>
      </p:pic>
      <p:pic>
        <p:nvPicPr>
          <p:cNvPr id="40" name="Exact same competition event mark compared to current source; prior builtin separated asset copied bit-identically with producer and sheet hash verification. Brand lettering is identity excep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10153396" y="6191181"/>
            <a:ext cx="1800180" cy="571486"/>
          </a:xfrm>
          <a:prstGeom prst="rect">
            <a:avLst/>
          </a:prstGeom>
        </p:spPr>
      </p:pic>
      <p:pic>
        <p:nvPicPr>
          <p:cNvPr id="41" name="Current-source builtin image-edit separated exact existing title-left object; ordinary editable words excluded, full original motif/circular base retain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1671552" y="1156815"/>
            <a:ext cx="581098" cy="305851"/>
          </a:xfrm>
          <a:prstGeom prst="rect">
            <a:avLst/>
          </a:prstGeom>
        </p:spPr>
      </p:pic>
      <p:pic>
        <p:nvPicPr>
          <p:cNvPr id="42" name="Current-source builtin image-edit separated exact existing title-right object; ordinary editable words excluded, full original motif/circular base retain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9872372" y="1156815"/>
            <a:ext cx="581098" cy="305851"/>
          </a:xfrm>
          <a:prstGeom prst="rect">
            <a:avLst/>
          </a:prstGeom>
        </p:spPr>
      </p:pic>
      <p:pic>
        <p:nvPicPr>
          <p:cNvPr id="43" name="Current-source builtin image-edit separated exact existing subtitle-left object; ordinary editable words excluded, full original motif/circular base retain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2261610" y="1506324"/>
            <a:ext cx="334410" cy="244991"/>
          </a:xfrm>
          <a:prstGeom prst="rect">
            <a:avLst/>
          </a:prstGeom>
        </p:spPr>
      </p:pic>
      <p:pic>
        <p:nvPicPr>
          <p:cNvPr id="44" name="Current-source builtin image-edit separated exact existing subtitle-right object; ordinary editable words excluded, full original motif/circular base retain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9252785" y="1506903"/>
            <a:ext cx="334410" cy="243834"/>
          </a:xfrm>
          <a:prstGeom prst="rect">
            <a:avLst/>
          </a:prstGeom>
        </p:spPr>
      </p:pic>
      <p:pic>
        <p:nvPicPr>
          <p:cNvPr id="45" name="Current-source builtin image-edit separated exact existing header-monitor object; ordinary editable words excluded, full original motif/circular base retained."/>
          <p:cNvPicPr/>
          <p:nvPr/>
        </p:nvPicPr>
        <p:blipFill>
          <a:blip r:embed="rId20"/>
          <a:stretch>
            <a:fillRect/>
          </a:stretch>
        </p:blipFill>
        <p:spPr>
          <a:xfrm>
            <a:off x="530074" y="1879531"/>
            <a:ext cx="320943" cy="308183"/>
          </a:xfrm>
          <a:prstGeom prst="rect">
            <a:avLst/>
          </a:prstGeom>
        </p:spPr>
      </p:pic>
      <p:pic>
        <p:nvPicPr>
          <p:cNvPr id="46" name="Current-source builtin image-edit separated exact existing header-phone object; ordinary editable words excluded, full original motif/circular base retained."/>
          <p:cNvPicPr/>
          <p:nvPr/>
        </p:nvPicPr>
        <p:blipFill>
          <a:blip r:embed="rId21"/>
          <a:stretch>
            <a:fillRect/>
          </a:stretch>
        </p:blipFill>
        <p:spPr>
          <a:xfrm>
            <a:off x="6324861" y="1893989"/>
            <a:ext cx="218232" cy="326890"/>
          </a:xfrm>
          <a:prstGeom prst="rect">
            <a:avLst/>
          </a:prstGeom>
        </p:spPr>
      </p:pic>
      <p:pic>
        <p:nvPicPr>
          <p:cNvPr id="47" name="Current-source builtin image-edit separated exact existing tab-video object; ordinary editable words excluded, full original motif/circular base retained."/>
          <p:cNvPicPr/>
          <p:nvPr/>
        </p:nvPicPr>
        <p:blipFill>
          <a:blip r:embed="rId22"/>
          <a:stretch>
            <a:fillRect/>
          </a:stretch>
        </p:blipFill>
        <p:spPr>
          <a:xfrm>
            <a:off x="6228186" y="2384542"/>
            <a:ext cx="268710" cy="222063"/>
          </a:xfrm>
          <a:prstGeom prst="rect">
            <a:avLst/>
          </a:prstGeom>
        </p:spPr>
      </p:pic>
      <p:pic>
        <p:nvPicPr>
          <p:cNvPr id="48" name="Current-source builtin image-edit separated exact existing tab-gear object; ordinary editable words excluded, full original motif/circular base retain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7447719" y="2389935"/>
            <a:ext cx="220359" cy="220801"/>
          </a:xfrm>
          <a:prstGeom prst="rect">
            <a:avLst/>
          </a:prstGeom>
        </p:spPr>
      </p:pic>
      <p:pic>
        <p:nvPicPr>
          <p:cNvPr id="49" name="Current-source builtin image-edit separated exact existing tab-bars object; ordinary editable words excluded, full original motif/circular base retained."/>
          <p:cNvPicPr/>
          <p:nvPr/>
        </p:nvPicPr>
        <p:blipFill>
          <a:blip r:embed="rId24"/>
          <a:stretch>
            <a:fillRect/>
          </a:stretch>
        </p:blipFill>
        <p:spPr>
          <a:xfrm>
            <a:off x="8569330" y="2375919"/>
            <a:ext cx="253556" cy="248834"/>
          </a:xfrm>
          <a:prstGeom prst="rect">
            <a:avLst/>
          </a:prstGeom>
        </p:spPr>
      </p:pic>
      <p:pic>
        <p:nvPicPr>
          <p:cNvPr id="50" name="Current-source builtin image-edit separated exact existing tab-camera object; ordinary editable words excluded, full original motif/circular base retained."/>
          <p:cNvPicPr/>
          <p:nvPr/>
        </p:nvPicPr>
        <p:blipFill>
          <a:blip r:embed="rId25"/>
          <a:stretch>
            <a:fillRect/>
          </a:stretch>
        </p:blipFill>
        <p:spPr>
          <a:xfrm>
            <a:off x="9686108" y="2386161"/>
            <a:ext cx="239270" cy="228350"/>
          </a:xfrm>
          <a:prstGeom prst="rect">
            <a:avLst/>
          </a:prstGeom>
        </p:spPr>
      </p:pic>
      <p:pic>
        <p:nvPicPr>
          <p:cNvPr id="51" name="Current-source builtin image-edit separated exact existing tab-servers object; ordinary editable words excluded, full original motif/circular base retained."/>
          <p:cNvPicPr/>
          <p:nvPr/>
        </p:nvPicPr>
        <p:blipFill>
          <a:blip r:embed="rId26"/>
          <a:stretch>
            <a:fillRect/>
          </a:stretch>
        </p:blipFill>
        <p:spPr>
          <a:xfrm>
            <a:off x="10969570" y="2375104"/>
            <a:ext cx="253556" cy="250463"/>
          </a:xfrm>
          <a:prstGeom prst="rect">
            <a:avLst/>
          </a:prstGeom>
        </p:spPr>
      </p:pic>
      <p:pic>
        <p:nvPicPr>
          <p:cNvPr id="52" name="Current-source builtin image-edit separated exact existing feature-person object; ordinary editable words excluded, full original motif/circular base retained."/>
          <p:cNvPicPr/>
          <p:nvPr/>
        </p:nvPicPr>
        <p:blipFill>
          <a:blip r:embed="rId27"/>
          <a:stretch>
            <a:fillRect/>
          </a:stretch>
        </p:blipFill>
        <p:spPr>
          <a:xfrm>
            <a:off x="1303702" y="5637217"/>
            <a:ext cx="583392" cy="574542"/>
          </a:xfrm>
          <a:prstGeom prst="rect">
            <a:avLst/>
          </a:prstGeom>
        </p:spPr>
      </p:pic>
      <p:pic>
        <p:nvPicPr>
          <p:cNvPr id="53" name="Current-source builtin image-edit separated exact existing feature-monitor object; ordinary editable words excluded, full original motif/circular base retained."/>
          <p:cNvPicPr/>
          <p:nvPr/>
        </p:nvPicPr>
        <p:blipFill>
          <a:blip r:embed="rId28"/>
          <a:stretch>
            <a:fillRect/>
          </a:stretch>
        </p:blipFill>
        <p:spPr>
          <a:xfrm>
            <a:off x="3666145" y="5638446"/>
            <a:ext cx="582787" cy="572084"/>
          </a:xfrm>
          <a:prstGeom prst="rect">
            <a:avLst/>
          </a:prstGeom>
        </p:spPr>
      </p:pic>
      <p:pic>
        <p:nvPicPr>
          <p:cNvPr id="54" name="Current-source builtin image-edit separated exact existing feature-bars object; ordinary editable words excluded, full original motif/circular base retained."/>
          <p:cNvPicPr/>
          <p:nvPr/>
        </p:nvPicPr>
        <p:blipFill>
          <a:blip r:embed="rId29"/>
          <a:stretch>
            <a:fillRect/>
          </a:stretch>
        </p:blipFill>
        <p:spPr>
          <a:xfrm>
            <a:off x="5820527" y="5638143"/>
            <a:ext cx="560166" cy="572689"/>
          </a:xfrm>
          <a:prstGeom prst="rect">
            <a:avLst/>
          </a:prstGeom>
        </p:spPr>
      </p:pic>
      <p:pic>
        <p:nvPicPr>
          <p:cNvPr id="55" name="Current-source builtin image-edit separated exact existing feature-cloud object; ordinary editable words excluded, full original motif/circular base retained."/>
          <p:cNvPicPr/>
          <p:nvPr/>
        </p:nvPicPr>
        <p:blipFill>
          <a:blip r:embed="rId30"/>
          <a:stretch>
            <a:fillRect/>
          </a:stretch>
        </p:blipFill>
        <p:spPr>
          <a:xfrm>
            <a:off x="7754035" y="5638745"/>
            <a:ext cx="569727" cy="571486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238119" y="162007"/>
            <a:ext cx="2952676" cy="6667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4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核心技术四</a:t>
            </a:r>
            <a:endParaRPr lang="zh-CN" sz="3450"/>
          </a:p>
        </p:txBody>
      </p:sp>
      <p:sp>
        <p:nvSpPr>
          <p:cNvPr id="57" name="TextBox 57"/>
          <p:cNvSpPr txBox="1"/>
          <p:nvPr/>
        </p:nvSpPr>
        <p:spPr>
          <a:xfrm>
            <a:off x="2343091" y="981136"/>
            <a:ext cx="857229" cy="5048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50" b="1">
                <a:solidFill>
                  <a:srgbClr val="005BD5"/>
                </a:solidFill>
                <a:latin typeface="Arial"/>
                <a:ea typeface="Arial"/>
                <a:cs typeface="Arial"/>
              </a:rPr>
              <a:t>GUI</a:t>
            </a:r>
            <a:endParaRPr lang="zh-CN" sz="3550"/>
          </a:p>
        </p:txBody>
      </p:sp>
      <p:sp>
        <p:nvSpPr>
          <p:cNvPr id="58" name="TextBox 58"/>
          <p:cNvSpPr txBox="1"/>
          <p:nvPr/>
        </p:nvSpPr>
        <p:spPr>
          <a:xfrm>
            <a:off x="3162221" y="1000186"/>
            <a:ext cx="2505012" cy="5048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25" b="1">
                <a:solidFill>
                  <a:srgbClr val="0064D9"/>
                </a:solidFill>
                <a:latin typeface="Noto Sans CJK SC"/>
                <a:ea typeface="Noto Sans CJK SC"/>
                <a:cs typeface="Noto Sans CJK SC"/>
              </a:rPr>
              <a:t>控制软件技术</a:t>
            </a:r>
            <a:endParaRPr lang="zh-CN" sz="3225"/>
          </a:p>
        </p:txBody>
      </p:sp>
      <p:sp>
        <p:nvSpPr>
          <p:cNvPr id="59" name="TextBox 59"/>
          <p:cNvSpPr txBox="1"/>
          <p:nvPr/>
        </p:nvSpPr>
        <p:spPr>
          <a:xfrm>
            <a:off x="5743431" y="990661"/>
            <a:ext cx="304792" cy="5048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0064D9"/>
                </a:solidFill>
                <a:latin typeface="Arial"/>
                <a:ea typeface="Arial"/>
                <a:cs typeface="Arial"/>
              </a:rPr>
              <a:t>/</a:t>
            </a:r>
            <a:endParaRPr lang="zh-CN" sz="2400"/>
          </a:p>
        </p:txBody>
      </p:sp>
      <p:sp>
        <p:nvSpPr>
          <p:cNvPr id="60" name="TextBox 60"/>
          <p:cNvSpPr txBox="1"/>
          <p:nvPr/>
        </p:nvSpPr>
        <p:spPr>
          <a:xfrm>
            <a:off x="6152996" y="1000186"/>
            <a:ext cx="3724182" cy="5048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25" b="1">
                <a:solidFill>
                  <a:srgbClr val="0064D9"/>
                </a:solidFill>
                <a:latin typeface="Noto Sans CJK SC"/>
                <a:ea typeface="Noto Sans CJK SC"/>
                <a:cs typeface="Noto Sans CJK SC"/>
              </a:rPr>
              <a:t>移动端云端管控平台</a:t>
            </a:r>
            <a:endParaRPr lang="zh-CN" sz="3225"/>
          </a:p>
        </p:txBody>
      </p:sp>
      <p:sp>
        <p:nvSpPr>
          <p:cNvPr id="61" name="TextBox 61"/>
          <p:cNvSpPr txBox="1"/>
          <p:nvPr/>
        </p:nvSpPr>
        <p:spPr>
          <a:xfrm>
            <a:off x="2781230" y="1466899"/>
            <a:ext cx="6391115" cy="3143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068E7"/>
                </a:solidFill>
                <a:latin typeface="Noto Sans CJK SC"/>
                <a:ea typeface="Noto Sans CJK SC"/>
                <a:cs typeface="Noto Sans CJK SC"/>
              </a:rPr>
              <a:t>集成多路视频监控、状态监测与远程操控，实现推料设备全流程可视化管控</a:t>
            </a:r>
            <a:endParaRPr lang="zh-CN" sz="1400"/>
          </a:p>
        </p:txBody>
      </p:sp>
      <p:sp>
        <p:nvSpPr>
          <p:cNvPr id="62" name="TextBox 62"/>
          <p:cNvSpPr txBox="1"/>
          <p:nvPr/>
        </p:nvSpPr>
        <p:spPr>
          <a:xfrm>
            <a:off x="1028674" y="1857414"/>
            <a:ext cx="952476" cy="352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网页端</a:t>
            </a:r>
            <a:endParaRPr lang="zh-CN" sz="1750"/>
          </a:p>
        </p:txBody>
      </p:sp>
      <p:sp>
        <p:nvSpPr>
          <p:cNvPr id="63" name="TextBox 63"/>
          <p:cNvSpPr txBox="1"/>
          <p:nvPr/>
        </p:nvSpPr>
        <p:spPr>
          <a:xfrm>
            <a:off x="3228894" y="1962187"/>
            <a:ext cx="2409765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008CE6"/>
                </a:solidFill>
                <a:latin typeface="Noto Sans CJK SC"/>
                <a:ea typeface="Noto Sans CJK SC"/>
                <a:cs typeface="Noto Sans CJK SC"/>
              </a:rPr>
              <a:t>大屏可视化监控 · 参数配置 · 远程控制</a:t>
            </a:r>
            <a:endParaRPr lang="zh-CN" sz="900"/>
          </a:p>
        </p:txBody>
      </p:sp>
      <p:sp>
        <p:nvSpPr>
          <p:cNvPr id="64" name="TextBox 64"/>
          <p:cNvSpPr txBox="1"/>
          <p:nvPr/>
        </p:nvSpPr>
        <p:spPr>
          <a:xfrm>
            <a:off x="6743531" y="1895513"/>
            <a:ext cx="2085923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移动端云端管控平台</a:t>
            </a:r>
            <a:endParaRPr lang="zh-CN" sz="1750"/>
          </a:p>
        </p:txBody>
      </p:sp>
      <p:sp>
        <p:nvSpPr>
          <p:cNvPr id="65" name="TextBox 65"/>
          <p:cNvSpPr txBox="1"/>
          <p:nvPr/>
        </p:nvSpPr>
        <p:spPr>
          <a:xfrm>
            <a:off x="9181870" y="1962187"/>
            <a:ext cx="2524062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008CE6"/>
                </a:solidFill>
                <a:latin typeface="Noto Sans CJK SC"/>
                <a:ea typeface="Noto Sans CJK SC"/>
                <a:cs typeface="Noto Sans CJK SC"/>
              </a:rPr>
              <a:t>实时监控 · 远程操控 · 状态监测 · 设备管理</a:t>
            </a:r>
            <a:endParaRPr lang="zh-CN" sz="900"/>
          </a:p>
        </p:txBody>
      </p:sp>
      <p:sp>
        <p:nvSpPr>
          <p:cNvPr id="66" name="TextBox 66"/>
          <p:cNvSpPr txBox="1"/>
          <p:nvPr/>
        </p:nvSpPr>
        <p:spPr>
          <a:xfrm>
            <a:off x="6524462" y="2371751"/>
            <a:ext cx="619110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1EE"/>
                </a:solidFill>
                <a:latin typeface="Noto Sans CJK SC"/>
                <a:ea typeface="Noto Sans CJK SC"/>
                <a:cs typeface="Noto Sans CJK SC"/>
              </a:rPr>
              <a:t>实时监控</a:t>
            </a:r>
            <a:endParaRPr lang="zh-CN" sz="950"/>
          </a:p>
        </p:txBody>
      </p:sp>
      <p:sp>
        <p:nvSpPr>
          <p:cNvPr id="67" name="TextBox 67"/>
          <p:cNvSpPr txBox="1"/>
          <p:nvPr/>
        </p:nvSpPr>
        <p:spPr>
          <a:xfrm>
            <a:off x="7696008" y="2371751"/>
            <a:ext cx="609585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1EE"/>
                </a:solidFill>
                <a:latin typeface="Noto Sans CJK SC"/>
                <a:ea typeface="Noto Sans CJK SC"/>
                <a:cs typeface="Noto Sans CJK SC"/>
              </a:rPr>
              <a:t>远程操控</a:t>
            </a:r>
            <a:endParaRPr lang="zh-CN" sz="950"/>
          </a:p>
        </p:txBody>
      </p:sp>
      <p:sp>
        <p:nvSpPr>
          <p:cNvPr id="68" name="TextBox 68"/>
          <p:cNvSpPr txBox="1"/>
          <p:nvPr/>
        </p:nvSpPr>
        <p:spPr>
          <a:xfrm>
            <a:off x="8829454" y="2371751"/>
            <a:ext cx="619110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1EE"/>
                </a:solidFill>
                <a:latin typeface="Noto Sans CJK SC"/>
                <a:ea typeface="Noto Sans CJK SC"/>
                <a:cs typeface="Noto Sans CJK SC"/>
              </a:rPr>
              <a:t>状态监测</a:t>
            </a:r>
            <a:endParaRPr lang="zh-CN" sz="950"/>
          </a:p>
        </p:txBody>
      </p:sp>
      <p:sp>
        <p:nvSpPr>
          <p:cNvPr id="69" name="TextBox 69"/>
          <p:cNvSpPr txBox="1"/>
          <p:nvPr/>
        </p:nvSpPr>
        <p:spPr>
          <a:xfrm>
            <a:off x="9934327" y="2371751"/>
            <a:ext cx="752456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1EE"/>
                </a:solidFill>
                <a:latin typeface="Noto Sans CJK SC"/>
                <a:ea typeface="Noto Sans CJK SC"/>
                <a:cs typeface="Noto Sans CJK SC"/>
              </a:rPr>
              <a:t>多路视频监控</a:t>
            </a:r>
            <a:endParaRPr lang="zh-CN" sz="950"/>
          </a:p>
        </p:txBody>
      </p:sp>
      <p:sp>
        <p:nvSpPr>
          <p:cNvPr id="70" name="TextBox 70"/>
          <p:cNvSpPr txBox="1"/>
          <p:nvPr/>
        </p:nvSpPr>
        <p:spPr>
          <a:xfrm>
            <a:off x="11239219" y="2371751"/>
            <a:ext cx="628634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1EE"/>
                </a:solidFill>
                <a:latin typeface="Noto Sans CJK SC"/>
                <a:ea typeface="Noto Sans CJK SC"/>
                <a:cs typeface="Noto Sans CJK SC"/>
              </a:rPr>
              <a:t>设备管理</a:t>
            </a:r>
            <a:endParaRPr lang="zh-CN" sz="950"/>
          </a:p>
        </p:txBody>
      </p:sp>
      <p:sp>
        <p:nvSpPr>
          <p:cNvPr id="71" name="TextBox 71"/>
          <p:cNvSpPr txBox="1"/>
          <p:nvPr/>
        </p:nvSpPr>
        <p:spPr>
          <a:xfrm>
            <a:off x="1971626" y="5695893"/>
            <a:ext cx="952476" cy="2762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1BD"/>
                </a:solidFill>
                <a:latin typeface="Noto Sans CJK SC"/>
                <a:ea typeface="Noto Sans CJK SC"/>
                <a:cs typeface="Noto Sans CJK SC"/>
              </a:rPr>
              <a:t>人机分离</a:t>
            </a:r>
            <a:endParaRPr lang="zh-CN" sz="1200"/>
          </a:p>
        </p:txBody>
      </p:sp>
      <p:sp>
        <p:nvSpPr>
          <p:cNvPr id="72" name="TextBox 72"/>
          <p:cNvSpPr txBox="1"/>
          <p:nvPr/>
        </p:nvSpPr>
        <p:spPr>
          <a:xfrm>
            <a:off x="1971626" y="5924488"/>
            <a:ext cx="1428714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429E"/>
                </a:solidFill>
                <a:latin typeface="Noto Sans CJK SC"/>
                <a:ea typeface="Noto Sans CJK SC"/>
                <a:cs typeface="Noto Sans CJK SC"/>
              </a:rPr>
              <a:t>远程操控，人员远离危险环境</a:t>
            </a:r>
            <a:endParaRPr lang="zh-CN" sz="800"/>
          </a:p>
        </p:txBody>
      </p:sp>
      <p:sp>
        <p:nvSpPr>
          <p:cNvPr id="73" name="TextBox 73"/>
          <p:cNvSpPr txBox="1"/>
          <p:nvPr/>
        </p:nvSpPr>
        <p:spPr>
          <a:xfrm>
            <a:off x="4352816" y="5695893"/>
            <a:ext cx="1304892" cy="2762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1BD"/>
                </a:solidFill>
                <a:latin typeface="Noto Sans CJK SC"/>
                <a:ea typeface="Noto Sans CJK SC"/>
                <a:cs typeface="Noto Sans CJK SC"/>
              </a:rPr>
              <a:t>远程监测和控制</a:t>
            </a:r>
            <a:endParaRPr lang="zh-CN" sz="1200"/>
          </a:p>
        </p:txBody>
      </p:sp>
      <p:sp>
        <p:nvSpPr>
          <p:cNvPr id="74" name="TextBox 74"/>
          <p:cNvSpPr txBox="1"/>
          <p:nvPr/>
        </p:nvSpPr>
        <p:spPr>
          <a:xfrm>
            <a:off x="4352816" y="5924488"/>
            <a:ext cx="1333467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429E"/>
                </a:solidFill>
                <a:latin typeface="Noto Sans CJK SC"/>
                <a:ea typeface="Noto Sans CJK SC"/>
                <a:cs typeface="Noto Sans CJK SC"/>
              </a:rPr>
              <a:t>随时随地掌握设备运行状态</a:t>
            </a:r>
            <a:endParaRPr lang="zh-CN" sz="800"/>
          </a:p>
        </p:txBody>
      </p:sp>
      <p:sp>
        <p:nvSpPr>
          <p:cNvPr id="75" name="TextBox 75"/>
          <p:cNvSpPr txBox="1"/>
          <p:nvPr/>
        </p:nvSpPr>
        <p:spPr>
          <a:xfrm>
            <a:off x="6457789" y="5695893"/>
            <a:ext cx="1142971" cy="2762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1BD"/>
                </a:solidFill>
                <a:latin typeface="Noto Sans CJK SC"/>
                <a:ea typeface="Noto Sans CJK SC"/>
                <a:cs typeface="Noto Sans CJK SC"/>
              </a:rPr>
              <a:t>数据可视化</a:t>
            </a:r>
            <a:endParaRPr lang="zh-CN" sz="1200"/>
          </a:p>
        </p:txBody>
      </p:sp>
      <p:sp>
        <p:nvSpPr>
          <p:cNvPr id="76" name="TextBox 76"/>
          <p:cNvSpPr txBox="1"/>
          <p:nvPr/>
        </p:nvSpPr>
        <p:spPr>
          <a:xfrm>
            <a:off x="6457789" y="5924488"/>
            <a:ext cx="1171546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429E"/>
                </a:solidFill>
                <a:latin typeface="Noto Sans CJK SC"/>
                <a:ea typeface="Noto Sans CJK SC"/>
                <a:cs typeface="Noto Sans CJK SC"/>
              </a:rPr>
              <a:t>多维数据展示、直观易懂</a:t>
            </a:r>
            <a:endParaRPr lang="zh-CN" sz="800"/>
          </a:p>
        </p:txBody>
      </p:sp>
      <p:sp>
        <p:nvSpPr>
          <p:cNvPr id="77" name="TextBox 77"/>
          <p:cNvSpPr txBox="1"/>
          <p:nvPr/>
        </p:nvSpPr>
        <p:spPr>
          <a:xfrm>
            <a:off x="8391315" y="5695893"/>
            <a:ext cx="2524062" cy="2762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0051BD"/>
                </a:solidFill>
                <a:latin typeface="Noto Sans CJK SC"/>
                <a:ea typeface="Noto Sans CJK SC"/>
                <a:cs typeface="Noto Sans CJK SC"/>
              </a:rPr>
              <a:t>集成多路视频监控、状态监测与远程操控</a:t>
            </a:r>
            <a:endParaRPr lang="zh-CN" sz="1110"/>
          </a:p>
        </p:txBody>
      </p:sp>
      <p:sp>
        <p:nvSpPr>
          <p:cNvPr id="78" name="TextBox 78"/>
          <p:cNvSpPr txBox="1"/>
          <p:nvPr/>
        </p:nvSpPr>
        <p:spPr>
          <a:xfrm>
            <a:off x="8391315" y="5924488"/>
            <a:ext cx="2181170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50">
                <a:solidFill>
                  <a:srgbClr val="00429E"/>
                </a:solidFill>
                <a:latin typeface="Noto Sans CJK SC"/>
                <a:ea typeface="Noto Sans CJK SC"/>
                <a:cs typeface="Noto Sans CJK SC"/>
              </a:rPr>
              <a:t>实现推料设备全流程可视化管控</a:t>
            </a:r>
            <a:endParaRPr lang="zh-CN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xact same blue/cyan curve and data-texture header reused from prior builtin source edit after visual identity/proportion and SHA256 verification. Deterministically normalized from1280x101 to current1278x90. Contains no title; see analysis/reuse-provenance.json."/>
          <p:cNvPicPr/>
          <p:nvPr/>
        </p:nvPicPr>
        <p:blipFill>
          <a:blip r:embed="rId2"/>
          <a:stretch>
            <a:fillRect/>
          </a:stretch>
        </p:blipFill>
        <p:spPr>
          <a:xfrm>
            <a:off x="9373" y="0"/>
            <a:ext cx="12172950" cy="857250"/>
          </a:xfrm>
          <a:prstGeom prst="rect">
            <a:avLst/>
          </a:prstGeom>
        </p:spPr>
      </p:pic>
      <p:pic>
        <p:nvPicPr>
          <p:cNvPr id="3" name="Current-source foreground-free faint engineering line-art region [120,624,591,60]; no ordinary text or icon pixels, no previous-page backdrop."/>
          <p:cNvPicPr/>
          <p:nvPr/>
        </p:nvPicPr>
        <p:blipFill>
          <a:blip r:embed="rId3"/>
          <a:stretch>
            <a:fillRect/>
          </a:stretch>
        </p:blipFill>
        <p:spPr>
          <a:xfrm>
            <a:off x="1152373" y="5943600"/>
            <a:ext cx="5629275" cy="571500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1190473" y="6505575"/>
            <a:ext cx="10991850" cy="35242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805" y="5838"/>
                </a:lnTo>
                <a:cubicBezTo>
                  <a:pt x="973" y="1751"/>
                  <a:pt x="1123" y="584"/>
                  <a:pt x="1366" y="584"/>
                </a:cubicBezTo>
                <a:lnTo>
                  <a:pt x="16340" y="584"/>
                </a:lnTo>
                <a:cubicBezTo>
                  <a:pt x="16808" y="584"/>
                  <a:pt x="16883" y="15178"/>
                  <a:pt x="17463" y="16930"/>
                </a:cubicBezTo>
                <a:lnTo>
                  <a:pt x="21600" y="1693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6C6B4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" name="Ordinary blue/cyan source footer gradient and curved boundary deterministically rebuilt from source geometry/colors; no foreground pixels used."/>
          <p:cNvPicPr/>
          <p:nvPr/>
        </p:nvPicPr>
        <p:blipFill>
          <a:blip r:embed="rId4"/>
          <a:stretch>
            <a:fillRect/>
          </a:stretch>
        </p:blipFill>
        <p:spPr>
          <a:xfrm>
            <a:off x="9373" y="6477000"/>
            <a:ext cx="12172950" cy="381000"/>
          </a:xfrm>
          <a:prstGeom prst="rect">
            <a:avLst/>
          </a:prstGeom>
        </p:spPr>
      </p:pic>
      <p:sp>
        <p:nvSpPr>
          <p:cNvPr id="6" name="Roundrect 6"/>
          <p:cNvSpPr/>
          <p:nvPr/>
        </p:nvSpPr>
        <p:spPr>
          <a:xfrm>
            <a:off x="295123" y="1076325"/>
            <a:ext cx="11601450" cy="2562225"/>
          </a:xfrm>
          <a:prstGeom prst="roundRect">
            <a:avLst>
              <a:gd name="adj" fmla="val 4833"/>
            </a:avLst>
          </a:prstGeom>
          <a:solidFill>
            <a:srgbClr val="EE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95123" y="3781425"/>
            <a:ext cx="6896100" cy="2181225"/>
          </a:xfrm>
          <a:prstGeom prst="roundRect">
            <a:avLst>
              <a:gd name="adj" fmla="val 5677"/>
            </a:avLst>
          </a:prstGeom>
          <a:solidFill>
            <a:srgbClr val="EE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7315048" y="3781425"/>
            <a:ext cx="4581525" cy="2181225"/>
          </a:xfrm>
          <a:prstGeom prst="roundRect">
            <a:avLst>
              <a:gd name="adj" fmla="val 5677"/>
            </a:avLst>
          </a:prstGeom>
          <a:solidFill>
            <a:srgbClr val="EE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04648" y="1057275"/>
            <a:ext cx="11582400" cy="2552700"/>
          </a:xfrm>
          <a:prstGeom prst="roundRect">
            <a:avLst>
              <a:gd name="adj" fmla="val 4478"/>
            </a:avLst>
          </a:prstGeom>
          <a:solidFill>
            <a:srgbClr val="F7FCFF"/>
          </a:solidFill>
          <a:ln w="8890">
            <a:solidFill>
              <a:srgbClr val="D6ECFA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04648" y="3762375"/>
            <a:ext cx="6877050" cy="2171700"/>
          </a:xfrm>
          <a:prstGeom prst="roundRect">
            <a:avLst>
              <a:gd name="adj" fmla="val 5263"/>
            </a:avLst>
          </a:prstGeom>
          <a:solidFill>
            <a:srgbClr val="F7FCFF"/>
          </a:solidFill>
          <a:ln w="8890">
            <a:solidFill>
              <a:srgbClr val="D6ECFA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324573" y="3762375"/>
            <a:ext cx="4562475" cy="2171700"/>
          </a:xfrm>
          <a:prstGeom prst="roundRect">
            <a:avLst>
              <a:gd name="adj" fmla="val 5263"/>
            </a:avLst>
          </a:prstGeom>
          <a:solidFill>
            <a:srgbClr val="F7FCFF"/>
          </a:solidFill>
          <a:ln w="8890">
            <a:solidFill>
              <a:srgbClr val="D6ECFA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14173" y="1066800"/>
            <a:ext cx="11563350" cy="409575"/>
          </a:xfrm>
          <a:prstGeom prst="roundRect">
            <a:avLst>
              <a:gd name="adj" fmla="val 25581"/>
            </a:avLst>
          </a:prstGeom>
          <a:solidFill>
            <a:srgbClr val="E4F3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14173" y="3771900"/>
            <a:ext cx="6858000" cy="409575"/>
          </a:xfrm>
          <a:prstGeom prst="roundRect">
            <a:avLst>
              <a:gd name="adj" fmla="val 25581"/>
            </a:avLst>
          </a:prstGeom>
          <a:solidFill>
            <a:srgbClr val="E4F3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7334098" y="3771900"/>
            <a:ext cx="4543425" cy="409575"/>
          </a:xfrm>
          <a:prstGeom prst="roundRect">
            <a:avLst>
              <a:gd name="adj" fmla="val 25581"/>
            </a:avLst>
          </a:prstGeom>
          <a:solidFill>
            <a:srgbClr val="E4F3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th 15"/>
          <p:cNvSpPr/>
          <p:nvPr/>
        </p:nvSpPr>
        <p:spPr>
          <a:xfrm>
            <a:off x="304648" y="1038225"/>
            <a:ext cx="2819400" cy="4191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78" y="0"/>
                </a:moveTo>
                <a:lnTo>
                  <a:pt x="19046" y="0"/>
                </a:lnTo>
                <a:cubicBezTo>
                  <a:pt x="19849" y="0"/>
                  <a:pt x="19849" y="2455"/>
                  <a:pt x="20432" y="834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0800"/>
                </a:lnTo>
                <a:cubicBezTo>
                  <a:pt x="0" y="3927"/>
                  <a:pt x="657" y="0"/>
                  <a:pt x="1678" y="0"/>
                </a:cubicBezTo>
                <a:close/>
              </a:path>
            </a:pathLst>
          </a:custGeom>
          <a:solidFill>
            <a:srgbClr val="139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ath 16"/>
          <p:cNvSpPr/>
          <p:nvPr/>
        </p:nvSpPr>
        <p:spPr>
          <a:xfrm>
            <a:off x="304648" y="3752850"/>
            <a:ext cx="2600325" cy="4191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820" y="0"/>
                </a:moveTo>
                <a:lnTo>
                  <a:pt x="18831" y="0"/>
                </a:lnTo>
                <a:cubicBezTo>
                  <a:pt x="19701" y="0"/>
                  <a:pt x="19701" y="2455"/>
                  <a:pt x="20334" y="834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0800"/>
                </a:lnTo>
                <a:cubicBezTo>
                  <a:pt x="0" y="3927"/>
                  <a:pt x="712" y="0"/>
                  <a:pt x="1820" y="0"/>
                </a:cubicBezTo>
                <a:close/>
              </a:path>
            </a:pathLst>
          </a:custGeom>
          <a:solidFill>
            <a:srgbClr val="139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7324573" y="3752850"/>
            <a:ext cx="2152650" cy="4191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98" y="0"/>
                </a:moveTo>
                <a:lnTo>
                  <a:pt x="18255" y="0"/>
                </a:lnTo>
                <a:cubicBezTo>
                  <a:pt x="19306" y="0"/>
                  <a:pt x="19306" y="2455"/>
                  <a:pt x="20071" y="8345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10800"/>
                </a:lnTo>
                <a:cubicBezTo>
                  <a:pt x="0" y="3927"/>
                  <a:pt x="860" y="0"/>
                  <a:pt x="2198" y="0"/>
                </a:cubicBezTo>
                <a:close/>
              </a:path>
            </a:pathLst>
          </a:custGeom>
          <a:solidFill>
            <a:srgbClr val="139D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7438873" y="4295775"/>
            <a:ext cx="2124075" cy="723900"/>
          </a:xfrm>
          <a:prstGeom prst="roundRect">
            <a:avLst>
              <a:gd name="adj" fmla="val 15789"/>
            </a:avLst>
          </a:prstGeom>
          <a:solidFill>
            <a:srgbClr val="F8FCFF"/>
          </a:solidFill>
          <a:ln w="8255">
            <a:solidFill>
              <a:srgbClr val="E5F1F9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9610573" y="4295775"/>
            <a:ext cx="2143125" cy="723900"/>
          </a:xfrm>
          <a:prstGeom prst="roundRect">
            <a:avLst>
              <a:gd name="adj" fmla="val 15789"/>
            </a:avLst>
          </a:prstGeom>
          <a:solidFill>
            <a:srgbClr val="F8FCFF"/>
          </a:solidFill>
          <a:ln w="8255">
            <a:solidFill>
              <a:srgbClr val="E5F1F9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7438873" y="5086350"/>
            <a:ext cx="2124075" cy="733425"/>
          </a:xfrm>
          <a:prstGeom prst="roundRect">
            <a:avLst>
              <a:gd name="adj" fmla="val 15584"/>
            </a:avLst>
          </a:prstGeom>
          <a:solidFill>
            <a:srgbClr val="F8FCFF"/>
          </a:solidFill>
          <a:ln w="8255">
            <a:solidFill>
              <a:srgbClr val="E5F1F9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9610573" y="5086350"/>
            <a:ext cx="2143125" cy="733425"/>
          </a:xfrm>
          <a:prstGeom prst="roundRect">
            <a:avLst>
              <a:gd name="adj" fmla="val 15584"/>
            </a:avLst>
          </a:prstGeom>
          <a:solidFill>
            <a:srgbClr val="F8FCFF"/>
          </a:solidFill>
          <a:ln w="8255">
            <a:solidFill>
              <a:srgbClr val="E5F1F9"/>
            </a:solidFill>
          </a:ln>
        </p:spPr>
        <p:txBody>
          <a:bodyPr/>
          <a:lstStyle/>
          <a:p/>
        </p:txBody>
      </p:sp>
      <p:graphicFrame>
        <p:nvGraphicFramePr>
          <p:cNvPr id="22" name="Table 22"/>
          <p:cNvGraphicFramePr/>
          <p:nvPr/>
        </p:nvGraphicFramePr>
        <p:xfrm>
          <a:off x="428473" y="4305300"/>
          <a:ext cx="6629400" cy="1552575"/>
        </p:xfrm>
        <a:graphic>
          <a:graphicData uri="http://schemas.openxmlformats.org/drawingml/2006/table">
            <a:tbl>
              <a:tblPr/>
              <a:tblGrid>
                <a:gridCol w="2533650"/>
                <a:gridCol w="1752600"/>
                <a:gridCol w="2343150"/>
              </a:tblGrid>
              <a:tr h="38100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100" b="1">
                          <a:solidFill>
                            <a:srgbClr val="0054D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应用场景</a:t>
                      </a:r>
                      <a:endParaRPr lang="zh-CN" sz="1100"/>
                    </a:p>
                  </a:txBody>
                  <a:tcPr marL="1051560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DDEFFC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100" b="1">
                          <a:solidFill>
                            <a:srgbClr val="0054D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养殖类型</a:t>
                      </a:r>
                      <a:endParaRPr lang="zh-CN" sz="1100"/>
                    </a:p>
                  </a:txBody>
                  <a:tcPr marL="658368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DDEFFC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100" b="1">
                          <a:solidFill>
                            <a:srgbClr val="0054D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部署时间</a:t>
                      </a:r>
                      <a:endParaRPr lang="zh-CN" sz="1100"/>
                    </a:p>
                  </a:txBody>
                  <a:tcPr marL="804672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DDEFFC"/>
                    </a:solidFill>
                  </a:tcPr>
                </a:tc>
              </a:tr>
              <a:tr h="390525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平台堡奶牛六场</a:t>
                      </a:r>
                      <a:endParaRPr lang="zh-CN" sz="1040"/>
                    </a:p>
                  </a:txBody>
                  <a:tcPr marL="704088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6FB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奶牛场（规模化）</a:t>
                      </a:r>
                      <a:endParaRPr lang="zh-CN" sz="1040"/>
                    </a:p>
                  </a:txBody>
                  <a:tcPr marL="201168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6FB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2025年6月 – 2025年12月</a:t>
                      </a:r>
                      <a:endParaRPr lang="zh-CN" sz="1040"/>
                    </a:p>
                  </a:txBody>
                  <a:tcPr marL="576072" marR="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6FBFF"/>
                    </a:solidFill>
                  </a:tcPr>
                </a:tc>
              </a:tr>
              <a:tr h="38100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天源良种羊繁育养殖有限公司</a:t>
                      </a:r>
                      <a:endParaRPr lang="zh-CN" sz="1040"/>
                    </a:p>
                  </a:txBody>
                  <a:tcPr marL="704088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0F8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肉羊场（生态养殖）</a:t>
                      </a:r>
                      <a:endParaRPr lang="zh-CN" sz="1040"/>
                    </a:p>
                  </a:txBody>
                  <a:tcPr marL="201168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0F8FE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2026年1月 – 至今</a:t>
                      </a:r>
                      <a:endParaRPr lang="zh-CN" sz="1040"/>
                    </a:p>
                  </a:txBody>
                  <a:tcPr marL="576072" marR="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0F8FE"/>
                    </a:solidFill>
                  </a:tcPr>
                </a:tc>
              </a:tr>
              <a:tr h="4000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茂胜牧场</a:t>
                      </a:r>
                      <a:endParaRPr lang="zh-CN" sz="1040"/>
                    </a:p>
                  </a:txBody>
                  <a:tcPr marL="704088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6FB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奶牛场（标准化）</a:t>
                      </a:r>
                      <a:endParaRPr lang="zh-CN" sz="1040"/>
                    </a:p>
                  </a:txBody>
                  <a:tcPr marL="201168" marR="2286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6FBFF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1040" b="1">
                          <a:solidFill>
                            <a:srgbClr val="10225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2026年2月27日 – 至今</a:t>
                      </a:r>
                      <a:endParaRPr lang="zh-CN" sz="1040"/>
                    </a:p>
                  </a:txBody>
                  <a:tcPr marL="576072" marR="0" marT="0" marB="0" anchor="ctr">
                    <a:lnL w="7620">
                      <a:solidFill>
                        <a:srgbClr val="DDEFFA"/>
                      </a:solidFill>
                    </a:lnL>
                    <a:lnR w="7620">
                      <a:solidFill>
                        <a:srgbClr val="DDEFFA"/>
                      </a:solidFill>
                    </a:lnR>
                    <a:lnT w="7620">
                      <a:solidFill>
                        <a:srgbClr val="DDEFFA"/>
                      </a:solidFill>
                    </a:lnT>
                    <a:lnB w="7620">
                      <a:solidFill>
                        <a:srgbClr val="DDEFFA"/>
                      </a:solidFill>
                    </a:lnB>
                    <a:solidFill>
                      <a:srgbClr val="F6FBFF"/>
                    </a:solidFill>
                  </a:tcPr>
                </a:tc>
              </a:tr>
            </a:tbl>
          </a:graphicData>
        </a:graphic>
      </p:graphicFrame>
      <p:pic>
        <p:nvPicPr>
          <p:cNvPr id="23" name="Independent source photograph builtin image-edit separation, explicit returned output imported and full photo region split by CLI; deterministic aspect/padding and10px corner normalization only. Robot/equipment/people/stalls and natural colors preserved; photograph signage/packaging if any is identity exception."/>
          <p:cNvPicPr/>
          <p:nvPr/>
        </p:nvPicPr>
        <p:blipFill>
          <a:blip r:embed="rId7"/>
          <a:stretch>
            <a:fillRect/>
          </a:stretch>
        </p:blipFill>
        <p:spPr>
          <a:xfrm>
            <a:off x="418948" y="1628775"/>
            <a:ext cx="2181225" cy="1562100"/>
          </a:xfrm>
          <a:prstGeom prst="rect">
            <a:avLst/>
          </a:prstGeom>
        </p:spPr>
      </p:pic>
      <p:pic>
        <p:nvPicPr>
          <p:cNvPr id="24" name="Independent source photograph builtin image-edit separation, explicit returned output imported and full photo region split by CLI; deterministic aspect/padding and10px corner normalization only. Robot/equipment/people/stalls and natural colors preserved; photograph signage/packaging if any is identity exception."/>
          <p:cNvPicPr/>
          <p:nvPr/>
        </p:nvPicPr>
        <p:blipFill>
          <a:blip r:embed="rId8"/>
          <a:stretch>
            <a:fillRect/>
          </a:stretch>
        </p:blipFill>
        <p:spPr>
          <a:xfrm>
            <a:off x="2714473" y="1628775"/>
            <a:ext cx="2181225" cy="1562100"/>
          </a:xfrm>
          <a:prstGeom prst="rect">
            <a:avLst/>
          </a:prstGeom>
        </p:spPr>
      </p:pic>
      <p:pic>
        <p:nvPicPr>
          <p:cNvPr id="25" name="Independent source photograph builtin image-edit separation, explicit returned output imported and full photo region split by CLI; deterministic aspect/padding and10px corner normalization only. Robot/equipment/people/stalls and natural colors preserved; photograph signage/packaging if any is identity excep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5009998" y="1628775"/>
            <a:ext cx="2190750" cy="1562100"/>
          </a:xfrm>
          <a:prstGeom prst="rect">
            <a:avLst/>
          </a:prstGeom>
        </p:spPr>
      </p:pic>
      <p:pic>
        <p:nvPicPr>
          <p:cNvPr id="26" name="Independent source photograph builtin image-edit separation, explicit returned output imported and full photo region split by CLI; deterministic aspect/padding and10px corner normalization only. Robot/equipment/people/stalls and natural colors preserved; photograph signage/packaging if any is identity exception."/>
          <p:cNvPicPr/>
          <p:nvPr/>
        </p:nvPicPr>
        <p:blipFill>
          <a:blip r:embed="rId10"/>
          <a:stretch>
            <a:fillRect/>
          </a:stretch>
        </p:blipFill>
        <p:spPr>
          <a:xfrm>
            <a:off x="7305523" y="1628775"/>
            <a:ext cx="2181225" cy="1562100"/>
          </a:xfrm>
          <a:prstGeom prst="rect">
            <a:avLst/>
          </a:prstGeom>
        </p:spPr>
      </p:pic>
      <p:pic>
        <p:nvPicPr>
          <p:cNvPr id="27" name="Independent source photograph builtin image-edit separation, explicit returned output imported and full photo region split by CLI; deterministic aspect/padding and10px corner normalization only. Robot/equipment/people/stalls and natural colors preserved; photograph signage/packaging if any is identity exception."/>
          <p:cNvPicPr/>
          <p:nvPr/>
        </p:nvPicPr>
        <p:blipFill>
          <a:blip r:embed="rId11"/>
          <a:stretch>
            <a:fillRect/>
          </a:stretch>
        </p:blipFill>
        <p:spPr>
          <a:xfrm>
            <a:off x="9610573" y="1628775"/>
            <a:ext cx="2171700" cy="1562100"/>
          </a:xfrm>
          <a:prstGeom prst="rect">
            <a:avLst/>
          </a:prstGeom>
        </p:spPr>
      </p:pic>
      <p:sp>
        <p:nvSpPr>
          <p:cNvPr id="28" name="Roundrect 28"/>
          <p:cNvSpPr/>
          <p:nvPr/>
        </p:nvSpPr>
        <p:spPr>
          <a:xfrm>
            <a:off x="418948" y="3114675"/>
            <a:ext cx="2181225" cy="390525"/>
          </a:xfrm>
          <a:prstGeom prst="roundRect">
            <a:avLst>
              <a:gd name="adj" fmla="val 24390"/>
            </a:avLst>
          </a:prstGeom>
          <a:solidFill>
            <a:srgbClr val="0079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2714473" y="3114675"/>
            <a:ext cx="2181225" cy="390525"/>
          </a:xfrm>
          <a:prstGeom prst="roundRect">
            <a:avLst>
              <a:gd name="adj" fmla="val 24390"/>
            </a:avLst>
          </a:prstGeom>
          <a:solidFill>
            <a:srgbClr val="FF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5009998" y="3114675"/>
            <a:ext cx="2190750" cy="390525"/>
          </a:xfrm>
          <a:prstGeom prst="roundRect">
            <a:avLst>
              <a:gd name="adj" fmla="val 24390"/>
            </a:avLst>
          </a:prstGeom>
          <a:solidFill>
            <a:srgbClr val="00AE65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7305523" y="3114675"/>
            <a:ext cx="2181225" cy="390525"/>
          </a:xfrm>
          <a:prstGeom prst="roundRect">
            <a:avLst>
              <a:gd name="adj" fmla="val 24390"/>
            </a:avLst>
          </a:prstGeom>
          <a:solidFill>
            <a:srgbClr val="9945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9610573" y="3114675"/>
            <a:ext cx="2171700" cy="390525"/>
          </a:xfrm>
          <a:prstGeom prst="roundRect">
            <a:avLst>
              <a:gd name="adj" fmla="val 24390"/>
            </a:avLst>
          </a:prstGeom>
          <a:solidFill>
            <a:srgbClr val="00BFF1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3" name="Exact current source brand identity visually compared with original source and prior separated asset. Prior actual builtin-imagegen producer and sheet/asset hashes verified and honestly imported; all tiny brand lettering is identity exception. See analysis/reuse-provenance.json."/>
          <p:cNvPicPr/>
          <p:nvPr/>
        </p:nvPicPr>
        <p:blipFill>
          <a:blip r:embed="rId5"/>
          <a:stretch>
            <a:fillRect/>
          </a:stretch>
        </p:blipFill>
        <p:spPr>
          <a:xfrm>
            <a:off x="266548" y="6134100"/>
            <a:ext cx="942975" cy="590550"/>
          </a:xfrm>
          <a:prstGeom prst="rect">
            <a:avLst/>
          </a:prstGeom>
        </p:spPr>
      </p:pic>
      <p:pic>
        <p:nvPicPr>
          <p:cNvPr id="34" name="Exact current source brand identity visually compared with original source and prior separated asset. Prior actual builtin-imagegen producer and sheet/asset hashes verified and honestly imported; all tiny brand lettering is identity exception. See analysis/reuse-provenance.json."/>
          <p:cNvPicPr/>
          <p:nvPr/>
        </p:nvPicPr>
        <p:blipFill>
          <a:blip r:embed="rId6"/>
          <a:stretch>
            <a:fillRect/>
          </a:stretch>
        </p:blipFill>
        <p:spPr>
          <a:xfrm>
            <a:off x="10163023" y="6143625"/>
            <a:ext cx="1714500" cy="552450"/>
          </a:xfrm>
          <a:prstGeom prst="rect">
            <a:avLst/>
          </a:prstGeom>
        </p:spPr>
      </p:pic>
      <p:pic>
        <p:nvPicPr>
          <p:cNvPr id="35" name="Current-source builtin image edit, complete-object disjoint region processed by CLI without despill. Original white cube with blue/cyan hexagon header identity."/>
          <p:cNvPicPr/>
          <p:nvPr/>
        </p:nvPicPr>
        <p:blipFill>
          <a:blip r:embed="rId12"/>
          <a:stretch>
            <a:fillRect/>
          </a:stretch>
        </p:blipFill>
        <p:spPr>
          <a:xfrm>
            <a:off x="468872" y="1016833"/>
            <a:ext cx="592794" cy="480934"/>
          </a:xfrm>
          <a:prstGeom prst="rect">
            <a:avLst/>
          </a:prstGeom>
        </p:spPr>
      </p:pic>
      <p:pic>
        <p:nvPicPr>
          <p:cNvPr id="36" name="Current-source builtin image edit, complete-object disjoint region processed by CLI without despill. Original white gear on cyan/blue hexagon."/>
          <p:cNvPicPr/>
          <p:nvPr/>
        </p:nvPicPr>
        <p:blipFill>
          <a:blip r:embed="rId13"/>
          <a:stretch>
            <a:fillRect/>
          </a:stretch>
        </p:blipFill>
        <p:spPr>
          <a:xfrm>
            <a:off x="469240" y="3743481"/>
            <a:ext cx="594741" cy="456888"/>
          </a:xfrm>
          <a:prstGeom prst="rect">
            <a:avLst/>
          </a:prstGeom>
        </p:spPr>
      </p:pic>
      <p:pic>
        <p:nvPicPr>
          <p:cNvPr id="37" name="Current-source builtin image edit, complete-object disjoint region processed by CLI without despill. Original white diamond on cyan/blue hexagon."/>
          <p:cNvPicPr/>
          <p:nvPr/>
        </p:nvPicPr>
        <p:blipFill>
          <a:blip r:embed="rId14"/>
          <a:stretch>
            <a:fillRect/>
          </a:stretch>
        </p:blipFill>
        <p:spPr>
          <a:xfrm>
            <a:off x="7488797" y="3744982"/>
            <a:ext cx="595477" cy="444362"/>
          </a:xfrm>
          <a:prstGeom prst="rect">
            <a:avLst/>
          </a:prstGeom>
        </p:spPr>
      </p:pic>
      <p:pic>
        <p:nvPicPr>
          <p:cNvPr id="38" name="Current-source builtin image edit, complete-object disjoint region processed by CLI without despill. White source building photo-caption pictogram."/>
          <p:cNvPicPr/>
          <p:nvPr/>
        </p:nvPicPr>
        <p:blipFill>
          <a:blip r:embed="rId15"/>
          <a:stretch>
            <a:fillRect/>
          </a:stretch>
        </p:blipFill>
        <p:spPr>
          <a:xfrm>
            <a:off x="530031" y="3175000"/>
            <a:ext cx="263609" cy="279400"/>
          </a:xfrm>
          <a:prstGeom prst="rect">
            <a:avLst/>
          </a:prstGeom>
        </p:spPr>
      </p:pic>
      <p:pic>
        <p:nvPicPr>
          <p:cNvPr id="39" name="Current-source builtin image edit, complete-object disjoint region processed by CLI without despill. White source sprout caption pictogram."/>
          <p:cNvPicPr/>
          <p:nvPr/>
        </p:nvPicPr>
        <p:blipFill>
          <a:blip r:embed="rId16"/>
          <a:stretch>
            <a:fillRect/>
          </a:stretch>
        </p:blipFill>
        <p:spPr>
          <a:xfrm>
            <a:off x="2827130" y="3177054"/>
            <a:ext cx="279509" cy="275291"/>
          </a:xfrm>
          <a:prstGeom prst="rect">
            <a:avLst/>
          </a:prstGeom>
        </p:spPr>
      </p:pic>
      <p:pic>
        <p:nvPicPr>
          <p:cNvPr id="40" name="Current-source builtin image edit, complete-object disjoint region processed by CLI without despill. White cow caption pictogram."/>
          <p:cNvPicPr/>
          <p:nvPr/>
        </p:nvPicPr>
        <p:blipFill>
          <a:blip r:embed="rId17"/>
          <a:stretch>
            <a:fillRect/>
          </a:stretch>
        </p:blipFill>
        <p:spPr>
          <a:xfrm>
            <a:off x="5108672" y="3195819"/>
            <a:ext cx="326526" cy="247286"/>
          </a:xfrm>
          <a:prstGeom prst="rect">
            <a:avLst/>
          </a:prstGeom>
        </p:spPr>
      </p:pic>
      <p:pic>
        <p:nvPicPr>
          <p:cNvPr id="41" name="Current-source builtin image edit, complete-object disjoint region processed by CLI without despill. White rounded sheep/pig caption pictogram as source."/>
          <p:cNvPicPr/>
          <p:nvPr/>
        </p:nvPicPr>
        <p:blipFill>
          <a:blip r:embed="rId18"/>
          <a:stretch>
            <a:fillRect/>
          </a:stretch>
        </p:blipFill>
        <p:spPr>
          <a:xfrm>
            <a:off x="7393404" y="3192975"/>
            <a:ext cx="310012" cy="262500"/>
          </a:xfrm>
          <a:prstGeom prst="rect">
            <a:avLst/>
          </a:prstGeom>
        </p:spPr>
      </p:pic>
      <p:pic>
        <p:nvPicPr>
          <p:cNvPr id="42" name="Current-source builtin image edit, complete-object disjoint region processed by CLI without despill. White barn/house caption pictogram."/>
          <p:cNvPicPr/>
          <p:nvPr/>
        </p:nvPicPr>
        <p:blipFill>
          <a:blip r:embed="rId19"/>
          <a:stretch>
            <a:fillRect/>
          </a:stretch>
        </p:blipFill>
        <p:spPr>
          <a:xfrm>
            <a:off x="9707979" y="3173913"/>
            <a:ext cx="310012" cy="291100"/>
          </a:xfrm>
          <a:prstGeom prst="rect">
            <a:avLst/>
          </a:prstGeom>
        </p:spPr>
      </p:pic>
      <p:pic>
        <p:nvPicPr>
          <p:cNvPr id="43" name="Current-source builtin image edit, complete-object disjoint region processed by CLI without despill. Blue map-pin table header icon, independent overlay."/>
          <p:cNvPicPr/>
          <p:nvPr/>
        </p:nvPicPr>
        <p:blipFill>
          <a:blip r:embed="rId20"/>
          <a:stretch>
            <a:fillRect/>
          </a:stretch>
        </p:blipFill>
        <p:spPr>
          <a:xfrm>
            <a:off x="1177717" y="4368546"/>
            <a:ext cx="216010" cy="264033"/>
          </a:xfrm>
          <a:prstGeom prst="rect">
            <a:avLst/>
          </a:prstGeom>
        </p:spPr>
      </p:pic>
      <p:pic>
        <p:nvPicPr>
          <p:cNvPr id="44" name="Current-source builtin image edit, complete-object disjoint region processed by CLI without despill. Blue building table header icon, independent overlay."/>
          <p:cNvPicPr/>
          <p:nvPr/>
        </p:nvPicPr>
        <p:blipFill>
          <a:blip r:embed="rId21"/>
          <a:stretch>
            <a:fillRect/>
          </a:stretch>
        </p:blipFill>
        <p:spPr>
          <a:xfrm>
            <a:off x="3326163" y="4369578"/>
            <a:ext cx="233943" cy="261968"/>
          </a:xfrm>
          <a:prstGeom prst="rect">
            <a:avLst/>
          </a:prstGeom>
        </p:spPr>
      </p:pic>
      <p:pic>
        <p:nvPicPr>
          <p:cNvPr id="45" name="Current-source builtin image edit, complete-object disjoint region processed by CLI without despill. Blue calendar table header icon, independent overlay."/>
          <p:cNvPicPr/>
          <p:nvPr/>
        </p:nvPicPr>
        <p:blipFill>
          <a:blip r:embed="rId22"/>
          <a:stretch>
            <a:fillRect/>
          </a:stretch>
        </p:blipFill>
        <p:spPr>
          <a:xfrm>
            <a:off x="5191745" y="4378973"/>
            <a:ext cx="227055" cy="252704"/>
          </a:xfrm>
          <a:prstGeom prst="rect">
            <a:avLst/>
          </a:prstGeom>
        </p:spPr>
      </p:pic>
      <p:pic>
        <p:nvPicPr>
          <p:cNvPr id="46" name="Current-source builtin image edit, complete-object disjoint region processed by CLI without despill. Blue cow row icon independently positioned at source first-column icon gutter."/>
          <p:cNvPicPr/>
          <p:nvPr/>
        </p:nvPicPr>
        <p:blipFill>
          <a:blip r:embed="rId23"/>
          <a:stretch>
            <a:fillRect/>
          </a:stretch>
        </p:blipFill>
        <p:spPr>
          <a:xfrm>
            <a:off x="596748" y="4778473"/>
            <a:ext cx="301625" cy="234755"/>
          </a:xfrm>
          <a:prstGeom prst="rect">
            <a:avLst/>
          </a:prstGeom>
        </p:spPr>
      </p:pic>
      <p:pic>
        <p:nvPicPr>
          <p:cNvPr id="47" name="Current-source builtin image edit, complete-object disjoint region processed by CLI without despill. Orange source sheep/pig row icon, independent source-position overlay."/>
          <p:cNvPicPr/>
          <p:nvPr/>
        </p:nvPicPr>
        <p:blipFill>
          <a:blip r:embed="rId24"/>
          <a:stretch>
            <a:fillRect/>
          </a:stretch>
        </p:blipFill>
        <p:spPr>
          <a:xfrm>
            <a:off x="593220" y="5165903"/>
            <a:ext cx="308681" cy="250469"/>
          </a:xfrm>
          <a:prstGeom prst="rect">
            <a:avLst/>
          </a:prstGeom>
        </p:spPr>
      </p:pic>
      <p:pic>
        <p:nvPicPr>
          <p:cNvPr id="48" name="Current-source builtin image edit, complete-object disjoint region processed by CLI without despill. Green barn/house row icon, independent source-position overlay."/>
          <p:cNvPicPr/>
          <p:nvPr/>
        </p:nvPicPr>
        <p:blipFill>
          <a:blip r:embed="rId25"/>
          <a:stretch>
            <a:fillRect/>
          </a:stretch>
        </p:blipFill>
        <p:spPr>
          <a:xfrm>
            <a:off x="593436" y="5525278"/>
            <a:ext cx="308248" cy="303245"/>
          </a:xfrm>
          <a:prstGeom prst="rect">
            <a:avLst/>
          </a:prstGeom>
        </p:spPr>
      </p:pic>
      <p:pic>
        <p:nvPicPr>
          <p:cNvPr id="49" name="Current-source builtin image edit, complete-object disjoint region processed by CLI without despill. Calendar independent overlay in third-column padding, duplicate reuse of same source calendar identity."/>
          <p:cNvPicPr/>
          <p:nvPr/>
        </p:nvPicPr>
        <p:blipFill>
          <a:blip r:embed="rId26"/>
          <a:stretch>
            <a:fillRect/>
          </a:stretch>
        </p:blipFill>
        <p:spPr>
          <a:xfrm>
            <a:off x="4915520" y="4790103"/>
            <a:ext cx="227055" cy="240069"/>
          </a:xfrm>
          <a:prstGeom prst="rect">
            <a:avLst/>
          </a:prstGeom>
        </p:spPr>
      </p:pic>
      <p:pic>
        <p:nvPicPr>
          <p:cNvPr id="50" name="Current-source builtin image edit, complete-object disjoint region processed by CLI without despill. Calendar independent overlay, row2."/>
          <p:cNvPicPr/>
          <p:nvPr/>
        </p:nvPicPr>
        <p:blipFill>
          <a:blip r:embed="rId27"/>
          <a:stretch>
            <a:fillRect/>
          </a:stretch>
        </p:blipFill>
        <p:spPr>
          <a:xfrm>
            <a:off x="4915520" y="5180628"/>
            <a:ext cx="227055" cy="240069"/>
          </a:xfrm>
          <a:prstGeom prst="rect">
            <a:avLst/>
          </a:prstGeom>
        </p:spPr>
      </p:pic>
      <p:pic>
        <p:nvPicPr>
          <p:cNvPr id="51" name="Current-source builtin image edit, complete-object disjoint region processed by CLI without despill. Calendar independent overlay, row3."/>
          <p:cNvPicPr/>
          <p:nvPr/>
        </p:nvPicPr>
        <p:blipFill>
          <a:blip r:embed="rId28"/>
          <a:stretch>
            <a:fillRect/>
          </a:stretch>
        </p:blipFill>
        <p:spPr>
          <a:xfrm>
            <a:off x="4915520" y="5571153"/>
            <a:ext cx="227055" cy="240069"/>
          </a:xfrm>
          <a:prstGeom prst="rect">
            <a:avLst/>
          </a:prstGeom>
        </p:spPr>
      </p:pic>
      <p:pic>
        <p:nvPicPr>
          <p:cNvPr id="52" name="Current-source builtin image edit, complete-object disjoint region processed by CLI without despill. Original complete blue circular growth-bars/arrow value icon with ring."/>
          <p:cNvPicPr/>
          <p:nvPr/>
        </p:nvPicPr>
        <p:blipFill>
          <a:blip r:embed="rId29"/>
          <a:stretch>
            <a:fillRect/>
          </a:stretch>
        </p:blipFill>
        <p:spPr>
          <a:xfrm>
            <a:off x="7455784" y="4308261"/>
            <a:ext cx="711459" cy="707466"/>
          </a:xfrm>
          <a:prstGeom prst="rect">
            <a:avLst/>
          </a:prstGeom>
        </p:spPr>
      </p:pic>
      <p:pic>
        <p:nvPicPr>
          <p:cNvPr id="53" name="Current-source builtin image edit, complete-object disjoint region processed by CLI without despill. Original complete orange circular shield value icon."/>
          <p:cNvPicPr/>
          <p:nvPr/>
        </p:nvPicPr>
        <p:blipFill>
          <a:blip r:embed="rId30"/>
          <a:stretch>
            <a:fillRect/>
          </a:stretch>
        </p:blipFill>
        <p:spPr>
          <a:xfrm>
            <a:off x="9627373" y="4310743"/>
            <a:ext cx="680631" cy="702712"/>
          </a:xfrm>
          <a:prstGeom prst="rect">
            <a:avLst/>
          </a:prstGeom>
        </p:spPr>
      </p:pic>
      <p:pic>
        <p:nvPicPr>
          <p:cNvPr id="54" name="Current-source builtin image edit, complete-object disjoint region processed by CLI without despill. Original complete green circular leaf value icon."/>
          <p:cNvPicPr/>
          <p:nvPr/>
        </p:nvPicPr>
        <p:blipFill>
          <a:blip r:embed="rId31"/>
          <a:stretch>
            <a:fillRect/>
          </a:stretch>
        </p:blipFill>
        <p:spPr>
          <a:xfrm>
            <a:off x="7445350" y="5100297"/>
            <a:ext cx="720471" cy="714424"/>
          </a:xfrm>
          <a:prstGeom prst="rect">
            <a:avLst/>
          </a:prstGeom>
        </p:spPr>
      </p:pic>
      <p:pic>
        <p:nvPicPr>
          <p:cNvPr id="55" name="Original purple pie-value icon repaired through a source-faithful targeted builtin image edit on green key after actual magenta/purple collision; complete circular source icon, no ordinary text."/>
          <p:cNvPicPr/>
          <p:nvPr/>
        </p:nvPicPr>
        <p:blipFill>
          <a:blip r:embed="rId32"/>
          <a:stretch>
            <a:fillRect/>
          </a:stretch>
        </p:blipFill>
        <p:spPr>
          <a:xfrm>
            <a:off x="9677037" y="5143236"/>
            <a:ext cx="619546" cy="619653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923773" y="3181350"/>
            <a:ext cx="162877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宁夏玖倍尔农业发展有限公司</a:t>
            </a:r>
            <a:endParaRPr lang="zh-CN" sz="930"/>
          </a:p>
        </p:txBody>
      </p:sp>
      <p:sp>
        <p:nvSpPr>
          <p:cNvPr id="57" name="TextBox 57"/>
          <p:cNvSpPr txBox="1"/>
          <p:nvPr/>
        </p:nvSpPr>
        <p:spPr>
          <a:xfrm>
            <a:off x="3343123" y="3181350"/>
            <a:ext cx="1419225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暖泉农场</a:t>
            </a:r>
            <a:endParaRPr lang="zh-CN" sz="1070"/>
          </a:p>
        </p:txBody>
      </p:sp>
      <p:sp>
        <p:nvSpPr>
          <p:cNvPr id="58" name="TextBox 58"/>
          <p:cNvSpPr txBox="1"/>
          <p:nvPr/>
        </p:nvSpPr>
        <p:spPr>
          <a:xfrm>
            <a:off x="5533873" y="3181350"/>
            <a:ext cx="156210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平台堡奶牛六场</a:t>
            </a:r>
            <a:endParaRPr lang="zh-CN" sz="1060"/>
          </a:p>
        </p:txBody>
      </p:sp>
      <p:sp>
        <p:nvSpPr>
          <p:cNvPr id="59" name="TextBox 59"/>
          <p:cNvSpPr txBox="1"/>
          <p:nvPr/>
        </p:nvSpPr>
        <p:spPr>
          <a:xfrm>
            <a:off x="7791298" y="3181350"/>
            <a:ext cx="165735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天源良种羊繁育养殖有限公司</a:t>
            </a:r>
            <a:endParaRPr lang="zh-CN" sz="930"/>
          </a:p>
        </p:txBody>
      </p:sp>
      <p:sp>
        <p:nvSpPr>
          <p:cNvPr id="60" name="TextBox 60"/>
          <p:cNvSpPr txBox="1"/>
          <p:nvPr/>
        </p:nvSpPr>
        <p:spPr>
          <a:xfrm>
            <a:off x="10143973" y="3181350"/>
            <a:ext cx="1485900" cy="247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茂胜牧场</a:t>
            </a:r>
            <a:endParaRPr lang="zh-CN" sz="1070"/>
          </a:p>
        </p:txBody>
      </p:sp>
      <p:sp>
        <p:nvSpPr>
          <p:cNvPr id="61" name="TextBox 61"/>
          <p:cNvSpPr txBox="1"/>
          <p:nvPr/>
        </p:nvSpPr>
        <p:spPr>
          <a:xfrm>
            <a:off x="237973" y="180975"/>
            <a:ext cx="1866900" cy="581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项目应用</a:t>
            </a:r>
            <a:endParaRPr lang="zh-CN" sz="3500"/>
          </a:p>
        </p:txBody>
      </p:sp>
      <p:sp>
        <p:nvSpPr>
          <p:cNvPr id="62" name="TextBox 62"/>
          <p:cNvSpPr txBox="1"/>
          <p:nvPr/>
        </p:nvSpPr>
        <p:spPr>
          <a:xfrm>
            <a:off x="1161898" y="1114425"/>
            <a:ext cx="1704975" cy="2952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牧场示范应用</a:t>
            </a:r>
            <a:endParaRPr lang="zh-CN" sz="1750"/>
          </a:p>
        </p:txBody>
      </p:sp>
      <p:sp>
        <p:nvSpPr>
          <p:cNvPr id="63" name="TextBox 63"/>
          <p:cNvSpPr txBox="1"/>
          <p:nvPr/>
        </p:nvSpPr>
        <p:spPr>
          <a:xfrm>
            <a:off x="3352648" y="1152525"/>
            <a:ext cx="478155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0078EB"/>
                </a:solidFill>
                <a:latin typeface="Noto Sans CJK SC"/>
                <a:ea typeface="Noto Sans CJK SC"/>
                <a:cs typeface="Noto Sans CJK SC"/>
              </a:rPr>
              <a:t>多场景落地验证，适配不同牧场规模与养殖模式</a:t>
            </a:r>
            <a:endParaRPr lang="zh-CN" sz="1070"/>
          </a:p>
        </p:txBody>
      </p:sp>
      <p:sp>
        <p:nvSpPr>
          <p:cNvPr id="64" name="TextBox 64"/>
          <p:cNvSpPr txBox="1"/>
          <p:nvPr/>
        </p:nvSpPr>
        <p:spPr>
          <a:xfrm>
            <a:off x="1161898" y="3829050"/>
            <a:ext cx="1628775" cy="2952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部署应用概览</a:t>
            </a:r>
            <a:endParaRPr lang="zh-CN" sz="1750"/>
          </a:p>
        </p:txBody>
      </p:sp>
      <p:sp>
        <p:nvSpPr>
          <p:cNvPr id="65" name="TextBox 65"/>
          <p:cNvSpPr txBox="1"/>
          <p:nvPr/>
        </p:nvSpPr>
        <p:spPr>
          <a:xfrm>
            <a:off x="3038323" y="3886200"/>
            <a:ext cx="40767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0078EB"/>
                </a:solidFill>
                <a:latin typeface="Noto Sans CJK SC"/>
                <a:ea typeface="Noto Sans CJK SC"/>
                <a:cs typeface="Noto Sans CJK SC"/>
              </a:rPr>
              <a:t>已在多家牧场完成部署，覆盖不同区域与养殖类型</a:t>
            </a:r>
            <a:endParaRPr lang="zh-CN" sz="1070"/>
          </a:p>
        </p:txBody>
      </p:sp>
      <p:sp>
        <p:nvSpPr>
          <p:cNvPr id="66" name="TextBox 66"/>
          <p:cNvSpPr txBox="1"/>
          <p:nvPr/>
        </p:nvSpPr>
        <p:spPr>
          <a:xfrm>
            <a:off x="8172298" y="3829050"/>
            <a:ext cx="1228725" cy="2952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项目价值</a:t>
            </a:r>
            <a:endParaRPr lang="zh-CN" sz="1750"/>
          </a:p>
        </p:txBody>
      </p:sp>
      <p:sp>
        <p:nvSpPr>
          <p:cNvPr id="67" name="TextBox 67"/>
          <p:cNvSpPr txBox="1"/>
          <p:nvPr/>
        </p:nvSpPr>
        <p:spPr>
          <a:xfrm>
            <a:off x="9601048" y="3895725"/>
            <a:ext cx="2190750" cy="209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0078EB"/>
                </a:solidFill>
                <a:latin typeface="Noto Sans CJK SC"/>
                <a:ea typeface="Noto Sans CJK SC"/>
                <a:cs typeface="Noto Sans CJK SC"/>
              </a:rPr>
              <a:t>智能化管控，助力牧场降本增效</a:t>
            </a:r>
            <a:endParaRPr lang="zh-CN" sz="1070"/>
          </a:p>
        </p:txBody>
      </p:sp>
      <p:sp>
        <p:nvSpPr>
          <p:cNvPr id="68" name="TextBox 68"/>
          <p:cNvSpPr txBox="1"/>
          <p:nvPr/>
        </p:nvSpPr>
        <p:spPr>
          <a:xfrm>
            <a:off x="8210398" y="4429125"/>
            <a:ext cx="136207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10205A"/>
                </a:solidFill>
                <a:latin typeface="Noto Sans CJK SC"/>
                <a:ea typeface="Noto Sans CJK SC"/>
                <a:cs typeface="Noto Sans CJK SC"/>
              </a:rPr>
              <a:t>提升管理效率</a:t>
            </a:r>
            <a:endParaRPr lang="zh-CN" sz="1180"/>
          </a:p>
        </p:txBody>
      </p:sp>
      <p:sp>
        <p:nvSpPr>
          <p:cNvPr id="69" name="TextBox 69"/>
          <p:cNvSpPr txBox="1"/>
          <p:nvPr/>
        </p:nvSpPr>
        <p:spPr>
          <a:xfrm>
            <a:off x="8210398" y="4676775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7181A6"/>
                </a:solidFill>
                <a:latin typeface="Noto Sans CJK SC"/>
                <a:ea typeface="Noto Sans CJK SC"/>
                <a:cs typeface="Noto Sans CJK SC"/>
              </a:rPr>
              <a:t>智能巡检，降低人力成本</a:t>
            </a:r>
            <a:endParaRPr lang="zh-CN" sz="950"/>
          </a:p>
        </p:txBody>
      </p:sp>
      <p:sp>
        <p:nvSpPr>
          <p:cNvPr id="70" name="TextBox 70"/>
          <p:cNvSpPr txBox="1"/>
          <p:nvPr/>
        </p:nvSpPr>
        <p:spPr>
          <a:xfrm>
            <a:off x="10401148" y="4429125"/>
            <a:ext cx="136207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10205A"/>
                </a:solidFill>
                <a:latin typeface="Noto Sans CJK SC"/>
                <a:ea typeface="Noto Sans CJK SC"/>
                <a:cs typeface="Noto Sans CJK SC"/>
              </a:rPr>
              <a:t>保障动物安全</a:t>
            </a:r>
            <a:endParaRPr lang="zh-CN" sz="1180"/>
          </a:p>
        </p:txBody>
      </p:sp>
      <p:sp>
        <p:nvSpPr>
          <p:cNvPr id="71" name="TextBox 71"/>
          <p:cNvSpPr txBox="1"/>
          <p:nvPr/>
        </p:nvSpPr>
        <p:spPr>
          <a:xfrm>
            <a:off x="10401148" y="4676775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7181A6"/>
                </a:solidFill>
                <a:latin typeface="Noto Sans CJK SC"/>
                <a:ea typeface="Noto Sans CJK SC"/>
                <a:cs typeface="Noto Sans CJK SC"/>
              </a:rPr>
              <a:t>实时监测，及时预警</a:t>
            </a:r>
            <a:endParaRPr lang="zh-CN" sz="950"/>
          </a:p>
        </p:txBody>
      </p:sp>
      <p:sp>
        <p:nvSpPr>
          <p:cNvPr id="72" name="TextBox 72"/>
          <p:cNvSpPr txBox="1"/>
          <p:nvPr/>
        </p:nvSpPr>
        <p:spPr>
          <a:xfrm>
            <a:off x="8210398" y="5229225"/>
            <a:ext cx="136207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10205A"/>
                </a:solidFill>
                <a:latin typeface="Noto Sans CJK SC"/>
                <a:ea typeface="Noto Sans CJK SC"/>
                <a:cs typeface="Noto Sans CJK SC"/>
              </a:rPr>
              <a:t>改善养殖环境</a:t>
            </a:r>
            <a:endParaRPr lang="zh-CN" sz="1180"/>
          </a:p>
        </p:txBody>
      </p:sp>
      <p:sp>
        <p:nvSpPr>
          <p:cNvPr id="73" name="TextBox 73"/>
          <p:cNvSpPr txBox="1"/>
          <p:nvPr/>
        </p:nvSpPr>
        <p:spPr>
          <a:xfrm>
            <a:off x="8210398" y="5476875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7181A6"/>
                </a:solidFill>
                <a:latin typeface="Noto Sans CJK SC"/>
                <a:ea typeface="Noto Sans CJK SC"/>
                <a:cs typeface="Noto Sans CJK SC"/>
              </a:rPr>
              <a:t>精准作业，环境优化</a:t>
            </a:r>
            <a:endParaRPr lang="zh-CN" sz="950"/>
          </a:p>
        </p:txBody>
      </p:sp>
      <p:sp>
        <p:nvSpPr>
          <p:cNvPr id="74" name="TextBox 74"/>
          <p:cNvSpPr txBox="1"/>
          <p:nvPr/>
        </p:nvSpPr>
        <p:spPr>
          <a:xfrm>
            <a:off x="10401148" y="5229225"/>
            <a:ext cx="136207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10205A"/>
                </a:solidFill>
                <a:latin typeface="Noto Sans CJK SC"/>
                <a:ea typeface="Noto Sans CJK SC"/>
                <a:cs typeface="Noto Sans CJK SC"/>
              </a:rPr>
              <a:t>数据驱动决策</a:t>
            </a:r>
            <a:endParaRPr lang="zh-CN" sz="1180"/>
          </a:p>
        </p:txBody>
      </p:sp>
      <p:sp>
        <p:nvSpPr>
          <p:cNvPr id="75" name="TextBox 75"/>
          <p:cNvSpPr txBox="1"/>
          <p:nvPr/>
        </p:nvSpPr>
        <p:spPr>
          <a:xfrm>
            <a:off x="10401148" y="5476875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7181A6"/>
                </a:solidFill>
                <a:latin typeface="Noto Sans CJK SC"/>
                <a:ea typeface="Noto Sans CJK SC"/>
                <a:cs typeface="Noto Sans CJK SC"/>
              </a:rPr>
              <a:t>数据沉淀，科学管理</a:t>
            </a:r>
            <a:endParaRPr lang="zh-CN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-identity original blue/cyan curved competition header; previous actual builtin image-edit clean base reused after current source visual match and old producer/output/asset hashes verified in analysis/reuse-provenance.json. No old title or page number remains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962001"/>
          </a:xfrm>
          <a:prstGeom prst="rect">
            <a:avLst/>
          </a:prstGeom>
        </p:spPr>
      </p:pic>
      <p:pic>
        <p:nvPicPr>
          <p:cNvPr id="3" name="Current-source unoccluded faint engineering line illustration only from source rectangle131,655,591,38; excludes all text, logos, icons and banner."/>
          <p:cNvPicPr/>
          <p:nvPr/>
        </p:nvPicPr>
        <p:blipFill>
          <a:blip r:embed="rId3"/>
          <a:stretch>
            <a:fillRect/>
          </a:stretch>
        </p:blipFill>
        <p:spPr>
          <a:xfrm>
            <a:off x="1247744" y="6238805"/>
            <a:ext cx="5629134" cy="361941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1257269" y="6600746"/>
            <a:ext cx="10934427" cy="25716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621" y="5600"/>
                </a:lnTo>
                <a:cubicBezTo>
                  <a:pt x="790" y="1600"/>
                  <a:pt x="1035" y="800"/>
                  <a:pt x="1336" y="800"/>
                </a:cubicBezTo>
                <a:lnTo>
                  <a:pt x="16482" y="800"/>
                </a:lnTo>
                <a:cubicBezTo>
                  <a:pt x="16859" y="800"/>
                  <a:pt x="16896" y="20000"/>
                  <a:pt x="17367" y="20000"/>
                </a:cubicBezTo>
                <a:lnTo>
                  <a:pt x="21600" y="200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87DC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1904952" y="6581696"/>
            <a:ext cx="10286743" cy="25716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400"/>
                </a:moveTo>
                <a:lnTo>
                  <a:pt x="16120" y="2400"/>
                </a:lnTo>
                <a:cubicBezTo>
                  <a:pt x="16620" y="2400"/>
                  <a:pt x="16540" y="20800"/>
                  <a:pt x="17180" y="20800"/>
                </a:cubicBezTo>
                <a:lnTo>
                  <a:pt x="21600" y="20800"/>
                </a:lnTo>
              </a:path>
            </a:pathLst>
          </a:custGeom>
          <a:noFill/>
          <a:ln w="35560">
            <a:solidFill>
              <a:srgbClr val="FCC6AC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19090" y="2762267"/>
            <a:ext cx="5571986" cy="2838379"/>
          </a:xfrm>
          <a:prstGeom prst="roundRect">
            <a:avLst>
              <a:gd name="adj" fmla="val 5034"/>
            </a:avLst>
          </a:prstGeom>
          <a:solidFill>
            <a:srgbClr val="F1F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219670" y="2762267"/>
            <a:ext cx="5571986" cy="2838379"/>
          </a:xfrm>
          <a:prstGeom prst="roundRect">
            <a:avLst>
              <a:gd name="adj" fmla="val 5034"/>
            </a:avLst>
          </a:prstGeom>
          <a:solidFill>
            <a:srgbClr val="F1F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28614" y="1114483"/>
            <a:ext cx="2190695" cy="1466813"/>
          </a:xfrm>
          <a:prstGeom prst="roundRect">
            <a:avLst>
              <a:gd name="adj" fmla="val 7792"/>
            </a:avLst>
          </a:prstGeom>
          <a:solidFill>
            <a:srgbClr val="EAF6F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724082" y="1114483"/>
            <a:ext cx="2190695" cy="1466813"/>
          </a:xfrm>
          <a:prstGeom prst="roundRect">
            <a:avLst>
              <a:gd name="adj" fmla="val 7792"/>
            </a:avLst>
          </a:prstGeom>
          <a:solidFill>
            <a:srgbClr val="EAF6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5010025" y="1114483"/>
            <a:ext cx="2171646" cy="1466813"/>
          </a:xfrm>
          <a:prstGeom prst="roundRect">
            <a:avLst>
              <a:gd name="adj" fmla="val 7792"/>
            </a:avLst>
          </a:prstGeom>
          <a:solidFill>
            <a:srgbClr val="EAF6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286443" y="1114483"/>
            <a:ext cx="2171646" cy="1466813"/>
          </a:xfrm>
          <a:prstGeom prst="roundRect">
            <a:avLst>
              <a:gd name="adj" fmla="val 7792"/>
            </a:avLst>
          </a:prstGeom>
          <a:solidFill>
            <a:srgbClr val="EAF6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9572386" y="1114483"/>
            <a:ext cx="2200220" cy="1466813"/>
          </a:xfrm>
          <a:prstGeom prst="roundRect">
            <a:avLst>
              <a:gd name="adj" fmla="val 7792"/>
            </a:avLst>
          </a:prstGeom>
          <a:solidFill>
            <a:srgbClr val="EAF6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28614" y="1124008"/>
            <a:ext cx="2190695" cy="1409665"/>
          </a:xfrm>
          <a:prstGeom prst="roundRect">
            <a:avLst>
              <a:gd name="adj" fmla="val 7432"/>
            </a:avLst>
          </a:prstGeom>
          <a:solidFill>
            <a:srgbClr val="1D9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2724082" y="1124008"/>
            <a:ext cx="2190695" cy="1409665"/>
          </a:xfrm>
          <a:prstGeom prst="roundRect">
            <a:avLst>
              <a:gd name="adj" fmla="val 7432"/>
            </a:avLst>
          </a:prstGeom>
          <a:solidFill>
            <a:srgbClr val="FF9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010025" y="1124008"/>
            <a:ext cx="2171646" cy="1409665"/>
          </a:xfrm>
          <a:prstGeom prst="roundRect">
            <a:avLst>
              <a:gd name="adj" fmla="val 7432"/>
            </a:avLst>
          </a:prstGeom>
          <a:solidFill>
            <a:srgbClr val="1D9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7286443" y="1124008"/>
            <a:ext cx="2171646" cy="1409665"/>
          </a:xfrm>
          <a:prstGeom prst="roundRect">
            <a:avLst>
              <a:gd name="adj" fmla="val 7432"/>
            </a:avLst>
          </a:prstGeom>
          <a:solidFill>
            <a:srgbClr val="FF9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9572386" y="1124008"/>
            <a:ext cx="2200220" cy="1409665"/>
          </a:xfrm>
          <a:prstGeom prst="roundRect">
            <a:avLst>
              <a:gd name="adj" fmla="val 7432"/>
            </a:avLst>
          </a:prstGeom>
          <a:solidFill>
            <a:srgbClr val="006AD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371466" y="5733992"/>
            <a:ext cx="11448764" cy="542911"/>
          </a:xfrm>
          <a:prstGeom prst="roundRect">
            <a:avLst>
              <a:gd name="adj" fmla="val 35088"/>
            </a:avLst>
          </a:prstGeom>
          <a:solidFill>
            <a:srgbClr val="E2F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428614" y="1057334"/>
            <a:ext cx="2190695" cy="1419190"/>
          </a:xfrm>
          <a:prstGeom prst="roundRect">
            <a:avLst>
              <a:gd name="adj" fmla="val 8054"/>
            </a:avLst>
          </a:prstGeom>
          <a:solidFill>
            <a:srgbClr val="F5FBFF"/>
          </a:solidFill>
          <a:ln w="6985">
            <a:solidFill>
              <a:srgbClr val="CAE5FB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2724082" y="1057334"/>
            <a:ext cx="2190695" cy="1419190"/>
          </a:xfrm>
          <a:prstGeom prst="roundRect">
            <a:avLst>
              <a:gd name="adj" fmla="val 8054"/>
            </a:avLst>
          </a:prstGeom>
          <a:solidFill>
            <a:srgbClr val="FFFAF4"/>
          </a:solidFill>
          <a:ln w="6985">
            <a:solidFill>
              <a:srgbClr val="CAE5FB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5010025" y="1057334"/>
            <a:ext cx="2171646" cy="1419190"/>
          </a:xfrm>
          <a:prstGeom prst="roundRect">
            <a:avLst>
              <a:gd name="adj" fmla="val 8054"/>
            </a:avLst>
          </a:prstGeom>
          <a:solidFill>
            <a:srgbClr val="F5FBFF"/>
          </a:solidFill>
          <a:ln w="6985">
            <a:solidFill>
              <a:srgbClr val="CAE5FB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7286443" y="1057334"/>
            <a:ext cx="2171646" cy="1419190"/>
          </a:xfrm>
          <a:prstGeom prst="roundRect">
            <a:avLst>
              <a:gd name="adj" fmla="val 8054"/>
            </a:avLst>
          </a:prstGeom>
          <a:solidFill>
            <a:srgbClr val="FFFAF4"/>
          </a:solidFill>
          <a:ln w="6985">
            <a:solidFill>
              <a:srgbClr val="CAE5FB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9572386" y="1057334"/>
            <a:ext cx="2200220" cy="1419190"/>
          </a:xfrm>
          <a:prstGeom prst="roundRect">
            <a:avLst>
              <a:gd name="adj" fmla="val 8054"/>
            </a:avLst>
          </a:prstGeom>
          <a:solidFill>
            <a:srgbClr val="F5FBFF"/>
          </a:solidFill>
          <a:ln w="6985">
            <a:solidFill>
              <a:srgbClr val="CAE5FB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28614" y="2733692"/>
            <a:ext cx="5552936" cy="2819330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6985">
            <a:solidFill>
              <a:srgbClr val="D4EDFD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6229194" y="2733692"/>
            <a:ext cx="5552936" cy="2819330"/>
          </a:xfrm>
          <a:prstGeom prst="roundRect">
            <a:avLst>
              <a:gd name="adj" fmla="val 5068"/>
            </a:avLst>
          </a:prstGeom>
          <a:solidFill>
            <a:srgbClr val="FFFFFF"/>
          </a:solidFill>
          <a:ln w="6985">
            <a:solidFill>
              <a:srgbClr val="D4EDFD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590535" y="1200206"/>
            <a:ext cx="590535" cy="590535"/>
          </a:xfrm>
          <a:prstGeom prst="ellipse">
            <a:avLst/>
          </a:prstGeom>
          <a:solidFill>
            <a:srgbClr val="E1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2886003" y="1200206"/>
            <a:ext cx="590535" cy="590535"/>
          </a:xfrm>
          <a:prstGeom prst="ellipse">
            <a:avLst/>
          </a:prstGeom>
          <a:solidFill>
            <a:srgbClr val="FFF0D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5171946" y="1200206"/>
            <a:ext cx="590535" cy="590535"/>
          </a:xfrm>
          <a:prstGeom prst="ellipse">
            <a:avLst/>
          </a:prstGeom>
          <a:solidFill>
            <a:srgbClr val="E1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7448364" y="1200206"/>
            <a:ext cx="590535" cy="590535"/>
          </a:xfrm>
          <a:prstGeom prst="ellipse">
            <a:avLst/>
          </a:prstGeom>
          <a:solidFill>
            <a:srgbClr val="FFF0D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9734307" y="1200206"/>
            <a:ext cx="590535" cy="590535"/>
          </a:xfrm>
          <a:prstGeom prst="ellipse">
            <a:avLst/>
          </a:prstGeom>
          <a:solidFill>
            <a:srgbClr val="E1F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438139" y="2752742"/>
            <a:ext cx="3676558" cy="419090"/>
          </a:xfrm>
          <a:prstGeom prst="roundRect">
            <a:avLst>
              <a:gd name="adj" fmla="val 31818"/>
            </a:avLst>
          </a:prstGeom>
          <a:solidFill>
            <a:srgbClr val="087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6238719" y="2752742"/>
            <a:ext cx="3676558" cy="419090"/>
          </a:xfrm>
          <a:prstGeom prst="roundRect">
            <a:avLst>
              <a:gd name="adj" fmla="val 31818"/>
            </a:avLst>
          </a:prstGeom>
          <a:solidFill>
            <a:srgbClr val="087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600060" y="3295653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0F8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600060" y="3838565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F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600060" y="4400526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0F8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600060" y="4962487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F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6391115" y="3295653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0F8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6391115" y="3838565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F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6391115" y="4400526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0F8F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6391115" y="4962487"/>
            <a:ext cx="5210045" cy="447664"/>
          </a:xfrm>
          <a:prstGeom prst="roundRect">
            <a:avLst>
              <a:gd name="adj" fmla="val 23404"/>
            </a:avLst>
          </a:prstGeom>
          <a:solidFill>
            <a:srgbClr val="FF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380990" y="5695893"/>
            <a:ext cx="11429714" cy="514337"/>
          </a:xfrm>
          <a:prstGeom prst="roundRect">
            <a:avLst>
              <a:gd name="adj" fmla="val 33333"/>
            </a:avLst>
          </a:prstGeom>
          <a:solidFill>
            <a:srgbClr val="058A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Polygon 42"/>
          <p:cNvSpPr/>
          <p:nvPr/>
        </p:nvSpPr>
        <p:spPr>
          <a:xfrm>
            <a:off x="3981350" y="2752742"/>
            <a:ext cx="428614" cy="4190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7680" y="0"/>
                </a:lnTo>
                <a:lnTo>
                  <a:pt x="21600" y="19636"/>
                </a:lnTo>
                <a:lnTo>
                  <a:pt x="2064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58FE7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438139" y="3028960"/>
            <a:ext cx="3533687" cy="142871"/>
          </a:xfrm>
          <a:prstGeom prst="rect">
            <a:avLst/>
          </a:prstGeom>
          <a:solidFill>
            <a:srgbClr val="087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Polygon 44"/>
          <p:cNvSpPr/>
          <p:nvPr/>
        </p:nvSpPr>
        <p:spPr>
          <a:xfrm>
            <a:off x="9781930" y="2752742"/>
            <a:ext cx="428614" cy="4190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7680" y="0"/>
                </a:lnTo>
                <a:lnTo>
                  <a:pt x="21600" y="19636"/>
                </a:lnTo>
                <a:lnTo>
                  <a:pt x="2064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58FE7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6238719" y="3028960"/>
            <a:ext cx="3533687" cy="142871"/>
          </a:xfrm>
          <a:prstGeom prst="rect">
            <a:avLst/>
          </a:prstGeom>
          <a:solidFill>
            <a:srgbClr val="0875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419090" y="5686369"/>
            <a:ext cx="11363041" cy="495288"/>
          </a:xfrm>
          <a:prstGeom prst="roundRect">
            <a:avLst>
              <a:gd name="adj" fmla="val 30769"/>
            </a:avLst>
          </a:prstGeom>
          <a:solidFill>
            <a:srgbClr val="064C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714357" y="1857414"/>
            <a:ext cx="1628734" cy="0"/>
          </a:xfrm>
          <a:prstGeom prst="line">
            <a:avLst/>
          </a:prstGeom>
          <a:noFill/>
          <a:ln w="7620">
            <a:solidFill>
              <a:srgbClr val="C8DEF3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3009825" y="1857414"/>
            <a:ext cx="1628734" cy="0"/>
          </a:xfrm>
          <a:prstGeom prst="line">
            <a:avLst/>
          </a:prstGeom>
          <a:noFill/>
          <a:ln w="7620">
            <a:solidFill>
              <a:srgbClr val="C8DEF3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5295768" y="1857414"/>
            <a:ext cx="1609685" cy="0"/>
          </a:xfrm>
          <a:prstGeom prst="line">
            <a:avLst/>
          </a:prstGeom>
          <a:noFill/>
          <a:ln w="7620">
            <a:solidFill>
              <a:srgbClr val="C8DEF3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7572186" y="1857414"/>
            <a:ext cx="1609685" cy="0"/>
          </a:xfrm>
          <a:prstGeom prst="line">
            <a:avLst/>
          </a:prstGeom>
          <a:noFill/>
          <a:ln w="7620">
            <a:solidFill>
              <a:srgbClr val="C8DEF3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9858129" y="1857414"/>
            <a:ext cx="1638259" cy="0"/>
          </a:xfrm>
          <a:prstGeom prst="line">
            <a:avLst/>
          </a:prstGeom>
          <a:noFill/>
          <a:ln w="7620">
            <a:solidFill>
              <a:srgbClr val="C8DEF3"/>
            </a:solidFill>
            <a:prstDash val="solid"/>
          </a:ln>
        </p:spPr>
        <p:txBody>
          <a:bodyPr/>
          <a:lstStyle/>
          <a:p/>
        </p:txBody>
      </p:sp>
      <p:sp>
        <p:nvSpPr>
          <p:cNvPr id="52" name="Polygon 52"/>
          <p:cNvSpPr/>
          <p:nvPr/>
        </p:nvSpPr>
        <p:spPr>
          <a:xfrm>
            <a:off x="600060" y="3295653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DDEFFE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Polygon 53"/>
          <p:cNvSpPr/>
          <p:nvPr/>
        </p:nvSpPr>
        <p:spPr>
          <a:xfrm>
            <a:off x="600060" y="3838565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FFEBD5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Polygon 54"/>
          <p:cNvSpPr/>
          <p:nvPr/>
        </p:nvSpPr>
        <p:spPr>
          <a:xfrm>
            <a:off x="600060" y="4400526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DDEFFE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Polygon 55"/>
          <p:cNvSpPr/>
          <p:nvPr/>
        </p:nvSpPr>
        <p:spPr>
          <a:xfrm>
            <a:off x="600060" y="4962487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FFEBD5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Polygon 56"/>
          <p:cNvSpPr/>
          <p:nvPr/>
        </p:nvSpPr>
        <p:spPr>
          <a:xfrm>
            <a:off x="6391115" y="3295653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DDEFFE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Polygon 57"/>
          <p:cNvSpPr/>
          <p:nvPr/>
        </p:nvSpPr>
        <p:spPr>
          <a:xfrm>
            <a:off x="6391115" y="3838565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FFEBD5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Polygon 58"/>
          <p:cNvSpPr/>
          <p:nvPr/>
        </p:nvSpPr>
        <p:spPr>
          <a:xfrm>
            <a:off x="6391115" y="4400526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DDEFFE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Polygon 59"/>
          <p:cNvSpPr/>
          <p:nvPr/>
        </p:nvSpPr>
        <p:spPr>
          <a:xfrm>
            <a:off x="6391115" y="4962487"/>
            <a:ext cx="533387" cy="4476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3471" y="0"/>
                </a:moveTo>
                <a:lnTo>
                  <a:pt x="17743" y="0"/>
                </a:lnTo>
                <a:lnTo>
                  <a:pt x="21600" y="6434"/>
                </a:lnTo>
                <a:lnTo>
                  <a:pt x="17357" y="21600"/>
                </a:lnTo>
                <a:lnTo>
                  <a:pt x="3471" y="21600"/>
                </a:lnTo>
                <a:lnTo>
                  <a:pt x="0" y="17464"/>
                </a:lnTo>
                <a:lnTo>
                  <a:pt x="0" y="4596"/>
                </a:lnTo>
                <a:close/>
              </a:path>
            </a:pathLst>
          </a:custGeom>
          <a:solidFill>
            <a:srgbClr val="FFEBD5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4533787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4600460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4667133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4733807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4781430" y="3038485"/>
            <a:ext cx="1028674" cy="0"/>
          </a:xfrm>
          <a:prstGeom prst="line">
            <a:avLst/>
          </a:prstGeom>
          <a:noFill/>
          <a:ln w="29209">
            <a:solidFill>
              <a:srgbClr val="388BD5"/>
            </a:solidFill>
            <a:prstDash val="solid"/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10334367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10401040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10467713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10534387" y="3028960"/>
            <a:ext cx="57149" cy="57149"/>
          </a:xfrm>
          <a:prstGeom prst="line">
            <a:avLst/>
          </a:prstGeom>
          <a:noFill/>
          <a:ln w="17780">
            <a:solidFill>
              <a:srgbClr val="4BA2ED"/>
            </a:solidFill>
            <a:prstDash val="solid"/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10582010" y="3038485"/>
            <a:ext cx="1028674" cy="0"/>
          </a:xfrm>
          <a:prstGeom prst="line">
            <a:avLst/>
          </a:prstGeom>
          <a:noFill/>
          <a:ln w="29209">
            <a:solidFill>
              <a:srgbClr val="388BD5"/>
            </a:solidFill>
            <a:prstDash val="solid"/>
          </a:ln>
        </p:spPr>
        <p:txBody>
          <a:bodyPr/>
          <a:lstStyle/>
          <a:p/>
        </p:txBody>
      </p:sp>
      <p:pic>
        <p:nvPicPr>
          <p:cNvPr id="70" name="Actual current-source builtin source-faithful image-edit separation; inspected complete-object region split, no despill. Original metric calendar symbol, ordinary pastel disc native."/>
          <p:cNvPicPr/>
          <p:nvPr/>
        </p:nvPicPr>
        <p:blipFill>
          <a:blip r:embed="rId6"/>
          <a:stretch>
            <a:fillRect/>
          </a:stretch>
        </p:blipFill>
        <p:spPr>
          <a:xfrm>
            <a:off x="706050" y="1302758"/>
            <a:ext cx="349981" cy="375906"/>
          </a:xfrm>
          <a:prstGeom prst="rect">
            <a:avLst/>
          </a:prstGeom>
        </p:spPr>
      </p:pic>
      <p:pic>
        <p:nvPicPr>
          <p:cNvPr id="71" name="Actual current-source builtin source-faithful image-edit separation; inspected complete-object region split, no despill. Original metric people symbol, ordinary pastel disc native."/>
          <p:cNvPicPr/>
          <p:nvPr/>
        </p:nvPicPr>
        <p:blipFill>
          <a:blip r:embed="rId7"/>
          <a:stretch>
            <a:fillRect/>
          </a:stretch>
        </p:blipFill>
        <p:spPr>
          <a:xfrm>
            <a:off x="3018207" y="1302827"/>
            <a:ext cx="402326" cy="356718"/>
          </a:xfrm>
          <a:prstGeom prst="rect">
            <a:avLst/>
          </a:prstGeom>
        </p:spPr>
      </p:pic>
      <p:pic>
        <p:nvPicPr>
          <p:cNvPr id="72" name="Actual current-source builtin source-faithful image-edit separation; inspected complete-object region split, no despill. Original metric bars symbol, ordinary pastel disc native."/>
          <p:cNvPicPr/>
          <p:nvPr/>
        </p:nvPicPr>
        <p:blipFill>
          <a:blip r:embed="rId8"/>
          <a:stretch>
            <a:fillRect/>
          </a:stretch>
        </p:blipFill>
        <p:spPr>
          <a:xfrm>
            <a:off x="5354480" y="1314002"/>
            <a:ext cx="349289" cy="362944"/>
          </a:xfrm>
          <a:prstGeom prst="rect">
            <a:avLst/>
          </a:prstGeom>
        </p:spPr>
      </p:pic>
      <p:pic>
        <p:nvPicPr>
          <p:cNvPr id="73" name="Actual current-source builtin source-faithful image-edit separation; inspected complete-object region split, no despill. Original metric gear symbol, ordinary pastel disc native."/>
          <p:cNvPicPr/>
          <p:nvPr/>
        </p:nvPicPr>
        <p:blipFill>
          <a:blip r:embed="rId9"/>
          <a:stretch>
            <a:fillRect/>
          </a:stretch>
        </p:blipFill>
        <p:spPr>
          <a:xfrm>
            <a:off x="7631239" y="1306285"/>
            <a:ext cx="386705" cy="380181"/>
          </a:xfrm>
          <a:prstGeom prst="rect">
            <a:avLst/>
          </a:prstGeom>
        </p:spPr>
      </p:pic>
      <p:pic>
        <p:nvPicPr>
          <p:cNvPr id="74" name="Actual current-source builtin source-faithful image-edit separation; inspected complete-object region split, no despill. Original metric coins-top symbol, ordinary pastel disc native."/>
          <p:cNvPicPr/>
          <p:nvPr/>
        </p:nvPicPr>
        <p:blipFill>
          <a:blip r:embed="rId10"/>
          <a:stretch>
            <a:fillRect/>
          </a:stretch>
        </p:blipFill>
        <p:spPr>
          <a:xfrm>
            <a:off x="9846270" y="1299208"/>
            <a:ext cx="414233" cy="409356"/>
          </a:xfrm>
          <a:prstGeom prst="rect">
            <a:avLst/>
          </a:prstGeom>
        </p:spPr>
      </p:pic>
      <p:pic>
        <p:nvPicPr>
          <p:cNvPr id="75" name="Actual current-source builtin source-faithful image-edit separation; inspected complete-object region split, no despill. Original row coins-row pictogram."/>
          <p:cNvPicPr/>
          <p:nvPr/>
        </p:nvPicPr>
        <p:blipFill>
          <a:blip r:embed="rId13"/>
          <a:stretch>
            <a:fillRect/>
          </a:stretch>
        </p:blipFill>
        <p:spPr>
          <a:xfrm>
            <a:off x="1300130" y="3325804"/>
            <a:ext cx="342891" cy="358789"/>
          </a:xfrm>
          <a:prstGeom prst="rect">
            <a:avLst/>
          </a:prstGeom>
        </p:spPr>
      </p:pic>
      <p:pic>
        <p:nvPicPr>
          <p:cNvPr id="76" name="Actual current-source builtin source-faithful image-edit separation; inspected complete-object region split, no despill. Original row tools pictogram."/>
          <p:cNvPicPr/>
          <p:nvPr/>
        </p:nvPicPr>
        <p:blipFill>
          <a:blip r:embed="rId14"/>
          <a:stretch>
            <a:fillRect/>
          </a:stretch>
        </p:blipFill>
        <p:spPr>
          <a:xfrm>
            <a:off x="1301568" y="3871221"/>
            <a:ext cx="340015" cy="353777"/>
          </a:xfrm>
          <a:prstGeom prst="rect">
            <a:avLst/>
          </a:prstGeom>
        </p:spPr>
      </p:pic>
      <p:pic>
        <p:nvPicPr>
          <p:cNvPr id="77" name="Actual current-source builtin source-faithful image-edit separation; inspected complete-object region split, no despill. Original row bill pictogram."/>
          <p:cNvPicPr/>
          <p:nvPr/>
        </p:nvPicPr>
        <p:blipFill>
          <a:blip r:embed="rId15"/>
          <a:stretch>
            <a:fillRect/>
          </a:stretch>
        </p:blipFill>
        <p:spPr>
          <a:xfrm>
            <a:off x="1307547" y="4440530"/>
            <a:ext cx="318533" cy="358131"/>
          </a:xfrm>
          <a:prstGeom prst="rect">
            <a:avLst/>
          </a:prstGeom>
        </p:spPr>
      </p:pic>
      <p:pic>
        <p:nvPicPr>
          <p:cNvPr id="78" name="Actual current-source builtin source-faithful image-edit separation; inspected complete-object region split, no despill. Original row person pictogram."/>
          <p:cNvPicPr/>
          <p:nvPr/>
        </p:nvPicPr>
        <p:blipFill>
          <a:blip r:embed="rId16"/>
          <a:stretch>
            <a:fillRect/>
          </a:stretch>
        </p:blipFill>
        <p:spPr>
          <a:xfrm>
            <a:off x="1297622" y="4983441"/>
            <a:ext cx="338384" cy="367656"/>
          </a:xfrm>
          <a:prstGeom prst="rect">
            <a:avLst/>
          </a:prstGeom>
        </p:spPr>
      </p:pic>
      <p:pic>
        <p:nvPicPr>
          <p:cNvPr id="79" name="Actual current-source builtin source-faithful image-edit separation; inspected complete-object region split, no despill. Original row pin pictogram."/>
          <p:cNvPicPr/>
          <p:nvPr/>
        </p:nvPicPr>
        <p:blipFill>
          <a:blip r:embed="rId17"/>
          <a:stretch>
            <a:fillRect/>
          </a:stretch>
        </p:blipFill>
        <p:spPr>
          <a:xfrm>
            <a:off x="7108591" y="3317535"/>
            <a:ext cx="298555" cy="365802"/>
          </a:xfrm>
          <a:prstGeom prst="rect">
            <a:avLst/>
          </a:prstGeom>
        </p:spPr>
      </p:pic>
      <p:pic>
        <p:nvPicPr>
          <p:cNvPr id="80" name="Actual current-source builtin source-faithful image-edit separation; inspected complete-object region split, no despill. Original row layers pictogram."/>
          <p:cNvPicPr/>
          <p:nvPr/>
        </p:nvPicPr>
        <p:blipFill>
          <a:blip r:embed="rId18"/>
          <a:stretch>
            <a:fillRect/>
          </a:stretch>
        </p:blipFill>
        <p:spPr>
          <a:xfrm>
            <a:off x="7091822" y="3880145"/>
            <a:ext cx="360667" cy="354978"/>
          </a:xfrm>
          <a:prstGeom prst="rect">
            <a:avLst/>
          </a:prstGeom>
        </p:spPr>
      </p:pic>
      <p:pic>
        <p:nvPicPr>
          <p:cNvPr id="81" name="Actual current-source builtin source-faithful image-edit separation; inspected complete-object region split, no despill. Original row sliders pictogram."/>
          <p:cNvPicPr/>
          <p:nvPr/>
        </p:nvPicPr>
        <p:blipFill>
          <a:blip r:embed="rId19"/>
          <a:stretch>
            <a:fillRect/>
          </a:stretch>
        </p:blipFill>
        <p:spPr>
          <a:xfrm>
            <a:off x="7094351" y="4453320"/>
            <a:ext cx="355610" cy="332550"/>
          </a:xfrm>
          <a:prstGeom prst="rect">
            <a:avLst/>
          </a:prstGeom>
        </p:spPr>
      </p:pic>
      <p:pic>
        <p:nvPicPr>
          <p:cNvPr id="82" name="Actual current-source builtin source-faithful image-edit separation; inspected complete-object region split, no despill. Original row check pictogram."/>
          <p:cNvPicPr/>
          <p:nvPr/>
        </p:nvPicPr>
        <p:blipFill>
          <a:blip r:embed="rId20"/>
          <a:stretch>
            <a:fillRect/>
          </a:stretch>
        </p:blipFill>
        <p:spPr>
          <a:xfrm>
            <a:off x="7089852" y="4984063"/>
            <a:ext cx="364608" cy="366412"/>
          </a:xfrm>
          <a:prstGeom prst="rect">
            <a:avLst/>
          </a:prstGeom>
        </p:spPr>
      </p:pic>
      <p:pic>
        <p:nvPicPr>
          <p:cNvPr id="83" name="Exact current CPIPC multicolor and gray wordmark identity visually verified against prior source; prior actual builtin separated asset reused bit-identically; producer and hashes in analysis/reuse-provenance.json. Logo lettering remains brand identity."/>
          <p:cNvPicPr/>
          <p:nvPr/>
        </p:nvPicPr>
        <p:blipFill>
          <a:blip r:embed="rId4"/>
          <a:stretch>
            <a:fillRect/>
          </a:stretch>
        </p:blipFill>
        <p:spPr>
          <a:xfrm>
            <a:off x="295268" y="6257854"/>
            <a:ext cx="942951" cy="552436"/>
          </a:xfrm>
          <a:prstGeom prst="rect">
            <a:avLst/>
          </a:prstGeom>
        </p:spPr>
      </p:pic>
      <p:pic>
        <p:nvPicPr>
          <p:cNvPr id="84" name="Exact current blue competition/event identity visually verified against prior source; prior actual builtin separated asset reused bit-identically; producer and hashes in analysis/reuse-provenance.json. Tiny lettering remains brand identity."/>
          <p:cNvPicPr/>
          <p:nvPr/>
        </p:nvPicPr>
        <p:blipFill>
          <a:blip r:embed="rId5"/>
          <a:stretch>
            <a:fillRect/>
          </a:stretch>
        </p:blipFill>
        <p:spPr>
          <a:xfrm>
            <a:off x="10239119" y="6305478"/>
            <a:ext cx="1600160" cy="466713"/>
          </a:xfrm>
          <a:prstGeom prst="rect">
            <a:avLst/>
          </a:prstGeom>
        </p:spPr>
      </p:pic>
      <p:pic>
        <p:nvPicPr>
          <p:cNvPr id="85" name="Actual current-source builtin source-faithful image-edit separation; inspected complete-object region split, no despill. Original complete orange gradient coins-badge with white ring."/>
          <p:cNvPicPr/>
          <p:nvPr/>
        </p:nvPicPr>
        <p:blipFill>
          <a:blip r:embed="rId11"/>
          <a:stretch>
            <a:fillRect/>
          </a:stretch>
        </p:blipFill>
        <p:spPr>
          <a:xfrm>
            <a:off x="489860" y="2659082"/>
            <a:ext cx="591866" cy="595298"/>
          </a:xfrm>
          <a:prstGeom prst="rect">
            <a:avLst/>
          </a:prstGeom>
        </p:spPr>
      </p:pic>
      <p:pic>
        <p:nvPicPr>
          <p:cNvPr id="86" name="Actual current-source builtin source-faithful image-edit separation; inspected complete-object region split, no despill. Original complete orange gradient rocket-badge with white ring."/>
          <p:cNvPicPr/>
          <p:nvPr/>
        </p:nvPicPr>
        <p:blipFill>
          <a:blip r:embed="rId12"/>
          <a:stretch>
            <a:fillRect/>
          </a:stretch>
        </p:blipFill>
        <p:spPr>
          <a:xfrm>
            <a:off x="6290788" y="2659389"/>
            <a:ext cx="591170" cy="594640"/>
          </a:xfrm>
          <a:prstGeom prst="rect">
            <a:avLst/>
          </a:prstGeom>
        </p:spPr>
      </p:pic>
      <p:pic>
        <p:nvPicPr>
          <p:cNvPr id="87" name="Actual current-source builtin source-faithful image-edit separation; inspected complete-object region split, no despill. Original white rising growth icon at bottom left."/>
          <p:cNvPicPr/>
          <p:nvPr/>
        </p:nvPicPr>
        <p:blipFill>
          <a:blip r:embed="rId21"/>
          <a:stretch>
            <a:fillRect/>
          </a:stretch>
        </p:blipFill>
        <p:spPr>
          <a:xfrm>
            <a:off x="708642" y="5759782"/>
            <a:ext cx="440044" cy="390662"/>
          </a:xfrm>
          <a:prstGeom prst="rect">
            <a:avLst/>
          </a:prstGeom>
        </p:spPr>
      </p:pic>
      <p:pic>
        <p:nvPicPr>
          <p:cNvPr id="88" name="Actual current-source builtin source-faithful image-edit separation; inspected complete-object region split, no despill. Original three right-facing cyan chevrons."/>
          <p:cNvPicPr/>
          <p:nvPr/>
        </p:nvPicPr>
        <p:blipFill>
          <a:blip r:embed="rId22"/>
          <a:stretch>
            <a:fillRect/>
          </a:stretch>
        </p:blipFill>
        <p:spPr>
          <a:xfrm>
            <a:off x="10916290" y="5788656"/>
            <a:ext cx="717880" cy="347861"/>
          </a:xfrm>
          <a:prstGeom prst="rect">
            <a:avLst/>
          </a:prstGeom>
        </p:spPr>
      </p:pic>
      <p:sp>
        <p:nvSpPr>
          <p:cNvPr id="89" name="Line 89"/>
          <p:cNvSpPr/>
          <p:nvPr/>
        </p:nvSpPr>
        <p:spPr>
          <a:xfrm>
            <a:off x="1381090" y="5819715"/>
            <a:ext cx="0" cy="276218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190495" y="171531"/>
            <a:ext cx="5619610" cy="638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4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实验成效与经济性分析</a:t>
            </a:r>
            <a:endParaRPr lang="zh-CN" sz="3450"/>
          </a:p>
        </p:txBody>
      </p:sp>
      <p:sp>
        <p:nvSpPr>
          <p:cNvPr id="91" name="TextBox 91"/>
          <p:cNvSpPr txBox="1"/>
          <p:nvPr/>
        </p:nvSpPr>
        <p:spPr>
          <a:xfrm>
            <a:off x="11296368" y="181056"/>
            <a:ext cx="371466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>
                <a:solidFill>
                  <a:srgbClr val="FF8700"/>
                </a:solidFill>
                <a:latin typeface="Arial"/>
                <a:ea typeface="Arial"/>
                <a:cs typeface="Arial"/>
              </a:rPr>
              <a:t>17</a:t>
            </a:r>
            <a:endParaRPr lang="zh-CN" sz="2050"/>
          </a:p>
        </p:txBody>
      </p:sp>
      <p:sp>
        <p:nvSpPr>
          <p:cNvPr id="92" name="TextBox 92"/>
          <p:cNvSpPr txBox="1"/>
          <p:nvPr/>
        </p:nvSpPr>
        <p:spPr>
          <a:xfrm>
            <a:off x="1228694" y="1104958"/>
            <a:ext cx="1047724" cy="714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00" b="1">
                <a:solidFill>
                  <a:srgbClr val="0046AF"/>
                </a:solidFill>
                <a:latin typeface="Arial"/>
                <a:ea typeface="Arial"/>
                <a:cs typeface="Arial"/>
              </a:rPr>
              <a:t>120</a:t>
            </a:r>
            <a:endParaRPr lang="zh-CN" sz="4900"/>
          </a:p>
        </p:txBody>
      </p:sp>
      <p:sp>
        <p:nvSpPr>
          <p:cNvPr id="93" name="TextBox 93"/>
          <p:cNvSpPr txBox="1"/>
          <p:nvPr/>
        </p:nvSpPr>
        <p:spPr>
          <a:xfrm>
            <a:off x="2285943" y="1285929"/>
            <a:ext cx="380990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FF8500"/>
                </a:solidFill>
                <a:latin typeface="Noto Sans CJK SC"/>
                <a:ea typeface="Noto Sans CJK SC"/>
                <a:cs typeface="Noto Sans CJK SC"/>
              </a:rPr>
              <a:t>天</a:t>
            </a:r>
            <a:endParaRPr lang="zh-CN" sz="1450"/>
          </a:p>
        </p:txBody>
      </p:sp>
      <p:sp>
        <p:nvSpPr>
          <p:cNvPr id="94" name="TextBox 94"/>
          <p:cNvSpPr txBox="1"/>
          <p:nvPr/>
        </p:nvSpPr>
        <p:spPr>
          <a:xfrm>
            <a:off x="590535" y="1895513"/>
            <a:ext cx="1866853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0" b="1">
                <a:solidFill>
                  <a:srgbClr val="152C4F"/>
                </a:solidFill>
                <a:latin typeface="Noto Sans CJK SC"/>
                <a:ea typeface="Noto Sans CJK SC"/>
                <a:cs typeface="Noto Sans CJK SC"/>
              </a:rPr>
              <a:t>牧场连续作业</a:t>
            </a:r>
            <a:endParaRPr lang="zh-CN" sz="1240"/>
          </a:p>
        </p:txBody>
      </p:sp>
      <p:sp>
        <p:nvSpPr>
          <p:cNvPr id="95" name="TextBox 95"/>
          <p:cNvSpPr txBox="1"/>
          <p:nvPr/>
        </p:nvSpPr>
        <p:spPr>
          <a:xfrm>
            <a:off x="504812" y="2162207"/>
            <a:ext cx="2038299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53627C"/>
                </a:solidFill>
                <a:latin typeface="Noto Sans CJK SC"/>
                <a:ea typeface="Noto Sans CJK SC"/>
                <a:cs typeface="Noto Sans CJK SC"/>
              </a:rPr>
              <a:t>茂盛牧场连续运行验证</a:t>
            </a:r>
            <a:endParaRPr lang="zh-CN" sz="980"/>
          </a:p>
        </p:txBody>
      </p:sp>
      <p:sp>
        <p:nvSpPr>
          <p:cNvPr id="96" name="TextBox 96"/>
          <p:cNvSpPr txBox="1"/>
          <p:nvPr/>
        </p:nvSpPr>
        <p:spPr>
          <a:xfrm>
            <a:off x="3647984" y="1104958"/>
            <a:ext cx="933427" cy="714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00" b="1">
                <a:solidFill>
                  <a:srgbClr val="FF8100"/>
                </a:solidFill>
                <a:latin typeface="Arial"/>
                <a:ea typeface="Arial"/>
                <a:cs typeface="Arial"/>
              </a:rPr>
              <a:t>3-5</a:t>
            </a:r>
            <a:endParaRPr lang="zh-CN" sz="4900"/>
          </a:p>
        </p:txBody>
      </p:sp>
      <p:sp>
        <p:nvSpPr>
          <p:cNvPr id="97" name="TextBox 97"/>
          <p:cNvSpPr txBox="1"/>
          <p:nvPr/>
        </p:nvSpPr>
        <p:spPr>
          <a:xfrm>
            <a:off x="4552836" y="1285929"/>
            <a:ext cx="380990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FF8500"/>
                </a:solidFill>
                <a:latin typeface="Noto Sans CJK SC"/>
                <a:ea typeface="Noto Sans CJK SC"/>
                <a:cs typeface="Noto Sans CJK SC"/>
              </a:rPr>
              <a:t>名</a:t>
            </a:r>
            <a:endParaRPr lang="zh-CN" sz="1450"/>
          </a:p>
        </p:txBody>
      </p:sp>
      <p:sp>
        <p:nvSpPr>
          <p:cNvPr id="98" name="TextBox 98"/>
          <p:cNvSpPr txBox="1"/>
          <p:nvPr/>
        </p:nvSpPr>
        <p:spPr>
          <a:xfrm>
            <a:off x="2886003" y="1895513"/>
            <a:ext cx="1866853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0" b="1">
                <a:solidFill>
                  <a:srgbClr val="152C4F"/>
                </a:solidFill>
                <a:latin typeface="Noto Sans CJK SC"/>
                <a:ea typeface="Noto Sans CJK SC"/>
                <a:cs typeface="Noto Sans CJK SC"/>
              </a:rPr>
              <a:t>替代推料工人</a:t>
            </a:r>
            <a:endParaRPr lang="zh-CN" sz="1240"/>
          </a:p>
        </p:txBody>
      </p:sp>
      <p:sp>
        <p:nvSpPr>
          <p:cNvPr id="99" name="TextBox 99"/>
          <p:cNvSpPr txBox="1"/>
          <p:nvPr/>
        </p:nvSpPr>
        <p:spPr>
          <a:xfrm>
            <a:off x="2800280" y="2162207"/>
            <a:ext cx="2038299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53627C"/>
                </a:solidFill>
                <a:latin typeface="Noto Sans CJK SC"/>
                <a:ea typeface="Noto Sans CJK SC"/>
                <a:cs typeface="Noto Sans CJK SC"/>
              </a:rPr>
              <a:t>单台设备人力替代能力</a:t>
            </a:r>
            <a:endParaRPr lang="zh-CN" sz="980"/>
          </a:p>
        </p:txBody>
      </p:sp>
      <p:sp>
        <p:nvSpPr>
          <p:cNvPr id="100" name="TextBox 100"/>
          <p:cNvSpPr txBox="1"/>
          <p:nvPr/>
        </p:nvSpPr>
        <p:spPr>
          <a:xfrm>
            <a:off x="5952976" y="1104958"/>
            <a:ext cx="695308" cy="714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00" b="1">
                <a:solidFill>
                  <a:srgbClr val="0046AF"/>
                </a:solidFill>
                <a:latin typeface="Arial"/>
                <a:ea typeface="Arial"/>
                <a:cs typeface="Arial"/>
              </a:rPr>
              <a:t>10</a:t>
            </a:r>
            <a:endParaRPr lang="zh-CN" sz="4900"/>
          </a:p>
        </p:txBody>
      </p:sp>
      <p:sp>
        <p:nvSpPr>
          <p:cNvPr id="101" name="TextBox 101"/>
          <p:cNvSpPr txBox="1"/>
          <p:nvPr/>
        </p:nvSpPr>
        <p:spPr>
          <a:xfrm>
            <a:off x="6648284" y="1285929"/>
            <a:ext cx="380990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FF8500"/>
                </a:solidFill>
                <a:latin typeface="Arial"/>
                <a:ea typeface="Arial"/>
                <a:cs typeface="Arial"/>
              </a:rPr>
              <a:t>%</a:t>
            </a:r>
            <a:endParaRPr lang="zh-CN" sz="1450"/>
          </a:p>
        </p:txBody>
      </p:sp>
      <p:sp>
        <p:nvSpPr>
          <p:cNvPr id="102" name="TextBox 102"/>
          <p:cNvSpPr txBox="1"/>
          <p:nvPr/>
        </p:nvSpPr>
        <p:spPr>
          <a:xfrm>
            <a:off x="5171946" y="1895513"/>
            <a:ext cx="1847804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0" b="1">
                <a:solidFill>
                  <a:srgbClr val="152C4F"/>
                </a:solidFill>
                <a:latin typeface="Noto Sans CJK SC"/>
                <a:ea typeface="Noto Sans CJK SC"/>
                <a:cs typeface="Noto Sans CJK SC"/>
              </a:rPr>
              <a:t>减少饲料浪费</a:t>
            </a:r>
            <a:endParaRPr lang="zh-CN" sz="1240"/>
          </a:p>
        </p:txBody>
      </p:sp>
      <p:sp>
        <p:nvSpPr>
          <p:cNvPr id="103" name="TextBox 103"/>
          <p:cNvSpPr txBox="1"/>
          <p:nvPr/>
        </p:nvSpPr>
        <p:spPr>
          <a:xfrm>
            <a:off x="5086223" y="2162207"/>
            <a:ext cx="2019250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53627C"/>
                </a:solidFill>
                <a:latin typeface="Noto Sans CJK SC"/>
                <a:ea typeface="Noto Sans CJK SC"/>
                <a:cs typeface="Noto Sans CJK SC"/>
              </a:rPr>
              <a:t>推料均匀度优于人工作业</a:t>
            </a:r>
            <a:endParaRPr lang="zh-CN" sz="980"/>
          </a:p>
        </p:txBody>
      </p:sp>
      <p:sp>
        <p:nvSpPr>
          <p:cNvPr id="104" name="TextBox 104"/>
          <p:cNvSpPr txBox="1"/>
          <p:nvPr/>
        </p:nvSpPr>
        <p:spPr>
          <a:xfrm>
            <a:off x="8334167" y="1104958"/>
            <a:ext cx="361941" cy="714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00" b="1">
                <a:solidFill>
                  <a:srgbClr val="FF8100"/>
                </a:solidFill>
                <a:latin typeface="Arial"/>
                <a:ea typeface="Arial"/>
                <a:cs typeface="Arial"/>
              </a:rPr>
              <a:t>2</a:t>
            </a:r>
            <a:endParaRPr lang="zh-CN" sz="4900"/>
          </a:p>
        </p:txBody>
      </p:sp>
      <p:sp>
        <p:nvSpPr>
          <p:cNvPr id="105" name="TextBox 105"/>
          <p:cNvSpPr txBox="1"/>
          <p:nvPr/>
        </p:nvSpPr>
        <p:spPr>
          <a:xfrm>
            <a:off x="8715157" y="1285929"/>
            <a:ext cx="380990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FF8500"/>
                </a:solidFill>
                <a:latin typeface="Noto Sans CJK SC"/>
                <a:ea typeface="Noto Sans CJK SC"/>
                <a:cs typeface="Noto Sans CJK SC"/>
              </a:rPr>
              <a:t>倍+</a:t>
            </a:r>
            <a:endParaRPr lang="zh-CN" sz="1450"/>
          </a:p>
        </p:txBody>
      </p:sp>
      <p:sp>
        <p:nvSpPr>
          <p:cNvPr id="106" name="TextBox 106"/>
          <p:cNvSpPr txBox="1"/>
          <p:nvPr/>
        </p:nvSpPr>
        <p:spPr>
          <a:xfrm>
            <a:off x="7448364" y="1895513"/>
            <a:ext cx="1847804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0" b="1">
                <a:solidFill>
                  <a:srgbClr val="152C4F"/>
                </a:solidFill>
                <a:latin typeface="Noto Sans CJK SC"/>
                <a:ea typeface="Noto Sans CJK SC"/>
                <a:cs typeface="Noto Sans CJK SC"/>
              </a:rPr>
              <a:t>设备利用率提升</a:t>
            </a:r>
            <a:endParaRPr lang="zh-CN" sz="1240"/>
          </a:p>
        </p:txBody>
      </p:sp>
      <p:sp>
        <p:nvSpPr>
          <p:cNvPr id="107" name="TextBox 107"/>
          <p:cNvSpPr txBox="1"/>
          <p:nvPr/>
        </p:nvSpPr>
        <p:spPr>
          <a:xfrm>
            <a:off x="7362641" y="2162207"/>
            <a:ext cx="2019250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53627C"/>
                </a:solidFill>
                <a:latin typeface="Noto Sans CJK SC"/>
                <a:ea typeface="Noto Sans CJK SC"/>
                <a:cs typeface="Noto Sans CJK SC"/>
              </a:rPr>
              <a:t>较单通道机型对比</a:t>
            </a:r>
            <a:endParaRPr lang="zh-CN" sz="980"/>
          </a:p>
        </p:txBody>
      </p:sp>
      <p:sp>
        <p:nvSpPr>
          <p:cNvPr id="108" name="TextBox 108"/>
          <p:cNvSpPr txBox="1"/>
          <p:nvPr/>
        </p:nvSpPr>
        <p:spPr>
          <a:xfrm>
            <a:off x="10448664" y="1104958"/>
            <a:ext cx="933427" cy="714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900" b="1">
                <a:solidFill>
                  <a:srgbClr val="0046AF"/>
                </a:solidFill>
                <a:latin typeface="Arial"/>
                <a:ea typeface="Arial"/>
                <a:cs typeface="Arial"/>
              </a:rPr>
              <a:t>2-3</a:t>
            </a:r>
            <a:endParaRPr lang="zh-CN" sz="4900"/>
          </a:p>
        </p:txBody>
      </p:sp>
      <p:sp>
        <p:nvSpPr>
          <p:cNvPr id="109" name="TextBox 109"/>
          <p:cNvSpPr txBox="1"/>
          <p:nvPr/>
        </p:nvSpPr>
        <p:spPr>
          <a:xfrm>
            <a:off x="11353516" y="1285929"/>
            <a:ext cx="380990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FF8500"/>
                </a:solidFill>
                <a:latin typeface="Noto Sans CJK SC"/>
                <a:ea typeface="Noto Sans CJK SC"/>
                <a:cs typeface="Noto Sans CJK SC"/>
              </a:rPr>
              <a:t>年</a:t>
            </a:r>
            <a:endParaRPr lang="zh-CN" sz="1450"/>
          </a:p>
        </p:txBody>
      </p:sp>
      <p:sp>
        <p:nvSpPr>
          <p:cNvPr id="110" name="TextBox 110"/>
          <p:cNvSpPr txBox="1"/>
          <p:nvPr/>
        </p:nvSpPr>
        <p:spPr>
          <a:xfrm>
            <a:off x="9734307" y="1895513"/>
            <a:ext cx="1876378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0" b="1">
                <a:solidFill>
                  <a:srgbClr val="152C4F"/>
                </a:solidFill>
                <a:latin typeface="Noto Sans CJK SC"/>
                <a:ea typeface="Noto Sans CJK SC"/>
                <a:cs typeface="Noto Sans CJK SC"/>
              </a:rPr>
              <a:t>投资回收期</a:t>
            </a:r>
            <a:endParaRPr lang="zh-CN" sz="1240"/>
          </a:p>
        </p:txBody>
      </p:sp>
      <p:sp>
        <p:nvSpPr>
          <p:cNvPr id="111" name="TextBox 111"/>
          <p:cNvSpPr txBox="1"/>
          <p:nvPr/>
        </p:nvSpPr>
        <p:spPr>
          <a:xfrm>
            <a:off x="9648584" y="2162207"/>
            <a:ext cx="2047824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53627C"/>
                </a:solidFill>
                <a:latin typeface="Noto Sans CJK SC"/>
                <a:ea typeface="Noto Sans CJK SC"/>
                <a:cs typeface="Noto Sans CJK SC"/>
              </a:rPr>
              <a:t>叠加农机补贴后测算</a:t>
            </a:r>
            <a:endParaRPr lang="zh-CN" sz="980"/>
          </a:p>
        </p:txBody>
      </p:sp>
      <p:sp>
        <p:nvSpPr>
          <p:cNvPr id="112" name="TextBox 112"/>
          <p:cNvSpPr txBox="1"/>
          <p:nvPr/>
        </p:nvSpPr>
        <p:spPr>
          <a:xfrm>
            <a:off x="1181070" y="2790841"/>
            <a:ext cx="3609885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成本优势：牧场买得起、用得住</a:t>
            </a:r>
            <a:endParaRPr lang="zh-CN" sz="1610"/>
          </a:p>
        </p:txBody>
      </p:sp>
      <p:sp>
        <p:nvSpPr>
          <p:cNvPr id="113" name="TextBox 113"/>
          <p:cNvSpPr txBox="1"/>
          <p:nvPr/>
        </p:nvSpPr>
        <p:spPr>
          <a:xfrm>
            <a:off x="6981650" y="2790841"/>
            <a:ext cx="3609885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1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部署效率：周期短、适配强</a:t>
            </a:r>
            <a:endParaRPr lang="zh-CN" sz="1610"/>
          </a:p>
        </p:txBody>
      </p:sp>
      <p:sp>
        <p:nvSpPr>
          <p:cNvPr id="114" name="TextBox 114"/>
          <p:cNvSpPr txBox="1"/>
          <p:nvPr/>
        </p:nvSpPr>
        <p:spPr>
          <a:xfrm>
            <a:off x="600060" y="3295653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218EF7"/>
                </a:solidFill>
                <a:latin typeface="Arial"/>
                <a:ea typeface="Arial"/>
                <a:cs typeface="Arial"/>
              </a:rPr>
              <a:t>01</a:t>
            </a:r>
            <a:endParaRPr lang="zh-CN" sz="1310"/>
          </a:p>
        </p:txBody>
      </p:sp>
      <p:sp>
        <p:nvSpPr>
          <p:cNvPr id="115" name="TextBox 115"/>
          <p:cNvSpPr txBox="1"/>
          <p:nvPr/>
        </p:nvSpPr>
        <p:spPr>
          <a:xfrm>
            <a:off x="1838279" y="3314703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整机成本远低于进口同类产品</a:t>
            </a:r>
            <a:endParaRPr lang="zh-CN" sz="1165"/>
          </a:p>
        </p:txBody>
      </p:sp>
      <p:sp>
        <p:nvSpPr>
          <p:cNvPr id="116" name="TextBox 116"/>
          <p:cNvSpPr txBox="1"/>
          <p:nvPr/>
        </p:nvSpPr>
        <p:spPr>
          <a:xfrm>
            <a:off x="1838279" y="3533772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核心算法自主研发，GNSS与声光模块等硬件成本低廉</a:t>
            </a:r>
            <a:endParaRPr lang="zh-CN" sz="955"/>
          </a:p>
        </p:txBody>
      </p:sp>
      <p:sp>
        <p:nvSpPr>
          <p:cNvPr id="117" name="TextBox 117"/>
          <p:cNvSpPr txBox="1"/>
          <p:nvPr/>
        </p:nvSpPr>
        <p:spPr>
          <a:xfrm>
            <a:off x="600060" y="3838565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FF8000"/>
                </a:solidFill>
                <a:latin typeface="Arial"/>
                <a:ea typeface="Arial"/>
                <a:cs typeface="Arial"/>
              </a:rPr>
              <a:t>02</a:t>
            </a:r>
            <a:endParaRPr lang="zh-CN" sz="1310"/>
          </a:p>
        </p:txBody>
      </p:sp>
      <p:sp>
        <p:nvSpPr>
          <p:cNvPr id="118" name="TextBox 118"/>
          <p:cNvSpPr txBox="1"/>
          <p:nvPr/>
        </p:nvSpPr>
        <p:spPr>
          <a:xfrm>
            <a:off x="1838279" y="3857614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模块化加装，改造成本低</a:t>
            </a:r>
            <a:endParaRPr lang="zh-CN" sz="1165"/>
          </a:p>
        </p:txBody>
      </p:sp>
      <p:sp>
        <p:nvSpPr>
          <p:cNvPr id="119" name="TextBox 119"/>
          <p:cNvSpPr txBox="1"/>
          <p:nvPr/>
        </p:nvSpPr>
        <p:spPr>
          <a:xfrm>
            <a:off x="1838279" y="4076684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依托原有机械供应链，无需改动核心机械结构，量产成本可控</a:t>
            </a:r>
            <a:endParaRPr lang="zh-CN" sz="955"/>
          </a:p>
        </p:txBody>
      </p:sp>
      <p:sp>
        <p:nvSpPr>
          <p:cNvPr id="120" name="TextBox 120"/>
          <p:cNvSpPr txBox="1"/>
          <p:nvPr/>
        </p:nvSpPr>
        <p:spPr>
          <a:xfrm>
            <a:off x="600060" y="4400526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218EF7"/>
                </a:solidFill>
                <a:latin typeface="Arial"/>
                <a:ea typeface="Arial"/>
                <a:cs typeface="Arial"/>
              </a:rPr>
              <a:t>03</a:t>
            </a:r>
            <a:endParaRPr lang="zh-CN" sz="1310"/>
          </a:p>
        </p:txBody>
      </p:sp>
      <p:sp>
        <p:nvSpPr>
          <p:cNvPr id="121" name="TextBox 121"/>
          <p:cNvSpPr txBox="1"/>
          <p:nvPr/>
        </p:nvSpPr>
        <p:spPr>
          <a:xfrm>
            <a:off x="1838279" y="4419575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叠加农机补贴，采购门槛低</a:t>
            </a:r>
            <a:endParaRPr lang="zh-CN" sz="1165"/>
          </a:p>
        </p:txBody>
      </p:sp>
      <p:sp>
        <p:nvSpPr>
          <p:cNvPr id="122" name="TextBox 122"/>
          <p:cNvSpPr txBox="1"/>
          <p:nvPr/>
        </p:nvSpPr>
        <p:spPr>
          <a:xfrm>
            <a:off x="1838279" y="4638645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适配中小型牧场预算，投资回收期约2-3年</a:t>
            </a:r>
            <a:endParaRPr lang="zh-CN" sz="955"/>
          </a:p>
        </p:txBody>
      </p:sp>
      <p:sp>
        <p:nvSpPr>
          <p:cNvPr id="123" name="TextBox 123"/>
          <p:cNvSpPr txBox="1"/>
          <p:nvPr/>
        </p:nvSpPr>
        <p:spPr>
          <a:xfrm>
            <a:off x="600060" y="4962487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FF8000"/>
                </a:solidFill>
                <a:latin typeface="Arial"/>
                <a:ea typeface="Arial"/>
                <a:cs typeface="Arial"/>
              </a:rPr>
              <a:t>04</a:t>
            </a:r>
            <a:endParaRPr lang="zh-CN" sz="1310"/>
          </a:p>
        </p:txBody>
      </p:sp>
      <p:sp>
        <p:nvSpPr>
          <p:cNvPr id="124" name="TextBox 124"/>
          <p:cNvSpPr txBox="1"/>
          <p:nvPr/>
        </p:nvSpPr>
        <p:spPr>
          <a:xfrm>
            <a:off x="1838279" y="4981536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一人多机，管理成本再降</a:t>
            </a:r>
            <a:endParaRPr lang="zh-CN" sz="1165"/>
          </a:p>
        </p:txBody>
      </p:sp>
      <p:sp>
        <p:nvSpPr>
          <p:cNvPr id="125" name="TextBox 125"/>
          <p:cNvSpPr txBox="1"/>
          <p:nvPr/>
        </p:nvSpPr>
        <p:spPr>
          <a:xfrm>
            <a:off x="1838279" y="5200606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云端平台实现单人管控多条通道设备</a:t>
            </a:r>
            <a:endParaRPr lang="zh-CN" sz="955"/>
          </a:p>
        </p:txBody>
      </p:sp>
      <p:sp>
        <p:nvSpPr>
          <p:cNvPr id="126" name="TextBox 126"/>
          <p:cNvSpPr txBox="1"/>
          <p:nvPr/>
        </p:nvSpPr>
        <p:spPr>
          <a:xfrm>
            <a:off x="6391115" y="3295653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218EF7"/>
                </a:solidFill>
                <a:latin typeface="Arial"/>
                <a:ea typeface="Arial"/>
                <a:cs typeface="Arial"/>
              </a:rPr>
              <a:t>01</a:t>
            </a:r>
            <a:endParaRPr lang="zh-CN" sz="1310"/>
          </a:p>
        </p:txBody>
      </p:sp>
      <p:sp>
        <p:nvSpPr>
          <p:cNvPr id="127" name="TextBox 127"/>
          <p:cNvSpPr txBox="1"/>
          <p:nvPr/>
        </p:nvSpPr>
        <p:spPr>
          <a:xfrm>
            <a:off x="7629334" y="3314703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无需改造牧场通道与场地</a:t>
            </a:r>
            <a:endParaRPr lang="zh-CN" sz="1165"/>
          </a:p>
        </p:txBody>
      </p:sp>
      <p:sp>
        <p:nvSpPr>
          <p:cNvPr id="128" name="TextBox 128"/>
          <p:cNvSpPr txBox="1"/>
          <p:nvPr/>
        </p:nvSpPr>
        <p:spPr>
          <a:xfrm>
            <a:off x="7629334" y="3533772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仅依靠GNSS信号、雷达和相机即可完成导航与充电</a:t>
            </a:r>
            <a:endParaRPr lang="zh-CN" sz="955"/>
          </a:p>
        </p:txBody>
      </p:sp>
      <p:sp>
        <p:nvSpPr>
          <p:cNvPr id="129" name="TextBox 129"/>
          <p:cNvSpPr txBox="1"/>
          <p:nvPr/>
        </p:nvSpPr>
        <p:spPr>
          <a:xfrm>
            <a:off x="6391115" y="3838565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FF8000"/>
                </a:solidFill>
                <a:latin typeface="Arial"/>
                <a:ea typeface="Arial"/>
                <a:cs typeface="Arial"/>
              </a:rPr>
              <a:t>02</a:t>
            </a:r>
            <a:endParaRPr lang="zh-CN" sz="1310"/>
          </a:p>
        </p:txBody>
      </p:sp>
      <p:sp>
        <p:nvSpPr>
          <p:cNvPr id="130" name="TextBox 130"/>
          <p:cNvSpPr txBox="1"/>
          <p:nvPr/>
        </p:nvSpPr>
        <p:spPr>
          <a:xfrm>
            <a:off x="7629334" y="3857614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无图部署，落地即用</a:t>
            </a:r>
            <a:endParaRPr lang="zh-CN" sz="1165"/>
          </a:p>
        </p:txBody>
      </p:sp>
      <p:sp>
        <p:nvSpPr>
          <p:cNvPr id="131" name="TextBox 131"/>
          <p:cNvSpPr txBox="1"/>
          <p:nvPr/>
        </p:nvSpPr>
        <p:spPr>
          <a:xfrm>
            <a:off x="7629334" y="4076684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无需预先建图，适配不同规模牧场的通道条件</a:t>
            </a:r>
            <a:endParaRPr lang="zh-CN" sz="955"/>
          </a:p>
        </p:txBody>
      </p:sp>
      <p:sp>
        <p:nvSpPr>
          <p:cNvPr id="132" name="TextBox 132"/>
          <p:cNvSpPr txBox="1"/>
          <p:nvPr/>
        </p:nvSpPr>
        <p:spPr>
          <a:xfrm>
            <a:off x="6391115" y="4400526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218EF7"/>
                </a:solidFill>
                <a:latin typeface="Arial"/>
                <a:ea typeface="Arial"/>
                <a:cs typeface="Arial"/>
              </a:rPr>
              <a:t>03</a:t>
            </a:r>
            <a:endParaRPr lang="zh-CN" sz="1310"/>
          </a:p>
        </p:txBody>
      </p:sp>
      <p:sp>
        <p:nvSpPr>
          <p:cNvPr id="133" name="TextBox 133"/>
          <p:cNvSpPr txBox="1"/>
          <p:nvPr/>
        </p:nvSpPr>
        <p:spPr>
          <a:xfrm>
            <a:off x="7629334" y="4419575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作业通道数量可灵活调整</a:t>
            </a:r>
            <a:endParaRPr lang="zh-CN" sz="1165"/>
          </a:p>
        </p:txBody>
      </p:sp>
      <p:sp>
        <p:nvSpPr>
          <p:cNvPr id="134" name="TextBox 134"/>
          <p:cNvSpPr txBox="1"/>
          <p:nvPr/>
        </p:nvSpPr>
        <p:spPr>
          <a:xfrm>
            <a:off x="7629334" y="4638645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预留功能扩展接口，按需配置2-3个作业通道</a:t>
            </a:r>
            <a:endParaRPr lang="zh-CN" sz="955"/>
          </a:p>
        </p:txBody>
      </p:sp>
      <p:sp>
        <p:nvSpPr>
          <p:cNvPr id="135" name="TextBox 135"/>
          <p:cNvSpPr txBox="1"/>
          <p:nvPr/>
        </p:nvSpPr>
        <p:spPr>
          <a:xfrm>
            <a:off x="6391115" y="4962487"/>
            <a:ext cx="533387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10" b="1" i="1">
                <a:solidFill>
                  <a:srgbClr val="FF8000"/>
                </a:solidFill>
                <a:latin typeface="Arial"/>
                <a:ea typeface="Arial"/>
                <a:cs typeface="Arial"/>
              </a:rPr>
              <a:t>04</a:t>
            </a:r>
            <a:endParaRPr lang="zh-CN" sz="1310"/>
          </a:p>
        </p:txBody>
      </p:sp>
      <p:sp>
        <p:nvSpPr>
          <p:cNvPr id="136" name="TextBox 136"/>
          <p:cNvSpPr txBox="1"/>
          <p:nvPr/>
        </p:nvSpPr>
        <p:spPr>
          <a:xfrm>
            <a:off x="7629334" y="4981536"/>
            <a:ext cx="3867053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5" b="1">
                <a:solidFill>
                  <a:srgbClr val="003B99"/>
                </a:solidFill>
                <a:latin typeface="Noto Sans CJK SC"/>
                <a:ea typeface="Noto Sans CJK SC"/>
                <a:cs typeface="Noto Sans CJK SC"/>
              </a:rPr>
              <a:t>已适配西北牧场环境特征</a:t>
            </a:r>
            <a:endParaRPr lang="zh-CN" sz="1165"/>
          </a:p>
        </p:txBody>
      </p:sp>
      <p:sp>
        <p:nvSpPr>
          <p:cNvPr id="137" name="TextBox 137"/>
          <p:cNvSpPr txBox="1"/>
          <p:nvPr/>
        </p:nvSpPr>
        <p:spPr>
          <a:xfrm>
            <a:off x="7629334" y="5200606"/>
            <a:ext cx="3905152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5">
                <a:solidFill>
                  <a:srgbClr val="53627B"/>
                </a:solidFill>
                <a:latin typeface="Noto Sans CJK SC"/>
                <a:ea typeface="Noto Sans CJK SC"/>
                <a:cs typeface="Noto Sans CJK SC"/>
              </a:rPr>
              <a:t>围栏导航、多通道调度与自动回充均完成实地适配</a:t>
            </a:r>
            <a:endParaRPr lang="zh-CN" sz="955"/>
          </a:p>
        </p:txBody>
      </p:sp>
      <p:sp>
        <p:nvSpPr>
          <p:cNvPr id="138" name="TextBox 138"/>
          <p:cNvSpPr txBox="1"/>
          <p:nvPr/>
        </p:nvSpPr>
        <p:spPr>
          <a:xfrm>
            <a:off x="1590635" y="5791141"/>
            <a:ext cx="6019650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经济账算得过来：单场年节省人力与饲料成本显著，投资回收期约</a:t>
            </a:r>
            <a:endParaRPr lang="zh-CN" sz="1605"/>
          </a:p>
        </p:txBody>
      </p:sp>
      <p:sp>
        <p:nvSpPr>
          <p:cNvPr id="139" name="TextBox 139"/>
          <p:cNvSpPr txBox="1"/>
          <p:nvPr/>
        </p:nvSpPr>
        <p:spPr>
          <a:xfrm>
            <a:off x="7667433" y="5714943"/>
            <a:ext cx="942951" cy="4381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 i="1">
                <a:solidFill>
                  <a:srgbClr val="FF9A00"/>
                </a:solidFill>
                <a:latin typeface="Noto Sans CJK SC"/>
                <a:ea typeface="Noto Sans CJK SC"/>
                <a:cs typeface="Noto Sans CJK SC"/>
              </a:rPr>
              <a:t>2-3 年</a:t>
            </a:r>
            <a:endParaRPr lang="zh-CN" sz="2500"/>
          </a:p>
        </p:txBody>
      </p:sp>
      <p:sp>
        <p:nvSpPr>
          <p:cNvPr id="140" name="TextBox 140"/>
          <p:cNvSpPr txBox="1"/>
          <p:nvPr/>
        </p:nvSpPr>
        <p:spPr>
          <a:xfrm>
            <a:off x="8705632" y="5810190"/>
            <a:ext cx="447664" cy="2762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——</a:t>
            </a:r>
            <a:endParaRPr lang="zh-CN" sz="1800"/>
          </a:p>
        </p:txBody>
      </p:sp>
      <p:sp>
        <p:nvSpPr>
          <p:cNvPr id="141" name="TextBox 141"/>
          <p:cNvSpPr txBox="1"/>
          <p:nvPr/>
        </p:nvSpPr>
        <p:spPr>
          <a:xfrm>
            <a:off x="9267593" y="5791141"/>
            <a:ext cx="1504912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推广应用价值高</a:t>
            </a:r>
            <a:endParaRPr lang="zh-CN" sz="160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 blue curved header, peach fine accent, white canvas and faint bottom farm engineering illustration/footer waves, cleaned of all content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6410165" y="2038385"/>
            <a:ext cx="5781530" cy="149538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776" y="0"/>
                </a:moveTo>
                <a:lnTo>
                  <a:pt x="18931" y="0"/>
                </a:lnTo>
                <a:cubicBezTo>
                  <a:pt x="20426" y="2339"/>
                  <a:pt x="21422" y="5916"/>
                  <a:pt x="21600" y="10181"/>
                </a:cubicBezTo>
                <a:lnTo>
                  <a:pt x="21600" y="13758"/>
                </a:lnTo>
                <a:cubicBezTo>
                  <a:pt x="20817" y="18023"/>
                  <a:pt x="16156" y="21462"/>
                  <a:pt x="10533" y="21462"/>
                </a:cubicBezTo>
                <a:cubicBezTo>
                  <a:pt x="4911" y="21462"/>
                  <a:pt x="214" y="17885"/>
                  <a:pt x="0" y="12932"/>
                </a:cubicBezTo>
                <a:cubicBezTo>
                  <a:pt x="-249" y="8255"/>
                  <a:pt x="1103" y="3164"/>
                  <a:pt x="2776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1371566" y="1047810"/>
            <a:ext cx="4543311" cy="45718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419" y="0"/>
                </a:lnTo>
                <a:quadBezTo>
                  <a:pt x="21645" y="0"/>
                  <a:pt x="21555" y="2250"/>
                </a:quadBezTo>
                <a:lnTo>
                  <a:pt x="21011" y="20250"/>
                </a:lnTo>
                <a:quadBezTo>
                  <a:pt x="20921" y="21600"/>
                  <a:pt x="20694" y="21600"/>
                </a:quadBezTo>
                <a:lnTo>
                  <a:pt x="0" y="21600"/>
                </a:lnTo>
                <a:close/>
              </a:path>
            </a:pathLst>
          </a:custGeom>
          <a:solidFill>
            <a:srgbClr val="E9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7495988" y="1047810"/>
            <a:ext cx="4248044" cy="45718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406" y="0"/>
                </a:lnTo>
                <a:quadBezTo>
                  <a:pt x="21648" y="0"/>
                  <a:pt x="21552" y="2250"/>
                </a:quadBezTo>
                <a:lnTo>
                  <a:pt x="20970" y="20250"/>
                </a:lnTo>
                <a:quadBezTo>
                  <a:pt x="20874" y="21600"/>
                  <a:pt x="20631" y="21600"/>
                </a:quadBezTo>
                <a:lnTo>
                  <a:pt x="0" y="21600"/>
                </a:lnTo>
                <a:close/>
              </a:path>
            </a:pathLst>
          </a:custGeom>
          <a:solidFill>
            <a:srgbClr val="FFF4E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1809705" y="1676444"/>
            <a:ext cx="4429014" cy="98105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997" y="0"/>
                </a:moveTo>
                <a:lnTo>
                  <a:pt x="21043" y="0"/>
                </a:lnTo>
                <a:quadBezTo>
                  <a:pt x="21600" y="0"/>
                  <a:pt x="21600" y="2517"/>
                </a:quadBezTo>
                <a:lnTo>
                  <a:pt x="21600" y="19083"/>
                </a:lnTo>
                <a:quadBezTo>
                  <a:pt x="21600" y="21600"/>
                  <a:pt x="21043" y="21600"/>
                </a:quadBezTo>
                <a:lnTo>
                  <a:pt x="465" y="21600"/>
                </a:lnTo>
                <a:quadBezTo>
                  <a:pt x="0" y="21600"/>
                  <a:pt x="139" y="19083"/>
                </a:quadBezTo>
                <a:lnTo>
                  <a:pt x="1068" y="2936"/>
                </a:lnTo>
                <a:quadBezTo>
                  <a:pt x="1301" y="0"/>
                  <a:pt x="1997" y="0"/>
                </a:quadBezTo>
                <a:close/>
              </a:path>
            </a:pathLst>
          </a:custGeom>
          <a:solidFill>
            <a:srgbClr val="EDF6FF"/>
          </a:solidFill>
          <a:ln w="6985">
            <a:solidFill>
              <a:srgbClr val="B8DBFF"/>
            </a:solidFill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1809705" y="2800366"/>
            <a:ext cx="4429014" cy="98105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86" y="0"/>
                </a:moveTo>
                <a:lnTo>
                  <a:pt x="21043" y="0"/>
                </a:lnTo>
                <a:quadBezTo>
                  <a:pt x="21600" y="0"/>
                  <a:pt x="21600" y="2517"/>
                </a:quadBezTo>
                <a:lnTo>
                  <a:pt x="21600" y="19083"/>
                </a:lnTo>
                <a:quadBezTo>
                  <a:pt x="21600" y="21600"/>
                  <a:pt x="21043" y="21600"/>
                </a:quadBezTo>
                <a:lnTo>
                  <a:pt x="465" y="21600"/>
                </a:lnTo>
                <a:quadBezTo>
                  <a:pt x="0" y="21600"/>
                  <a:pt x="139" y="19083"/>
                </a:quadBezTo>
                <a:lnTo>
                  <a:pt x="557" y="2936"/>
                </a:lnTo>
                <a:quadBezTo>
                  <a:pt x="790" y="0"/>
                  <a:pt x="1486" y="0"/>
                </a:quadBezTo>
                <a:close/>
              </a:path>
            </a:pathLst>
          </a:custGeom>
          <a:solidFill>
            <a:srgbClr val="EDF6FF"/>
          </a:solidFill>
          <a:ln w="6985">
            <a:solidFill>
              <a:srgbClr val="B8DBFF"/>
            </a:solidFill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1809705" y="3905238"/>
            <a:ext cx="4429014" cy="98105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951" y="0"/>
                </a:moveTo>
                <a:lnTo>
                  <a:pt x="21043" y="0"/>
                </a:lnTo>
                <a:quadBezTo>
                  <a:pt x="21600" y="0"/>
                  <a:pt x="21600" y="2517"/>
                </a:quadBezTo>
                <a:lnTo>
                  <a:pt x="21600" y="19083"/>
                </a:lnTo>
                <a:quadBezTo>
                  <a:pt x="21600" y="21600"/>
                  <a:pt x="21043" y="21600"/>
                </a:quadBezTo>
                <a:lnTo>
                  <a:pt x="465" y="21600"/>
                </a:lnTo>
                <a:quadBezTo>
                  <a:pt x="0" y="21600"/>
                  <a:pt x="139" y="19083"/>
                </a:quadBezTo>
                <a:lnTo>
                  <a:pt x="1022" y="2936"/>
                </a:lnTo>
                <a:quadBezTo>
                  <a:pt x="1254" y="0"/>
                  <a:pt x="1951" y="0"/>
                </a:quadBezTo>
                <a:close/>
              </a:path>
            </a:pathLst>
          </a:custGeom>
          <a:solidFill>
            <a:srgbClr val="EDF6FF"/>
          </a:solidFill>
          <a:ln w="6985">
            <a:solidFill>
              <a:srgbClr val="B8DBFF"/>
            </a:solidFill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1809705" y="5000586"/>
            <a:ext cx="4429014" cy="98105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905" y="0"/>
                </a:moveTo>
                <a:lnTo>
                  <a:pt x="21043" y="0"/>
                </a:lnTo>
                <a:quadBezTo>
                  <a:pt x="21600" y="0"/>
                  <a:pt x="21600" y="2517"/>
                </a:quadBezTo>
                <a:lnTo>
                  <a:pt x="21600" y="19083"/>
                </a:lnTo>
                <a:quadBezTo>
                  <a:pt x="21600" y="21600"/>
                  <a:pt x="21043" y="21600"/>
                </a:quadBezTo>
                <a:lnTo>
                  <a:pt x="465" y="21600"/>
                </a:lnTo>
                <a:quadBezTo>
                  <a:pt x="0" y="21600"/>
                  <a:pt x="139" y="19083"/>
                </a:quadBezTo>
                <a:lnTo>
                  <a:pt x="975" y="2936"/>
                </a:lnTo>
                <a:quadBezTo>
                  <a:pt x="1208" y="0"/>
                  <a:pt x="1905" y="0"/>
                </a:quadBezTo>
                <a:close/>
              </a:path>
            </a:pathLst>
          </a:custGeom>
          <a:solidFill>
            <a:srgbClr val="EDF6FF"/>
          </a:solidFill>
          <a:ln w="6985">
            <a:solidFill>
              <a:srgbClr val="B8DB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1904952" y="6019735"/>
            <a:ext cx="8943751" cy="590535"/>
          </a:xfrm>
          <a:prstGeom prst="roundRect">
            <a:avLst>
              <a:gd name="adj" fmla="val 24194"/>
            </a:avLst>
          </a:prstGeom>
          <a:solidFill>
            <a:srgbClr val="A3E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1933527" y="6048310"/>
            <a:ext cx="8886603" cy="533387"/>
          </a:xfrm>
          <a:prstGeom prst="roundRect">
            <a:avLst>
              <a:gd name="adj" fmla="val 23214"/>
            </a:avLst>
          </a:prstGeom>
          <a:solidFill>
            <a:srgbClr val="0058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th 12"/>
          <p:cNvSpPr/>
          <p:nvPr/>
        </p:nvSpPr>
        <p:spPr>
          <a:xfrm>
            <a:off x="400040" y="1733592"/>
            <a:ext cx="466713" cy="390515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cubicBezTo>
                  <a:pt x="5731" y="3582"/>
                  <a:pt x="-4849" y="8956"/>
                  <a:pt x="1322" y="15015"/>
                </a:cubicBezTo>
                <a:cubicBezTo>
                  <a:pt x="2645" y="17596"/>
                  <a:pt x="5731" y="19861"/>
                  <a:pt x="10580" y="21600"/>
                </a:cubicBezTo>
              </a:path>
            </a:pathLst>
          </a:custGeom>
          <a:noFill/>
          <a:ln w="19050">
            <a:solidFill>
              <a:srgbClr val="8CC5F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19090" y="1009710"/>
            <a:ext cx="1047724" cy="485763"/>
          </a:xfrm>
          <a:prstGeom prst="roundRect">
            <a:avLst>
              <a:gd name="adj" fmla="val 23529"/>
            </a:avLst>
          </a:prstGeom>
          <a:solidFill>
            <a:srgbClr val="0756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543511" y="1009710"/>
            <a:ext cx="1047724" cy="485763"/>
          </a:xfrm>
          <a:prstGeom prst="roundRect">
            <a:avLst>
              <a:gd name="adj" fmla="val 23529"/>
            </a:avLst>
          </a:prstGeom>
          <a:solidFill>
            <a:srgbClr val="FF6C0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th 15"/>
          <p:cNvSpPr/>
          <p:nvPr/>
        </p:nvSpPr>
        <p:spPr>
          <a:xfrm>
            <a:off x="6419690" y="2857514"/>
            <a:ext cx="5772006" cy="67625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cubicBezTo>
                  <a:pt x="250" y="14299"/>
                  <a:pt x="4812" y="21296"/>
                  <a:pt x="10479" y="21296"/>
                </a:cubicBezTo>
                <a:cubicBezTo>
                  <a:pt x="15826" y="21296"/>
                  <a:pt x="20531" y="14299"/>
                  <a:pt x="21600" y="5172"/>
                </a:cubicBezTo>
              </a:path>
            </a:pathLst>
          </a:custGeom>
          <a:noFill/>
          <a:ln w="41910">
            <a:solidFill>
              <a:srgbClr val="FFD3AA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8467513" y="2133632"/>
            <a:ext cx="0" cy="1095348"/>
          </a:xfrm>
          <a:prstGeom prst="line">
            <a:avLst/>
          </a:prstGeom>
          <a:noFill/>
          <a:ln w="6985">
            <a:solidFill>
              <a:srgbClr val="FFD6B4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10191495" y="2133632"/>
            <a:ext cx="0" cy="1095348"/>
          </a:xfrm>
          <a:prstGeom prst="line">
            <a:avLst/>
          </a:prstGeom>
          <a:noFill/>
          <a:ln w="6985">
            <a:solidFill>
              <a:srgbClr val="FFD6B4"/>
            </a:solidFill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628634" y="2066959"/>
            <a:ext cx="152396" cy="152396"/>
          </a:xfrm>
          <a:prstGeom prst="ellipse">
            <a:avLst/>
          </a:prstGeom>
          <a:solidFill>
            <a:srgbClr val="358FE5"/>
          </a:solidFill>
          <a:ln w="10160">
            <a:solidFill>
              <a:srgbClr val="E6F5FF"/>
            </a:solidFill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390515" y="3181356"/>
            <a:ext cx="152396" cy="152396"/>
          </a:xfrm>
          <a:prstGeom prst="ellipse">
            <a:avLst/>
          </a:prstGeom>
          <a:solidFill>
            <a:srgbClr val="358FE5"/>
          </a:solidFill>
          <a:ln w="10160">
            <a:solidFill>
              <a:srgbClr val="E6F5FF"/>
            </a:solidFill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352416" y="4229080"/>
            <a:ext cx="152396" cy="152396"/>
          </a:xfrm>
          <a:prstGeom prst="ellipse">
            <a:avLst/>
          </a:prstGeom>
          <a:solidFill>
            <a:srgbClr val="358FE5"/>
          </a:solidFill>
          <a:ln w="10160">
            <a:solidFill>
              <a:srgbClr val="E6F5FF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533387" y="5333952"/>
            <a:ext cx="152396" cy="152396"/>
          </a:xfrm>
          <a:prstGeom prst="ellipse">
            <a:avLst/>
          </a:prstGeom>
          <a:solidFill>
            <a:srgbClr val="358FE5"/>
          </a:solidFill>
          <a:ln w="10160">
            <a:solidFill>
              <a:srgbClr val="E6F5FF"/>
            </a:solidFill>
          </a:ln>
        </p:spPr>
        <p:txBody>
          <a:bodyPr/>
          <a:lstStyle/>
          <a:p/>
        </p:txBody>
      </p:sp>
      <p:sp>
        <p:nvSpPr>
          <p:cNvPr id="22" name="Path 22"/>
          <p:cNvSpPr/>
          <p:nvPr/>
        </p:nvSpPr>
        <p:spPr>
          <a:xfrm>
            <a:off x="6362541" y="3381376"/>
            <a:ext cx="5829154" cy="42861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24" y="0"/>
                </a:moveTo>
                <a:cubicBezTo>
                  <a:pt x="2012" y="0"/>
                  <a:pt x="2294" y="4800"/>
                  <a:pt x="4871" y="5760"/>
                </a:cubicBezTo>
                <a:cubicBezTo>
                  <a:pt x="11788" y="8160"/>
                  <a:pt x="16941" y="6240"/>
                  <a:pt x="20329" y="480"/>
                </a:cubicBezTo>
                <a:lnTo>
                  <a:pt x="21600" y="0"/>
                </a:lnTo>
                <a:lnTo>
                  <a:pt x="21600" y="18240"/>
                </a:lnTo>
                <a:lnTo>
                  <a:pt x="0" y="21600"/>
                </a:lnTo>
                <a:lnTo>
                  <a:pt x="0" y="11520"/>
                </a:lnTo>
                <a:quadBezTo>
                  <a:pt x="0" y="0"/>
                  <a:pt x="1024" y="0"/>
                </a:quadBezTo>
                <a:close/>
              </a:path>
            </a:pathLst>
          </a:custGeom>
          <a:solidFill>
            <a:srgbClr val="CEE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3" name="Same source farm aerial photograph: exact central diagonal blue roofs, long parallel barns, cattle pens, roads, trees and water channels in original perspective and rounded curved source clip. No readable overlay text in photo."/>
          <p:cNvPicPr/>
          <p:nvPr/>
        </p:nvPicPr>
        <p:blipFill>
          <a:blip r:embed="rId12"/>
          <a:stretch>
            <a:fillRect/>
          </a:stretch>
        </p:blipFill>
        <p:spPr>
          <a:xfrm>
            <a:off x="6284905" y="3434331"/>
            <a:ext cx="5961782" cy="2656271"/>
          </a:xfrm>
          <a:prstGeom prst="rect">
            <a:avLst/>
          </a:prstGeom>
        </p:spPr>
      </p:pic>
      <p:pic>
        <p:nvPicPr>
          <p:cNvPr id="24" name="Source blue 3D oval podium and gear/backplate; ordinary 01 removed from clean face."/>
          <p:cNvPicPr/>
          <p:nvPr/>
        </p:nvPicPr>
        <p:blipFill>
          <a:blip r:embed="rId3"/>
          <a:stretch>
            <a:fillRect/>
          </a:stretch>
        </p:blipFill>
        <p:spPr>
          <a:xfrm>
            <a:off x="557686" y="1554475"/>
            <a:ext cx="1608710" cy="1179106"/>
          </a:xfrm>
          <a:prstGeom prst="rect">
            <a:avLst/>
          </a:prstGeom>
        </p:spPr>
      </p:pic>
      <p:pic>
        <p:nvPicPr>
          <p:cNvPr id="25" name="Source blue 3D oval podium and original five-node network/backplate; ordinary 02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555645" y="2701655"/>
            <a:ext cx="1641367" cy="1151991"/>
          </a:xfrm>
          <a:prstGeom prst="rect">
            <a:avLst/>
          </a:prstGeom>
        </p:spPr>
      </p:pic>
      <p:pic>
        <p:nvPicPr>
          <p:cNvPr id="26" name="Source blue 3D oval podium and cloud/backplate; ordinary 03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555402" y="3777087"/>
            <a:ext cx="1641853" cy="1163175"/>
          </a:xfrm>
          <a:prstGeom prst="rect">
            <a:avLst/>
          </a:prstGeom>
        </p:spPr>
      </p:pic>
      <p:pic>
        <p:nvPicPr>
          <p:cNvPr id="27" name="Source blue 3D oval podium and rising bars/backplate; ordinary 04 remo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557542" y="4863085"/>
            <a:ext cx="1637572" cy="1139534"/>
          </a:xfrm>
          <a:prstGeom prst="rect">
            <a:avLst/>
          </a:prstGeom>
        </p:spPr>
      </p:pic>
      <p:pic>
        <p:nvPicPr>
          <p:cNvPr id="28" name="Source orange circular network icon with white five-node symbol and pale outer disc."/>
          <p:cNvPicPr/>
          <p:nvPr/>
        </p:nvPicPr>
        <p:blipFill>
          <a:blip r:embed="rId7"/>
          <a:stretch>
            <a:fillRect/>
          </a:stretch>
        </p:blipFill>
        <p:spPr>
          <a:xfrm>
            <a:off x="7095194" y="1524116"/>
            <a:ext cx="915885" cy="904715"/>
          </a:xfrm>
          <a:prstGeom prst="rect">
            <a:avLst/>
          </a:prstGeom>
        </p:spPr>
      </p:pic>
      <p:pic>
        <p:nvPicPr>
          <p:cNvPr id="29" name="Source orange circular modules icon with exact white three-cube symbol and pale outer disc."/>
          <p:cNvPicPr/>
          <p:nvPr/>
        </p:nvPicPr>
        <p:blipFill>
          <a:blip r:embed="rId8"/>
          <a:stretch>
            <a:fillRect/>
          </a:stretch>
        </p:blipFill>
        <p:spPr>
          <a:xfrm>
            <a:off x="8829420" y="1524827"/>
            <a:ext cx="914445" cy="903293"/>
          </a:xfrm>
          <a:prstGeom prst="rect">
            <a:avLst/>
          </a:prstGeom>
        </p:spPr>
      </p:pic>
      <p:pic>
        <p:nvPicPr>
          <p:cNvPr id="30" name="Source orange circular bar-growth icon with white bars/small arrow and pale outer disc."/>
          <p:cNvPicPr/>
          <p:nvPr/>
        </p:nvPicPr>
        <p:blipFill>
          <a:blip r:embed="rId9"/>
          <a:stretch>
            <a:fillRect/>
          </a:stretch>
        </p:blipFill>
        <p:spPr>
          <a:xfrm>
            <a:off x="10637421" y="1545670"/>
            <a:ext cx="917853" cy="884134"/>
          </a:xfrm>
          <a:prstGeom prst="rect">
            <a:avLst/>
          </a:prstGeom>
        </p:spPr>
      </p:pic>
      <p:pic>
        <p:nvPicPr>
          <p:cNvPr id="31" name="Source grazing blue cow silhouette, original pose/legs/tail/head; grass remains background."/>
          <p:cNvPicPr/>
          <p:nvPr/>
        </p:nvPicPr>
        <p:blipFill>
          <a:blip r:embed="rId10"/>
          <a:stretch>
            <a:fillRect/>
          </a:stretch>
        </p:blipFill>
        <p:spPr>
          <a:xfrm>
            <a:off x="331281" y="5961528"/>
            <a:ext cx="1223341" cy="745048"/>
          </a:xfrm>
          <a:prstGeom prst="rect">
            <a:avLst/>
          </a:prstGeom>
        </p:spPr>
      </p:pic>
      <p:pic>
        <p:nvPicPr>
          <p:cNvPr id="32" name="Source white target/arrow slogan icon, separate from ordinary native panel."/>
          <p:cNvPicPr/>
          <p:nvPr/>
        </p:nvPicPr>
        <p:blipFill>
          <a:blip r:embed="rId11"/>
          <a:stretch>
            <a:fillRect/>
          </a:stretch>
        </p:blipFill>
        <p:spPr>
          <a:xfrm>
            <a:off x="2213458" y="6130222"/>
            <a:ext cx="411663" cy="398135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409565" y="181056"/>
            <a:ext cx="3333667" cy="5905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  <a:endParaRPr lang="zh-CN" sz="3300"/>
          </a:p>
        </p:txBody>
      </p:sp>
      <p:sp>
        <p:nvSpPr>
          <p:cNvPr id="34" name="TextBox 34"/>
          <p:cNvSpPr txBox="1"/>
          <p:nvPr/>
        </p:nvSpPr>
        <p:spPr>
          <a:xfrm>
            <a:off x="419090" y="1009710"/>
            <a:ext cx="1047724" cy="4857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结论</a:t>
            </a:r>
            <a:endParaRPr lang="zh-CN" sz="2300"/>
          </a:p>
        </p:txBody>
      </p:sp>
      <p:sp>
        <p:nvSpPr>
          <p:cNvPr id="35" name="TextBox 35"/>
          <p:cNvSpPr txBox="1"/>
          <p:nvPr/>
        </p:nvSpPr>
        <p:spPr>
          <a:xfrm>
            <a:off x="1581110" y="1104958"/>
            <a:ext cx="4190895" cy="3143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52AE"/>
                </a:solidFill>
                <a:latin typeface="Noto Sans CJK SC"/>
                <a:ea typeface="Noto Sans CJK SC"/>
                <a:cs typeface="Noto Sans CJK SC"/>
              </a:rPr>
              <a:t>全链路研制完成，长期实地验证通过</a:t>
            </a:r>
            <a:endParaRPr lang="zh-CN" sz="1500"/>
          </a:p>
        </p:txBody>
      </p:sp>
      <p:sp>
        <p:nvSpPr>
          <p:cNvPr id="36" name="TextBox 36"/>
          <p:cNvSpPr txBox="1"/>
          <p:nvPr/>
        </p:nvSpPr>
        <p:spPr>
          <a:xfrm>
            <a:off x="6543511" y="1009710"/>
            <a:ext cx="1047724" cy="4857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展望</a:t>
            </a:r>
            <a:endParaRPr lang="zh-CN" sz="2300"/>
          </a:p>
        </p:txBody>
      </p:sp>
      <p:sp>
        <p:nvSpPr>
          <p:cNvPr id="37" name="TextBox 37"/>
          <p:cNvSpPr txBox="1"/>
          <p:nvPr/>
        </p:nvSpPr>
        <p:spPr>
          <a:xfrm>
            <a:off x="7734107" y="1104958"/>
            <a:ext cx="3895628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FF5B00"/>
                </a:solidFill>
                <a:latin typeface="Noto Sans CJK SC"/>
                <a:ea typeface="Noto Sans CJK SC"/>
                <a:cs typeface="Noto Sans CJK SC"/>
              </a:rPr>
              <a:t>从单机智能走向牧场群体智能</a:t>
            </a:r>
            <a:endParaRPr lang="zh-CN" sz="1700"/>
          </a:p>
        </p:txBody>
      </p:sp>
      <p:sp>
        <p:nvSpPr>
          <p:cNvPr id="38" name="TextBox 38"/>
          <p:cNvSpPr txBox="1"/>
          <p:nvPr/>
        </p:nvSpPr>
        <p:spPr>
          <a:xfrm>
            <a:off x="819130" y="2000286"/>
            <a:ext cx="628634" cy="466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2072CB"/>
                </a:solidFill>
                <a:latin typeface="Liberation Sans"/>
                <a:ea typeface="Liberation Sans"/>
                <a:cs typeface="Liberation Sans"/>
              </a:rPr>
              <a:t>01</a:t>
            </a:r>
            <a:endParaRPr lang="zh-CN" sz="3000"/>
          </a:p>
        </p:txBody>
      </p:sp>
      <p:sp>
        <p:nvSpPr>
          <p:cNvPr id="39" name="TextBox 39"/>
          <p:cNvSpPr txBox="1"/>
          <p:nvPr/>
        </p:nvSpPr>
        <p:spPr>
          <a:xfrm>
            <a:off x="819130" y="3105158"/>
            <a:ext cx="628634" cy="466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2072CB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zh-CN" sz="3000"/>
          </a:p>
        </p:txBody>
      </p:sp>
      <p:sp>
        <p:nvSpPr>
          <p:cNvPr id="40" name="TextBox 40"/>
          <p:cNvSpPr txBox="1"/>
          <p:nvPr/>
        </p:nvSpPr>
        <p:spPr>
          <a:xfrm>
            <a:off x="819130" y="4190981"/>
            <a:ext cx="628634" cy="466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2072CB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zh-CN" sz="3000"/>
          </a:p>
        </p:txBody>
      </p:sp>
      <p:sp>
        <p:nvSpPr>
          <p:cNvPr id="41" name="TextBox 41"/>
          <p:cNvSpPr txBox="1"/>
          <p:nvPr/>
        </p:nvSpPr>
        <p:spPr>
          <a:xfrm>
            <a:off x="819130" y="5229180"/>
            <a:ext cx="628634" cy="466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 b="1">
                <a:solidFill>
                  <a:srgbClr val="2072CB"/>
                </a:solidFill>
                <a:latin typeface="Liberation Sans"/>
                <a:ea typeface="Liberation Sans"/>
                <a:cs typeface="Liberation Sans"/>
              </a:rPr>
              <a:t>04</a:t>
            </a:r>
            <a:endParaRPr lang="zh-CN" sz="3000"/>
          </a:p>
        </p:txBody>
      </p:sp>
      <p:sp>
        <p:nvSpPr>
          <p:cNvPr id="42" name="TextBox 42"/>
          <p:cNvSpPr txBox="1"/>
          <p:nvPr/>
        </p:nvSpPr>
        <p:spPr>
          <a:xfrm>
            <a:off x="2400240" y="1790741"/>
            <a:ext cx="3695608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755AC"/>
                </a:solidFill>
                <a:latin typeface="Noto Sans CJK SC"/>
                <a:ea typeface="Noto Sans CJK SC"/>
                <a:cs typeface="Noto Sans CJK SC"/>
              </a:rPr>
              <a:t>结构层：机电一体化协同架构落地</a:t>
            </a:r>
            <a:endParaRPr lang="zh-CN" sz="1400"/>
          </a:p>
        </p:txBody>
      </p:sp>
      <p:sp>
        <p:nvSpPr>
          <p:cNvPr id="43" name="TextBox 43"/>
          <p:cNvSpPr txBox="1"/>
          <p:nvPr/>
        </p:nvSpPr>
        <p:spPr>
          <a:xfrm>
            <a:off x="2400240" y="2924188"/>
            <a:ext cx="3695608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755AC"/>
                </a:solidFill>
                <a:latin typeface="Noto Sans CJK SC"/>
                <a:ea typeface="Noto Sans CJK SC"/>
                <a:cs typeface="Noto Sans CJK SC"/>
              </a:rPr>
              <a:t>算法层：五大核心算法闭环成体系</a:t>
            </a:r>
            <a:endParaRPr lang="zh-CN" sz="1400"/>
          </a:p>
        </p:txBody>
      </p:sp>
      <p:sp>
        <p:nvSpPr>
          <p:cNvPr id="44" name="TextBox 44"/>
          <p:cNvSpPr txBox="1"/>
          <p:nvPr/>
        </p:nvSpPr>
        <p:spPr>
          <a:xfrm>
            <a:off x="2428814" y="4010010"/>
            <a:ext cx="3638459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755AC"/>
                </a:solidFill>
                <a:latin typeface="Noto Sans CJK SC"/>
                <a:ea typeface="Noto Sans CJK SC"/>
                <a:cs typeface="Noto Sans CJK SC"/>
              </a:rPr>
              <a:t>平台层：云端一体化管控打通</a:t>
            </a:r>
            <a:endParaRPr lang="zh-CN" sz="1400"/>
          </a:p>
        </p:txBody>
      </p:sp>
      <p:sp>
        <p:nvSpPr>
          <p:cNvPr id="45" name="TextBox 45"/>
          <p:cNvSpPr txBox="1"/>
          <p:nvPr/>
        </p:nvSpPr>
        <p:spPr>
          <a:xfrm>
            <a:off x="2428814" y="5086309"/>
            <a:ext cx="3638459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755AC"/>
                </a:solidFill>
                <a:latin typeface="Noto Sans CJK SC"/>
                <a:ea typeface="Noto Sans CJK SC"/>
                <a:cs typeface="Noto Sans CJK SC"/>
              </a:rPr>
              <a:t>验证层：120天牧场连续运行</a:t>
            </a:r>
            <a:endParaRPr lang="zh-CN" sz="1400"/>
          </a:p>
        </p:txBody>
      </p:sp>
      <p:sp>
        <p:nvSpPr>
          <p:cNvPr id="46" name="TextBox 46"/>
          <p:cNvSpPr txBox="1"/>
          <p:nvPr/>
        </p:nvSpPr>
        <p:spPr>
          <a:xfrm>
            <a:off x="2409765" y="2114583"/>
            <a:ext cx="3752756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差速底盘 + 自适应姿态滚筒 + 分层分布式电气（IP65），</a:t>
            </a:r>
            <a:endParaRPr lang="zh-CN" sz="1100"/>
          </a:p>
        </p:txBody>
      </p:sp>
      <p:sp>
        <p:nvSpPr>
          <p:cNvPr id="47" name="TextBox 47"/>
          <p:cNvSpPr txBox="1"/>
          <p:nvPr/>
        </p:nvSpPr>
        <p:spPr>
          <a:xfrm>
            <a:off x="2409765" y="2324128"/>
            <a:ext cx="3714657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最小转弯半径 0.6 m，适配 3.5-6 m 通道。</a:t>
            </a:r>
            <a:endParaRPr lang="zh-CN" sz="1100"/>
          </a:p>
        </p:txBody>
      </p:sp>
      <p:sp>
        <p:nvSpPr>
          <p:cNvPr id="48" name="TextBox 48"/>
          <p:cNvSpPr txBox="1"/>
          <p:nvPr/>
        </p:nvSpPr>
        <p:spPr>
          <a:xfrm>
            <a:off x="2409765" y="3248030"/>
            <a:ext cx="3714657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总调度、围栏导航、AR码充电、GNSS 跨通道、云端平台，</a:t>
            </a:r>
            <a:endParaRPr lang="zh-CN" sz="1100"/>
          </a:p>
        </p:txBody>
      </p:sp>
      <p:sp>
        <p:nvSpPr>
          <p:cNvPr id="49" name="TextBox 49"/>
          <p:cNvSpPr txBox="1"/>
          <p:nvPr/>
        </p:nvSpPr>
        <p:spPr>
          <a:xfrm>
            <a:off x="2409765" y="3457574"/>
            <a:ext cx="3714657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实现全流程无人化推料作业。</a:t>
            </a:r>
            <a:endParaRPr lang="zh-CN" sz="1100"/>
          </a:p>
        </p:txBody>
      </p:sp>
      <p:sp>
        <p:nvSpPr>
          <p:cNvPr id="50" name="TextBox 50"/>
          <p:cNvSpPr txBox="1"/>
          <p:nvPr/>
        </p:nvSpPr>
        <p:spPr>
          <a:xfrm>
            <a:off x="2428814" y="4324328"/>
            <a:ext cx="3705132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多路视频、状态监测、远程操控与任务编排，</a:t>
            </a:r>
            <a:endParaRPr lang="zh-CN" sz="1100"/>
          </a:p>
        </p:txBody>
      </p:sp>
      <p:sp>
        <p:nvSpPr>
          <p:cNvPr id="51" name="TextBox 51"/>
          <p:cNvSpPr txBox="1"/>
          <p:nvPr/>
        </p:nvSpPr>
        <p:spPr>
          <a:xfrm>
            <a:off x="2428814" y="4533872"/>
            <a:ext cx="3705132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一人可管控多台多通道设备。</a:t>
            </a:r>
            <a:endParaRPr lang="zh-CN" sz="1100"/>
          </a:p>
        </p:txBody>
      </p:sp>
      <p:sp>
        <p:nvSpPr>
          <p:cNvPr id="52" name="TextBox 52"/>
          <p:cNvSpPr txBox="1"/>
          <p:nvPr/>
        </p:nvSpPr>
        <p:spPr>
          <a:xfrm>
            <a:off x="2428814" y="5400626"/>
            <a:ext cx="3762281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在宁夏农垦茂盛牧场 18/19/20 号通道完成中试，</a:t>
            </a:r>
            <a:endParaRPr lang="zh-CN" sz="1100"/>
          </a:p>
        </p:txBody>
      </p:sp>
      <p:sp>
        <p:nvSpPr>
          <p:cNvPr id="53" name="TextBox 53"/>
          <p:cNvSpPr txBox="1"/>
          <p:nvPr/>
        </p:nvSpPr>
        <p:spPr>
          <a:xfrm>
            <a:off x="2428814" y="5610170"/>
            <a:ext cx="3762281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稳定性与可重复性经真实工况考核。</a:t>
            </a:r>
            <a:endParaRPr lang="zh-CN" sz="1100"/>
          </a:p>
        </p:txBody>
      </p:sp>
      <p:sp>
        <p:nvSpPr>
          <p:cNvPr id="54" name="TextBox 54"/>
          <p:cNvSpPr txBox="1"/>
          <p:nvPr/>
        </p:nvSpPr>
        <p:spPr>
          <a:xfrm>
            <a:off x="6648284" y="2343177"/>
            <a:ext cx="1781130" cy="2476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FF5A0B"/>
                </a:solidFill>
                <a:latin typeface="Noto Sans CJK SC"/>
                <a:ea typeface="Noto Sans CJK SC"/>
                <a:cs typeface="Noto Sans CJK SC"/>
              </a:rPr>
              <a:t>多机协同作业</a:t>
            </a:r>
            <a:endParaRPr lang="zh-CN" sz="1200"/>
          </a:p>
        </p:txBody>
      </p:sp>
      <p:sp>
        <p:nvSpPr>
          <p:cNvPr id="55" name="TextBox 55"/>
          <p:cNvSpPr txBox="1"/>
          <p:nvPr/>
        </p:nvSpPr>
        <p:spPr>
          <a:xfrm>
            <a:off x="8496088" y="2343177"/>
            <a:ext cx="1657309" cy="2476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FF5A0B"/>
                </a:solidFill>
                <a:latin typeface="Noto Sans CJK SC"/>
                <a:ea typeface="Noto Sans CJK SC"/>
                <a:cs typeface="Noto Sans CJK SC"/>
              </a:rPr>
              <a:t>功能扩展接口</a:t>
            </a:r>
            <a:endParaRPr lang="zh-CN" sz="1200"/>
          </a:p>
        </p:txBody>
      </p:sp>
      <p:sp>
        <p:nvSpPr>
          <p:cNvPr id="56" name="TextBox 56"/>
          <p:cNvSpPr txBox="1"/>
          <p:nvPr/>
        </p:nvSpPr>
        <p:spPr>
          <a:xfrm>
            <a:off x="10286743" y="2343177"/>
            <a:ext cx="1685883" cy="2476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FF5A0B"/>
                </a:solidFill>
                <a:latin typeface="Noto Sans CJK SC"/>
                <a:ea typeface="Noto Sans CJK SC"/>
                <a:cs typeface="Noto Sans CJK SC"/>
              </a:rPr>
              <a:t>服务西北奶业与乡村振兴</a:t>
            </a:r>
            <a:endParaRPr lang="zh-CN" sz="1200"/>
          </a:p>
        </p:txBody>
      </p:sp>
      <p:sp>
        <p:nvSpPr>
          <p:cNvPr id="57" name="TextBox 57"/>
          <p:cNvSpPr txBox="1"/>
          <p:nvPr/>
        </p:nvSpPr>
        <p:spPr>
          <a:xfrm>
            <a:off x="6724482" y="2609870"/>
            <a:ext cx="1647784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由单机多通道扩展为</a:t>
            </a:r>
            <a:endParaRPr lang="zh-CN" sz="1000"/>
          </a:p>
        </p:txBody>
      </p:sp>
      <p:sp>
        <p:nvSpPr>
          <p:cNvPr id="58" name="TextBox 58"/>
          <p:cNvSpPr txBox="1"/>
          <p:nvPr/>
        </p:nvSpPr>
        <p:spPr>
          <a:xfrm>
            <a:off x="6724482" y="2800366"/>
            <a:ext cx="1647784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多机任务分配与协同调度，</a:t>
            </a:r>
            <a:endParaRPr lang="zh-CN" sz="1000"/>
          </a:p>
        </p:txBody>
      </p:sp>
      <p:sp>
        <p:nvSpPr>
          <p:cNvPr id="59" name="TextBox 59"/>
          <p:cNvSpPr txBox="1"/>
          <p:nvPr/>
        </p:nvSpPr>
        <p:spPr>
          <a:xfrm>
            <a:off x="6724482" y="2990861"/>
            <a:ext cx="1647784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支撑万头牧场规模化部署。</a:t>
            </a:r>
            <a:endParaRPr lang="zh-CN" sz="1000"/>
          </a:p>
        </p:txBody>
      </p:sp>
      <p:sp>
        <p:nvSpPr>
          <p:cNvPr id="60" name="TextBox 60"/>
          <p:cNvSpPr txBox="1"/>
          <p:nvPr/>
        </p:nvSpPr>
        <p:spPr>
          <a:xfrm>
            <a:off x="8524662" y="2609870"/>
            <a:ext cx="1590635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预留模块化接口，</a:t>
            </a:r>
            <a:endParaRPr lang="zh-CN" sz="1000"/>
          </a:p>
        </p:txBody>
      </p:sp>
      <p:sp>
        <p:nvSpPr>
          <p:cNvPr id="61" name="TextBox 61"/>
          <p:cNvSpPr txBox="1"/>
          <p:nvPr/>
        </p:nvSpPr>
        <p:spPr>
          <a:xfrm>
            <a:off x="8524662" y="2800366"/>
            <a:ext cx="1590635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可叠加饲喂量检测、</a:t>
            </a:r>
            <a:endParaRPr lang="zh-CN" sz="1000"/>
          </a:p>
        </p:txBody>
      </p:sp>
      <p:sp>
        <p:nvSpPr>
          <p:cNvPr id="62" name="TextBox 62"/>
          <p:cNvSpPr txBox="1"/>
          <p:nvPr/>
        </p:nvSpPr>
        <p:spPr>
          <a:xfrm>
            <a:off x="8524662" y="2990861"/>
            <a:ext cx="1590635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牛只健康巡检等增值功能。</a:t>
            </a:r>
            <a:endParaRPr lang="zh-CN" sz="1000"/>
          </a:p>
        </p:txBody>
      </p:sp>
      <p:sp>
        <p:nvSpPr>
          <p:cNvPr id="63" name="TextBox 63"/>
          <p:cNvSpPr txBox="1"/>
          <p:nvPr/>
        </p:nvSpPr>
        <p:spPr>
          <a:xfrm>
            <a:off x="10286743" y="2609870"/>
            <a:ext cx="1704932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聚焦宁夏“六特”产业需求，</a:t>
            </a:r>
            <a:endParaRPr lang="zh-CN" sz="1000"/>
          </a:p>
        </p:txBody>
      </p:sp>
      <p:sp>
        <p:nvSpPr>
          <p:cNvPr id="64" name="TextBox 64"/>
          <p:cNvSpPr txBox="1"/>
          <p:nvPr/>
        </p:nvSpPr>
        <p:spPr>
          <a:xfrm>
            <a:off x="10286743" y="2800366"/>
            <a:ext cx="1704932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助力奶产业降本增效</a:t>
            </a:r>
            <a:endParaRPr lang="zh-CN" sz="1000"/>
          </a:p>
        </p:txBody>
      </p:sp>
      <p:sp>
        <p:nvSpPr>
          <p:cNvPr id="65" name="TextBox 65"/>
          <p:cNvSpPr txBox="1"/>
          <p:nvPr/>
        </p:nvSpPr>
        <p:spPr>
          <a:xfrm>
            <a:off x="10286743" y="2990861"/>
            <a:ext cx="1704932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5B5D5F"/>
                </a:solidFill>
                <a:latin typeface="Noto Sans CJK SC"/>
                <a:ea typeface="Noto Sans CJK SC"/>
                <a:cs typeface="Noto Sans CJK SC"/>
              </a:rPr>
              <a:t>与智能化转型。</a:t>
            </a:r>
            <a:endParaRPr lang="zh-CN" sz="1000"/>
          </a:p>
        </p:txBody>
      </p:sp>
      <p:sp>
        <p:nvSpPr>
          <p:cNvPr id="66" name="TextBox 66"/>
          <p:cNvSpPr txBox="1"/>
          <p:nvPr/>
        </p:nvSpPr>
        <p:spPr>
          <a:xfrm>
            <a:off x="2800280" y="6162607"/>
            <a:ext cx="782935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牧智推 —— 让奶牛吃好每一口料，让牧场用工不再难：一套</a:t>
            </a:r>
            <a:r>
              <a:rPr lang="zh-CN" sz="1290" b="1">
                <a:solidFill>
                  <a:srgbClr val="FFB800"/>
                </a:solidFill>
                <a:latin typeface="Noto Sans CJK SC"/>
                <a:ea typeface="Noto Sans CJK SC"/>
                <a:cs typeface="Noto Sans CJK SC"/>
              </a:rPr>
              <a:t>买得起、用得住、推得开</a:t>
            </a:r>
            <a:r>
              <a:rPr lang="zh-CN" sz="129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的智能推料机器人方案</a:t>
            </a:r>
            <a:endParaRPr lang="zh-CN" sz="129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4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