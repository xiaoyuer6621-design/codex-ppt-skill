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3087" y="14576"/>
            <a:ext cx="189488" cy="699647"/>
          </a:xfrm>
          <a:prstGeom prst="rect">
            <a:avLst/>
          </a:prstGeom>
          <a:solidFill>
            <a:srgbClr val="C6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258166" y="14576"/>
            <a:ext cx="94744" cy="699647"/>
          </a:xfrm>
          <a:prstGeom prst="rect">
            <a:avLst/>
          </a:prstGeom>
          <a:solidFill>
            <a:srgbClr val="C6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9717979" y="0"/>
            <a:ext cx="2470629" cy="378976"/>
          </a:xfrm>
          <a:prstGeom prst="rect">
            <a:avLst/>
          </a:prstGeom>
          <a:solidFill>
            <a:srgbClr val="E5F0FB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Line 5"/>
          <p:cNvSpPr/>
          <p:nvPr/>
        </p:nvSpPr>
        <p:spPr>
          <a:xfrm>
            <a:off x="469518" y="714223"/>
            <a:ext cx="11507739" cy="0"/>
          </a:xfrm>
          <a:prstGeom prst="line">
            <a:avLst/>
          </a:prstGeom>
          <a:noFill/>
          <a:ln w="7620">
            <a:solidFill>
              <a:srgbClr val="8BB5DE"/>
            </a:solidFill>
            <a:prstDash val="solid"/>
            <a:tailEnd type="none"/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258166" y="830831"/>
            <a:ext cx="5772089" cy="422704"/>
          </a:xfrm>
          <a:prstGeom prst="roundRect">
            <a:avLst>
              <a:gd name="adj" fmla="val 20690"/>
            </a:avLst>
          </a:prstGeom>
          <a:solidFill>
            <a:srgbClr val="DCEAF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6190591" y="830831"/>
            <a:ext cx="5779377" cy="422704"/>
          </a:xfrm>
          <a:prstGeom prst="roundRect">
            <a:avLst>
              <a:gd name="adj" fmla="val 20690"/>
            </a:avLst>
          </a:prstGeom>
          <a:solidFill>
            <a:srgbClr val="DCEAF9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265454" y="1231671"/>
            <a:ext cx="5757513" cy="3206716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0795">
            <a:solidFill>
              <a:srgbClr val="007BD5"/>
            </a:solidFill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6190591" y="1231671"/>
            <a:ext cx="5779377" cy="3206716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0795">
            <a:solidFill>
              <a:srgbClr val="007BD5"/>
            </a:solidFill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411214" y="1705390"/>
            <a:ext cx="5473282" cy="787103"/>
          </a:xfrm>
          <a:prstGeom prst="roundRect">
            <a:avLst>
              <a:gd name="adj" fmla="val 11111"/>
            </a:avLst>
          </a:prstGeom>
          <a:solidFill>
            <a:srgbClr val="DEECFA"/>
          </a:solidFill>
          <a:ln w="10160">
            <a:solidFill>
              <a:srgbClr val="007BD5"/>
            </a:solidFill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411214" y="2609101"/>
            <a:ext cx="5473282" cy="787103"/>
          </a:xfrm>
          <a:prstGeom prst="roundRect">
            <a:avLst>
              <a:gd name="adj" fmla="val 11111"/>
            </a:avLst>
          </a:prstGeom>
          <a:solidFill>
            <a:srgbClr val="DEECFA"/>
          </a:solidFill>
          <a:ln w="10160">
            <a:solidFill>
              <a:srgbClr val="007BD5"/>
            </a:solidFill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411214" y="3520100"/>
            <a:ext cx="5473282" cy="787103"/>
          </a:xfrm>
          <a:prstGeom prst="roundRect">
            <a:avLst>
              <a:gd name="adj" fmla="val 11111"/>
            </a:avLst>
          </a:prstGeom>
          <a:solidFill>
            <a:srgbClr val="DEECFA"/>
          </a:solidFill>
          <a:ln w="10160">
            <a:solidFill>
              <a:srgbClr val="007BD5"/>
            </a:solidFill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294606" y="4933970"/>
            <a:ext cx="3724164" cy="706935"/>
          </a:xfrm>
          <a:prstGeom prst="roundRect">
            <a:avLst>
              <a:gd name="adj" fmla="val 12371"/>
            </a:avLst>
          </a:prstGeom>
          <a:solidFill>
            <a:srgbClr val="FDE5E5"/>
          </a:solidFill>
          <a:ln w="12700">
            <a:solidFill>
              <a:srgbClr val="E30000"/>
            </a:solidFill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4149954" y="4933970"/>
            <a:ext cx="3928227" cy="706935"/>
          </a:xfrm>
          <a:prstGeom prst="roundRect">
            <a:avLst>
              <a:gd name="adj" fmla="val 12371"/>
            </a:avLst>
          </a:prstGeom>
          <a:solidFill>
            <a:srgbClr val="FDE5E5"/>
          </a:solidFill>
          <a:ln w="12700">
            <a:solidFill>
              <a:srgbClr val="E30000"/>
            </a:solidFill>
          </a:ln>
        </p:spPr>
        <p:txBody>
          <a:bodyPr/>
          <a:lstStyle/>
          <a:p/>
        </p:txBody>
      </p:sp>
      <p:sp>
        <p:nvSpPr>
          <p:cNvPr id="15" name="Roundrect 15"/>
          <p:cNvSpPr/>
          <p:nvPr/>
        </p:nvSpPr>
        <p:spPr>
          <a:xfrm>
            <a:off x="8216653" y="4933970"/>
            <a:ext cx="3709588" cy="706935"/>
          </a:xfrm>
          <a:prstGeom prst="roundRect">
            <a:avLst>
              <a:gd name="adj" fmla="val 12371"/>
            </a:avLst>
          </a:prstGeom>
          <a:solidFill>
            <a:srgbClr val="FDE5E5"/>
          </a:solidFill>
          <a:ln w="12700">
            <a:solidFill>
              <a:srgbClr val="E30000"/>
            </a:solidFill>
          </a:ln>
        </p:spPr>
        <p:txBody>
          <a:bodyPr/>
          <a:lstStyle/>
          <a:p/>
        </p:txBody>
      </p:sp>
      <p:sp>
        <p:nvSpPr>
          <p:cNvPr id="16" name="Roundrect 16"/>
          <p:cNvSpPr/>
          <p:nvPr/>
        </p:nvSpPr>
        <p:spPr>
          <a:xfrm>
            <a:off x="294606" y="5728361"/>
            <a:ext cx="11631634" cy="721511"/>
          </a:xfrm>
          <a:prstGeom prst="roundRect">
            <a:avLst>
              <a:gd name="adj" fmla="val 12121"/>
            </a:avLst>
          </a:prstGeom>
          <a:solidFill>
            <a:srgbClr val="10436F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Rect 17"/>
          <p:cNvSpPr/>
          <p:nvPr/>
        </p:nvSpPr>
        <p:spPr>
          <a:xfrm>
            <a:off x="265454" y="1158791"/>
            <a:ext cx="5757513" cy="80168"/>
          </a:xfrm>
          <a:prstGeom prst="rect">
            <a:avLst/>
          </a:prstGeom>
          <a:solidFill>
            <a:srgbClr val="DCEAF9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ect 18"/>
          <p:cNvSpPr/>
          <p:nvPr/>
        </p:nvSpPr>
        <p:spPr>
          <a:xfrm>
            <a:off x="6190591" y="1158791"/>
            <a:ext cx="5772089" cy="80168"/>
          </a:xfrm>
          <a:prstGeom prst="rect">
            <a:avLst/>
          </a:prstGeom>
          <a:solidFill>
            <a:srgbClr val="DCEAF9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Line 19"/>
          <p:cNvSpPr/>
          <p:nvPr/>
        </p:nvSpPr>
        <p:spPr>
          <a:xfrm>
            <a:off x="265454" y="1231671"/>
            <a:ext cx="5757513" cy="0"/>
          </a:xfrm>
          <a:prstGeom prst="line">
            <a:avLst/>
          </a:prstGeom>
          <a:noFill/>
          <a:ln w="8890">
            <a:solidFill>
              <a:srgbClr val="007BD5"/>
            </a:solidFill>
            <a:prstDash val="solid"/>
            <a:tailEnd type="none"/>
          </a:ln>
        </p:spPr>
        <p:txBody>
          <a:bodyPr/>
          <a:lstStyle/>
          <a:p/>
        </p:txBody>
      </p:sp>
      <p:sp>
        <p:nvSpPr>
          <p:cNvPr id="20" name="Line 20"/>
          <p:cNvSpPr/>
          <p:nvPr/>
        </p:nvSpPr>
        <p:spPr>
          <a:xfrm>
            <a:off x="6190591" y="1231671"/>
            <a:ext cx="5779377" cy="0"/>
          </a:xfrm>
          <a:prstGeom prst="line">
            <a:avLst/>
          </a:prstGeom>
          <a:noFill/>
          <a:ln w="8890">
            <a:solidFill>
              <a:srgbClr val="007BD5"/>
            </a:solidFill>
            <a:prstDash val="solid"/>
            <a:tailEnd type="none"/>
          </a:ln>
        </p:spPr>
        <p:txBody>
          <a:bodyPr/>
          <a:lstStyle/>
          <a:p/>
        </p:txBody>
      </p:sp>
      <p:sp>
        <p:nvSpPr>
          <p:cNvPr id="21" name="Roundrect 21"/>
          <p:cNvSpPr/>
          <p:nvPr/>
        </p:nvSpPr>
        <p:spPr>
          <a:xfrm>
            <a:off x="6321775" y="3658572"/>
            <a:ext cx="2776725" cy="670495"/>
          </a:xfrm>
          <a:prstGeom prst="roundRect">
            <a:avLst>
              <a:gd name="adj" fmla="val 13043"/>
            </a:avLst>
          </a:prstGeom>
          <a:solidFill>
            <a:srgbClr val="EAF3FC"/>
          </a:solidFill>
          <a:ln w="7620">
            <a:solidFill>
              <a:srgbClr val="4A9FE2"/>
            </a:solidFill>
          </a:ln>
        </p:spPr>
        <p:txBody>
          <a:bodyPr/>
          <a:lstStyle/>
          <a:p/>
        </p:txBody>
      </p:sp>
      <p:sp>
        <p:nvSpPr>
          <p:cNvPr id="22" name="Roundrect 22"/>
          <p:cNvSpPr/>
          <p:nvPr/>
        </p:nvSpPr>
        <p:spPr>
          <a:xfrm>
            <a:off x="9470188" y="2696557"/>
            <a:ext cx="2361309" cy="1632510"/>
          </a:xfrm>
          <a:prstGeom prst="roundRect">
            <a:avLst>
              <a:gd name="adj" fmla="val 5357"/>
            </a:avLst>
          </a:prstGeom>
          <a:solidFill>
            <a:srgbClr val="EAF3FC"/>
          </a:solidFill>
          <a:ln w="6985">
            <a:solidFill>
              <a:srgbClr val="64A8DF"/>
            </a:solidFill>
          </a:ln>
        </p:spPr>
        <p:txBody>
          <a:bodyPr/>
          <a:lstStyle/>
          <a:p/>
        </p:txBody>
      </p:sp>
      <p:sp>
        <p:nvSpPr>
          <p:cNvPr id="23" name="Line 23"/>
          <p:cNvSpPr/>
          <p:nvPr/>
        </p:nvSpPr>
        <p:spPr>
          <a:xfrm>
            <a:off x="10177123" y="109320"/>
            <a:ext cx="0" cy="182200"/>
          </a:xfrm>
          <a:prstGeom prst="line">
            <a:avLst/>
          </a:prstGeom>
          <a:noFill/>
          <a:ln w="7620">
            <a:solidFill>
              <a:srgbClr val="4B535C"/>
            </a:solidFill>
            <a:prstDash val="solid"/>
            <a:tailEnd type="none"/>
          </a:ln>
        </p:spPr>
        <p:txBody>
          <a:bodyPr/>
          <a:lstStyle/>
          <a:p/>
        </p:txBody>
      </p:sp>
      <p:sp>
        <p:nvSpPr>
          <p:cNvPr id="24" name="Roundrect 24"/>
          <p:cNvSpPr/>
          <p:nvPr/>
        </p:nvSpPr>
        <p:spPr>
          <a:xfrm>
            <a:off x="542398" y="1873014"/>
            <a:ext cx="473719" cy="451855"/>
          </a:xfrm>
          <a:prstGeom prst="roundRect">
            <a:avLst>
              <a:gd name="adj" fmla="val 16129"/>
            </a:avLst>
          </a:prstGeom>
          <a:solidFill>
            <a:srgbClr val="2B8DCA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Roundrect 25"/>
          <p:cNvSpPr/>
          <p:nvPr/>
        </p:nvSpPr>
        <p:spPr>
          <a:xfrm>
            <a:off x="542398" y="2776725"/>
            <a:ext cx="473719" cy="451855"/>
          </a:xfrm>
          <a:prstGeom prst="roundRect">
            <a:avLst>
              <a:gd name="adj" fmla="val 16129"/>
            </a:avLst>
          </a:prstGeom>
          <a:solidFill>
            <a:srgbClr val="2B8DC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Roundrect 26"/>
          <p:cNvSpPr/>
          <p:nvPr/>
        </p:nvSpPr>
        <p:spPr>
          <a:xfrm>
            <a:off x="542398" y="3687724"/>
            <a:ext cx="473719" cy="451855"/>
          </a:xfrm>
          <a:prstGeom prst="roundRect">
            <a:avLst>
              <a:gd name="adj" fmla="val 16129"/>
            </a:avLst>
          </a:prstGeom>
          <a:solidFill>
            <a:srgbClr val="2B8DCA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Roundrect 27"/>
          <p:cNvSpPr/>
          <p:nvPr/>
        </p:nvSpPr>
        <p:spPr>
          <a:xfrm>
            <a:off x="6416519" y="3950091"/>
            <a:ext cx="721511" cy="291520"/>
          </a:xfrm>
          <a:prstGeom prst="roundRect">
            <a:avLst>
              <a:gd name="adj" fmla="val 15000"/>
            </a:avLst>
          </a:prstGeom>
          <a:solidFill>
            <a:srgbClr val="318FC7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Roundrect 28"/>
          <p:cNvSpPr/>
          <p:nvPr/>
        </p:nvSpPr>
        <p:spPr>
          <a:xfrm>
            <a:off x="7342094" y="3950091"/>
            <a:ext cx="721511" cy="291520"/>
          </a:xfrm>
          <a:prstGeom prst="roundRect">
            <a:avLst>
              <a:gd name="adj" fmla="val 15000"/>
            </a:avLst>
          </a:prstGeom>
          <a:solidFill>
            <a:srgbClr val="318FC7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Roundrect 29"/>
          <p:cNvSpPr/>
          <p:nvPr/>
        </p:nvSpPr>
        <p:spPr>
          <a:xfrm>
            <a:off x="8274957" y="3950091"/>
            <a:ext cx="721511" cy="291520"/>
          </a:xfrm>
          <a:prstGeom prst="roundRect">
            <a:avLst>
              <a:gd name="adj" fmla="val 15000"/>
            </a:avLst>
          </a:prstGeom>
          <a:solidFill>
            <a:srgbClr val="318FC7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Roundrect 30"/>
          <p:cNvSpPr/>
          <p:nvPr/>
        </p:nvSpPr>
        <p:spPr>
          <a:xfrm>
            <a:off x="10665418" y="1319126"/>
            <a:ext cx="1187943" cy="823543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7620">
            <a:solidFill>
              <a:srgbClr val="A7AFB7"/>
            </a:solidFill>
          </a:ln>
        </p:spPr>
        <p:txBody>
          <a:bodyPr/>
          <a:lstStyle/>
          <a:p/>
        </p:txBody>
      </p:sp>
      <p:sp>
        <p:nvSpPr>
          <p:cNvPr id="31" name="Rect 31"/>
          <p:cNvSpPr/>
          <p:nvPr/>
        </p:nvSpPr>
        <p:spPr>
          <a:xfrm>
            <a:off x="287318" y="4606011"/>
            <a:ext cx="72880" cy="233216"/>
          </a:xfrm>
          <a:prstGeom prst="rect">
            <a:avLst/>
          </a:prstGeom>
          <a:solidFill>
            <a:srgbClr val="187DB9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Line 32"/>
          <p:cNvSpPr/>
          <p:nvPr/>
        </p:nvSpPr>
        <p:spPr>
          <a:xfrm>
            <a:off x="294606" y="6530040"/>
            <a:ext cx="11631634" cy="0"/>
          </a:xfrm>
          <a:prstGeom prst="line">
            <a:avLst/>
          </a:prstGeom>
          <a:noFill/>
          <a:ln w="7620">
            <a:solidFill>
              <a:srgbClr val="B5B5B5"/>
            </a:solidFill>
            <a:prstDash val="solid"/>
            <a:tailEnd type="none"/>
          </a:ln>
        </p:spPr>
        <p:txBody>
          <a:bodyPr/>
          <a:lstStyle/>
          <a:p/>
        </p:txBody>
      </p:sp>
      <p:pic>
        <p:nvPicPr>
          <p:cNvPr id="33" name="Two-row blue lipid bilayer, independent of receptors and editable labels."/>
          <p:cNvPicPr/>
          <p:nvPr/>
        </p:nvPicPr>
        <p:blipFill>
          <a:blip r:embed="rId2"/>
          <a:stretch>
            <a:fillRect/>
          </a:stretch>
        </p:blipFill>
        <p:spPr>
          <a:xfrm>
            <a:off x="6229780" y="2126053"/>
            <a:ext cx="5722864" cy="506953"/>
          </a:xfrm>
          <a:prstGeom prst="rect">
            <a:avLst/>
          </a:prstGeom>
        </p:spPr>
      </p:pic>
      <p:pic>
        <p:nvPicPr>
          <p:cNvPr id="34" name="Seven-transmembrane CaSR receptor; corrected seven-helix asset verified against source."/>
          <p:cNvPicPr/>
          <p:nvPr/>
        </p:nvPicPr>
        <p:blipFill>
          <a:blip r:embed="rId3"/>
          <a:stretch>
            <a:fillRect/>
          </a:stretch>
        </p:blipFill>
        <p:spPr>
          <a:xfrm>
            <a:off x="7516201" y="1965731"/>
            <a:ext cx="737698" cy="791156"/>
          </a:xfrm>
          <a:prstGeom prst="rect">
            <a:avLst/>
          </a:prstGeom>
        </p:spPr>
      </p:pic>
      <p:pic>
        <p:nvPicPr>
          <p:cNvPr id="35" name="Original two-lobe PepT1 channel; all arrows and labels are native."/>
          <p:cNvPicPr/>
          <p:nvPr/>
        </p:nvPicPr>
        <p:blipFill>
          <a:blip r:embed="rId4"/>
          <a:stretch>
            <a:fillRect/>
          </a:stretch>
        </p:blipFill>
        <p:spPr>
          <a:xfrm>
            <a:off x="8473247" y="2063085"/>
            <a:ext cx="477979" cy="596449"/>
          </a:xfrm>
          <a:prstGeom prst="rect">
            <a:avLst/>
          </a:prstGeom>
        </p:spPr>
      </p:pic>
      <p:pic>
        <p:nvPicPr>
          <p:cNvPr id="36" name="Four-sphere peptide cue."/>
          <p:cNvPicPr/>
          <p:nvPr/>
        </p:nvPicPr>
        <p:blipFill>
          <a:blip r:embed="rId5"/>
          <a:stretch>
            <a:fillRect/>
          </a:stretch>
        </p:blipFill>
        <p:spPr>
          <a:xfrm>
            <a:off x="7117881" y="1546269"/>
            <a:ext cx="433850" cy="402938"/>
          </a:xfrm>
          <a:prstGeom prst="rect">
            <a:avLst/>
          </a:prstGeom>
        </p:spPr>
      </p:pic>
      <p:pic>
        <p:nvPicPr>
          <p:cNvPr id="37" name="Three-sphere amino-acid cue."/>
          <p:cNvPicPr/>
          <p:nvPr/>
        </p:nvPicPr>
        <p:blipFill>
          <a:blip r:embed="rId6"/>
          <a:stretch>
            <a:fillRect/>
          </a:stretch>
        </p:blipFill>
        <p:spPr>
          <a:xfrm>
            <a:off x="7814356" y="1541275"/>
            <a:ext cx="389179" cy="332548"/>
          </a:xfrm>
          <a:prstGeom prst="rect">
            <a:avLst/>
          </a:prstGeom>
        </p:spPr>
      </p:pic>
      <p:pic>
        <p:nvPicPr>
          <p:cNvPr id="38" name="Single blue calcium sphere, separate native label."/>
          <p:cNvPicPr/>
          <p:nvPr/>
        </p:nvPicPr>
        <p:blipFill>
          <a:blip r:embed="rId7"/>
          <a:stretch>
            <a:fillRect/>
          </a:stretch>
        </p:blipFill>
        <p:spPr>
          <a:xfrm>
            <a:off x="8299044" y="1693729"/>
            <a:ext cx="185041" cy="183657"/>
          </a:xfrm>
          <a:prstGeom prst="rect">
            <a:avLst/>
          </a:prstGeom>
        </p:spPr>
      </p:pic>
      <p:pic>
        <p:nvPicPr>
          <p:cNvPr id="39" name="Four original sideways calcium-sensing arcs; no added particle."/>
          <p:cNvPicPr/>
          <p:nvPr/>
        </p:nvPicPr>
        <p:blipFill>
          <a:blip r:embed="rId8"/>
          <a:stretch>
            <a:fillRect/>
          </a:stretch>
        </p:blipFill>
        <p:spPr>
          <a:xfrm>
            <a:off x="7150177" y="2827417"/>
            <a:ext cx="340106" cy="481655"/>
          </a:xfrm>
          <a:prstGeom prst="rect">
            <a:avLst/>
          </a:prstGeom>
        </p:spPr>
      </p:pic>
      <p:pic>
        <p:nvPicPr>
          <p:cNvPr id="40" name="Four upward-facing calcium signal arcs; no added particle."/>
          <p:cNvPicPr/>
          <p:nvPr/>
        </p:nvPicPr>
        <p:blipFill>
          <a:blip r:embed="rId9"/>
          <a:stretch>
            <a:fillRect/>
          </a:stretch>
        </p:blipFill>
        <p:spPr>
          <a:xfrm>
            <a:off x="7502537" y="2966470"/>
            <a:ext cx="597401" cy="349309"/>
          </a:xfrm>
          <a:prstGeom prst="rect">
            <a:avLst/>
          </a:prstGeom>
        </p:spPr>
      </p:pic>
      <p:pic>
        <p:nvPicPr>
          <p:cNvPr id="41" name="Purple irregular myeloid cell and nucleus."/>
          <p:cNvPicPr/>
          <p:nvPr/>
        </p:nvPicPr>
        <p:blipFill>
          <a:blip r:embed="rId10"/>
          <a:stretch>
            <a:fillRect/>
          </a:stretch>
        </p:blipFill>
        <p:spPr>
          <a:xfrm>
            <a:off x="9518607" y="3256003"/>
            <a:ext cx="690265" cy="710394"/>
          </a:xfrm>
          <a:prstGeom prst="rect">
            <a:avLst/>
          </a:prstGeom>
        </p:spPr>
      </p:pic>
      <p:pic>
        <p:nvPicPr>
          <p:cNvPr id="42" name="Blue immune cell and nucleus."/>
          <p:cNvPicPr/>
          <p:nvPr/>
        </p:nvPicPr>
        <p:blipFill>
          <a:blip r:embed="rId11"/>
          <a:stretch>
            <a:fillRect/>
          </a:stretch>
        </p:blipFill>
        <p:spPr>
          <a:xfrm>
            <a:off x="10372767" y="3032074"/>
            <a:ext cx="454119" cy="444028"/>
          </a:xfrm>
          <a:prstGeom prst="rect">
            <a:avLst/>
          </a:prstGeom>
        </p:spPr>
      </p:pic>
      <p:pic>
        <p:nvPicPr>
          <p:cNvPr id="43" name="Green Treg cell and nucleus."/>
          <p:cNvPicPr/>
          <p:nvPr/>
        </p:nvPicPr>
        <p:blipFill>
          <a:blip r:embed="rId12"/>
          <a:stretch>
            <a:fillRect/>
          </a:stretch>
        </p:blipFill>
        <p:spPr>
          <a:xfrm>
            <a:off x="10373089" y="3672970"/>
            <a:ext cx="453475" cy="452211"/>
          </a:xfrm>
          <a:prstGeom prst="rect">
            <a:avLst/>
          </a:prstGeom>
        </p:spPr>
      </p:pic>
      <p:pic>
        <p:nvPicPr>
          <p:cNvPr id="44" name="Red, orange and purple endpoint-cell cluster."/>
          <p:cNvPicPr/>
          <p:nvPr/>
        </p:nvPicPr>
        <p:blipFill>
          <a:blip r:embed="rId13"/>
          <a:stretch>
            <a:fillRect/>
          </a:stretch>
        </p:blipFill>
        <p:spPr>
          <a:xfrm>
            <a:off x="11068472" y="3438707"/>
            <a:ext cx="666067" cy="709385"/>
          </a:xfrm>
          <a:prstGeom prst="rect">
            <a:avLst/>
          </a:prstGeom>
        </p:spPr>
      </p:pic>
      <p:sp>
        <p:nvSpPr>
          <p:cNvPr id="45" name="Path 45"/>
          <p:cNvSpPr/>
          <p:nvPr/>
        </p:nvSpPr>
        <p:spPr>
          <a:xfrm>
            <a:off x="7502430" y="1792846"/>
            <a:ext cx="174912" cy="174912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cubicBezTo>
                  <a:pt x="9900" y="5400"/>
                  <a:pt x="15300" y="11700"/>
                  <a:pt x="21600" y="21600"/>
                </a:cubicBezTo>
              </a:path>
            </a:pathLst>
          </a:custGeom>
          <a:noFill/>
          <a:ln w="21590">
            <a:solidFill>
              <a:srgbClr val="008ED4"/>
            </a:solidFill>
            <a:tailEnd type="triangle"/>
          </a:ln>
        </p:spPr>
        <p:txBody>
          <a:bodyPr/>
          <a:lstStyle/>
          <a:p/>
        </p:txBody>
      </p:sp>
      <p:sp>
        <p:nvSpPr>
          <p:cNvPr id="46" name="Line 46"/>
          <p:cNvSpPr/>
          <p:nvPr/>
        </p:nvSpPr>
        <p:spPr>
          <a:xfrm flipH="1">
            <a:off x="7932421" y="1821998"/>
            <a:ext cx="21864" cy="189488"/>
          </a:xfrm>
          <a:prstGeom prst="line">
            <a:avLst/>
          </a:prstGeom>
          <a:noFill/>
          <a:ln w="21590">
            <a:solidFill>
              <a:srgbClr val="008ED4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47" name="Path 47"/>
          <p:cNvSpPr/>
          <p:nvPr/>
        </p:nvSpPr>
        <p:spPr>
          <a:xfrm>
            <a:off x="8121909" y="1829286"/>
            <a:ext cx="174912" cy="18220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21600" y="0"/>
                </a:moveTo>
                <a:cubicBezTo>
                  <a:pt x="11700" y="4320"/>
                  <a:pt x="5400" y="9504"/>
                  <a:pt x="0" y="21600"/>
                </a:cubicBezTo>
              </a:path>
            </a:pathLst>
          </a:custGeom>
          <a:noFill/>
          <a:ln w="21590">
            <a:solidFill>
              <a:srgbClr val="008ED4"/>
            </a:solidFill>
            <a:tailEnd type="triangle"/>
          </a:ln>
        </p:spPr>
        <p:txBody>
          <a:bodyPr/>
          <a:lstStyle/>
          <a:p/>
        </p:txBody>
      </p:sp>
      <p:sp>
        <p:nvSpPr>
          <p:cNvPr id="48" name="Line 48"/>
          <p:cNvSpPr/>
          <p:nvPr/>
        </p:nvSpPr>
        <p:spPr>
          <a:xfrm>
            <a:off x="8712237" y="2011486"/>
            <a:ext cx="0" cy="728799"/>
          </a:xfrm>
          <a:prstGeom prst="line">
            <a:avLst/>
          </a:prstGeom>
          <a:noFill/>
          <a:ln w="21590">
            <a:solidFill>
              <a:srgbClr val="008ED4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49" name="Line 49"/>
          <p:cNvSpPr/>
          <p:nvPr/>
        </p:nvSpPr>
        <p:spPr>
          <a:xfrm>
            <a:off x="7786662" y="2681981"/>
            <a:ext cx="0" cy="247792"/>
          </a:xfrm>
          <a:prstGeom prst="line">
            <a:avLst/>
          </a:prstGeom>
          <a:noFill/>
          <a:ln w="21590">
            <a:solidFill>
              <a:srgbClr val="008ED4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50" name="Rect 50"/>
          <p:cNvSpPr/>
          <p:nvPr/>
        </p:nvSpPr>
        <p:spPr>
          <a:xfrm>
            <a:off x="7670054" y="3337900"/>
            <a:ext cx="255080" cy="269656"/>
          </a:xfrm>
          <a:prstGeom prst="downArrow">
            <a:avLst/>
          </a:prstGeom>
          <a:solidFill>
            <a:srgbClr val="157DB5"/>
          </a:solidFill>
          <a:ln w="6985">
            <a:solidFill>
              <a:srgbClr val="145B88"/>
            </a:solidFill>
          </a:ln>
        </p:spPr>
        <p:txBody>
          <a:bodyPr/>
          <a:lstStyle/>
          <a:p/>
        </p:txBody>
      </p:sp>
      <p:sp>
        <p:nvSpPr>
          <p:cNvPr id="51" name="Line 51"/>
          <p:cNvSpPr/>
          <p:nvPr/>
        </p:nvSpPr>
        <p:spPr>
          <a:xfrm>
            <a:off x="7145318" y="4095851"/>
            <a:ext cx="196776" cy="0"/>
          </a:xfrm>
          <a:prstGeom prst="line">
            <a:avLst/>
          </a:prstGeom>
          <a:noFill/>
          <a:ln w="24130">
            <a:solidFill>
              <a:srgbClr val="008ED4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52" name="Line 52"/>
          <p:cNvSpPr/>
          <p:nvPr/>
        </p:nvSpPr>
        <p:spPr>
          <a:xfrm>
            <a:off x="8070893" y="4095851"/>
            <a:ext cx="196776" cy="0"/>
          </a:xfrm>
          <a:prstGeom prst="line">
            <a:avLst/>
          </a:prstGeom>
          <a:noFill/>
          <a:ln w="24130">
            <a:solidFill>
              <a:srgbClr val="008ED4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53" name="Rect 53"/>
          <p:cNvSpPr/>
          <p:nvPr/>
        </p:nvSpPr>
        <p:spPr>
          <a:xfrm>
            <a:off x="9156804" y="3848060"/>
            <a:ext cx="276944" cy="276944"/>
          </a:xfrm>
          <a:prstGeom prst="rightArrow">
            <a:avLst/>
          </a:prstGeom>
          <a:solidFill>
            <a:srgbClr val="157DB5"/>
          </a:solidFill>
          <a:ln w="6985">
            <a:solidFill>
              <a:srgbClr val="145B88"/>
            </a:solidFill>
          </a:ln>
        </p:spPr>
        <p:txBody>
          <a:bodyPr/>
          <a:lstStyle/>
          <a:p/>
        </p:txBody>
      </p:sp>
      <p:sp>
        <p:nvSpPr>
          <p:cNvPr id="54" name="Line 54"/>
          <p:cNvSpPr/>
          <p:nvPr/>
        </p:nvSpPr>
        <p:spPr>
          <a:xfrm flipV="1">
            <a:off x="10118819" y="3316036"/>
            <a:ext cx="262368" cy="153048"/>
          </a:xfrm>
          <a:prstGeom prst="line">
            <a:avLst/>
          </a:prstGeom>
          <a:noFill/>
          <a:ln w="21590">
            <a:solidFill>
              <a:srgbClr val="008ED4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55" name="Line 55"/>
          <p:cNvSpPr/>
          <p:nvPr/>
        </p:nvSpPr>
        <p:spPr>
          <a:xfrm>
            <a:off x="10111531" y="3724164"/>
            <a:ext cx="262368" cy="145760"/>
          </a:xfrm>
          <a:prstGeom prst="line">
            <a:avLst/>
          </a:prstGeom>
          <a:noFill/>
          <a:ln w="21590">
            <a:solidFill>
              <a:srgbClr val="008ED4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56" name="Line 56"/>
          <p:cNvSpPr/>
          <p:nvPr/>
        </p:nvSpPr>
        <p:spPr>
          <a:xfrm>
            <a:off x="10599826" y="3454508"/>
            <a:ext cx="0" cy="218640"/>
          </a:xfrm>
          <a:prstGeom prst="line">
            <a:avLst/>
          </a:prstGeom>
          <a:noFill/>
          <a:ln w="25400">
            <a:solidFill>
              <a:srgbClr val="CE0000"/>
            </a:solidFill>
            <a:prstDash val="solid"/>
            <a:tailEnd type="none"/>
          </a:ln>
        </p:spPr>
        <p:txBody>
          <a:bodyPr/>
          <a:lstStyle/>
          <a:p/>
        </p:txBody>
      </p:sp>
      <p:sp>
        <p:nvSpPr>
          <p:cNvPr id="57" name="Line 57"/>
          <p:cNvSpPr/>
          <p:nvPr/>
        </p:nvSpPr>
        <p:spPr>
          <a:xfrm>
            <a:off x="10534234" y="3673148"/>
            <a:ext cx="131184" cy="0"/>
          </a:xfrm>
          <a:prstGeom prst="line">
            <a:avLst/>
          </a:prstGeom>
          <a:noFill/>
          <a:ln w="25400">
            <a:solidFill>
              <a:srgbClr val="CE0000"/>
            </a:solidFill>
            <a:prstDash val="solid"/>
            <a:tailEnd type="none"/>
          </a:ln>
        </p:spPr>
        <p:txBody>
          <a:bodyPr/>
          <a:lstStyle/>
          <a:p/>
        </p:txBody>
      </p:sp>
      <p:sp>
        <p:nvSpPr>
          <p:cNvPr id="58" name="Line 58"/>
          <p:cNvSpPr/>
          <p:nvPr/>
        </p:nvSpPr>
        <p:spPr>
          <a:xfrm>
            <a:off x="10803890" y="3323324"/>
            <a:ext cx="422704" cy="255080"/>
          </a:xfrm>
          <a:prstGeom prst="line">
            <a:avLst/>
          </a:prstGeom>
          <a:noFill/>
          <a:ln w="25400">
            <a:solidFill>
              <a:srgbClr val="CE0000"/>
            </a:solidFill>
            <a:prstDash val="solid"/>
            <a:tailEnd type="none"/>
          </a:ln>
        </p:spPr>
        <p:txBody>
          <a:bodyPr/>
          <a:lstStyle/>
          <a:p/>
        </p:txBody>
      </p:sp>
      <p:sp>
        <p:nvSpPr>
          <p:cNvPr id="59" name="Line 59"/>
          <p:cNvSpPr/>
          <p:nvPr/>
        </p:nvSpPr>
        <p:spPr>
          <a:xfrm flipV="1">
            <a:off x="11182866" y="3520100"/>
            <a:ext cx="80168" cy="123896"/>
          </a:xfrm>
          <a:prstGeom prst="line">
            <a:avLst/>
          </a:prstGeom>
          <a:noFill/>
          <a:ln w="25400">
            <a:solidFill>
              <a:srgbClr val="CE0000"/>
            </a:solidFill>
            <a:prstDash val="solid"/>
            <a:tailEnd type="none"/>
          </a:ln>
        </p:spPr>
        <p:txBody>
          <a:bodyPr/>
          <a:lstStyle/>
          <a:p/>
        </p:txBody>
      </p:sp>
      <p:sp>
        <p:nvSpPr>
          <p:cNvPr id="60" name="Line 60"/>
          <p:cNvSpPr/>
          <p:nvPr/>
        </p:nvSpPr>
        <p:spPr>
          <a:xfrm>
            <a:off x="10811178" y="3891787"/>
            <a:ext cx="284232" cy="0"/>
          </a:xfrm>
          <a:prstGeom prst="line">
            <a:avLst/>
          </a:prstGeom>
          <a:noFill/>
          <a:ln w="21590">
            <a:solidFill>
              <a:srgbClr val="008ED4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61" name="Line 61"/>
          <p:cNvSpPr/>
          <p:nvPr/>
        </p:nvSpPr>
        <p:spPr>
          <a:xfrm>
            <a:off x="10752874" y="1632510"/>
            <a:ext cx="349824" cy="0"/>
          </a:xfrm>
          <a:prstGeom prst="line">
            <a:avLst/>
          </a:prstGeom>
          <a:noFill/>
          <a:ln w="19050">
            <a:solidFill>
              <a:srgbClr val="008ED4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62" name="Line 62"/>
          <p:cNvSpPr/>
          <p:nvPr/>
        </p:nvSpPr>
        <p:spPr>
          <a:xfrm>
            <a:off x="10752874" y="1821998"/>
            <a:ext cx="349824" cy="0"/>
          </a:xfrm>
          <a:prstGeom prst="line">
            <a:avLst/>
          </a:prstGeom>
          <a:noFill/>
          <a:ln w="19050">
            <a:solidFill>
              <a:srgbClr val="008ED4"/>
            </a:solidFill>
            <a:prstDash val="dash"/>
            <a:tailEnd type="triangle"/>
          </a:ln>
        </p:spPr>
        <p:txBody>
          <a:bodyPr/>
          <a:lstStyle/>
          <a:p/>
        </p:txBody>
      </p:sp>
      <p:sp>
        <p:nvSpPr>
          <p:cNvPr id="63" name="Line 63"/>
          <p:cNvSpPr/>
          <p:nvPr/>
        </p:nvSpPr>
        <p:spPr>
          <a:xfrm>
            <a:off x="10752874" y="2018774"/>
            <a:ext cx="335248" cy="0"/>
          </a:xfrm>
          <a:prstGeom prst="line">
            <a:avLst/>
          </a:prstGeom>
          <a:noFill/>
          <a:ln w="24130">
            <a:solidFill>
              <a:srgbClr val="CE0000"/>
            </a:solidFill>
            <a:prstDash val="solid"/>
            <a:tailEnd type="none"/>
          </a:ln>
        </p:spPr>
        <p:txBody>
          <a:bodyPr/>
          <a:lstStyle/>
          <a:p/>
        </p:txBody>
      </p:sp>
      <p:sp>
        <p:nvSpPr>
          <p:cNvPr id="64" name="Line 64"/>
          <p:cNvSpPr/>
          <p:nvPr/>
        </p:nvSpPr>
        <p:spPr>
          <a:xfrm>
            <a:off x="11088122" y="1945894"/>
            <a:ext cx="0" cy="138472"/>
          </a:xfrm>
          <a:prstGeom prst="line">
            <a:avLst/>
          </a:prstGeom>
          <a:noFill/>
          <a:ln w="24130">
            <a:solidFill>
              <a:srgbClr val="CE0000"/>
            </a:solidFill>
            <a:prstDash val="solid"/>
            <a:tailEnd type="none"/>
          </a:ln>
        </p:spPr>
        <p:txBody>
          <a:bodyPr/>
          <a:lstStyle/>
          <a:p/>
        </p:txBody>
      </p:sp>
      <p:sp>
        <p:nvSpPr>
          <p:cNvPr id="65" name="TextBox 65"/>
          <p:cNvSpPr txBox="1"/>
          <p:nvPr/>
        </p:nvSpPr>
        <p:spPr>
          <a:xfrm>
            <a:off x="462230" y="167624"/>
            <a:ext cx="9182869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70" b="1">
                <a:solidFill>
                  <a:srgbClr val="0A355C"/>
                </a:solidFill>
                <a:latin typeface="Microsoft YaHei"/>
                <a:ea typeface="Microsoft YaHei"/>
                <a:cs typeface="Microsoft YaHei"/>
              </a:rPr>
              <a:t>科学前沿：营养感知走向CaSR，低致敏与免疫耐受之间仍有断层</a:t>
            </a:r>
            <a:endParaRPr lang="zh-CN" sz="2470"/>
          </a:p>
        </p:txBody>
      </p:sp>
      <p:sp>
        <p:nvSpPr>
          <p:cNvPr id="66" name="TextBox 66"/>
          <p:cNvSpPr txBox="1"/>
          <p:nvPr/>
        </p:nvSpPr>
        <p:spPr>
          <a:xfrm>
            <a:off x="9871027" y="72880"/>
            <a:ext cx="233216" cy="2332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lang="zh-CN" sz="1300"/>
          </a:p>
        </p:txBody>
      </p:sp>
      <p:sp>
        <p:nvSpPr>
          <p:cNvPr id="67" name="TextBox 67"/>
          <p:cNvSpPr txBox="1"/>
          <p:nvPr/>
        </p:nvSpPr>
        <p:spPr>
          <a:xfrm>
            <a:off x="10264579" y="72880"/>
            <a:ext cx="1814710" cy="2332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立项依据与关键科学问题</a:t>
            </a:r>
            <a:endParaRPr lang="zh-CN" sz="1250"/>
          </a:p>
        </p:txBody>
      </p:sp>
      <p:sp>
        <p:nvSpPr>
          <p:cNvPr id="68" name="TextBox 68"/>
          <p:cNvSpPr txBox="1"/>
          <p:nvPr/>
        </p:nvSpPr>
        <p:spPr>
          <a:xfrm>
            <a:off x="2481004" y="889135"/>
            <a:ext cx="1559630" cy="29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证据链文字区</a:t>
            </a:r>
            <a:endParaRPr lang="zh-CN" sz="1800"/>
          </a:p>
        </p:txBody>
      </p:sp>
      <p:sp>
        <p:nvSpPr>
          <p:cNvPr id="69" name="TextBox 69"/>
          <p:cNvSpPr txBox="1"/>
          <p:nvPr/>
        </p:nvSpPr>
        <p:spPr>
          <a:xfrm>
            <a:off x="5556536" y="932863"/>
            <a:ext cx="422704" cy="2405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r"/>
            <a:r>
              <a:rPr lang="zh-CN" sz="16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38%</a:t>
            </a:r>
            <a:endParaRPr lang="zh-CN" sz="1600"/>
          </a:p>
        </p:txBody>
      </p:sp>
      <p:sp>
        <p:nvSpPr>
          <p:cNvPr id="70" name="TextBox 70"/>
          <p:cNvSpPr txBox="1"/>
          <p:nvPr/>
        </p:nvSpPr>
        <p:spPr>
          <a:xfrm>
            <a:off x="8384277" y="889135"/>
            <a:ext cx="1333702" cy="29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主机制图区</a:t>
            </a:r>
            <a:endParaRPr lang="zh-CN" sz="1800"/>
          </a:p>
        </p:txBody>
      </p:sp>
      <p:sp>
        <p:nvSpPr>
          <p:cNvPr id="71" name="TextBox 71"/>
          <p:cNvSpPr txBox="1"/>
          <p:nvPr/>
        </p:nvSpPr>
        <p:spPr>
          <a:xfrm>
            <a:off x="11488961" y="932863"/>
            <a:ext cx="422704" cy="2405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r"/>
            <a:r>
              <a:rPr lang="zh-CN" sz="16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62%</a:t>
            </a:r>
            <a:endParaRPr lang="zh-CN" sz="1600"/>
          </a:p>
        </p:txBody>
      </p:sp>
      <p:sp>
        <p:nvSpPr>
          <p:cNvPr id="72" name="TextBox 72"/>
          <p:cNvSpPr txBox="1"/>
          <p:nvPr/>
        </p:nvSpPr>
        <p:spPr>
          <a:xfrm>
            <a:off x="411214" y="1348278"/>
            <a:ext cx="5495146" cy="2915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前沿研究正在向“消化信息—CaSR感知—免疫耐受”交汇。</a:t>
            </a:r>
            <a:endParaRPr lang="zh-CN" sz="1600"/>
          </a:p>
        </p:txBody>
      </p:sp>
      <p:sp>
        <p:nvSpPr>
          <p:cNvPr id="73" name="TextBox 73"/>
          <p:cNvSpPr txBox="1"/>
          <p:nvPr/>
        </p:nvSpPr>
        <p:spPr>
          <a:xfrm>
            <a:off x="542398" y="1873014"/>
            <a:ext cx="473719" cy="45185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  <a:endParaRPr lang="zh-CN" sz="2400"/>
          </a:p>
        </p:txBody>
      </p:sp>
      <p:sp>
        <p:nvSpPr>
          <p:cNvPr id="74" name="TextBox 74"/>
          <p:cNvSpPr txBox="1"/>
          <p:nvPr/>
        </p:nvSpPr>
        <p:spPr>
          <a:xfrm>
            <a:off x="1161877" y="1829286"/>
            <a:ext cx="4562283" cy="2842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消化产物是信息载体</a:t>
            </a:r>
            <a:endParaRPr lang="zh-CN" sz="1800"/>
          </a:p>
        </p:txBody>
      </p:sp>
      <p:sp>
        <p:nvSpPr>
          <p:cNvPr id="75" name="TextBox 75"/>
          <p:cNvSpPr txBox="1"/>
          <p:nvPr/>
        </p:nvSpPr>
        <p:spPr>
          <a:xfrm>
            <a:off x="1161877" y="2128094"/>
            <a:ext cx="4642451" cy="27694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蛋白消化产生肽段、氨基酸等信息，可被肠道识别。</a:t>
            </a:r>
            <a:endParaRPr lang="zh-CN" sz="1450"/>
          </a:p>
        </p:txBody>
      </p:sp>
      <p:sp>
        <p:nvSpPr>
          <p:cNvPr id="76" name="TextBox 76"/>
          <p:cNvSpPr txBox="1"/>
          <p:nvPr/>
        </p:nvSpPr>
        <p:spPr>
          <a:xfrm>
            <a:off x="542398" y="2776725"/>
            <a:ext cx="473719" cy="45185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lang="zh-CN" sz="2400"/>
          </a:p>
        </p:txBody>
      </p:sp>
      <p:sp>
        <p:nvSpPr>
          <p:cNvPr id="77" name="TextBox 77"/>
          <p:cNvSpPr txBox="1"/>
          <p:nvPr/>
        </p:nvSpPr>
        <p:spPr>
          <a:xfrm>
            <a:off x="1161877" y="2732997"/>
            <a:ext cx="4562283" cy="2842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CaSR是关键感知节点</a:t>
            </a:r>
            <a:endParaRPr lang="zh-CN" sz="1800"/>
          </a:p>
        </p:txBody>
      </p:sp>
      <p:sp>
        <p:nvSpPr>
          <p:cNvPr id="78" name="TextBox 78"/>
          <p:cNvSpPr txBox="1"/>
          <p:nvPr/>
        </p:nvSpPr>
        <p:spPr>
          <a:xfrm>
            <a:off x="1161877" y="3031804"/>
            <a:ext cx="4642451" cy="27694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8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CaSR可感知Ca²⁺、氨基酸和肽类，是营养—免疫调控枢纽。</a:t>
            </a:r>
            <a:endParaRPr lang="zh-CN" sz="1380"/>
          </a:p>
        </p:txBody>
      </p:sp>
      <p:sp>
        <p:nvSpPr>
          <p:cNvPr id="79" name="TextBox 79"/>
          <p:cNvSpPr txBox="1"/>
          <p:nvPr/>
        </p:nvSpPr>
        <p:spPr>
          <a:xfrm>
            <a:off x="542398" y="3687724"/>
            <a:ext cx="473719" cy="45185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lang="zh-CN" sz="2400"/>
          </a:p>
        </p:txBody>
      </p:sp>
      <p:sp>
        <p:nvSpPr>
          <p:cNvPr id="80" name="TextBox 80"/>
          <p:cNvSpPr txBox="1"/>
          <p:nvPr/>
        </p:nvSpPr>
        <p:spPr>
          <a:xfrm>
            <a:off x="1161877" y="3643996"/>
            <a:ext cx="4562283" cy="2842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上皮信号决定免疫耐受</a:t>
            </a:r>
            <a:endParaRPr lang="zh-CN" sz="1800"/>
          </a:p>
        </p:txBody>
      </p:sp>
      <p:sp>
        <p:nvSpPr>
          <p:cNvPr id="81" name="TextBox 81"/>
          <p:cNvSpPr txBox="1"/>
          <p:nvPr/>
        </p:nvSpPr>
        <p:spPr>
          <a:xfrm>
            <a:off x="1161877" y="3942803"/>
            <a:ext cx="4642451" cy="27694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肠上皮信号影响髓系细胞与T</a:t>
            </a:r>
            <a:r>
              <a:rPr lang="zh-CN" sz="1010" baseline="-230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reg</a:t>
            </a:r>
            <a:r>
              <a:rPr lang="zh-CN" sz="13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反应，衰老时耐受网络失衡。</a:t>
            </a:r>
            <a:endParaRPr lang="zh-CN" sz="1350"/>
          </a:p>
        </p:txBody>
      </p:sp>
      <p:sp>
        <p:nvSpPr>
          <p:cNvPr id="82" name="TextBox 82"/>
          <p:cNvSpPr txBox="1"/>
          <p:nvPr/>
        </p:nvSpPr>
        <p:spPr>
          <a:xfrm>
            <a:off x="6350927" y="1515902"/>
            <a:ext cx="765239" cy="45185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蛋白消化</a:t>
            </a:r>
            <a:endParaRPr lang="zh-CN" sz="1400"/>
          </a:p>
          <a:p>
            <a:pPr algn="ctr"/>
            <a:r>
              <a:rPr lang="zh-CN" sz="1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信息</a:t>
            </a:r>
            <a:endParaRPr lang="zh-CN" sz="1400"/>
          </a:p>
        </p:txBody>
      </p:sp>
      <p:sp>
        <p:nvSpPr>
          <p:cNvPr id="83" name="TextBox 83"/>
          <p:cNvSpPr txBox="1"/>
          <p:nvPr/>
        </p:nvSpPr>
        <p:spPr>
          <a:xfrm>
            <a:off x="7196334" y="1348278"/>
            <a:ext cx="422704" cy="2332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小肽</a:t>
            </a:r>
            <a:endParaRPr lang="zh-CN" sz="1300"/>
          </a:p>
        </p:txBody>
      </p:sp>
      <p:sp>
        <p:nvSpPr>
          <p:cNvPr id="84" name="TextBox 84"/>
          <p:cNvSpPr txBox="1"/>
          <p:nvPr/>
        </p:nvSpPr>
        <p:spPr>
          <a:xfrm>
            <a:off x="7764798" y="1348278"/>
            <a:ext cx="626767" cy="2332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氨基酸</a:t>
            </a:r>
            <a:endParaRPr lang="zh-CN" sz="1300"/>
          </a:p>
        </p:txBody>
      </p:sp>
      <p:sp>
        <p:nvSpPr>
          <p:cNvPr id="85" name="TextBox 85"/>
          <p:cNvSpPr txBox="1"/>
          <p:nvPr/>
        </p:nvSpPr>
        <p:spPr>
          <a:xfrm>
            <a:off x="8486309" y="1668950"/>
            <a:ext cx="437279" cy="2259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3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Ca²⁺</a:t>
            </a:r>
            <a:endParaRPr lang="zh-CN" sz="1230"/>
          </a:p>
        </p:txBody>
      </p:sp>
      <p:sp>
        <p:nvSpPr>
          <p:cNvPr id="86" name="TextBox 86"/>
          <p:cNvSpPr txBox="1"/>
          <p:nvPr/>
        </p:nvSpPr>
        <p:spPr>
          <a:xfrm>
            <a:off x="7159894" y="1982334"/>
            <a:ext cx="429991" cy="2186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CaSR</a:t>
            </a:r>
            <a:endParaRPr lang="zh-CN" sz="1300"/>
          </a:p>
        </p:txBody>
      </p:sp>
      <p:sp>
        <p:nvSpPr>
          <p:cNvPr id="87" name="TextBox 87"/>
          <p:cNvSpPr txBox="1"/>
          <p:nvPr/>
        </p:nvSpPr>
        <p:spPr>
          <a:xfrm>
            <a:off x="8923588" y="1967758"/>
            <a:ext cx="604903" cy="2259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PepT1</a:t>
            </a:r>
            <a:endParaRPr lang="zh-CN" sz="1300"/>
          </a:p>
        </p:txBody>
      </p:sp>
      <p:sp>
        <p:nvSpPr>
          <p:cNvPr id="88" name="TextBox 88"/>
          <p:cNvSpPr txBox="1"/>
          <p:nvPr/>
        </p:nvSpPr>
        <p:spPr>
          <a:xfrm>
            <a:off x="6380079" y="2273853"/>
            <a:ext cx="765239" cy="2332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肠上皮膜</a:t>
            </a:r>
            <a:endParaRPr lang="zh-CN" sz="1400"/>
          </a:p>
        </p:txBody>
      </p:sp>
      <p:sp>
        <p:nvSpPr>
          <p:cNvPr id="89" name="TextBox 89"/>
          <p:cNvSpPr txBox="1"/>
          <p:nvPr/>
        </p:nvSpPr>
        <p:spPr>
          <a:xfrm>
            <a:off x="6380079" y="2849605"/>
            <a:ext cx="794391" cy="4591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CaSR相关</a:t>
            </a:r>
            <a:endParaRPr lang="zh-CN" sz="1300"/>
          </a:p>
          <a:p>
            <a:pPr algn="l"/>
            <a:r>
              <a:rPr lang="zh-CN" sz="1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Ca²⁺感知</a:t>
            </a:r>
            <a:endParaRPr lang="zh-CN" sz="1300"/>
          </a:p>
        </p:txBody>
      </p:sp>
      <p:sp>
        <p:nvSpPr>
          <p:cNvPr id="90" name="TextBox 90"/>
          <p:cNvSpPr txBox="1"/>
          <p:nvPr/>
        </p:nvSpPr>
        <p:spPr>
          <a:xfrm>
            <a:off x="8129197" y="2988077"/>
            <a:ext cx="1013031" cy="2477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8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Ca²⁺信号波</a:t>
            </a:r>
            <a:endParaRPr lang="zh-CN" sz="1280"/>
          </a:p>
        </p:txBody>
      </p:sp>
      <p:sp>
        <p:nvSpPr>
          <p:cNvPr id="91" name="TextBox 91"/>
          <p:cNvSpPr txBox="1"/>
          <p:nvPr/>
        </p:nvSpPr>
        <p:spPr>
          <a:xfrm>
            <a:off x="7014135" y="3673148"/>
            <a:ext cx="1443022" cy="2550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肠上皮稳态改善</a:t>
            </a:r>
            <a:endParaRPr lang="zh-CN" sz="1450"/>
          </a:p>
        </p:txBody>
      </p:sp>
      <p:sp>
        <p:nvSpPr>
          <p:cNvPr id="92" name="TextBox 92"/>
          <p:cNvSpPr txBox="1"/>
          <p:nvPr/>
        </p:nvSpPr>
        <p:spPr>
          <a:xfrm>
            <a:off x="6416519" y="3950091"/>
            <a:ext cx="721511" cy="2915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屏障增强</a:t>
            </a:r>
            <a:endParaRPr lang="zh-CN" sz="1250"/>
          </a:p>
        </p:txBody>
      </p:sp>
      <p:sp>
        <p:nvSpPr>
          <p:cNvPr id="93" name="TextBox 93"/>
          <p:cNvSpPr txBox="1"/>
          <p:nvPr/>
        </p:nvSpPr>
        <p:spPr>
          <a:xfrm>
            <a:off x="7342094" y="3950091"/>
            <a:ext cx="721511" cy="2915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营养转运</a:t>
            </a:r>
            <a:endParaRPr lang="zh-CN" sz="1250"/>
          </a:p>
        </p:txBody>
      </p:sp>
      <p:sp>
        <p:nvSpPr>
          <p:cNvPr id="94" name="TextBox 94"/>
          <p:cNvSpPr txBox="1"/>
          <p:nvPr/>
        </p:nvSpPr>
        <p:spPr>
          <a:xfrm>
            <a:off x="8274957" y="3950091"/>
            <a:ext cx="721511" cy="2915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炎症受控</a:t>
            </a:r>
            <a:endParaRPr lang="zh-CN" sz="1250"/>
          </a:p>
        </p:txBody>
      </p:sp>
      <p:sp>
        <p:nvSpPr>
          <p:cNvPr id="95" name="TextBox 95"/>
          <p:cNvSpPr txBox="1"/>
          <p:nvPr/>
        </p:nvSpPr>
        <p:spPr>
          <a:xfrm>
            <a:off x="9543068" y="2747573"/>
            <a:ext cx="2259277" cy="2623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髓膜免疫耐受 / 肠道稳态改善</a:t>
            </a:r>
            <a:endParaRPr lang="zh-CN" sz="1350"/>
          </a:p>
        </p:txBody>
      </p:sp>
      <p:sp>
        <p:nvSpPr>
          <p:cNvPr id="96" name="TextBox 96"/>
          <p:cNvSpPr txBox="1"/>
          <p:nvPr/>
        </p:nvSpPr>
        <p:spPr>
          <a:xfrm>
            <a:off x="9543068" y="3877211"/>
            <a:ext cx="765239" cy="2477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髓系细胞</a:t>
            </a:r>
            <a:endParaRPr lang="zh-CN" sz="1250"/>
          </a:p>
        </p:txBody>
      </p:sp>
      <p:sp>
        <p:nvSpPr>
          <p:cNvPr id="97" name="TextBox 97"/>
          <p:cNvSpPr txBox="1"/>
          <p:nvPr/>
        </p:nvSpPr>
        <p:spPr>
          <a:xfrm>
            <a:off x="10432203" y="4059411"/>
            <a:ext cx="495583" cy="2550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Treg</a:t>
            </a:r>
            <a:endParaRPr lang="zh-CN" sz="1300"/>
          </a:p>
        </p:txBody>
      </p:sp>
      <p:sp>
        <p:nvSpPr>
          <p:cNvPr id="98" name="TextBox 98"/>
          <p:cNvSpPr txBox="1"/>
          <p:nvPr/>
        </p:nvSpPr>
        <p:spPr>
          <a:xfrm>
            <a:off x="11007954" y="4052123"/>
            <a:ext cx="823543" cy="2550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7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炎症/腰瘾部</a:t>
            </a:r>
            <a:endParaRPr lang="zh-CN" sz="1170"/>
          </a:p>
        </p:txBody>
      </p:sp>
      <p:sp>
        <p:nvSpPr>
          <p:cNvPr id="99" name="TextBox 99"/>
          <p:cNvSpPr txBox="1"/>
          <p:nvPr/>
        </p:nvSpPr>
        <p:spPr>
          <a:xfrm>
            <a:off x="10738298" y="1340990"/>
            <a:ext cx="473719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4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图例：</a:t>
            </a:r>
            <a:endParaRPr lang="zh-CN" sz="1240"/>
          </a:p>
        </p:txBody>
      </p:sp>
      <p:sp>
        <p:nvSpPr>
          <p:cNvPr id="100" name="TextBox 100"/>
          <p:cNvSpPr txBox="1"/>
          <p:nvPr/>
        </p:nvSpPr>
        <p:spPr>
          <a:xfrm>
            <a:off x="11139138" y="1523190"/>
            <a:ext cx="685071" cy="2259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9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促进/传导</a:t>
            </a:r>
            <a:endParaRPr lang="zh-CN" sz="1190"/>
          </a:p>
        </p:txBody>
      </p:sp>
      <p:sp>
        <p:nvSpPr>
          <p:cNvPr id="101" name="TextBox 101"/>
          <p:cNvSpPr txBox="1"/>
          <p:nvPr/>
        </p:nvSpPr>
        <p:spPr>
          <a:xfrm>
            <a:off x="11139138" y="1712678"/>
            <a:ext cx="685071" cy="2259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信号转译</a:t>
            </a:r>
            <a:endParaRPr lang="zh-CN" sz="1200"/>
          </a:p>
        </p:txBody>
      </p:sp>
      <p:sp>
        <p:nvSpPr>
          <p:cNvPr id="102" name="TextBox 102"/>
          <p:cNvSpPr txBox="1"/>
          <p:nvPr/>
        </p:nvSpPr>
        <p:spPr>
          <a:xfrm>
            <a:off x="11139138" y="1909454"/>
            <a:ext cx="685071" cy="2259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9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抑制/下降</a:t>
            </a:r>
            <a:endParaRPr lang="zh-CN" sz="1190"/>
          </a:p>
        </p:txBody>
      </p:sp>
      <p:sp>
        <p:nvSpPr>
          <p:cNvPr id="103" name="TextBox 103"/>
          <p:cNvSpPr txBox="1"/>
          <p:nvPr/>
        </p:nvSpPr>
        <p:spPr>
          <a:xfrm>
            <a:off x="462230" y="4562283"/>
            <a:ext cx="7725271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关键科学缺口：三条证据链尚未打通为连续因果链</a:t>
            </a:r>
            <a:endParaRPr lang="zh-CN" sz="1750"/>
          </a:p>
        </p:txBody>
      </p:sp>
      <p:sp>
        <p:nvSpPr>
          <p:cNvPr id="104" name="TextBox 104"/>
          <p:cNvSpPr txBox="1"/>
          <p:nvPr/>
        </p:nvSpPr>
        <p:spPr>
          <a:xfrm>
            <a:off x="396638" y="4999562"/>
            <a:ext cx="3520100" cy="27694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评价终点错位</a:t>
            </a:r>
            <a:endParaRPr lang="zh-CN" sz="1750"/>
          </a:p>
        </p:txBody>
      </p:sp>
      <p:sp>
        <p:nvSpPr>
          <p:cNvPr id="105" name="TextBox 105"/>
          <p:cNvSpPr txBox="1"/>
          <p:nvPr/>
        </p:nvSpPr>
        <p:spPr>
          <a:xfrm>
            <a:off x="382062" y="5327522"/>
            <a:ext cx="3549252" cy="2477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8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重消除过敏，轻重建耐受</a:t>
            </a:r>
            <a:endParaRPr lang="zh-CN" sz="1380"/>
          </a:p>
        </p:txBody>
      </p:sp>
      <p:sp>
        <p:nvSpPr>
          <p:cNvPr id="106" name="TextBox 106"/>
          <p:cNvSpPr txBox="1"/>
          <p:nvPr/>
        </p:nvSpPr>
        <p:spPr>
          <a:xfrm>
            <a:off x="4251986" y="4999562"/>
            <a:ext cx="3724164" cy="27694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感知机制不清</a:t>
            </a:r>
            <a:endParaRPr lang="zh-CN" sz="1750"/>
          </a:p>
        </p:txBody>
      </p:sp>
      <p:sp>
        <p:nvSpPr>
          <p:cNvPr id="107" name="TextBox 107"/>
          <p:cNvSpPr txBox="1"/>
          <p:nvPr/>
        </p:nvSpPr>
        <p:spPr>
          <a:xfrm>
            <a:off x="4237410" y="5327522"/>
            <a:ext cx="3753316" cy="2477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3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低致敏蛋白消化信息如何激活CaSR，缺少直接证据</a:t>
            </a:r>
            <a:endParaRPr lang="zh-CN" sz="1330"/>
          </a:p>
        </p:txBody>
      </p:sp>
      <p:sp>
        <p:nvSpPr>
          <p:cNvPr id="108" name="TextBox 108"/>
          <p:cNvSpPr txBox="1"/>
          <p:nvPr/>
        </p:nvSpPr>
        <p:spPr>
          <a:xfrm>
            <a:off x="8318685" y="4999562"/>
            <a:ext cx="3505524" cy="27694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衰老因果缺失</a:t>
            </a:r>
            <a:endParaRPr lang="zh-CN" sz="1750"/>
          </a:p>
        </p:txBody>
      </p:sp>
      <p:sp>
        <p:nvSpPr>
          <p:cNvPr id="109" name="TextBox 109"/>
          <p:cNvSpPr txBox="1"/>
          <p:nvPr/>
        </p:nvSpPr>
        <p:spPr>
          <a:xfrm>
            <a:off x="8304109" y="5327522"/>
            <a:ext cx="3534676" cy="2477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8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现有研究多停留于细胞系或青年模型</a:t>
            </a:r>
            <a:endParaRPr lang="zh-CN" sz="1380"/>
          </a:p>
        </p:txBody>
      </p:sp>
      <p:sp>
        <p:nvSpPr>
          <p:cNvPr id="110" name="TextBox 110"/>
          <p:cNvSpPr txBox="1"/>
          <p:nvPr/>
        </p:nvSpPr>
        <p:spPr>
          <a:xfrm>
            <a:off x="1540853" y="5772089"/>
            <a:ext cx="9146429" cy="3206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核心缺口：低致敏加工—衰老消化—CaSR感知—免疫耐受之间缺少贯通机制链</a:t>
            </a:r>
            <a:endParaRPr lang="zh-CN" sz="1800"/>
          </a:p>
        </p:txBody>
      </p:sp>
      <p:sp>
        <p:nvSpPr>
          <p:cNvPr id="111" name="TextBox 111"/>
          <p:cNvSpPr txBox="1"/>
          <p:nvPr/>
        </p:nvSpPr>
        <p:spPr>
          <a:xfrm>
            <a:off x="1351365" y="6107337"/>
            <a:ext cx="9547269" cy="29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本项目切入：以</a:t>
            </a:r>
            <a:r>
              <a:rPr lang="zh-CN" sz="1800" b="1">
                <a:solidFill>
                  <a:srgbClr val="EE4949"/>
                </a:solidFill>
                <a:latin typeface="Microsoft YaHei"/>
                <a:ea typeface="Microsoft YaHei"/>
                <a:cs typeface="Microsoft YaHei"/>
              </a:rPr>
              <a:t>肠上皮CaSR—Ca²⁺为枢纽</a:t>
            </a: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，补上“</a:t>
            </a:r>
            <a:r>
              <a:rPr lang="zh-CN" sz="1800" b="1">
                <a:solidFill>
                  <a:srgbClr val="EE4949"/>
                </a:solidFill>
                <a:latin typeface="Microsoft YaHei"/>
                <a:ea typeface="Microsoft YaHei"/>
                <a:cs typeface="Microsoft YaHei"/>
              </a:rPr>
              <a:t>消化信号→免疫耐受</a:t>
            </a: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”关键环节</a:t>
            </a:r>
            <a:endParaRPr lang="zh-CN" sz="1800"/>
          </a:p>
        </p:txBody>
      </p:sp>
      <p:sp>
        <p:nvSpPr>
          <p:cNvPr id="112" name="TextBox 112"/>
          <p:cNvSpPr txBox="1"/>
          <p:nvPr/>
        </p:nvSpPr>
        <p:spPr>
          <a:xfrm>
            <a:off x="287318" y="6581056"/>
            <a:ext cx="5903273" cy="2332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浙江省自然科学基金青年科学基金项目（A类） · 王晶</a:t>
            </a:r>
            <a:endParaRPr lang="zh-CN" sz="1200"/>
          </a:p>
        </p:txBody>
      </p:sp>
      <p:sp>
        <p:nvSpPr>
          <p:cNvPr id="113" name="TextBox 113"/>
          <p:cNvSpPr txBox="1"/>
          <p:nvPr/>
        </p:nvSpPr>
        <p:spPr>
          <a:xfrm>
            <a:off x="11365065" y="6581056"/>
            <a:ext cx="583039" cy="2332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r"/>
            <a:r>
              <a:rPr lang="zh-CN" sz="12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11 / 23</a:t>
            </a:r>
            <a:endParaRPr lang="zh-CN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